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4ffe126e-95d8-6fe7-8d55-b9f7ad33a215}">
          <p14:sldIdLst>
            <p14:sldId id="256"/>
            <p14:sldId id="257"/>
          </p14:sldIdLst>
        </p14:section>
        <p14:section name="Câu hỏi" id="{8ef9e552-f532-f088-3b86-5cf884af69c1}">
          <p14:sldIdLst>
            <p14:sldId id="258"/>
            <p14:sldId id="259"/>
            <p14:sldId id="260"/>
            <p14:sldId id="261"/>
            <p14:sldId id="262"/>
            <p14:sldId id="263"/>
            <p14:sldId id="264"/>
            <p14:sldId id="265"/>
            <p14:sldId id="266"/>
            <p14:sldId id="267"/>
          </p14:sldIdLst>
        </p14:section>
        <p14:section name="Đáp án" id="{c213d0b8-a384-aca3-9eb6-c64806a4a7bb}">
          <p14:sldIdLst>
            <p14:sldId id="268"/>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mỗi câu là gợi ý (khoảng 15 phút cho cả bài). Điều chỉnh theo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C. Yêu cầu về tiếng ồn là chính đáng (Legitimacy) và cấp bách (Urgency), nhưng cư dân chưa có quyền lực (Power) → Dependent. Nếu phường vào cuộc, họ có thêm Power và trở thành Definitive.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A. Doanh thu lớn (hấp dẫn) và Nova làm tốt (vị thế), nhưng đấu thầu theo giá, đổi agency hằng năm, từ chối hợp đồng khung → không qua cổng đồng đầu tư: “choose me and I will choose you”. Key Account không phải khách hàng lớn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B. Người liên hệ nhiều nhất (chị Hạnh) không phải người quyết định. Nova chưa phân tích Goal (giữ khách doanh nghiệp lớn) và Appeal của ông Tuấn — người có Power cao nhất trong DMU.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C. Functional conflict là bất đồng được nêu ra và giải quyết êm thấm — kết quả của niềm tin (Morgan &amp; Hunt, 1994). Bất đồng bị giấu đi là dấu hiệu thiếu xung đột chức năng. Trong mắt Key Account, lỗi nhà cung cấp là lỗi của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D. Co-testing: “prototyping and improving the offering, giving feedback” (Marcos-Cuevas et al., 2016). Co-design là cùng phát triển ý tưởng, khái niệm — chưa chạy thử với khách.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D. 300/1,1 + 300 × 0,8/1,1² = 272,7 + 198,3 ≈ 471 triệu.
A: quên cả giữ chân và chiết khấu · B: quên chiết khấu · C: chiết khấu năm 2 sai (chia 1,1 thay vì 1,1²).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A. Biên cao – cost-to-serve cao: giữ khách nhưng cùng khách giảm chi phí phục vụ. Dừng phục vụ hay đơn phương tăng giá là ép khách; giữ nguyên là bỏ qua chi phí phục vụ.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C. Giá trị nhỏ nhưng chỉ còn một nguồn do điều khoản hợp đồng → Bottleneck. Rủi ro đến từ điều khoản, phải xử lý trước khi ký. “Tốn ít tiền” không có nghĩa là Non-critical.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B. Một đầu mối ↔ một đầu mối là Bow-tie: đứt khi người đó rời đi. Lộ trình Bow-tie → Diamond: nhiều cấp, nhiều chức năng ở cả hai bên. Chỉ thay người thì vẫn là Bow-tie.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A. Áp dụng điều đã học vào công việc = thay đổi hành vi (cấp 3). Cấp 2 chỉ đo học được gì; cấp 5 phải quy lợi ích ra tiền so với chi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UEST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00800"/>
            <a:ext cx="7315200" cy="320040"/>
          </a:xfrm>
          <a:prstGeom prst="rect">
            <a:avLst/>
          </a:prstGeom>
          <a:noFill/>
          <a:ln/>
        </p:spPr>
        <p:txBody>
          <a:bodyPr wrap="square" lIns="0" tIns="0" rIns="0" bIns="0" rtlCol="0" anchor="ctr"/>
          <a:lstStyle/>
          <a:p>
            <a:pPr indent="0" marL="0">
              <a:buNone/>
            </a:pPr>
            <a:r>
              <a:rPr lang="en-US" sz="1100" dirty="0">
                <a:solidFill>
                  <a:srgbClr val="8A8F98"/>
                </a:solidFill>
                <a:latin typeface="Calibri" pitchFamily="34" charset="0"/>
                <a:ea typeface="Calibri" pitchFamily="34" charset="-122"/>
                <a:cs typeface="Calibri" pitchFamily="34" charset="-120"/>
              </a:rPr>
              <a:t>EVM1110E · Kiểm tra cá nhân Buổi 1–8</a:t>
            </a:r>
            <a:endParaRPr lang="en-US" sz="11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1097280"/>
            <a:ext cx="1188720" cy="1188720"/>
          </a:xfrm>
          <a:prstGeom prst="ellipse">
            <a:avLst/>
          </a:prstGeom>
          <a:solidFill>
            <a:srgbClr val="E07A5F"/>
          </a:solidFill>
          <a:ln w="12700">
            <a:solidFill>
              <a:srgbClr val="E07A5F"/>
            </a:solidFill>
            <a:prstDash val="solid"/>
          </a:ln>
        </p:spPr>
      </p:sp>
      <p:sp>
        <p:nvSpPr>
          <p:cNvPr id="3" name="Text 1"/>
          <p:cNvSpPr txBox="1"/>
          <p:nvPr/>
        </p:nvSpPr>
        <p:spPr>
          <a:xfrm>
            <a:off x="731520" y="1097280"/>
            <a:ext cx="1188720"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a:t>
            </a:r>
            <a:endParaRPr lang="en-US" sz="4800" dirty="0"/>
          </a:p>
        </p:txBody>
      </p:sp>
      <p:sp>
        <p:nvSpPr>
          <p:cNvPr id="4" name="Text 2"/>
          <p:cNvSpPr txBox="1"/>
          <p:nvPr/>
        </p:nvSpPr>
        <p:spPr>
          <a:xfrm>
            <a:off x="731520" y="2560320"/>
            <a:ext cx="10058400" cy="548640"/>
          </a:xfrm>
          <a:prstGeom prst="rect">
            <a:avLst/>
          </a:prstGeom>
          <a:noFill/>
          <a:ln/>
        </p:spPr>
        <p:txBody>
          <a:bodyPr wrap="square" lIns="0" tIns="0" rIns="0" bIns="0" rtlCol="0" anchor="t"/>
          <a:lstStyle/>
          <a:p>
            <a:pPr indent="0" marL="0">
              <a:buNone/>
            </a:pPr>
            <a:r>
              <a:rPr lang="en-US" sz="2200" dirty="0">
                <a:solidFill>
                  <a:srgbClr val="C9CED8"/>
                </a:solidFill>
                <a:latin typeface="Calibri" pitchFamily="34" charset="0"/>
                <a:ea typeface="Calibri" pitchFamily="34" charset="-122"/>
                <a:cs typeface="Calibri" pitchFamily="34" charset="-120"/>
              </a:rPr>
              <a:t>Kiểm tra cá nhân</a:t>
            </a:r>
            <a:endParaRPr lang="en-US" sz="2200" dirty="0"/>
          </a:p>
        </p:txBody>
      </p:sp>
      <p:sp>
        <p:nvSpPr>
          <p:cNvPr id="5" name="Text 3"/>
          <p:cNvSpPr txBox="1"/>
          <p:nvPr/>
        </p:nvSpPr>
        <p:spPr>
          <a:xfrm>
            <a:off x="731520" y="3108960"/>
            <a:ext cx="10515600" cy="9144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Trắc nghiệm Buổi 1–8</a:t>
            </a:r>
            <a:endParaRPr lang="en-US" sz="4400" dirty="0"/>
          </a:p>
        </p:txBody>
      </p:sp>
      <p:sp>
        <p:nvSpPr>
          <p:cNvPr id="6" name="Text 4"/>
          <p:cNvSpPr txBox="1"/>
          <p:nvPr/>
        </p:nvSpPr>
        <p:spPr>
          <a:xfrm>
            <a:off x="731520" y="4114800"/>
            <a:ext cx="10515600" cy="45720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Quản trị mối quan hệ trong tổ chức sự kiện · EVM1110E</a:t>
            </a:r>
            <a:endParaRPr lang="en-US" sz="2000" dirty="0"/>
          </a:p>
        </p:txBody>
      </p:sp>
      <p:sp>
        <p:nvSpPr>
          <p:cNvPr id="7" name="Text 5"/>
          <p:cNvSpPr txBox="1"/>
          <p:nvPr/>
        </p:nvSpPr>
        <p:spPr>
          <a:xfrm>
            <a:off x="731520" y="4754880"/>
            <a:ext cx="10515600" cy="457200"/>
          </a:xfrm>
          <a:prstGeom prst="rect">
            <a:avLst/>
          </a:prstGeom>
          <a:noFill/>
          <a:ln/>
        </p:spPr>
        <p:txBody>
          <a:bodyPr wrap="square" lIns="0" tIns="0" rIns="0" bIns="0" rtlCol="0" anchor="t"/>
          <a:lstStyle/>
          <a:p>
            <a:pPr indent="0" marL="0">
              <a:buNone/>
            </a:pPr>
            <a:r>
              <a:rPr lang="en-US" sz="1800" dirty="0">
                <a:solidFill>
                  <a:srgbClr val="E07A5F"/>
                </a:solidFill>
                <a:latin typeface="Calibri" pitchFamily="34" charset="0"/>
                <a:ea typeface="Calibri" pitchFamily="34" charset="-122"/>
                <a:cs typeface="Calibri" pitchFamily="34" charset="-120"/>
              </a:rPr>
              <a:t>10 câu · mỗi câu 1 điểm · làm cá nhân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411480"/>
            <a:ext cx="11247120" cy="731520"/>
          </a:xfrm>
          <a:prstGeom prst="rect">
            <a:avLst/>
          </a:prstGeom>
          <a:noFill/>
          <a:ln/>
        </p:spPr>
        <p:txBody>
          <a:bodyPr wrap="square" lIns="0" tIns="0" rIns="0" bIns="0" rtlCol="0" anchor="t"/>
          <a:lstStyle/>
          <a:p>
            <a:pPr indent="0" marL="0">
              <a:buNone/>
            </a:pPr>
            <a:r>
              <a:rPr lang="en-US" sz="3600" b="1" dirty="0">
                <a:solidFill>
                  <a:srgbClr val="1F2A44"/>
                </a:solidFill>
                <a:latin typeface="Cambria" pitchFamily="34" charset="0"/>
                <a:ea typeface="Cambria" pitchFamily="34" charset="-122"/>
                <a:cs typeface="Cambria" pitchFamily="34" charset="-120"/>
              </a:rPr>
              <a:t>Cách làm bài</a:t>
            </a:r>
            <a:endParaRPr lang="en-US" sz="3600" dirty="0"/>
          </a:p>
        </p:txBody>
      </p:sp>
      <p:sp>
        <p:nvSpPr>
          <p:cNvPr id="3" name="Shape 1"/>
          <p:cNvSpPr/>
          <p:nvPr/>
        </p:nvSpPr>
        <p:spPr>
          <a:xfrm>
            <a:off x="457200" y="1463040"/>
            <a:ext cx="11247120" cy="914400"/>
          </a:xfrm>
          <a:prstGeom prst="roundRect">
            <a:avLst>
              <a:gd name="adj" fmla="val 12000"/>
            </a:avLst>
          </a:prstGeom>
          <a:solidFill>
            <a:srgbClr val="EEF0F3"/>
          </a:solidFill>
          <a:ln w="12700">
            <a:solidFill>
              <a:srgbClr val="EEF0F3"/>
            </a:solidFill>
            <a:prstDash val="solid"/>
          </a:ln>
        </p:spPr>
      </p:sp>
      <p:sp>
        <p:nvSpPr>
          <p:cNvPr id="4" name="Shape 2"/>
          <p:cNvSpPr/>
          <p:nvPr/>
        </p:nvSpPr>
        <p:spPr>
          <a:xfrm>
            <a:off x="685800" y="1618488"/>
            <a:ext cx="603504" cy="603504"/>
          </a:xfrm>
          <a:prstGeom prst="ellipse">
            <a:avLst/>
          </a:prstGeom>
          <a:solidFill>
            <a:srgbClr val="1F2A44"/>
          </a:solidFill>
          <a:ln w="12700">
            <a:solidFill>
              <a:srgbClr val="1F2A44"/>
            </a:solidFill>
            <a:prstDash val="solid"/>
          </a:ln>
        </p:spPr>
      </p:sp>
      <p:sp>
        <p:nvSpPr>
          <p:cNvPr id="5" name="Text 3"/>
          <p:cNvSpPr txBox="1"/>
          <p:nvPr/>
        </p:nvSpPr>
        <p:spPr>
          <a:xfrm>
            <a:off x="685800" y="161848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554480" y="1463040"/>
            <a:ext cx="9966960" cy="914400"/>
          </a:xfrm>
          <a:prstGeom prst="rect">
            <a:avLst/>
          </a:prstGeom>
          <a:noFill/>
          <a:ln/>
        </p:spPr>
        <p:txBody>
          <a:bodyPr wrap="square" lIns="0" tIns="0" rIns="0" bIns="0" rtlCol="0" anchor="ctr"/>
          <a:lstStyle/>
          <a:p>
            <a:pPr indent="0" marL="0">
              <a:buNone/>
            </a:pPr>
            <a:r>
              <a:rPr lang="en-US" sz="2000" dirty="0">
                <a:solidFill>
                  <a:srgbClr val="222831"/>
                </a:solidFill>
                <a:latin typeface="Calibri" pitchFamily="34" charset="0"/>
                <a:ea typeface="Calibri" pitchFamily="34" charset="-122"/>
                <a:cs typeface="Calibri" pitchFamily="34" charset="-120"/>
              </a:rPr>
              <a:t>Mỗi câu chọn MỘT đáp án đúng nhất: A, B, C hoặc D</a:t>
            </a:r>
            <a:endParaRPr lang="en-US" sz="2000" dirty="0"/>
          </a:p>
        </p:txBody>
      </p:sp>
      <p:sp>
        <p:nvSpPr>
          <p:cNvPr id="7" name="Shape 5"/>
          <p:cNvSpPr/>
          <p:nvPr/>
        </p:nvSpPr>
        <p:spPr>
          <a:xfrm>
            <a:off x="457200" y="2606040"/>
            <a:ext cx="11247120" cy="914400"/>
          </a:xfrm>
          <a:prstGeom prst="roundRect">
            <a:avLst>
              <a:gd name="adj" fmla="val 12000"/>
            </a:avLst>
          </a:prstGeom>
          <a:solidFill>
            <a:srgbClr val="EEF0F3"/>
          </a:solidFill>
          <a:ln w="12700">
            <a:solidFill>
              <a:srgbClr val="EEF0F3"/>
            </a:solidFill>
            <a:prstDash val="solid"/>
          </a:ln>
        </p:spPr>
      </p:sp>
      <p:sp>
        <p:nvSpPr>
          <p:cNvPr id="8" name="Shape 6"/>
          <p:cNvSpPr/>
          <p:nvPr/>
        </p:nvSpPr>
        <p:spPr>
          <a:xfrm>
            <a:off x="685800" y="2761488"/>
            <a:ext cx="603504" cy="603504"/>
          </a:xfrm>
          <a:prstGeom prst="ellipse">
            <a:avLst/>
          </a:prstGeom>
          <a:solidFill>
            <a:srgbClr val="1F2A44"/>
          </a:solidFill>
          <a:ln w="12700">
            <a:solidFill>
              <a:srgbClr val="1F2A44"/>
            </a:solidFill>
            <a:prstDash val="solid"/>
          </a:ln>
        </p:spPr>
      </p:sp>
      <p:sp>
        <p:nvSpPr>
          <p:cNvPr id="9" name="Text 7"/>
          <p:cNvSpPr txBox="1"/>
          <p:nvPr/>
        </p:nvSpPr>
        <p:spPr>
          <a:xfrm>
            <a:off x="685800" y="276148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1554480" y="2606040"/>
            <a:ext cx="9966960" cy="914400"/>
          </a:xfrm>
          <a:prstGeom prst="rect">
            <a:avLst/>
          </a:prstGeom>
          <a:noFill/>
          <a:ln/>
        </p:spPr>
        <p:txBody>
          <a:bodyPr wrap="square" lIns="0" tIns="0" rIns="0" bIns="0" rtlCol="0" anchor="ctr"/>
          <a:lstStyle/>
          <a:p>
            <a:pPr indent="0" marL="0">
              <a:buNone/>
            </a:pPr>
            <a:r>
              <a:rPr lang="en-US" sz="2000" dirty="0">
                <a:solidFill>
                  <a:srgbClr val="222831"/>
                </a:solidFill>
                <a:latin typeface="Calibri" pitchFamily="34" charset="0"/>
                <a:ea typeface="Calibri" pitchFamily="34" charset="-122"/>
                <a:cs typeface="Calibri" pitchFamily="34" charset="-120"/>
              </a:rPr>
              <a:t>Ghi đáp án vào phiếu trả lời hoặc form theo hướng dẫn của giảng viên</a:t>
            </a:r>
            <a:endParaRPr lang="en-US" sz="2000" dirty="0"/>
          </a:p>
        </p:txBody>
      </p:sp>
      <p:sp>
        <p:nvSpPr>
          <p:cNvPr id="11" name="Shape 9"/>
          <p:cNvSpPr/>
          <p:nvPr/>
        </p:nvSpPr>
        <p:spPr>
          <a:xfrm>
            <a:off x="457200" y="3749040"/>
            <a:ext cx="11247120" cy="914400"/>
          </a:xfrm>
          <a:prstGeom prst="roundRect">
            <a:avLst>
              <a:gd name="adj" fmla="val 12000"/>
            </a:avLst>
          </a:prstGeom>
          <a:solidFill>
            <a:srgbClr val="EEF0F3"/>
          </a:solidFill>
          <a:ln w="12700">
            <a:solidFill>
              <a:srgbClr val="EEF0F3"/>
            </a:solidFill>
            <a:prstDash val="solid"/>
          </a:ln>
        </p:spPr>
      </p:sp>
      <p:sp>
        <p:nvSpPr>
          <p:cNvPr id="12" name="Shape 10"/>
          <p:cNvSpPr/>
          <p:nvPr/>
        </p:nvSpPr>
        <p:spPr>
          <a:xfrm>
            <a:off x="685800" y="3904488"/>
            <a:ext cx="603504" cy="603504"/>
          </a:xfrm>
          <a:prstGeom prst="ellipse">
            <a:avLst/>
          </a:prstGeom>
          <a:solidFill>
            <a:srgbClr val="1F2A44"/>
          </a:solidFill>
          <a:ln w="12700">
            <a:solidFill>
              <a:srgbClr val="1F2A44"/>
            </a:solidFill>
            <a:prstDash val="solid"/>
          </a:ln>
        </p:spPr>
      </p:sp>
      <p:sp>
        <p:nvSpPr>
          <p:cNvPr id="13" name="Text 11"/>
          <p:cNvSpPr txBox="1"/>
          <p:nvPr/>
        </p:nvSpPr>
        <p:spPr>
          <a:xfrm>
            <a:off x="685800" y="390448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554480" y="3749040"/>
            <a:ext cx="9966960" cy="914400"/>
          </a:xfrm>
          <a:prstGeom prst="rect">
            <a:avLst/>
          </a:prstGeom>
          <a:noFill/>
          <a:ln/>
        </p:spPr>
        <p:txBody>
          <a:bodyPr wrap="square" lIns="0" tIns="0" rIns="0" bIns="0" rtlCol="0" anchor="ctr"/>
          <a:lstStyle/>
          <a:p>
            <a:pPr indent="0" marL="0">
              <a:buNone/>
            </a:pPr>
            <a:r>
              <a:rPr lang="en-US" sz="2000" dirty="0">
                <a:solidFill>
                  <a:srgbClr val="222831"/>
                </a:solidFill>
                <a:latin typeface="Calibri" pitchFamily="34" charset="0"/>
                <a:ea typeface="Calibri" pitchFamily="34" charset="-122"/>
                <a:cs typeface="Calibri" pitchFamily="34" charset="-120"/>
              </a:rPr>
              <a:t>Mỗi câu hiển thị khoảng 90 giây; không quay lại câu trước</a:t>
            </a:r>
            <a:endParaRPr lang="en-US" sz="2000" dirty="0"/>
          </a:p>
        </p:txBody>
      </p:sp>
      <p:sp>
        <p:nvSpPr>
          <p:cNvPr id="15" name="Shape 13"/>
          <p:cNvSpPr/>
          <p:nvPr/>
        </p:nvSpPr>
        <p:spPr>
          <a:xfrm>
            <a:off x="457200" y="4892040"/>
            <a:ext cx="11247120" cy="914400"/>
          </a:xfrm>
          <a:prstGeom prst="roundRect">
            <a:avLst>
              <a:gd name="adj" fmla="val 12000"/>
            </a:avLst>
          </a:prstGeom>
          <a:solidFill>
            <a:srgbClr val="EEF0F3"/>
          </a:solidFill>
          <a:ln w="12700">
            <a:solidFill>
              <a:srgbClr val="EEF0F3"/>
            </a:solidFill>
            <a:prstDash val="solid"/>
          </a:ln>
        </p:spPr>
      </p:sp>
      <p:sp>
        <p:nvSpPr>
          <p:cNvPr id="16" name="Shape 14"/>
          <p:cNvSpPr/>
          <p:nvPr/>
        </p:nvSpPr>
        <p:spPr>
          <a:xfrm>
            <a:off x="685800" y="5047488"/>
            <a:ext cx="603504" cy="603504"/>
          </a:xfrm>
          <a:prstGeom prst="ellipse">
            <a:avLst/>
          </a:prstGeom>
          <a:solidFill>
            <a:srgbClr val="1F2A44"/>
          </a:solidFill>
          <a:ln w="12700">
            <a:solidFill>
              <a:srgbClr val="1F2A44"/>
            </a:solidFill>
            <a:prstDash val="solid"/>
          </a:ln>
        </p:spPr>
      </p:sp>
      <p:sp>
        <p:nvSpPr>
          <p:cNvPr id="17" name="Text 15"/>
          <p:cNvSpPr txBox="1"/>
          <p:nvPr/>
        </p:nvSpPr>
        <p:spPr>
          <a:xfrm>
            <a:off x="685800" y="504748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8" name="Text 16"/>
          <p:cNvSpPr txBox="1"/>
          <p:nvPr/>
        </p:nvSpPr>
        <p:spPr>
          <a:xfrm>
            <a:off x="1554480" y="4892040"/>
            <a:ext cx="9966960" cy="914400"/>
          </a:xfrm>
          <a:prstGeom prst="rect">
            <a:avLst/>
          </a:prstGeom>
          <a:noFill/>
          <a:ln/>
        </p:spPr>
        <p:txBody>
          <a:bodyPr wrap="square" lIns="0" tIns="0" rIns="0" bIns="0" rtlCol="0" anchor="ctr"/>
          <a:lstStyle/>
          <a:p>
            <a:pPr indent="0" marL="0">
              <a:buNone/>
            </a:pPr>
            <a:r>
              <a:rPr lang="en-US" sz="2000" dirty="0">
                <a:solidFill>
                  <a:srgbClr val="222831"/>
                </a:solidFill>
                <a:latin typeface="Calibri" pitchFamily="34" charset="0"/>
                <a:ea typeface="Calibri" pitchFamily="34" charset="-122"/>
                <a:cs typeface="Calibri" pitchFamily="34" charset="-120"/>
              </a:rPr>
              <a:t>Tình huống dùng Nova Events (agency) và Ngân hàng An Phát (Key Account) — mọi tên, con số là giả định</a:t>
            </a:r>
            <a:endParaRPr lang="en-US" sz="2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1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1</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Nova tổ chức hội nghị khách hàng cho An Phát tại một khách sạn trong khu dân cư. Cư dân lân cận phản ánh tiếng ồn từ buổi tổng duyệt và yêu cầu Nova dừng âm thanh sau 22 giờ ngay trong tuần này. Họ chưa có cách nào buộc Nova phải làm theo. Theo Salience Model, cư dân lúc này thuộc nhóm nào?</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Dormant (ngủ yên)</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Dangerous (nguy hiểm)</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Dependent (phụ thuộc)</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Definitive (quyết định)</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2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2</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Địa ốc Sông Xanh đem lại cho Nova doanh thu lớn nhất (3,5 tỷ/năm), Nova làm tốt các sự kiện mở bán của họ, nhưng Sông Xanh đấu thầu từng sự kiện theo giá, năm nào cũng đổi agency và từ chối mọi đề xuất hợp đồng khung. Sông Xanh trượt tiêu chí chọn Key Account nào rõ nhất?</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Sẵn sàng đồng đầu tư (willingness to co-invest)</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Sức hấp dẫn của khách hàng (customer attractiveness)</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Vị thế cạnh tranh của agency (supplier’s competitive position)</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Không trượt tiêu chí nào, vì doanh thu lớn nhất</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3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3</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Chị Hạnh (GĐ Marketing An Phát) rất thích đề xuất chương trình khách hàng cả năm của Nova. Nhưng ông Tuấn (Phó TGĐ, người phê duyệt cuối) từ chối vì “không thấy liên quan đến mục tiêu giữ khách doanh nghiệp lớn của ngân hàng”. Theo phân tích DMU/GRASP, sai lầm chính của Nova là gì?</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Chọn sai kiểu bố trí sự kiện cho khách VIP</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Chỉ làm việc với người liên hệ chính, chưa hiểu Goal và Appeal của người có Power cao nhất</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Không gửi hồ sơ đúng quy trình cho bộ phận mua sắm</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Phân tích PESTEL của ngành sự kiện thay vì của ngân hàng</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4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4</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Năm thứ hai liên tiếp, livestream về 80 chi nhánh của An Phát bị chậm 15 phút. Chị Lan (Truyền thông nội bộ) không nói với Nova mà chỉ kể với chị Hạnh; Nova biết được qua người khác. Theo ba trụ cột chất lượng quan hệ, dấu hiệu này cho thấy điều gì?</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Quan hệ rất tốt, vì hai bên không có xung đột nào</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Commitment của An Phát quá cao nên họ bỏ qua lỗi</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Thiếu functional conflict: bất đồng không được nêu và giải quyết với Nova</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Lỗi thuộc nhà cung cấp AV nên không ảnh hưởng quan hệ</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5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5</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Trước khi triển khai chương trình khách hàng cả năm, Nova và An Phát cùng tổ chức thử một hội thảo cho 60 khách, thu phản hồi của khách và của đội An Phát để chỉnh lại định dạng. Đây là thực hành đồng kiến tạo nào?</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Co-diagnosis</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Co-ideation</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Co-design</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Co-testing</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6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6</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Một Key Account đem lại cho Nova đóng góp ròng m = 300 triệu/năm. Tỷ lệ tái ký mỗi năm r = 80%, tỷ lệ chiết khấu d = 10%. CLV trong 2 năm gần nhất với giá trị nào?</a:t>
            </a:r>
            <a:endParaRPr lang="en-US" sz="2000" dirty="0"/>
          </a:p>
          <a:p>
            <a:pPr indent="0" marL="0">
              <a:buNone/>
            </a:pPr>
            <a:r>
              <a:rPr lang="en-US" sz="1800" i="1" dirty="0">
                <a:solidFill>
                  <a:srgbClr val="1F2A44"/>
                </a:solidFill>
                <a:latin typeface="Calibri" pitchFamily="34" charset="0"/>
                <a:ea typeface="Calibri" pitchFamily="34" charset="-122"/>
                <a:cs typeface="Calibri" pitchFamily="34" charset="-120"/>
              </a:rPr>
              <a:t>CLV = Σ m × r^(t−1) / (1+d)^t  (năm 1 coi như chắc chắn)</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600 triệu</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540 triệu</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491 triệu</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471 triệu</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7</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7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6</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Dược phẩm MediPharm có biên lợi nhuận gộp cao (28%) nhưng cost-to-serve cũng cao (10% doanh thu) vì mỗi nội dung phải qua nhiều vòng duyệt pháp chế. Hành động nào phù hợp nhất với nguyên tắc “lợi ích hai phía, quan hệ công bằng”?</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Cùng MediPharm thống nhất lịch duyệt pháp chế và mẫu nội dung chuẩn để giảm số vòng sửa</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Dừng phục vụ MediPharm vì chi phí phục vụ cao</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Đơn phương tăng giá 30% cho mọi sự kiện của MediPharm</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Giữ nguyên mọi thứ vì biên lợi nhuận đã cao</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8</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8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7</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Khách sạn mà Nova sắp ký cho gala của An Phát có điều khoản bắt buộc dùng AV nội bộ, không cho mang AV bên ngoài vào. Chi phí AV chỉ chiếm phần nhỏ trong ngân sách. Theo ma trận Kraljic (xếp theo hạng mục), AV thuộc ô nào và Nova nên làm gì?</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Non-critical — mua theo quy trình đơn giản, không cần chú ý</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Leverage — ép giá vì có nhiều nhà cung cấp AV trên thị trường</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Bottleneck — đưa báo giá AV và phí phát sinh vào đàm phán trước khi ký hợp đồng khách sạn</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Strategic — xây quan hệ đối tác dài hạn với đơn vị AV của khách sạn</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9</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9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8</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Chị Hạnh nghỉ việc. GĐ Marketing mới (anh Minh) không biết Nova và cho rà soát toàn bộ agency. Nova nhận ra mình chỉ có quan hệ với chị Hạnh. Đây là hệ quả của mô hình tiếp xúc nào, và Nova nên chuyển sang mô hình nào?</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Diamond → chuyển sang Bow-tie</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Bow-tie → chuyển sang Diamond, xây đầu mối nhiều cấp, nhiều chức năng</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Bow-tie → giữ nguyên, chỉ cần làm quen với anh Minh</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Diamond → giảm số người tiếp xúc để tránh rối</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E07A5F"/>
          </a:solidFill>
          <a:ln w="12700">
            <a:solidFill>
              <a:srgbClr val="E07A5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10</a:t>
            </a:r>
            <a:endParaRPr lang="en-US" sz="3000" dirty="0"/>
          </a:p>
        </p:txBody>
      </p:sp>
      <p:sp>
        <p:nvSpPr>
          <p:cNvPr id="4" name="Text 2"/>
          <p:cNvSpPr txBox="1"/>
          <p:nvPr/>
        </p:nvSpPr>
        <p:spPr>
          <a:xfrm>
            <a:off x="1508760" y="384048"/>
            <a:ext cx="4572000" cy="457200"/>
          </a:xfrm>
          <a:prstGeom prst="rect">
            <a:avLst/>
          </a:prstGeom>
          <a:noFill/>
          <a:ln/>
        </p:spPr>
        <p:txBody>
          <a:bodyPr wrap="square" lIns="0" tIns="0" rIns="0" bIns="0" rtlCol="0" anchor="t"/>
          <a:lstStyle/>
          <a:p>
            <a:pPr indent="0" marL="0">
              <a:buNone/>
            </a:pPr>
            <a:r>
              <a:rPr lang="en-US" sz="2400" b="1" dirty="0">
                <a:solidFill>
                  <a:srgbClr val="1F2A44"/>
                </a:solidFill>
                <a:latin typeface="Cambria" pitchFamily="34" charset="0"/>
                <a:ea typeface="Cambria" pitchFamily="34" charset="-122"/>
                <a:cs typeface="Cambria" pitchFamily="34" charset="-120"/>
              </a:rPr>
              <a:t>Câu 10 / 10</a:t>
            </a:r>
            <a:endParaRPr lang="en-US" sz="2400" dirty="0"/>
          </a:p>
        </p:txBody>
      </p:sp>
      <p:sp>
        <p:nvSpPr>
          <p:cNvPr id="5" name="Text 3"/>
          <p:cNvSpPr txBox="1"/>
          <p:nvPr/>
        </p:nvSpPr>
        <p:spPr>
          <a:xfrm>
            <a:off x="1508760" y="841248"/>
            <a:ext cx="4572000" cy="365760"/>
          </a:xfrm>
          <a:prstGeom prst="rect">
            <a:avLst/>
          </a:prstGeom>
          <a:noFill/>
          <a:ln/>
        </p:spPr>
        <p:txBody>
          <a:bodyPr wrap="square" lIns="0" tIns="0" rIns="0" bIns="0" rtlCol="0" anchor="t"/>
          <a:lstStyle/>
          <a:p>
            <a:pPr indent="0" marL="0">
              <a:buNone/>
            </a:pPr>
            <a:r>
              <a:rPr lang="en-US" sz="1400" dirty="0">
                <a:solidFill>
                  <a:srgbClr val="8A8F98"/>
                </a:solidFill>
                <a:latin typeface="Calibri" pitchFamily="34" charset="0"/>
                <a:ea typeface="Calibri" pitchFamily="34" charset="-122"/>
                <a:cs typeface="Calibri" pitchFamily="34" charset="-120"/>
              </a:rPr>
              <a:t>Buổi 8</a:t>
            </a:r>
            <a:endParaRPr lang="en-US" sz="1400" dirty="0"/>
          </a:p>
        </p:txBody>
      </p:sp>
      <p:sp>
        <p:nvSpPr>
          <p:cNvPr id="6" name="Text 4"/>
          <p:cNvSpPr txBox="1"/>
          <p:nvPr/>
        </p:nvSpPr>
        <p:spPr>
          <a:xfrm>
            <a:off x="457200" y="1417320"/>
            <a:ext cx="11247120" cy="1691640"/>
          </a:xfrm>
          <a:prstGeom prst="rect">
            <a:avLst/>
          </a:prstGeom>
          <a:noFill/>
          <a:ln/>
        </p:spPr>
        <p:txBody>
          <a:bodyPr wrap="square" lIns="0" tIns="0" rIns="0" bIns="0" rtlCol="0" anchor="t"/>
          <a:lstStyle/>
          <a:p>
            <a:pPr indent="0" marL="0">
              <a:buNone/>
            </a:pPr>
            <a:r>
              <a:rPr lang="en-US" sz="2000" dirty="0">
                <a:solidFill>
                  <a:srgbClr val="222831"/>
                </a:solidFill>
                <a:latin typeface="Calibri" pitchFamily="34" charset="0"/>
                <a:ea typeface="Calibri" pitchFamily="34" charset="-122"/>
                <a:cs typeface="Calibri" pitchFamily="34" charset="-120"/>
              </a:rPr>
              <a:t>Sau hội thảo quản trị dòng tiền, Nova khảo sát và thấy 60% khách tham dự đã áp dụng ít nhất một công cụ học được vào doanh nghiệp của họ trong 3 tháng. Theo khung ROI 6 cấp, chỉ số này thuộc cấp nào?</a:t>
            </a:r>
            <a:endParaRPr lang="en-US" sz="2000" dirty="0"/>
          </a:p>
        </p:txBody>
      </p:sp>
      <p:sp>
        <p:nvSpPr>
          <p:cNvPr id="7" name="Shape 5"/>
          <p:cNvSpPr/>
          <p:nvPr/>
        </p:nvSpPr>
        <p:spPr>
          <a:xfrm>
            <a:off x="457200" y="3246120"/>
            <a:ext cx="5532120" cy="1325880"/>
          </a:xfrm>
          <a:prstGeom prst="roundRect">
            <a:avLst>
              <a:gd name="adj" fmla="val 8276"/>
            </a:avLst>
          </a:prstGeom>
          <a:solidFill>
            <a:srgbClr val="EEF0F3"/>
          </a:solidFill>
          <a:ln w="12700">
            <a:solidFill>
              <a:srgbClr val="D5D9E0"/>
            </a:solidFill>
            <a:prstDash val="solid"/>
          </a:ln>
        </p:spPr>
      </p:sp>
      <p:sp>
        <p:nvSpPr>
          <p:cNvPr id="8" name="Shape 6"/>
          <p:cNvSpPr/>
          <p:nvPr/>
        </p:nvSpPr>
        <p:spPr>
          <a:xfrm>
            <a:off x="640080" y="3584448"/>
            <a:ext cx="640080" cy="640080"/>
          </a:xfrm>
          <a:prstGeom prst="ellipse">
            <a:avLst/>
          </a:prstGeom>
          <a:solidFill>
            <a:srgbClr val="1F2A44"/>
          </a:solidFill>
          <a:ln w="12700">
            <a:solidFill>
              <a:srgbClr val="1F2A44"/>
            </a:solidFill>
            <a:prstDash val="solid"/>
          </a:ln>
        </p:spPr>
      </p:sp>
      <p:sp>
        <p:nvSpPr>
          <p:cNvPr id="9" name="Text 7"/>
          <p:cNvSpPr txBox="1"/>
          <p:nvPr/>
        </p:nvSpPr>
        <p:spPr>
          <a:xfrm>
            <a:off x="640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0" name="Text 8"/>
          <p:cNvSpPr txBox="1"/>
          <p:nvPr/>
        </p:nvSpPr>
        <p:spPr>
          <a:xfrm>
            <a:off x="1463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Cấp 3 — thay đổi hành vi (behaviour)</a:t>
            </a:r>
            <a:endParaRPr lang="en-US" sz="1800" dirty="0"/>
          </a:p>
        </p:txBody>
      </p:sp>
      <p:sp>
        <p:nvSpPr>
          <p:cNvPr id="11" name="Shape 9"/>
          <p:cNvSpPr/>
          <p:nvPr/>
        </p:nvSpPr>
        <p:spPr>
          <a:xfrm>
            <a:off x="6172200" y="3246120"/>
            <a:ext cx="5532120" cy="1325880"/>
          </a:xfrm>
          <a:prstGeom prst="roundRect">
            <a:avLst>
              <a:gd name="adj" fmla="val 8276"/>
            </a:avLst>
          </a:prstGeom>
          <a:solidFill>
            <a:srgbClr val="EEF0F3"/>
          </a:solidFill>
          <a:ln w="12700">
            <a:solidFill>
              <a:srgbClr val="D5D9E0"/>
            </a:solidFill>
            <a:prstDash val="solid"/>
          </a:ln>
        </p:spPr>
      </p:sp>
      <p:sp>
        <p:nvSpPr>
          <p:cNvPr id="12" name="Shape 10"/>
          <p:cNvSpPr/>
          <p:nvPr/>
        </p:nvSpPr>
        <p:spPr>
          <a:xfrm>
            <a:off x="6355080" y="3584448"/>
            <a:ext cx="640080" cy="640080"/>
          </a:xfrm>
          <a:prstGeom prst="ellipse">
            <a:avLst/>
          </a:prstGeom>
          <a:solidFill>
            <a:srgbClr val="1F2A44"/>
          </a:solidFill>
          <a:ln w="12700">
            <a:solidFill>
              <a:srgbClr val="1F2A44"/>
            </a:solidFill>
            <a:prstDash val="solid"/>
          </a:ln>
        </p:spPr>
      </p:sp>
      <p:sp>
        <p:nvSpPr>
          <p:cNvPr id="13" name="Text 11"/>
          <p:cNvSpPr txBox="1"/>
          <p:nvPr/>
        </p:nvSpPr>
        <p:spPr>
          <a:xfrm>
            <a:off x="6355080" y="35844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a:t>
            </a:r>
            <a:endParaRPr lang="en-US" sz="2400" dirty="0"/>
          </a:p>
        </p:txBody>
      </p:sp>
      <p:sp>
        <p:nvSpPr>
          <p:cNvPr id="14" name="Text 12"/>
          <p:cNvSpPr txBox="1"/>
          <p:nvPr/>
        </p:nvSpPr>
        <p:spPr>
          <a:xfrm>
            <a:off x="7178040" y="333756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Cấp 1 — hài lòng</a:t>
            </a:r>
            <a:endParaRPr lang="en-US" sz="1800" dirty="0"/>
          </a:p>
        </p:txBody>
      </p:sp>
      <p:sp>
        <p:nvSpPr>
          <p:cNvPr id="15" name="Shape 13"/>
          <p:cNvSpPr/>
          <p:nvPr/>
        </p:nvSpPr>
        <p:spPr>
          <a:xfrm>
            <a:off x="457200" y="4754880"/>
            <a:ext cx="5532120" cy="1325880"/>
          </a:xfrm>
          <a:prstGeom prst="roundRect">
            <a:avLst>
              <a:gd name="adj" fmla="val 8276"/>
            </a:avLst>
          </a:prstGeom>
          <a:solidFill>
            <a:srgbClr val="EEF0F3"/>
          </a:solidFill>
          <a:ln w="12700">
            <a:solidFill>
              <a:srgbClr val="D5D9E0"/>
            </a:solidFill>
            <a:prstDash val="solid"/>
          </a:ln>
        </p:spPr>
      </p:sp>
      <p:sp>
        <p:nvSpPr>
          <p:cNvPr id="16" name="Shape 14"/>
          <p:cNvSpPr/>
          <p:nvPr/>
        </p:nvSpPr>
        <p:spPr>
          <a:xfrm>
            <a:off x="640080" y="5093208"/>
            <a:ext cx="640080" cy="640080"/>
          </a:xfrm>
          <a:prstGeom prst="ellipse">
            <a:avLst/>
          </a:prstGeom>
          <a:solidFill>
            <a:srgbClr val="1F2A44"/>
          </a:solidFill>
          <a:ln w="12700">
            <a:solidFill>
              <a:srgbClr val="1F2A44"/>
            </a:solidFill>
            <a:prstDash val="solid"/>
          </a:ln>
        </p:spPr>
      </p:sp>
      <p:sp>
        <p:nvSpPr>
          <p:cNvPr id="17" name="Text 15"/>
          <p:cNvSpPr txBox="1"/>
          <p:nvPr/>
        </p:nvSpPr>
        <p:spPr>
          <a:xfrm>
            <a:off x="640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18" name="Text 16"/>
          <p:cNvSpPr txBox="1"/>
          <p:nvPr/>
        </p:nvSpPr>
        <p:spPr>
          <a:xfrm>
            <a:off x="1463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Cấp 2 — học được</a:t>
            </a:r>
            <a:endParaRPr lang="en-US" sz="1800" dirty="0"/>
          </a:p>
        </p:txBody>
      </p:sp>
      <p:sp>
        <p:nvSpPr>
          <p:cNvPr id="19" name="Shape 17"/>
          <p:cNvSpPr/>
          <p:nvPr/>
        </p:nvSpPr>
        <p:spPr>
          <a:xfrm>
            <a:off x="6172200" y="4754880"/>
            <a:ext cx="5532120" cy="1325880"/>
          </a:xfrm>
          <a:prstGeom prst="roundRect">
            <a:avLst>
              <a:gd name="adj" fmla="val 8276"/>
            </a:avLst>
          </a:prstGeom>
          <a:solidFill>
            <a:srgbClr val="EEF0F3"/>
          </a:solidFill>
          <a:ln w="12700">
            <a:solidFill>
              <a:srgbClr val="D5D9E0"/>
            </a:solidFill>
            <a:prstDash val="solid"/>
          </a:ln>
        </p:spPr>
      </p:sp>
      <p:sp>
        <p:nvSpPr>
          <p:cNvPr id="20" name="Shape 18"/>
          <p:cNvSpPr/>
          <p:nvPr/>
        </p:nvSpPr>
        <p:spPr>
          <a:xfrm>
            <a:off x="6355080" y="5093208"/>
            <a:ext cx="640080" cy="640080"/>
          </a:xfrm>
          <a:prstGeom prst="ellipse">
            <a:avLst/>
          </a:prstGeom>
          <a:solidFill>
            <a:srgbClr val="1F2A44"/>
          </a:solidFill>
          <a:ln w="12700">
            <a:solidFill>
              <a:srgbClr val="1F2A44"/>
            </a:solidFill>
            <a:prstDash val="solid"/>
          </a:ln>
        </p:spPr>
      </p:sp>
      <p:sp>
        <p:nvSpPr>
          <p:cNvPr id="21" name="Text 19"/>
          <p:cNvSpPr txBox="1"/>
          <p:nvPr/>
        </p:nvSpPr>
        <p:spPr>
          <a:xfrm>
            <a:off x="6355080" y="50932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22" name="Text 20"/>
          <p:cNvSpPr txBox="1"/>
          <p:nvPr/>
        </p:nvSpPr>
        <p:spPr>
          <a:xfrm>
            <a:off x="7178040" y="4846320"/>
            <a:ext cx="4389120" cy="1143000"/>
          </a:xfrm>
          <a:prstGeom prst="rect">
            <a:avLst/>
          </a:prstGeom>
          <a:noFill/>
          <a:ln/>
        </p:spPr>
        <p:txBody>
          <a:bodyPr wrap="square" lIns="0" tIns="0" rIns="0" bIns="0" rtlCol="0" anchor="ctr"/>
          <a:lstStyle/>
          <a:p>
            <a:pPr indent="0" marL="0">
              <a:buNone/>
            </a:pPr>
            <a:r>
              <a:rPr lang="en-US" sz="1800" dirty="0">
                <a:solidFill>
                  <a:srgbClr val="222831"/>
                </a:solidFill>
                <a:latin typeface="Calibri" pitchFamily="34" charset="0"/>
                <a:ea typeface="Calibri" pitchFamily="34" charset="-122"/>
                <a:cs typeface="Calibri" pitchFamily="34" charset="-120"/>
              </a:rPr>
              <a:t>Cấp 5 — ROI</a:t>
            </a:r>
            <a:endParaRPr lang="en-US" sz="18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1520" y="1463040"/>
            <a:ext cx="1188720" cy="1188720"/>
          </a:xfrm>
          <a:prstGeom prst="ellipse">
            <a:avLst/>
          </a:prstGeom>
          <a:solidFill>
            <a:srgbClr val="2A9D8F"/>
          </a:solidFill>
          <a:ln w="12700">
            <a:solidFill>
              <a:srgbClr val="2A9D8F"/>
            </a:solidFill>
            <a:prstDash val="solid"/>
          </a:ln>
        </p:spPr>
      </p:sp>
      <p:sp>
        <p:nvSpPr>
          <p:cNvPr id="3" name="Text 1"/>
          <p:cNvSpPr txBox="1"/>
          <p:nvPr/>
        </p:nvSpPr>
        <p:spPr>
          <a:xfrm>
            <a:off x="731520" y="1463040"/>
            <a:ext cx="1188720" cy="118872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a:t>
            </a:r>
            <a:endParaRPr lang="en-US" sz="4400" dirty="0"/>
          </a:p>
        </p:txBody>
      </p:sp>
      <p:sp>
        <p:nvSpPr>
          <p:cNvPr id="4" name="Text 2"/>
          <p:cNvSpPr txBox="1"/>
          <p:nvPr/>
        </p:nvSpPr>
        <p:spPr>
          <a:xfrm>
            <a:off x="731520" y="2926080"/>
            <a:ext cx="10515600" cy="9144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Đáp án và giải thích</a:t>
            </a:r>
            <a:endParaRPr lang="en-US" sz="4400" dirty="0"/>
          </a:p>
        </p:txBody>
      </p:sp>
      <p:sp>
        <p:nvSpPr>
          <p:cNvPr id="5" name="Text 3"/>
          <p:cNvSpPr txBox="1"/>
          <p:nvPr/>
        </p:nvSpPr>
        <p:spPr>
          <a:xfrm>
            <a:off x="731520" y="3931920"/>
            <a:ext cx="10515600" cy="457200"/>
          </a:xfrm>
          <a:prstGeom prst="rect">
            <a:avLst/>
          </a:prstGeom>
          <a:noFill/>
          <a:ln/>
        </p:spPr>
        <p:txBody>
          <a:bodyPr wrap="square" lIns="0" tIns="0" rIns="0" bIns="0" rtlCol="0" anchor="t"/>
          <a:lstStyle/>
          <a:p>
            <a:pPr indent="0" marL="0">
              <a:buNone/>
            </a:pPr>
            <a:r>
              <a:rPr lang="en-US" sz="2000" dirty="0">
                <a:solidFill>
                  <a:srgbClr val="E07A5F"/>
                </a:solidFill>
                <a:latin typeface="Calibri" pitchFamily="34" charset="0"/>
                <a:ea typeface="Calibri" pitchFamily="34" charset="-122"/>
                <a:cs typeface="Calibri" pitchFamily="34" charset="-120"/>
              </a:rPr>
              <a:t>Chỉ chiếu sau khi đã thu bài</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411480"/>
            <a:ext cx="11247120" cy="731520"/>
          </a:xfrm>
          <a:prstGeom prst="rect">
            <a:avLst/>
          </a:prstGeom>
          <a:noFill/>
          <a:ln/>
        </p:spPr>
        <p:txBody>
          <a:bodyPr wrap="square" lIns="0" tIns="0" rIns="0" bIns="0" rtlCol="0" anchor="t"/>
          <a:lstStyle/>
          <a:p>
            <a:pPr indent="0" marL="0">
              <a:buNone/>
            </a:pPr>
            <a:r>
              <a:rPr lang="en-US" sz="3600" b="1" dirty="0">
                <a:solidFill>
                  <a:srgbClr val="1F2A44"/>
                </a:solidFill>
                <a:latin typeface="Cambria" pitchFamily="34" charset="0"/>
                <a:ea typeface="Cambria" pitchFamily="34" charset="-122"/>
                <a:cs typeface="Cambria" pitchFamily="34" charset="-120"/>
              </a:rPr>
              <a:t>Bảng đáp án</a:t>
            </a:r>
            <a:endParaRPr lang="en-US" sz="3600" dirty="0"/>
          </a:p>
        </p:txBody>
      </p:sp>
      <p:sp>
        <p:nvSpPr>
          <p:cNvPr id="3" name="Shape 1"/>
          <p:cNvSpPr/>
          <p:nvPr/>
        </p:nvSpPr>
        <p:spPr>
          <a:xfrm>
            <a:off x="457200" y="1645920"/>
            <a:ext cx="2011680" cy="1920240"/>
          </a:xfrm>
          <a:prstGeom prst="roundRect">
            <a:avLst>
              <a:gd name="adj" fmla="val 7143"/>
            </a:avLst>
          </a:prstGeom>
          <a:solidFill>
            <a:srgbClr val="EEF0F3"/>
          </a:solidFill>
          <a:ln w="12700">
            <a:solidFill>
              <a:srgbClr val="EEF0F3"/>
            </a:solidFill>
            <a:prstDash val="solid"/>
          </a:ln>
        </p:spPr>
      </p:sp>
      <p:sp>
        <p:nvSpPr>
          <p:cNvPr id="4" name="Text 2"/>
          <p:cNvSpPr txBox="1"/>
          <p:nvPr/>
        </p:nvSpPr>
        <p:spPr>
          <a:xfrm>
            <a:off x="457200" y="1828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1</a:t>
            </a:r>
            <a:endParaRPr lang="en-US" sz="1800" dirty="0"/>
          </a:p>
        </p:txBody>
      </p:sp>
      <p:sp>
        <p:nvSpPr>
          <p:cNvPr id="5" name="Shape 3"/>
          <p:cNvSpPr/>
          <p:nvPr/>
        </p:nvSpPr>
        <p:spPr>
          <a:xfrm>
            <a:off x="1005840" y="2331720"/>
            <a:ext cx="914400" cy="914400"/>
          </a:xfrm>
          <a:prstGeom prst="ellipse">
            <a:avLst/>
          </a:prstGeom>
          <a:solidFill>
            <a:srgbClr val="2A9D8F"/>
          </a:solidFill>
          <a:ln w="12700">
            <a:solidFill>
              <a:srgbClr val="2A9D8F"/>
            </a:solidFill>
            <a:prstDash val="solid"/>
          </a:ln>
        </p:spPr>
      </p:sp>
      <p:sp>
        <p:nvSpPr>
          <p:cNvPr id="6" name="Text 4"/>
          <p:cNvSpPr txBox="1"/>
          <p:nvPr/>
        </p:nvSpPr>
        <p:spPr>
          <a:xfrm>
            <a:off x="1005840" y="2331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C</a:t>
            </a:r>
            <a:endParaRPr lang="en-US" sz="3200" dirty="0"/>
          </a:p>
        </p:txBody>
      </p:sp>
      <p:sp>
        <p:nvSpPr>
          <p:cNvPr id="7" name="Text 5"/>
          <p:cNvSpPr txBox="1"/>
          <p:nvPr/>
        </p:nvSpPr>
        <p:spPr>
          <a:xfrm>
            <a:off x="457200" y="3291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1</a:t>
            </a:r>
            <a:endParaRPr lang="en-US" sz="1200" dirty="0"/>
          </a:p>
        </p:txBody>
      </p:sp>
      <p:sp>
        <p:nvSpPr>
          <p:cNvPr id="8" name="Shape 6"/>
          <p:cNvSpPr/>
          <p:nvPr/>
        </p:nvSpPr>
        <p:spPr>
          <a:xfrm>
            <a:off x="2743200" y="1645920"/>
            <a:ext cx="2011680" cy="1920240"/>
          </a:xfrm>
          <a:prstGeom prst="roundRect">
            <a:avLst>
              <a:gd name="adj" fmla="val 7143"/>
            </a:avLst>
          </a:prstGeom>
          <a:solidFill>
            <a:srgbClr val="EEF0F3"/>
          </a:solidFill>
          <a:ln w="12700">
            <a:solidFill>
              <a:srgbClr val="EEF0F3"/>
            </a:solidFill>
            <a:prstDash val="solid"/>
          </a:ln>
        </p:spPr>
      </p:sp>
      <p:sp>
        <p:nvSpPr>
          <p:cNvPr id="9" name="Text 7"/>
          <p:cNvSpPr txBox="1"/>
          <p:nvPr/>
        </p:nvSpPr>
        <p:spPr>
          <a:xfrm>
            <a:off x="2743200" y="1828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2</a:t>
            </a:r>
            <a:endParaRPr lang="en-US" sz="1800" dirty="0"/>
          </a:p>
        </p:txBody>
      </p:sp>
      <p:sp>
        <p:nvSpPr>
          <p:cNvPr id="10" name="Shape 8"/>
          <p:cNvSpPr/>
          <p:nvPr/>
        </p:nvSpPr>
        <p:spPr>
          <a:xfrm>
            <a:off x="3291840" y="2331720"/>
            <a:ext cx="914400" cy="914400"/>
          </a:xfrm>
          <a:prstGeom prst="ellipse">
            <a:avLst/>
          </a:prstGeom>
          <a:solidFill>
            <a:srgbClr val="2A9D8F"/>
          </a:solidFill>
          <a:ln w="12700">
            <a:solidFill>
              <a:srgbClr val="2A9D8F"/>
            </a:solidFill>
            <a:prstDash val="solid"/>
          </a:ln>
        </p:spPr>
      </p:sp>
      <p:sp>
        <p:nvSpPr>
          <p:cNvPr id="11" name="Text 9"/>
          <p:cNvSpPr txBox="1"/>
          <p:nvPr/>
        </p:nvSpPr>
        <p:spPr>
          <a:xfrm>
            <a:off x="3291840" y="2331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a:t>
            </a:r>
            <a:endParaRPr lang="en-US" sz="3200" dirty="0"/>
          </a:p>
        </p:txBody>
      </p:sp>
      <p:sp>
        <p:nvSpPr>
          <p:cNvPr id="12" name="Text 10"/>
          <p:cNvSpPr txBox="1"/>
          <p:nvPr/>
        </p:nvSpPr>
        <p:spPr>
          <a:xfrm>
            <a:off x="2743200" y="3291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2</a:t>
            </a:r>
            <a:endParaRPr lang="en-US" sz="1200" dirty="0"/>
          </a:p>
        </p:txBody>
      </p:sp>
      <p:sp>
        <p:nvSpPr>
          <p:cNvPr id="13" name="Shape 11"/>
          <p:cNvSpPr/>
          <p:nvPr/>
        </p:nvSpPr>
        <p:spPr>
          <a:xfrm>
            <a:off x="5029200" y="1645920"/>
            <a:ext cx="2011680" cy="1920240"/>
          </a:xfrm>
          <a:prstGeom prst="roundRect">
            <a:avLst>
              <a:gd name="adj" fmla="val 7143"/>
            </a:avLst>
          </a:prstGeom>
          <a:solidFill>
            <a:srgbClr val="EEF0F3"/>
          </a:solidFill>
          <a:ln w="12700">
            <a:solidFill>
              <a:srgbClr val="EEF0F3"/>
            </a:solidFill>
            <a:prstDash val="solid"/>
          </a:ln>
        </p:spPr>
      </p:sp>
      <p:sp>
        <p:nvSpPr>
          <p:cNvPr id="14" name="Text 12"/>
          <p:cNvSpPr txBox="1"/>
          <p:nvPr/>
        </p:nvSpPr>
        <p:spPr>
          <a:xfrm>
            <a:off x="5029200" y="1828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3</a:t>
            </a:r>
            <a:endParaRPr lang="en-US" sz="1800" dirty="0"/>
          </a:p>
        </p:txBody>
      </p:sp>
      <p:sp>
        <p:nvSpPr>
          <p:cNvPr id="15" name="Shape 13"/>
          <p:cNvSpPr/>
          <p:nvPr/>
        </p:nvSpPr>
        <p:spPr>
          <a:xfrm>
            <a:off x="5577840" y="2331720"/>
            <a:ext cx="914400" cy="914400"/>
          </a:xfrm>
          <a:prstGeom prst="ellipse">
            <a:avLst/>
          </a:prstGeom>
          <a:solidFill>
            <a:srgbClr val="2A9D8F"/>
          </a:solidFill>
          <a:ln w="12700">
            <a:solidFill>
              <a:srgbClr val="2A9D8F"/>
            </a:solidFill>
            <a:prstDash val="solid"/>
          </a:ln>
        </p:spPr>
      </p:sp>
      <p:sp>
        <p:nvSpPr>
          <p:cNvPr id="16" name="Text 14"/>
          <p:cNvSpPr txBox="1"/>
          <p:nvPr/>
        </p:nvSpPr>
        <p:spPr>
          <a:xfrm>
            <a:off x="5577840" y="2331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B</a:t>
            </a:r>
            <a:endParaRPr lang="en-US" sz="3200" dirty="0"/>
          </a:p>
        </p:txBody>
      </p:sp>
      <p:sp>
        <p:nvSpPr>
          <p:cNvPr id="17" name="Text 15"/>
          <p:cNvSpPr txBox="1"/>
          <p:nvPr/>
        </p:nvSpPr>
        <p:spPr>
          <a:xfrm>
            <a:off x="5029200" y="3291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3</a:t>
            </a:r>
            <a:endParaRPr lang="en-US" sz="1200" dirty="0"/>
          </a:p>
        </p:txBody>
      </p:sp>
      <p:sp>
        <p:nvSpPr>
          <p:cNvPr id="18" name="Shape 16"/>
          <p:cNvSpPr/>
          <p:nvPr/>
        </p:nvSpPr>
        <p:spPr>
          <a:xfrm>
            <a:off x="7315200" y="1645920"/>
            <a:ext cx="2011680" cy="1920240"/>
          </a:xfrm>
          <a:prstGeom prst="roundRect">
            <a:avLst>
              <a:gd name="adj" fmla="val 7143"/>
            </a:avLst>
          </a:prstGeom>
          <a:solidFill>
            <a:srgbClr val="EEF0F3"/>
          </a:solidFill>
          <a:ln w="12700">
            <a:solidFill>
              <a:srgbClr val="EEF0F3"/>
            </a:solidFill>
            <a:prstDash val="solid"/>
          </a:ln>
        </p:spPr>
      </p:sp>
      <p:sp>
        <p:nvSpPr>
          <p:cNvPr id="19" name="Text 17"/>
          <p:cNvSpPr txBox="1"/>
          <p:nvPr/>
        </p:nvSpPr>
        <p:spPr>
          <a:xfrm>
            <a:off x="7315200" y="1828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4</a:t>
            </a:r>
            <a:endParaRPr lang="en-US" sz="1800" dirty="0"/>
          </a:p>
        </p:txBody>
      </p:sp>
      <p:sp>
        <p:nvSpPr>
          <p:cNvPr id="20" name="Shape 18"/>
          <p:cNvSpPr/>
          <p:nvPr/>
        </p:nvSpPr>
        <p:spPr>
          <a:xfrm>
            <a:off x="7863840" y="2331720"/>
            <a:ext cx="914400" cy="914400"/>
          </a:xfrm>
          <a:prstGeom prst="ellipse">
            <a:avLst/>
          </a:prstGeom>
          <a:solidFill>
            <a:srgbClr val="2A9D8F"/>
          </a:solidFill>
          <a:ln w="12700">
            <a:solidFill>
              <a:srgbClr val="2A9D8F"/>
            </a:solidFill>
            <a:prstDash val="solid"/>
          </a:ln>
        </p:spPr>
      </p:sp>
      <p:sp>
        <p:nvSpPr>
          <p:cNvPr id="21" name="Text 19"/>
          <p:cNvSpPr txBox="1"/>
          <p:nvPr/>
        </p:nvSpPr>
        <p:spPr>
          <a:xfrm>
            <a:off x="7863840" y="2331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C</a:t>
            </a:r>
            <a:endParaRPr lang="en-US" sz="3200" dirty="0"/>
          </a:p>
        </p:txBody>
      </p:sp>
      <p:sp>
        <p:nvSpPr>
          <p:cNvPr id="22" name="Text 20"/>
          <p:cNvSpPr txBox="1"/>
          <p:nvPr/>
        </p:nvSpPr>
        <p:spPr>
          <a:xfrm>
            <a:off x="7315200" y="3291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4</a:t>
            </a:r>
            <a:endParaRPr lang="en-US" sz="1200" dirty="0"/>
          </a:p>
        </p:txBody>
      </p:sp>
      <p:sp>
        <p:nvSpPr>
          <p:cNvPr id="23" name="Shape 21"/>
          <p:cNvSpPr/>
          <p:nvPr/>
        </p:nvSpPr>
        <p:spPr>
          <a:xfrm>
            <a:off x="9601200" y="1645920"/>
            <a:ext cx="2011680" cy="1920240"/>
          </a:xfrm>
          <a:prstGeom prst="roundRect">
            <a:avLst>
              <a:gd name="adj" fmla="val 7143"/>
            </a:avLst>
          </a:prstGeom>
          <a:solidFill>
            <a:srgbClr val="EEF0F3"/>
          </a:solidFill>
          <a:ln w="12700">
            <a:solidFill>
              <a:srgbClr val="EEF0F3"/>
            </a:solidFill>
            <a:prstDash val="solid"/>
          </a:ln>
        </p:spPr>
      </p:sp>
      <p:sp>
        <p:nvSpPr>
          <p:cNvPr id="24" name="Text 22"/>
          <p:cNvSpPr txBox="1"/>
          <p:nvPr/>
        </p:nvSpPr>
        <p:spPr>
          <a:xfrm>
            <a:off x="9601200" y="1828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5</a:t>
            </a:r>
            <a:endParaRPr lang="en-US" sz="1800" dirty="0"/>
          </a:p>
        </p:txBody>
      </p:sp>
      <p:sp>
        <p:nvSpPr>
          <p:cNvPr id="25" name="Shape 23"/>
          <p:cNvSpPr/>
          <p:nvPr/>
        </p:nvSpPr>
        <p:spPr>
          <a:xfrm>
            <a:off x="10149840" y="2331720"/>
            <a:ext cx="914400" cy="914400"/>
          </a:xfrm>
          <a:prstGeom prst="ellipse">
            <a:avLst/>
          </a:prstGeom>
          <a:solidFill>
            <a:srgbClr val="2A9D8F"/>
          </a:solidFill>
          <a:ln w="12700">
            <a:solidFill>
              <a:srgbClr val="2A9D8F"/>
            </a:solidFill>
            <a:prstDash val="solid"/>
          </a:ln>
        </p:spPr>
      </p:sp>
      <p:sp>
        <p:nvSpPr>
          <p:cNvPr id="26" name="Text 24"/>
          <p:cNvSpPr txBox="1"/>
          <p:nvPr/>
        </p:nvSpPr>
        <p:spPr>
          <a:xfrm>
            <a:off x="10149840" y="2331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D</a:t>
            </a:r>
            <a:endParaRPr lang="en-US" sz="3200" dirty="0"/>
          </a:p>
        </p:txBody>
      </p:sp>
      <p:sp>
        <p:nvSpPr>
          <p:cNvPr id="27" name="Text 25"/>
          <p:cNvSpPr txBox="1"/>
          <p:nvPr/>
        </p:nvSpPr>
        <p:spPr>
          <a:xfrm>
            <a:off x="9601200" y="3291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5</a:t>
            </a:r>
            <a:endParaRPr lang="en-US" sz="1200" dirty="0"/>
          </a:p>
        </p:txBody>
      </p:sp>
      <p:sp>
        <p:nvSpPr>
          <p:cNvPr id="28" name="Shape 26"/>
          <p:cNvSpPr/>
          <p:nvPr/>
        </p:nvSpPr>
        <p:spPr>
          <a:xfrm>
            <a:off x="457200" y="3931920"/>
            <a:ext cx="2011680" cy="1920240"/>
          </a:xfrm>
          <a:prstGeom prst="roundRect">
            <a:avLst>
              <a:gd name="adj" fmla="val 7143"/>
            </a:avLst>
          </a:prstGeom>
          <a:solidFill>
            <a:srgbClr val="EEF0F3"/>
          </a:solidFill>
          <a:ln w="12700">
            <a:solidFill>
              <a:srgbClr val="EEF0F3"/>
            </a:solidFill>
            <a:prstDash val="solid"/>
          </a:ln>
        </p:spPr>
      </p:sp>
      <p:sp>
        <p:nvSpPr>
          <p:cNvPr id="29" name="Text 27"/>
          <p:cNvSpPr txBox="1"/>
          <p:nvPr/>
        </p:nvSpPr>
        <p:spPr>
          <a:xfrm>
            <a:off x="457200" y="4114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6</a:t>
            </a:r>
            <a:endParaRPr lang="en-US" sz="1800" dirty="0"/>
          </a:p>
        </p:txBody>
      </p:sp>
      <p:sp>
        <p:nvSpPr>
          <p:cNvPr id="30" name="Shape 28"/>
          <p:cNvSpPr/>
          <p:nvPr/>
        </p:nvSpPr>
        <p:spPr>
          <a:xfrm>
            <a:off x="1005840" y="4617720"/>
            <a:ext cx="914400" cy="914400"/>
          </a:xfrm>
          <a:prstGeom prst="ellipse">
            <a:avLst/>
          </a:prstGeom>
          <a:solidFill>
            <a:srgbClr val="2A9D8F"/>
          </a:solidFill>
          <a:ln w="12700">
            <a:solidFill>
              <a:srgbClr val="2A9D8F"/>
            </a:solidFill>
            <a:prstDash val="solid"/>
          </a:ln>
        </p:spPr>
      </p:sp>
      <p:sp>
        <p:nvSpPr>
          <p:cNvPr id="31" name="Text 29"/>
          <p:cNvSpPr txBox="1"/>
          <p:nvPr/>
        </p:nvSpPr>
        <p:spPr>
          <a:xfrm>
            <a:off x="1005840" y="4617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D</a:t>
            </a:r>
            <a:endParaRPr lang="en-US" sz="3200" dirty="0"/>
          </a:p>
        </p:txBody>
      </p:sp>
      <p:sp>
        <p:nvSpPr>
          <p:cNvPr id="32" name="Text 30"/>
          <p:cNvSpPr txBox="1"/>
          <p:nvPr/>
        </p:nvSpPr>
        <p:spPr>
          <a:xfrm>
            <a:off x="457200" y="5577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6</a:t>
            </a:r>
            <a:endParaRPr lang="en-US" sz="1200" dirty="0"/>
          </a:p>
        </p:txBody>
      </p:sp>
      <p:sp>
        <p:nvSpPr>
          <p:cNvPr id="33" name="Shape 31"/>
          <p:cNvSpPr/>
          <p:nvPr/>
        </p:nvSpPr>
        <p:spPr>
          <a:xfrm>
            <a:off x="2743200" y="3931920"/>
            <a:ext cx="2011680" cy="1920240"/>
          </a:xfrm>
          <a:prstGeom prst="roundRect">
            <a:avLst>
              <a:gd name="adj" fmla="val 7143"/>
            </a:avLst>
          </a:prstGeom>
          <a:solidFill>
            <a:srgbClr val="EEF0F3"/>
          </a:solidFill>
          <a:ln w="12700">
            <a:solidFill>
              <a:srgbClr val="EEF0F3"/>
            </a:solidFill>
            <a:prstDash val="solid"/>
          </a:ln>
        </p:spPr>
      </p:sp>
      <p:sp>
        <p:nvSpPr>
          <p:cNvPr id="34" name="Text 32"/>
          <p:cNvSpPr txBox="1"/>
          <p:nvPr/>
        </p:nvSpPr>
        <p:spPr>
          <a:xfrm>
            <a:off x="2743200" y="4114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7</a:t>
            </a:r>
            <a:endParaRPr lang="en-US" sz="1800" dirty="0"/>
          </a:p>
        </p:txBody>
      </p:sp>
      <p:sp>
        <p:nvSpPr>
          <p:cNvPr id="35" name="Shape 33"/>
          <p:cNvSpPr/>
          <p:nvPr/>
        </p:nvSpPr>
        <p:spPr>
          <a:xfrm>
            <a:off x="3291840" y="4617720"/>
            <a:ext cx="914400" cy="914400"/>
          </a:xfrm>
          <a:prstGeom prst="ellipse">
            <a:avLst/>
          </a:prstGeom>
          <a:solidFill>
            <a:srgbClr val="2A9D8F"/>
          </a:solidFill>
          <a:ln w="12700">
            <a:solidFill>
              <a:srgbClr val="2A9D8F"/>
            </a:solidFill>
            <a:prstDash val="solid"/>
          </a:ln>
        </p:spPr>
      </p:sp>
      <p:sp>
        <p:nvSpPr>
          <p:cNvPr id="36" name="Text 34"/>
          <p:cNvSpPr txBox="1"/>
          <p:nvPr/>
        </p:nvSpPr>
        <p:spPr>
          <a:xfrm>
            <a:off x="3291840" y="4617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a:t>
            </a:r>
            <a:endParaRPr lang="en-US" sz="3200" dirty="0"/>
          </a:p>
        </p:txBody>
      </p:sp>
      <p:sp>
        <p:nvSpPr>
          <p:cNvPr id="37" name="Text 35"/>
          <p:cNvSpPr txBox="1"/>
          <p:nvPr/>
        </p:nvSpPr>
        <p:spPr>
          <a:xfrm>
            <a:off x="2743200" y="5577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6</a:t>
            </a:r>
            <a:endParaRPr lang="en-US" sz="1200" dirty="0"/>
          </a:p>
        </p:txBody>
      </p:sp>
      <p:sp>
        <p:nvSpPr>
          <p:cNvPr id="38" name="Shape 36"/>
          <p:cNvSpPr/>
          <p:nvPr/>
        </p:nvSpPr>
        <p:spPr>
          <a:xfrm>
            <a:off x="5029200" y="3931920"/>
            <a:ext cx="2011680" cy="1920240"/>
          </a:xfrm>
          <a:prstGeom prst="roundRect">
            <a:avLst>
              <a:gd name="adj" fmla="val 7143"/>
            </a:avLst>
          </a:prstGeom>
          <a:solidFill>
            <a:srgbClr val="EEF0F3"/>
          </a:solidFill>
          <a:ln w="12700">
            <a:solidFill>
              <a:srgbClr val="EEF0F3"/>
            </a:solidFill>
            <a:prstDash val="solid"/>
          </a:ln>
        </p:spPr>
      </p:sp>
      <p:sp>
        <p:nvSpPr>
          <p:cNvPr id="39" name="Text 37"/>
          <p:cNvSpPr txBox="1"/>
          <p:nvPr/>
        </p:nvSpPr>
        <p:spPr>
          <a:xfrm>
            <a:off x="5029200" y="4114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8</a:t>
            </a:r>
            <a:endParaRPr lang="en-US" sz="1800" dirty="0"/>
          </a:p>
        </p:txBody>
      </p:sp>
      <p:sp>
        <p:nvSpPr>
          <p:cNvPr id="40" name="Shape 38"/>
          <p:cNvSpPr/>
          <p:nvPr/>
        </p:nvSpPr>
        <p:spPr>
          <a:xfrm>
            <a:off x="5577840" y="4617720"/>
            <a:ext cx="914400" cy="914400"/>
          </a:xfrm>
          <a:prstGeom prst="ellipse">
            <a:avLst/>
          </a:prstGeom>
          <a:solidFill>
            <a:srgbClr val="2A9D8F"/>
          </a:solidFill>
          <a:ln w="12700">
            <a:solidFill>
              <a:srgbClr val="2A9D8F"/>
            </a:solidFill>
            <a:prstDash val="solid"/>
          </a:ln>
        </p:spPr>
      </p:sp>
      <p:sp>
        <p:nvSpPr>
          <p:cNvPr id="41" name="Text 39"/>
          <p:cNvSpPr txBox="1"/>
          <p:nvPr/>
        </p:nvSpPr>
        <p:spPr>
          <a:xfrm>
            <a:off x="5577840" y="4617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C</a:t>
            </a:r>
            <a:endParaRPr lang="en-US" sz="3200" dirty="0"/>
          </a:p>
        </p:txBody>
      </p:sp>
      <p:sp>
        <p:nvSpPr>
          <p:cNvPr id="42" name="Text 40"/>
          <p:cNvSpPr txBox="1"/>
          <p:nvPr/>
        </p:nvSpPr>
        <p:spPr>
          <a:xfrm>
            <a:off x="5029200" y="5577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7</a:t>
            </a:r>
            <a:endParaRPr lang="en-US" sz="1200" dirty="0"/>
          </a:p>
        </p:txBody>
      </p:sp>
      <p:sp>
        <p:nvSpPr>
          <p:cNvPr id="43" name="Shape 41"/>
          <p:cNvSpPr/>
          <p:nvPr/>
        </p:nvSpPr>
        <p:spPr>
          <a:xfrm>
            <a:off x="7315200" y="3931920"/>
            <a:ext cx="2011680" cy="1920240"/>
          </a:xfrm>
          <a:prstGeom prst="roundRect">
            <a:avLst>
              <a:gd name="adj" fmla="val 7143"/>
            </a:avLst>
          </a:prstGeom>
          <a:solidFill>
            <a:srgbClr val="EEF0F3"/>
          </a:solidFill>
          <a:ln w="12700">
            <a:solidFill>
              <a:srgbClr val="EEF0F3"/>
            </a:solidFill>
            <a:prstDash val="solid"/>
          </a:ln>
        </p:spPr>
      </p:sp>
      <p:sp>
        <p:nvSpPr>
          <p:cNvPr id="44" name="Text 42"/>
          <p:cNvSpPr txBox="1"/>
          <p:nvPr/>
        </p:nvSpPr>
        <p:spPr>
          <a:xfrm>
            <a:off x="7315200" y="4114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9</a:t>
            </a:r>
            <a:endParaRPr lang="en-US" sz="1800" dirty="0"/>
          </a:p>
        </p:txBody>
      </p:sp>
      <p:sp>
        <p:nvSpPr>
          <p:cNvPr id="45" name="Shape 43"/>
          <p:cNvSpPr/>
          <p:nvPr/>
        </p:nvSpPr>
        <p:spPr>
          <a:xfrm>
            <a:off x="7863840" y="4617720"/>
            <a:ext cx="914400" cy="914400"/>
          </a:xfrm>
          <a:prstGeom prst="ellipse">
            <a:avLst/>
          </a:prstGeom>
          <a:solidFill>
            <a:srgbClr val="2A9D8F"/>
          </a:solidFill>
          <a:ln w="12700">
            <a:solidFill>
              <a:srgbClr val="2A9D8F"/>
            </a:solidFill>
            <a:prstDash val="solid"/>
          </a:ln>
        </p:spPr>
      </p:sp>
      <p:sp>
        <p:nvSpPr>
          <p:cNvPr id="46" name="Text 44"/>
          <p:cNvSpPr txBox="1"/>
          <p:nvPr/>
        </p:nvSpPr>
        <p:spPr>
          <a:xfrm>
            <a:off x="7863840" y="4617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B</a:t>
            </a:r>
            <a:endParaRPr lang="en-US" sz="3200" dirty="0"/>
          </a:p>
        </p:txBody>
      </p:sp>
      <p:sp>
        <p:nvSpPr>
          <p:cNvPr id="47" name="Text 45"/>
          <p:cNvSpPr txBox="1"/>
          <p:nvPr/>
        </p:nvSpPr>
        <p:spPr>
          <a:xfrm>
            <a:off x="7315200" y="5577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8</a:t>
            </a:r>
            <a:endParaRPr lang="en-US" sz="1200" dirty="0"/>
          </a:p>
        </p:txBody>
      </p:sp>
      <p:sp>
        <p:nvSpPr>
          <p:cNvPr id="48" name="Shape 46"/>
          <p:cNvSpPr/>
          <p:nvPr/>
        </p:nvSpPr>
        <p:spPr>
          <a:xfrm>
            <a:off x="9601200" y="3931920"/>
            <a:ext cx="2011680" cy="1920240"/>
          </a:xfrm>
          <a:prstGeom prst="roundRect">
            <a:avLst>
              <a:gd name="adj" fmla="val 7143"/>
            </a:avLst>
          </a:prstGeom>
          <a:solidFill>
            <a:srgbClr val="EEF0F3"/>
          </a:solidFill>
          <a:ln w="12700">
            <a:solidFill>
              <a:srgbClr val="EEF0F3"/>
            </a:solidFill>
            <a:prstDash val="solid"/>
          </a:ln>
        </p:spPr>
      </p:sp>
      <p:sp>
        <p:nvSpPr>
          <p:cNvPr id="49" name="Text 47"/>
          <p:cNvSpPr txBox="1"/>
          <p:nvPr/>
        </p:nvSpPr>
        <p:spPr>
          <a:xfrm>
            <a:off x="9601200" y="4114800"/>
            <a:ext cx="2011680" cy="411480"/>
          </a:xfrm>
          <a:prstGeom prst="rect">
            <a:avLst/>
          </a:prstGeom>
          <a:noFill/>
          <a:ln/>
        </p:spPr>
        <p:txBody>
          <a:bodyPr wrap="square" lIns="0" tIns="0" rIns="0" bIns="0" rtlCol="0" anchor="t"/>
          <a:lstStyle/>
          <a:p>
            <a:pPr algn="ctr" indent="0" marL="0">
              <a:buNone/>
            </a:pPr>
            <a:r>
              <a:rPr lang="en-US" sz="1800" dirty="0">
                <a:solidFill>
                  <a:srgbClr val="8A8F98"/>
                </a:solidFill>
                <a:latin typeface="Calibri" pitchFamily="34" charset="0"/>
                <a:ea typeface="Calibri" pitchFamily="34" charset="-122"/>
                <a:cs typeface="Calibri" pitchFamily="34" charset="-120"/>
              </a:rPr>
              <a:t>Câu 10</a:t>
            </a:r>
            <a:endParaRPr lang="en-US" sz="1800" dirty="0"/>
          </a:p>
        </p:txBody>
      </p:sp>
      <p:sp>
        <p:nvSpPr>
          <p:cNvPr id="50" name="Shape 48"/>
          <p:cNvSpPr/>
          <p:nvPr/>
        </p:nvSpPr>
        <p:spPr>
          <a:xfrm>
            <a:off x="10149840" y="4617720"/>
            <a:ext cx="914400" cy="914400"/>
          </a:xfrm>
          <a:prstGeom prst="ellipse">
            <a:avLst/>
          </a:prstGeom>
          <a:solidFill>
            <a:srgbClr val="2A9D8F"/>
          </a:solidFill>
          <a:ln w="12700">
            <a:solidFill>
              <a:srgbClr val="2A9D8F"/>
            </a:solidFill>
            <a:prstDash val="solid"/>
          </a:ln>
        </p:spPr>
      </p:sp>
      <p:sp>
        <p:nvSpPr>
          <p:cNvPr id="51" name="Text 49"/>
          <p:cNvSpPr txBox="1"/>
          <p:nvPr/>
        </p:nvSpPr>
        <p:spPr>
          <a:xfrm>
            <a:off x="10149840" y="461772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a:t>
            </a:r>
            <a:endParaRPr lang="en-US" sz="3200" dirty="0"/>
          </a:p>
        </p:txBody>
      </p:sp>
      <p:sp>
        <p:nvSpPr>
          <p:cNvPr id="52" name="Text 50"/>
          <p:cNvSpPr txBox="1"/>
          <p:nvPr/>
        </p:nvSpPr>
        <p:spPr>
          <a:xfrm>
            <a:off x="9601200" y="5577840"/>
            <a:ext cx="2011680" cy="274320"/>
          </a:xfrm>
          <a:prstGeom prst="rect">
            <a:avLst/>
          </a:prstGeom>
          <a:noFill/>
          <a:ln/>
        </p:spPr>
        <p:txBody>
          <a:bodyPr wrap="square" lIns="0" tIns="0" rIns="0" bIns="0" rtlCol="0" anchor="t"/>
          <a:lstStyle/>
          <a:p>
            <a:pPr algn="ctr" indent="0" marL="0">
              <a:buNone/>
            </a:pPr>
            <a:r>
              <a:rPr lang="en-US" sz="1200" dirty="0">
                <a:solidFill>
                  <a:srgbClr val="8A8F98"/>
                </a:solidFill>
                <a:latin typeface="Calibri" pitchFamily="34" charset="0"/>
                <a:ea typeface="Calibri" pitchFamily="34" charset="-122"/>
                <a:cs typeface="Calibri" pitchFamily="34" charset="-120"/>
              </a:rPr>
              <a:t>Buổi 8</a:t>
            </a:r>
            <a:endParaRPr lang="en-US" sz="12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1 — Đáp án C</a:t>
            </a:r>
            <a:endParaRPr lang="en-US" sz="3000" dirty="0"/>
          </a:p>
        </p:txBody>
      </p:sp>
      <p:sp>
        <p:nvSpPr>
          <p:cNvPr id="5" name="Shape 3"/>
          <p:cNvSpPr/>
          <p:nvPr/>
        </p:nvSpPr>
        <p:spPr>
          <a:xfrm>
            <a:off x="457200" y="1508760"/>
            <a:ext cx="6492240" cy="1005840"/>
          </a:xfrm>
          <a:prstGeom prst="roundRect">
            <a:avLst>
              <a:gd name="adj" fmla="val 9091"/>
            </a:avLst>
          </a:prstGeom>
          <a:solidFill>
            <a:srgbClr val="EEF0F3"/>
          </a:solidFill>
          <a:ln w="12700">
            <a:solidFill>
              <a:srgbClr val="EEF0F3"/>
            </a:solidFill>
            <a:prstDash val="solid"/>
          </a:ln>
        </p:spPr>
      </p:sp>
      <p:sp>
        <p:nvSpPr>
          <p:cNvPr id="6" name="Shape 4"/>
          <p:cNvSpPr/>
          <p:nvPr/>
        </p:nvSpPr>
        <p:spPr>
          <a:xfrm>
            <a:off x="621792" y="1691640"/>
            <a:ext cx="640080" cy="640080"/>
          </a:xfrm>
          <a:prstGeom prst="ellipse">
            <a:avLst/>
          </a:prstGeom>
          <a:solidFill>
            <a:srgbClr val="C3C8D1"/>
          </a:solidFill>
          <a:ln w="12700">
            <a:solidFill>
              <a:srgbClr val="C3C8D1"/>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Dormant (ngủ yên)</a:t>
            </a:r>
            <a:endParaRPr lang="en-US" sz="1600" dirty="0"/>
          </a:p>
        </p:txBody>
      </p:sp>
      <p:sp>
        <p:nvSpPr>
          <p:cNvPr id="9" name="Shape 7"/>
          <p:cNvSpPr/>
          <p:nvPr/>
        </p:nvSpPr>
        <p:spPr>
          <a:xfrm>
            <a:off x="457200" y="2697480"/>
            <a:ext cx="6492240" cy="1005840"/>
          </a:xfrm>
          <a:prstGeom prst="roundRect">
            <a:avLst>
              <a:gd name="adj" fmla="val 9091"/>
            </a:avLst>
          </a:prstGeom>
          <a:solidFill>
            <a:srgbClr val="EEF0F3"/>
          </a:solidFill>
          <a:ln w="12700">
            <a:solidFill>
              <a:srgbClr val="EEF0F3"/>
            </a:solidFill>
            <a:prstDash val="solid"/>
          </a:ln>
        </p:spPr>
      </p:sp>
      <p:sp>
        <p:nvSpPr>
          <p:cNvPr id="10" name="Shape 8"/>
          <p:cNvSpPr/>
          <p:nvPr/>
        </p:nvSpPr>
        <p:spPr>
          <a:xfrm>
            <a:off x="621792" y="2880360"/>
            <a:ext cx="640080" cy="640080"/>
          </a:xfrm>
          <a:prstGeom prst="ellipse">
            <a:avLst/>
          </a:prstGeom>
          <a:solidFill>
            <a:srgbClr val="C3C8D1"/>
          </a:solidFill>
          <a:ln w="12700">
            <a:solidFill>
              <a:srgbClr val="C3C8D1"/>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Dangerous (nguy hiểm)</a:t>
            </a:r>
            <a:endParaRPr lang="en-US" sz="1600" dirty="0"/>
          </a:p>
        </p:txBody>
      </p:sp>
      <p:sp>
        <p:nvSpPr>
          <p:cNvPr id="13" name="Shape 11"/>
          <p:cNvSpPr/>
          <p:nvPr/>
        </p:nvSpPr>
        <p:spPr>
          <a:xfrm>
            <a:off x="457200" y="3886200"/>
            <a:ext cx="6492240" cy="1005840"/>
          </a:xfrm>
          <a:prstGeom prst="roundRect">
            <a:avLst>
              <a:gd name="adj" fmla="val 9091"/>
            </a:avLst>
          </a:prstGeom>
          <a:solidFill>
            <a:srgbClr val="2A9D8F"/>
          </a:solidFill>
          <a:ln w="12700">
            <a:solidFill>
              <a:srgbClr val="2A9D8F"/>
            </a:solidFill>
            <a:prstDash val="solid"/>
          </a:ln>
        </p:spPr>
      </p:sp>
      <p:sp>
        <p:nvSpPr>
          <p:cNvPr id="14" name="Shape 12"/>
          <p:cNvSpPr/>
          <p:nvPr/>
        </p:nvSpPr>
        <p:spPr>
          <a:xfrm>
            <a:off x="621792" y="4069080"/>
            <a:ext cx="640080" cy="640080"/>
          </a:xfrm>
          <a:prstGeom prst="ellipse">
            <a:avLst/>
          </a:prstGeom>
          <a:solidFill>
            <a:srgbClr val="FFFFFF"/>
          </a:solidFill>
          <a:ln w="12700">
            <a:solidFill>
              <a:srgbClr val="FFFFFF"/>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Dependent (phụ thuộc)</a:t>
            </a:r>
            <a:endParaRPr lang="en-US" sz="1600" dirty="0"/>
          </a:p>
        </p:txBody>
      </p:sp>
      <p:sp>
        <p:nvSpPr>
          <p:cNvPr id="17" name="Shape 15"/>
          <p:cNvSpPr/>
          <p:nvPr/>
        </p:nvSpPr>
        <p:spPr>
          <a:xfrm>
            <a:off x="457200" y="5074920"/>
            <a:ext cx="6492240" cy="1005840"/>
          </a:xfrm>
          <a:prstGeom prst="roundRect">
            <a:avLst>
              <a:gd name="adj" fmla="val 9091"/>
            </a:avLst>
          </a:prstGeom>
          <a:solidFill>
            <a:srgbClr val="EEF0F3"/>
          </a:solidFill>
          <a:ln w="12700">
            <a:solidFill>
              <a:srgbClr val="EEF0F3"/>
            </a:solidFill>
            <a:prstDash val="solid"/>
          </a:ln>
        </p:spPr>
      </p:sp>
      <p:sp>
        <p:nvSpPr>
          <p:cNvPr id="18" name="Shape 16"/>
          <p:cNvSpPr/>
          <p:nvPr/>
        </p:nvSpPr>
        <p:spPr>
          <a:xfrm>
            <a:off x="621792" y="5257800"/>
            <a:ext cx="640080" cy="640080"/>
          </a:xfrm>
          <a:prstGeom prst="ellipse">
            <a:avLst/>
          </a:prstGeom>
          <a:solidFill>
            <a:srgbClr val="C3C8D1"/>
          </a:solidFill>
          <a:ln w="12700">
            <a:solidFill>
              <a:srgbClr val="C3C8D1"/>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Definitive (quyết định)</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Yêu cầu về tiếng ồn là chính đáng (Legitimacy) và cấp bách (Urgency), nhưng cư dân chưa có quyền lực (Power) → Dependent. Nếu phường vào cuộc, họ có thêm Power và trở thành Definitive.</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2 — Đáp án A</a:t>
            </a:r>
            <a:endParaRPr lang="en-US" sz="3000" dirty="0"/>
          </a:p>
        </p:txBody>
      </p:sp>
      <p:sp>
        <p:nvSpPr>
          <p:cNvPr id="5" name="Shape 3"/>
          <p:cNvSpPr/>
          <p:nvPr/>
        </p:nvSpPr>
        <p:spPr>
          <a:xfrm>
            <a:off x="457200" y="1508760"/>
            <a:ext cx="6492240" cy="1005840"/>
          </a:xfrm>
          <a:prstGeom prst="roundRect">
            <a:avLst>
              <a:gd name="adj" fmla="val 9091"/>
            </a:avLst>
          </a:prstGeom>
          <a:solidFill>
            <a:srgbClr val="2A9D8F"/>
          </a:solidFill>
          <a:ln w="12700">
            <a:solidFill>
              <a:srgbClr val="2A9D8F"/>
            </a:solidFill>
            <a:prstDash val="solid"/>
          </a:ln>
        </p:spPr>
      </p:sp>
      <p:sp>
        <p:nvSpPr>
          <p:cNvPr id="6" name="Shape 4"/>
          <p:cNvSpPr/>
          <p:nvPr/>
        </p:nvSpPr>
        <p:spPr>
          <a:xfrm>
            <a:off x="621792" y="1691640"/>
            <a:ext cx="640080" cy="640080"/>
          </a:xfrm>
          <a:prstGeom prst="ellipse">
            <a:avLst/>
          </a:prstGeom>
          <a:solidFill>
            <a:srgbClr val="FFFFFF"/>
          </a:solidFill>
          <a:ln w="12700">
            <a:solidFill>
              <a:srgbClr val="FFFFFF"/>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Sẵn sàng đồng đầu tư (willingness to co-invest)</a:t>
            </a:r>
            <a:endParaRPr lang="en-US" sz="1600" dirty="0"/>
          </a:p>
        </p:txBody>
      </p:sp>
      <p:sp>
        <p:nvSpPr>
          <p:cNvPr id="9" name="Shape 7"/>
          <p:cNvSpPr/>
          <p:nvPr/>
        </p:nvSpPr>
        <p:spPr>
          <a:xfrm>
            <a:off x="457200" y="2697480"/>
            <a:ext cx="6492240" cy="1005840"/>
          </a:xfrm>
          <a:prstGeom prst="roundRect">
            <a:avLst>
              <a:gd name="adj" fmla="val 9091"/>
            </a:avLst>
          </a:prstGeom>
          <a:solidFill>
            <a:srgbClr val="EEF0F3"/>
          </a:solidFill>
          <a:ln w="12700">
            <a:solidFill>
              <a:srgbClr val="EEF0F3"/>
            </a:solidFill>
            <a:prstDash val="solid"/>
          </a:ln>
        </p:spPr>
      </p:sp>
      <p:sp>
        <p:nvSpPr>
          <p:cNvPr id="10" name="Shape 8"/>
          <p:cNvSpPr/>
          <p:nvPr/>
        </p:nvSpPr>
        <p:spPr>
          <a:xfrm>
            <a:off x="621792" y="2880360"/>
            <a:ext cx="640080" cy="640080"/>
          </a:xfrm>
          <a:prstGeom prst="ellipse">
            <a:avLst/>
          </a:prstGeom>
          <a:solidFill>
            <a:srgbClr val="C3C8D1"/>
          </a:solidFill>
          <a:ln w="12700">
            <a:solidFill>
              <a:srgbClr val="C3C8D1"/>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Sức hấp dẫn của khách hàng (customer attractiveness)</a:t>
            </a:r>
            <a:endParaRPr lang="en-US" sz="1600" dirty="0"/>
          </a:p>
        </p:txBody>
      </p:sp>
      <p:sp>
        <p:nvSpPr>
          <p:cNvPr id="13" name="Shape 11"/>
          <p:cNvSpPr/>
          <p:nvPr/>
        </p:nvSpPr>
        <p:spPr>
          <a:xfrm>
            <a:off x="457200" y="3886200"/>
            <a:ext cx="6492240" cy="1005840"/>
          </a:xfrm>
          <a:prstGeom prst="roundRect">
            <a:avLst>
              <a:gd name="adj" fmla="val 9091"/>
            </a:avLst>
          </a:prstGeom>
          <a:solidFill>
            <a:srgbClr val="EEF0F3"/>
          </a:solidFill>
          <a:ln w="12700">
            <a:solidFill>
              <a:srgbClr val="EEF0F3"/>
            </a:solidFill>
            <a:prstDash val="solid"/>
          </a:ln>
        </p:spPr>
      </p:sp>
      <p:sp>
        <p:nvSpPr>
          <p:cNvPr id="14" name="Shape 12"/>
          <p:cNvSpPr/>
          <p:nvPr/>
        </p:nvSpPr>
        <p:spPr>
          <a:xfrm>
            <a:off x="621792" y="4069080"/>
            <a:ext cx="640080" cy="640080"/>
          </a:xfrm>
          <a:prstGeom prst="ellipse">
            <a:avLst/>
          </a:prstGeom>
          <a:solidFill>
            <a:srgbClr val="C3C8D1"/>
          </a:solidFill>
          <a:ln w="12700">
            <a:solidFill>
              <a:srgbClr val="C3C8D1"/>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Vị thế cạnh tranh của agency (supplier’s competitive position)</a:t>
            </a:r>
            <a:endParaRPr lang="en-US" sz="1600" dirty="0"/>
          </a:p>
        </p:txBody>
      </p:sp>
      <p:sp>
        <p:nvSpPr>
          <p:cNvPr id="17" name="Shape 15"/>
          <p:cNvSpPr/>
          <p:nvPr/>
        </p:nvSpPr>
        <p:spPr>
          <a:xfrm>
            <a:off x="457200" y="5074920"/>
            <a:ext cx="6492240" cy="1005840"/>
          </a:xfrm>
          <a:prstGeom prst="roundRect">
            <a:avLst>
              <a:gd name="adj" fmla="val 9091"/>
            </a:avLst>
          </a:prstGeom>
          <a:solidFill>
            <a:srgbClr val="EEF0F3"/>
          </a:solidFill>
          <a:ln w="12700">
            <a:solidFill>
              <a:srgbClr val="EEF0F3"/>
            </a:solidFill>
            <a:prstDash val="solid"/>
          </a:ln>
        </p:spPr>
      </p:sp>
      <p:sp>
        <p:nvSpPr>
          <p:cNvPr id="18" name="Shape 16"/>
          <p:cNvSpPr/>
          <p:nvPr/>
        </p:nvSpPr>
        <p:spPr>
          <a:xfrm>
            <a:off x="621792" y="5257800"/>
            <a:ext cx="640080" cy="640080"/>
          </a:xfrm>
          <a:prstGeom prst="ellipse">
            <a:avLst/>
          </a:prstGeom>
          <a:solidFill>
            <a:srgbClr val="C3C8D1"/>
          </a:solidFill>
          <a:ln w="12700">
            <a:solidFill>
              <a:srgbClr val="C3C8D1"/>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Không trượt tiêu chí nào, vì doanh thu lớn nhất</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Doanh thu lớn (hấp dẫn) và Nova làm tốt (vị thế), nhưng đấu thầu theo giá, đổi agency hằng năm, từ chối hợp đồng khung → không qua cổng đồng đầu tư: “choose me and I will choose you”. Key Account không phải khách hàng lớn nhất.</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3 — Đáp án B</a:t>
            </a:r>
            <a:endParaRPr lang="en-US" sz="3000" dirty="0"/>
          </a:p>
        </p:txBody>
      </p:sp>
      <p:sp>
        <p:nvSpPr>
          <p:cNvPr id="5" name="Shape 3"/>
          <p:cNvSpPr/>
          <p:nvPr/>
        </p:nvSpPr>
        <p:spPr>
          <a:xfrm>
            <a:off x="457200" y="1508760"/>
            <a:ext cx="6492240" cy="1005840"/>
          </a:xfrm>
          <a:prstGeom prst="roundRect">
            <a:avLst>
              <a:gd name="adj" fmla="val 9091"/>
            </a:avLst>
          </a:prstGeom>
          <a:solidFill>
            <a:srgbClr val="EEF0F3"/>
          </a:solidFill>
          <a:ln w="12700">
            <a:solidFill>
              <a:srgbClr val="EEF0F3"/>
            </a:solidFill>
            <a:prstDash val="solid"/>
          </a:ln>
        </p:spPr>
      </p:sp>
      <p:sp>
        <p:nvSpPr>
          <p:cNvPr id="6" name="Shape 4"/>
          <p:cNvSpPr/>
          <p:nvPr/>
        </p:nvSpPr>
        <p:spPr>
          <a:xfrm>
            <a:off x="621792" y="1691640"/>
            <a:ext cx="640080" cy="640080"/>
          </a:xfrm>
          <a:prstGeom prst="ellipse">
            <a:avLst/>
          </a:prstGeom>
          <a:solidFill>
            <a:srgbClr val="C3C8D1"/>
          </a:solidFill>
          <a:ln w="12700">
            <a:solidFill>
              <a:srgbClr val="C3C8D1"/>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Chọn sai kiểu bố trí sự kiện cho khách VIP</a:t>
            </a:r>
            <a:endParaRPr lang="en-US" sz="1600" dirty="0"/>
          </a:p>
        </p:txBody>
      </p:sp>
      <p:sp>
        <p:nvSpPr>
          <p:cNvPr id="9" name="Shape 7"/>
          <p:cNvSpPr/>
          <p:nvPr/>
        </p:nvSpPr>
        <p:spPr>
          <a:xfrm>
            <a:off x="457200" y="2697480"/>
            <a:ext cx="6492240" cy="1005840"/>
          </a:xfrm>
          <a:prstGeom prst="roundRect">
            <a:avLst>
              <a:gd name="adj" fmla="val 9091"/>
            </a:avLst>
          </a:prstGeom>
          <a:solidFill>
            <a:srgbClr val="2A9D8F"/>
          </a:solidFill>
          <a:ln w="12700">
            <a:solidFill>
              <a:srgbClr val="2A9D8F"/>
            </a:solidFill>
            <a:prstDash val="solid"/>
          </a:ln>
        </p:spPr>
      </p:sp>
      <p:sp>
        <p:nvSpPr>
          <p:cNvPr id="10" name="Shape 8"/>
          <p:cNvSpPr/>
          <p:nvPr/>
        </p:nvSpPr>
        <p:spPr>
          <a:xfrm>
            <a:off x="621792" y="2880360"/>
            <a:ext cx="640080" cy="640080"/>
          </a:xfrm>
          <a:prstGeom prst="ellipse">
            <a:avLst/>
          </a:prstGeom>
          <a:solidFill>
            <a:srgbClr val="FFFFFF"/>
          </a:solidFill>
          <a:ln w="12700">
            <a:solidFill>
              <a:srgbClr val="FFFFFF"/>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Chỉ làm việc với người liên hệ chính, chưa hiểu Goal và Appeal của người có Power cao nhất</a:t>
            </a:r>
            <a:endParaRPr lang="en-US" sz="1600" dirty="0"/>
          </a:p>
        </p:txBody>
      </p:sp>
      <p:sp>
        <p:nvSpPr>
          <p:cNvPr id="13" name="Shape 11"/>
          <p:cNvSpPr/>
          <p:nvPr/>
        </p:nvSpPr>
        <p:spPr>
          <a:xfrm>
            <a:off x="457200" y="3886200"/>
            <a:ext cx="6492240" cy="1005840"/>
          </a:xfrm>
          <a:prstGeom prst="roundRect">
            <a:avLst>
              <a:gd name="adj" fmla="val 9091"/>
            </a:avLst>
          </a:prstGeom>
          <a:solidFill>
            <a:srgbClr val="EEF0F3"/>
          </a:solidFill>
          <a:ln w="12700">
            <a:solidFill>
              <a:srgbClr val="EEF0F3"/>
            </a:solidFill>
            <a:prstDash val="solid"/>
          </a:ln>
        </p:spPr>
      </p:sp>
      <p:sp>
        <p:nvSpPr>
          <p:cNvPr id="14" name="Shape 12"/>
          <p:cNvSpPr/>
          <p:nvPr/>
        </p:nvSpPr>
        <p:spPr>
          <a:xfrm>
            <a:off x="621792" y="4069080"/>
            <a:ext cx="640080" cy="640080"/>
          </a:xfrm>
          <a:prstGeom prst="ellipse">
            <a:avLst/>
          </a:prstGeom>
          <a:solidFill>
            <a:srgbClr val="C3C8D1"/>
          </a:solidFill>
          <a:ln w="12700">
            <a:solidFill>
              <a:srgbClr val="C3C8D1"/>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Không gửi hồ sơ đúng quy trình cho bộ phận mua sắm</a:t>
            </a:r>
            <a:endParaRPr lang="en-US" sz="1600" dirty="0"/>
          </a:p>
        </p:txBody>
      </p:sp>
      <p:sp>
        <p:nvSpPr>
          <p:cNvPr id="17" name="Shape 15"/>
          <p:cNvSpPr/>
          <p:nvPr/>
        </p:nvSpPr>
        <p:spPr>
          <a:xfrm>
            <a:off x="457200" y="5074920"/>
            <a:ext cx="6492240" cy="1005840"/>
          </a:xfrm>
          <a:prstGeom prst="roundRect">
            <a:avLst>
              <a:gd name="adj" fmla="val 9091"/>
            </a:avLst>
          </a:prstGeom>
          <a:solidFill>
            <a:srgbClr val="EEF0F3"/>
          </a:solidFill>
          <a:ln w="12700">
            <a:solidFill>
              <a:srgbClr val="EEF0F3"/>
            </a:solidFill>
            <a:prstDash val="solid"/>
          </a:ln>
        </p:spPr>
      </p:sp>
      <p:sp>
        <p:nvSpPr>
          <p:cNvPr id="18" name="Shape 16"/>
          <p:cNvSpPr/>
          <p:nvPr/>
        </p:nvSpPr>
        <p:spPr>
          <a:xfrm>
            <a:off x="621792" y="5257800"/>
            <a:ext cx="640080" cy="640080"/>
          </a:xfrm>
          <a:prstGeom prst="ellipse">
            <a:avLst/>
          </a:prstGeom>
          <a:solidFill>
            <a:srgbClr val="C3C8D1"/>
          </a:solidFill>
          <a:ln w="12700">
            <a:solidFill>
              <a:srgbClr val="C3C8D1"/>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Phân tích PESTEL của ngành sự kiện thay vì của ngân hàng</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Người liên hệ nhiều nhất (chị Hạnh) không phải người quyết định. Nova chưa phân tích Goal (giữ khách doanh nghiệp lớn) và Appeal của ông Tuấn — người có Power cao nhất trong DMU.</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4 — Đáp án C</a:t>
            </a:r>
            <a:endParaRPr lang="en-US" sz="3000" dirty="0"/>
          </a:p>
        </p:txBody>
      </p:sp>
      <p:sp>
        <p:nvSpPr>
          <p:cNvPr id="5" name="Shape 3"/>
          <p:cNvSpPr/>
          <p:nvPr/>
        </p:nvSpPr>
        <p:spPr>
          <a:xfrm>
            <a:off x="457200" y="1508760"/>
            <a:ext cx="6492240" cy="1005840"/>
          </a:xfrm>
          <a:prstGeom prst="roundRect">
            <a:avLst>
              <a:gd name="adj" fmla="val 9091"/>
            </a:avLst>
          </a:prstGeom>
          <a:solidFill>
            <a:srgbClr val="EEF0F3"/>
          </a:solidFill>
          <a:ln w="12700">
            <a:solidFill>
              <a:srgbClr val="EEF0F3"/>
            </a:solidFill>
            <a:prstDash val="solid"/>
          </a:ln>
        </p:spPr>
      </p:sp>
      <p:sp>
        <p:nvSpPr>
          <p:cNvPr id="6" name="Shape 4"/>
          <p:cNvSpPr/>
          <p:nvPr/>
        </p:nvSpPr>
        <p:spPr>
          <a:xfrm>
            <a:off x="621792" y="1691640"/>
            <a:ext cx="640080" cy="640080"/>
          </a:xfrm>
          <a:prstGeom prst="ellipse">
            <a:avLst/>
          </a:prstGeom>
          <a:solidFill>
            <a:srgbClr val="C3C8D1"/>
          </a:solidFill>
          <a:ln w="12700">
            <a:solidFill>
              <a:srgbClr val="C3C8D1"/>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Quan hệ rất tốt, vì hai bên không có xung đột nào</a:t>
            </a:r>
            <a:endParaRPr lang="en-US" sz="1600" dirty="0"/>
          </a:p>
        </p:txBody>
      </p:sp>
      <p:sp>
        <p:nvSpPr>
          <p:cNvPr id="9" name="Shape 7"/>
          <p:cNvSpPr/>
          <p:nvPr/>
        </p:nvSpPr>
        <p:spPr>
          <a:xfrm>
            <a:off x="457200" y="2697480"/>
            <a:ext cx="6492240" cy="1005840"/>
          </a:xfrm>
          <a:prstGeom prst="roundRect">
            <a:avLst>
              <a:gd name="adj" fmla="val 9091"/>
            </a:avLst>
          </a:prstGeom>
          <a:solidFill>
            <a:srgbClr val="EEF0F3"/>
          </a:solidFill>
          <a:ln w="12700">
            <a:solidFill>
              <a:srgbClr val="EEF0F3"/>
            </a:solidFill>
            <a:prstDash val="solid"/>
          </a:ln>
        </p:spPr>
      </p:sp>
      <p:sp>
        <p:nvSpPr>
          <p:cNvPr id="10" name="Shape 8"/>
          <p:cNvSpPr/>
          <p:nvPr/>
        </p:nvSpPr>
        <p:spPr>
          <a:xfrm>
            <a:off x="621792" y="2880360"/>
            <a:ext cx="640080" cy="640080"/>
          </a:xfrm>
          <a:prstGeom prst="ellipse">
            <a:avLst/>
          </a:prstGeom>
          <a:solidFill>
            <a:srgbClr val="C3C8D1"/>
          </a:solidFill>
          <a:ln w="12700">
            <a:solidFill>
              <a:srgbClr val="C3C8D1"/>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Commitment của An Phát quá cao nên họ bỏ qua lỗi</a:t>
            </a:r>
            <a:endParaRPr lang="en-US" sz="1600" dirty="0"/>
          </a:p>
        </p:txBody>
      </p:sp>
      <p:sp>
        <p:nvSpPr>
          <p:cNvPr id="13" name="Shape 11"/>
          <p:cNvSpPr/>
          <p:nvPr/>
        </p:nvSpPr>
        <p:spPr>
          <a:xfrm>
            <a:off x="457200" y="3886200"/>
            <a:ext cx="6492240" cy="1005840"/>
          </a:xfrm>
          <a:prstGeom prst="roundRect">
            <a:avLst>
              <a:gd name="adj" fmla="val 9091"/>
            </a:avLst>
          </a:prstGeom>
          <a:solidFill>
            <a:srgbClr val="2A9D8F"/>
          </a:solidFill>
          <a:ln w="12700">
            <a:solidFill>
              <a:srgbClr val="2A9D8F"/>
            </a:solidFill>
            <a:prstDash val="solid"/>
          </a:ln>
        </p:spPr>
      </p:sp>
      <p:sp>
        <p:nvSpPr>
          <p:cNvPr id="14" name="Shape 12"/>
          <p:cNvSpPr/>
          <p:nvPr/>
        </p:nvSpPr>
        <p:spPr>
          <a:xfrm>
            <a:off x="621792" y="4069080"/>
            <a:ext cx="640080" cy="640080"/>
          </a:xfrm>
          <a:prstGeom prst="ellipse">
            <a:avLst/>
          </a:prstGeom>
          <a:solidFill>
            <a:srgbClr val="FFFFFF"/>
          </a:solidFill>
          <a:ln w="12700">
            <a:solidFill>
              <a:srgbClr val="FFFFFF"/>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Thiếu functional conflict: bất đồng không được nêu và giải quyết với Nova</a:t>
            </a:r>
            <a:endParaRPr lang="en-US" sz="1600" dirty="0"/>
          </a:p>
        </p:txBody>
      </p:sp>
      <p:sp>
        <p:nvSpPr>
          <p:cNvPr id="17" name="Shape 15"/>
          <p:cNvSpPr/>
          <p:nvPr/>
        </p:nvSpPr>
        <p:spPr>
          <a:xfrm>
            <a:off x="457200" y="5074920"/>
            <a:ext cx="6492240" cy="1005840"/>
          </a:xfrm>
          <a:prstGeom prst="roundRect">
            <a:avLst>
              <a:gd name="adj" fmla="val 9091"/>
            </a:avLst>
          </a:prstGeom>
          <a:solidFill>
            <a:srgbClr val="EEF0F3"/>
          </a:solidFill>
          <a:ln w="12700">
            <a:solidFill>
              <a:srgbClr val="EEF0F3"/>
            </a:solidFill>
            <a:prstDash val="solid"/>
          </a:ln>
        </p:spPr>
      </p:sp>
      <p:sp>
        <p:nvSpPr>
          <p:cNvPr id="18" name="Shape 16"/>
          <p:cNvSpPr/>
          <p:nvPr/>
        </p:nvSpPr>
        <p:spPr>
          <a:xfrm>
            <a:off x="621792" y="5257800"/>
            <a:ext cx="640080" cy="640080"/>
          </a:xfrm>
          <a:prstGeom prst="ellipse">
            <a:avLst/>
          </a:prstGeom>
          <a:solidFill>
            <a:srgbClr val="C3C8D1"/>
          </a:solidFill>
          <a:ln w="12700">
            <a:solidFill>
              <a:srgbClr val="C3C8D1"/>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Lỗi thuộc nhà cung cấp AV nên không ảnh hưởng quan hệ</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Functional conflict là bất đồng được nêu ra và giải quyết êm thấm — kết quả của niềm tin (Morgan &amp; Hunt, 1994). Bất đồng bị giấu đi là dấu hiệu thiếu xung đột chức năng. Trong mắt Key Account, lỗi nhà cung cấp là lỗi của agency.</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5 — Đáp án D</a:t>
            </a:r>
            <a:endParaRPr lang="en-US" sz="3000" dirty="0"/>
          </a:p>
        </p:txBody>
      </p:sp>
      <p:sp>
        <p:nvSpPr>
          <p:cNvPr id="5" name="Shape 3"/>
          <p:cNvSpPr/>
          <p:nvPr/>
        </p:nvSpPr>
        <p:spPr>
          <a:xfrm>
            <a:off x="457200" y="1508760"/>
            <a:ext cx="6492240" cy="1005840"/>
          </a:xfrm>
          <a:prstGeom prst="roundRect">
            <a:avLst>
              <a:gd name="adj" fmla="val 9091"/>
            </a:avLst>
          </a:prstGeom>
          <a:solidFill>
            <a:srgbClr val="EEF0F3"/>
          </a:solidFill>
          <a:ln w="12700">
            <a:solidFill>
              <a:srgbClr val="EEF0F3"/>
            </a:solidFill>
            <a:prstDash val="solid"/>
          </a:ln>
        </p:spPr>
      </p:sp>
      <p:sp>
        <p:nvSpPr>
          <p:cNvPr id="6" name="Shape 4"/>
          <p:cNvSpPr/>
          <p:nvPr/>
        </p:nvSpPr>
        <p:spPr>
          <a:xfrm>
            <a:off x="621792" y="1691640"/>
            <a:ext cx="640080" cy="640080"/>
          </a:xfrm>
          <a:prstGeom prst="ellipse">
            <a:avLst/>
          </a:prstGeom>
          <a:solidFill>
            <a:srgbClr val="C3C8D1"/>
          </a:solidFill>
          <a:ln w="12700">
            <a:solidFill>
              <a:srgbClr val="C3C8D1"/>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Co-diagnosis</a:t>
            </a:r>
            <a:endParaRPr lang="en-US" sz="1600" dirty="0"/>
          </a:p>
        </p:txBody>
      </p:sp>
      <p:sp>
        <p:nvSpPr>
          <p:cNvPr id="9" name="Shape 7"/>
          <p:cNvSpPr/>
          <p:nvPr/>
        </p:nvSpPr>
        <p:spPr>
          <a:xfrm>
            <a:off x="457200" y="2697480"/>
            <a:ext cx="6492240" cy="1005840"/>
          </a:xfrm>
          <a:prstGeom prst="roundRect">
            <a:avLst>
              <a:gd name="adj" fmla="val 9091"/>
            </a:avLst>
          </a:prstGeom>
          <a:solidFill>
            <a:srgbClr val="EEF0F3"/>
          </a:solidFill>
          <a:ln w="12700">
            <a:solidFill>
              <a:srgbClr val="EEF0F3"/>
            </a:solidFill>
            <a:prstDash val="solid"/>
          </a:ln>
        </p:spPr>
      </p:sp>
      <p:sp>
        <p:nvSpPr>
          <p:cNvPr id="10" name="Shape 8"/>
          <p:cNvSpPr/>
          <p:nvPr/>
        </p:nvSpPr>
        <p:spPr>
          <a:xfrm>
            <a:off x="621792" y="2880360"/>
            <a:ext cx="640080" cy="640080"/>
          </a:xfrm>
          <a:prstGeom prst="ellipse">
            <a:avLst/>
          </a:prstGeom>
          <a:solidFill>
            <a:srgbClr val="C3C8D1"/>
          </a:solidFill>
          <a:ln w="12700">
            <a:solidFill>
              <a:srgbClr val="C3C8D1"/>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Co-ideation</a:t>
            </a:r>
            <a:endParaRPr lang="en-US" sz="1600" dirty="0"/>
          </a:p>
        </p:txBody>
      </p:sp>
      <p:sp>
        <p:nvSpPr>
          <p:cNvPr id="13" name="Shape 11"/>
          <p:cNvSpPr/>
          <p:nvPr/>
        </p:nvSpPr>
        <p:spPr>
          <a:xfrm>
            <a:off x="457200" y="3886200"/>
            <a:ext cx="6492240" cy="1005840"/>
          </a:xfrm>
          <a:prstGeom prst="roundRect">
            <a:avLst>
              <a:gd name="adj" fmla="val 9091"/>
            </a:avLst>
          </a:prstGeom>
          <a:solidFill>
            <a:srgbClr val="EEF0F3"/>
          </a:solidFill>
          <a:ln w="12700">
            <a:solidFill>
              <a:srgbClr val="EEF0F3"/>
            </a:solidFill>
            <a:prstDash val="solid"/>
          </a:ln>
        </p:spPr>
      </p:sp>
      <p:sp>
        <p:nvSpPr>
          <p:cNvPr id="14" name="Shape 12"/>
          <p:cNvSpPr/>
          <p:nvPr/>
        </p:nvSpPr>
        <p:spPr>
          <a:xfrm>
            <a:off x="621792" y="4069080"/>
            <a:ext cx="640080" cy="640080"/>
          </a:xfrm>
          <a:prstGeom prst="ellipse">
            <a:avLst/>
          </a:prstGeom>
          <a:solidFill>
            <a:srgbClr val="C3C8D1"/>
          </a:solidFill>
          <a:ln w="12700">
            <a:solidFill>
              <a:srgbClr val="C3C8D1"/>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Co-design</a:t>
            </a:r>
            <a:endParaRPr lang="en-US" sz="1600" dirty="0"/>
          </a:p>
        </p:txBody>
      </p:sp>
      <p:sp>
        <p:nvSpPr>
          <p:cNvPr id="17" name="Shape 15"/>
          <p:cNvSpPr/>
          <p:nvPr/>
        </p:nvSpPr>
        <p:spPr>
          <a:xfrm>
            <a:off x="457200" y="5074920"/>
            <a:ext cx="6492240" cy="1005840"/>
          </a:xfrm>
          <a:prstGeom prst="roundRect">
            <a:avLst>
              <a:gd name="adj" fmla="val 9091"/>
            </a:avLst>
          </a:prstGeom>
          <a:solidFill>
            <a:srgbClr val="2A9D8F"/>
          </a:solidFill>
          <a:ln w="12700">
            <a:solidFill>
              <a:srgbClr val="2A9D8F"/>
            </a:solidFill>
            <a:prstDash val="solid"/>
          </a:ln>
        </p:spPr>
      </p:sp>
      <p:sp>
        <p:nvSpPr>
          <p:cNvPr id="18" name="Shape 16"/>
          <p:cNvSpPr/>
          <p:nvPr/>
        </p:nvSpPr>
        <p:spPr>
          <a:xfrm>
            <a:off x="621792" y="5257800"/>
            <a:ext cx="640080" cy="640080"/>
          </a:xfrm>
          <a:prstGeom prst="ellipse">
            <a:avLst/>
          </a:prstGeom>
          <a:solidFill>
            <a:srgbClr val="FFFFFF"/>
          </a:solidFill>
          <a:ln w="12700">
            <a:solidFill>
              <a:srgbClr val="FFFFFF"/>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Co-testing</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Co-testing: “prototyping and improving the offering, giving feedback” (Marcos-Cuevas et al., 2016). Co-design là cùng phát triển ý tưởng, khái niệm — chưa chạy thử với khách.</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6 — Đáp án D</a:t>
            </a:r>
            <a:endParaRPr lang="en-US" sz="3000" dirty="0"/>
          </a:p>
        </p:txBody>
      </p:sp>
      <p:sp>
        <p:nvSpPr>
          <p:cNvPr id="5" name="Shape 3"/>
          <p:cNvSpPr/>
          <p:nvPr/>
        </p:nvSpPr>
        <p:spPr>
          <a:xfrm>
            <a:off x="457200" y="1508760"/>
            <a:ext cx="6492240" cy="1005840"/>
          </a:xfrm>
          <a:prstGeom prst="roundRect">
            <a:avLst>
              <a:gd name="adj" fmla="val 9091"/>
            </a:avLst>
          </a:prstGeom>
          <a:solidFill>
            <a:srgbClr val="EEF0F3"/>
          </a:solidFill>
          <a:ln w="12700">
            <a:solidFill>
              <a:srgbClr val="EEF0F3"/>
            </a:solidFill>
            <a:prstDash val="solid"/>
          </a:ln>
        </p:spPr>
      </p:sp>
      <p:sp>
        <p:nvSpPr>
          <p:cNvPr id="6" name="Shape 4"/>
          <p:cNvSpPr/>
          <p:nvPr/>
        </p:nvSpPr>
        <p:spPr>
          <a:xfrm>
            <a:off x="621792" y="1691640"/>
            <a:ext cx="640080" cy="640080"/>
          </a:xfrm>
          <a:prstGeom prst="ellipse">
            <a:avLst/>
          </a:prstGeom>
          <a:solidFill>
            <a:srgbClr val="C3C8D1"/>
          </a:solidFill>
          <a:ln w="12700">
            <a:solidFill>
              <a:srgbClr val="C3C8D1"/>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600 triệu</a:t>
            </a:r>
            <a:endParaRPr lang="en-US" sz="1600" dirty="0"/>
          </a:p>
        </p:txBody>
      </p:sp>
      <p:sp>
        <p:nvSpPr>
          <p:cNvPr id="9" name="Shape 7"/>
          <p:cNvSpPr/>
          <p:nvPr/>
        </p:nvSpPr>
        <p:spPr>
          <a:xfrm>
            <a:off x="457200" y="2697480"/>
            <a:ext cx="6492240" cy="1005840"/>
          </a:xfrm>
          <a:prstGeom prst="roundRect">
            <a:avLst>
              <a:gd name="adj" fmla="val 9091"/>
            </a:avLst>
          </a:prstGeom>
          <a:solidFill>
            <a:srgbClr val="EEF0F3"/>
          </a:solidFill>
          <a:ln w="12700">
            <a:solidFill>
              <a:srgbClr val="EEF0F3"/>
            </a:solidFill>
            <a:prstDash val="solid"/>
          </a:ln>
        </p:spPr>
      </p:sp>
      <p:sp>
        <p:nvSpPr>
          <p:cNvPr id="10" name="Shape 8"/>
          <p:cNvSpPr/>
          <p:nvPr/>
        </p:nvSpPr>
        <p:spPr>
          <a:xfrm>
            <a:off x="621792" y="2880360"/>
            <a:ext cx="640080" cy="640080"/>
          </a:xfrm>
          <a:prstGeom prst="ellipse">
            <a:avLst/>
          </a:prstGeom>
          <a:solidFill>
            <a:srgbClr val="C3C8D1"/>
          </a:solidFill>
          <a:ln w="12700">
            <a:solidFill>
              <a:srgbClr val="C3C8D1"/>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540 triệu</a:t>
            </a:r>
            <a:endParaRPr lang="en-US" sz="1600" dirty="0"/>
          </a:p>
        </p:txBody>
      </p:sp>
      <p:sp>
        <p:nvSpPr>
          <p:cNvPr id="13" name="Shape 11"/>
          <p:cNvSpPr/>
          <p:nvPr/>
        </p:nvSpPr>
        <p:spPr>
          <a:xfrm>
            <a:off x="457200" y="3886200"/>
            <a:ext cx="6492240" cy="1005840"/>
          </a:xfrm>
          <a:prstGeom prst="roundRect">
            <a:avLst>
              <a:gd name="adj" fmla="val 9091"/>
            </a:avLst>
          </a:prstGeom>
          <a:solidFill>
            <a:srgbClr val="EEF0F3"/>
          </a:solidFill>
          <a:ln w="12700">
            <a:solidFill>
              <a:srgbClr val="EEF0F3"/>
            </a:solidFill>
            <a:prstDash val="solid"/>
          </a:ln>
        </p:spPr>
      </p:sp>
      <p:sp>
        <p:nvSpPr>
          <p:cNvPr id="14" name="Shape 12"/>
          <p:cNvSpPr/>
          <p:nvPr/>
        </p:nvSpPr>
        <p:spPr>
          <a:xfrm>
            <a:off x="621792" y="4069080"/>
            <a:ext cx="640080" cy="640080"/>
          </a:xfrm>
          <a:prstGeom prst="ellipse">
            <a:avLst/>
          </a:prstGeom>
          <a:solidFill>
            <a:srgbClr val="C3C8D1"/>
          </a:solidFill>
          <a:ln w="12700">
            <a:solidFill>
              <a:srgbClr val="C3C8D1"/>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491 triệu</a:t>
            </a:r>
            <a:endParaRPr lang="en-US" sz="1600" dirty="0"/>
          </a:p>
        </p:txBody>
      </p:sp>
      <p:sp>
        <p:nvSpPr>
          <p:cNvPr id="17" name="Shape 15"/>
          <p:cNvSpPr/>
          <p:nvPr/>
        </p:nvSpPr>
        <p:spPr>
          <a:xfrm>
            <a:off x="457200" y="5074920"/>
            <a:ext cx="6492240" cy="1005840"/>
          </a:xfrm>
          <a:prstGeom prst="roundRect">
            <a:avLst>
              <a:gd name="adj" fmla="val 9091"/>
            </a:avLst>
          </a:prstGeom>
          <a:solidFill>
            <a:srgbClr val="2A9D8F"/>
          </a:solidFill>
          <a:ln w="12700">
            <a:solidFill>
              <a:srgbClr val="2A9D8F"/>
            </a:solidFill>
            <a:prstDash val="solid"/>
          </a:ln>
        </p:spPr>
      </p:sp>
      <p:sp>
        <p:nvSpPr>
          <p:cNvPr id="18" name="Shape 16"/>
          <p:cNvSpPr/>
          <p:nvPr/>
        </p:nvSpPr>
        <p:spPr>
          <a:xfrm>
            <a:off x="621792" y="5257800"/>
            <a:ext cx="640080" cy="640080"/>
          </a:xfrm>
          <a:prstGeom prst="ellipse">
            <a:avLst/>
          </a:prstGeom>
          <a:solidFill>
            <a:srgbClr val="FFFFFF"/>
          </a:solidFill>
          <a:ln w="12700">
            <a:solidFill>
              <a:srgbClr val="FFFFFF"/>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471 triệu</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300/1,1 + 300 × 0,8/1,1² = 272,7 + 198,3 ≈ 471 triệu.</a:t>
            </a:r>
            <a:endParaRPr lang="en-US" sz="1600" dirty="0"/>
          </a:p>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A: quên cả giữ chân và chiết khấu · B: quên chiết khấu · C: chiết khấu năm 2 sai (chia 1,1 thay vì 1,1²).</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7</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7 — Đáp án A</a:t>
            </a:r>
            <a:endParaRPr lang="en-US" sz="3000" dirty="0"/>
          </a:p>
        </p:txBody>
      </p:sp>
      <p:sp>
        <p:nvSpPr>
          <p:cNvPr id="5" name="Shape 3"/>
          <p:cNvSpPr/>
          <p:nvPr/>
        </p:nvSpPr>
        <p:spPr>
          <a:xfrm>
            <a:off x="457200" y="1508760"/>
            <a:ext cx="6492240" cy="1005840"/>
          </a:xfrm>
          <a:prstGeom prst="roundRect">
            <a:avLst>
              <a:gd name="adj" fmla="val 9091"/>
            </a:avLst>
          </a:prstGeom>
          <a:solidFill>
            <a:srgbClr val="2A9D8F"/>
          </a:solidFill>
          <a:ln w="12700">
            <a:solidFill>
              <a:srgbClr val="2A9D8F"/>
            </a:solidFill>
            <a:prstDash val="solid"/>
          </a:ln>
        </p:spPr>
      </p:sp>
      <p:sp>
        <p:nvSpPr>
          <p:cNvPr id="6" name="Shape 4"/>
          <p:cNvSpPr/>
          <p:nvPr/>
        </p:nvSpPr>
        <p:spPr>
          <a:xfrm>
            <a:off x="621792" y="1691640"/>
            <a:ext cx="640080" cy="640080"/>
          </a:xfrm>
          <a:prstGeom prst="ellipse">
            <a:avLst/>
          </a:prstGeom>
          <a:solidFill>
            <a:srgbClr val="FFFFFF"/>
          </a:solidFill>
          <a:ln w="12700">
            <a:solidFill>
              <a:srgbClr val="FFFFFF"/>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Cùng MediPharm thống nhất lịch duyệt pháp chế và mẫu nội dung chuẩn để giảm số vòng sửa</a:t>
            </a:r>
            <a:endParaRPr lang="en-US" sz="1600" dirty="0"/>
          </a:p>
        </p:txBody>
      </p:sp>
      <p:sp>
        <p:nvSpPr>
          <p:cNvPr id="9" name="Shape 7"/>
          <p:cNvSpPr/>
          <p:nvPr/>
        </p:nvSpPr>
        <p:spPr>
          <a:xfrm>
            <a:off x="457200" y="2697480"/>
            <a:ext cx="6492240" cy="1005840"/>
          </a:xfrm>
          <a:prstGeom prst="roundRect">
            <a:avLst>
              <a:gd name="adj" fmla="val 9091"/>
            </a:avLst>
          </a:prstGeom>
          <a:solidFill>
            <a:srgbClr val="EEF0F3"/>
          </a:solidFill>
          <a:ln w="12700">
            <a:solidFill>
              <a:srgbClr val="EEF0F3"/>
            </a:solidFill>
            <a:prstDash val="solid"/>
          </a:ln>
        </p:spPr>
      </p:sp>
      <p:sp>
        <p:nvSpPr>
          <p:cNvPr id="10" name="Shape 8"/>
          <p:cNvSpPr/>
          <p:nvPr/>
        </p:nvSpPr>
        <p:spPr>
          <a:xfrm>
            <a:off x="621792" y="2880360"/>
            <a:ext cx="640080" cy="640080"/>
          </a:xfrm>
          <a:prstGeom prst="ellipse">
            <a:avLst/>
          </a:prstGeom>
          <a:solidFill>
            <a:srgbClr val="C3C8D1"/>
          </a:solidFill>
          <a:ln w="12700">
            <a:solidFill>
              <a:srgbClr val="C3C8D1"/>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Dừng phục vụ MediPharm vì chi phí phục vụ cao</a:t>
            </a:r>
            <a:endParaRPr lang="en-US" sz="1600" dirty="0"/>
          </a:p>
        </p:txBody>
      </p:sp>
      <p:sp>
        <p:nvSpPr>
          <p:cNvPr id="13" name="Shape 11"/>
          <p:cNvSpPr/>
          <p:nvPr/>
        </p:nvSpPr>
        <p:spPr>
          <a:xfrm>
            <a:off x="457200" y="3886200"/>
            <a:ext cx="6492240" cy="1005840"/>
          </a:xfrm>
          <a:prstGeom prst="roundRect">
            <a:avLst>
              <a:gd name="adj" fmla="val 9091"/>
            </a:avLst>
          </a:prstGeom>
          <a:solidFill>
            <a:srgbClr val="EEF0F3"/>
          </a:solidFill>
          <a:ln w="12700">
            <a:solidFill>
              <a:srgbClr val="EEF0F3"/>
            </a:solidFill>
            <a:prstDash val="solid"/>
          </a:ln>
        </p:spPr>
      </p:sp>
      <p:sp>
        <p:nvSpPr>
          <p:cNvPr id="14" name="Shape 12"/>
          <p:cNvSpPr/>
          <p:nvPr/>
        </p:nvSpPr>
        <p:spPr>
          <a:xfrm>
            <a:off x="621792" y="4069080"/>
            <a:ext cx="640080" cy="640080"/>
          </a:xfrm>
          <a:prstGeom prst="ellipse">
            <a:avLst/>
          </a:prstGeom>
          <a:solidFill>
            <a:srgbClr val="C3C8D1"/>
          </a:solidFill>
          <a:ln w="12700">
            <a:solidFill>
              <a:srgbClr val="C3C8D1"/>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Đơn phương tăng giá 30% cho mọi sự kiện của MediPharm</a:t>
            </a:r>
            <a:endParaRPr lang="en-US" sz="1600" dirty="0"/>
          </a:p>
        </p:txBody>
      </p:sp>
      <p:sp>
        <p:nvSpPr>
          <p:cNvPr id="17" name="Shape 15"/>
          <p:cNvSpPr/>
          <p:nvPr/>
        </p:nvSpPr>
        <p:spPr>
          <a:xfrm>
            <a:off x="457200" y="5074920"/>
            <a:ext cx="6492240" cy="1005840"/>
          </a:xfrm>
          <a:prstGeom prst="roundRect">
            <a:avLst>
              <a:gd name="adj" fmla="val 9091"/>
            </a:avLst>
          </a:prstGeom>
          <a:solidFill>
            <a:srgbClr val="EEF0F3"/>
          </a:solidFill>
          <a:ln w="12700">
            <a:solidFill>
              <a:srgbClr val="EEF0F3"/>
            </a:solidFill>
            <a:prstDash val="solid"/>
          </a:ln>
        </p:spPr>
      </p:sp>
      <p:sp>
        <p:nvSpPr>
          <p:cNvPr id="18" name="Shape 16"/>
          <p:cNvSpPr/>
          <p:nvPr/>
        </p:nvSpPr>
        <p:spPr>
          <a:xfrm>
            <a:off x="621792" y="5257800"/>
            <a:ext cx="640080" cy="640080"/>
          </a:xfrm>
          <a:prstGeom prst="ellipse">
            <a:avLst/>
          </a:prstGeom>
          <a:solidFill>
            <a:srgbClr val="C3C8D1"/>
          </a:solidFill>
          <a:ln w="12700">
            <a:solidFill>
              <a:srgbClr val="C3C8D1"/>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Giữ nguyên mọi thứ vì biên lợi nhuận đã cao</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Biên cao – cost-to-serve cao: giữ khách nhưng cùng khách giảm chi phí phục vụ. Dừng phục vụ hay đơn phương tăng giá là ép khách; giữ nguyên là bỏ qua chi phí phục vụ.</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8</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8 — Đáp án C</a:t>
            </a:r>
            <a:endParaRPr lang="en-US" sz="3000" dirty="0"/>
          </a:p>
        </p:txBody>
      </p:sp>
      <p:sp>
        <p:nvSpPr>
          <p:cNvPr id="5" name="Shape 3"/>
          <p:cNvSpPr/>
          <p:nvPr/>
        </p:nvSpPr>
        <p:spPr>
          <a:xfrm>
            <a:off x="457200" y="1508760"/>
            <a:ext cx="6492240" cy="1005840"/>
          </a:xfrm>
          <a:prstGeom prst="roundRect">
            <a:avLst>
              <a:gd name="adj" fmla="val 9091"/>
            </a:avLst>
          </a:prstGeom>
          <a:solidFill>
            <a:srgbClr val="EEF0F3"/>
          </a:solidFill>
          <a:ln w="12700">
            <a:solidFill>
              <a:srgbClr val="EEF0F3"/>
            </a:solidFill>
            <a:prstDash val="solid"/>
          </a:ln>
        </p:spPr>
      </p:sp>
      <p:sp>
        <p:nvSpPr>
          <p:cNvPr id="6" name="Shape 4"/>
          <p:cNvSpPr/>
          <p:nvPr/>
        </p:nvSpPr>
        <p:spPr>
          <a:xfrm>
            <a:off x="621792" y="1691640"/>
            <a:ext cx="640080" cy="640080"/>
          </a:xfrm>
          <a:prstGeom prst="ellipse">
            <a:avLst/>
          </a:prstGeom>
          <a:solidFill>
            <a:srgbClr val="C3C8D1"/>
          </a:solidFill>
          <a:ln w="12700">
            <a:solidFill>
              <a:srgbClr val="C3C8D1"/>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Non-critical — mua theo quy trình đơn giản, không cần chú ý</a:t>
            </a:r>
            <a:endParaRPr lang="en-US" sz="1600" dirty="0"/>
          </a:p>
        </p:txBody>
      </p:sp>
      <p:sp>
        <p:nvSpPr>
          <p:cNvPr id="9" name="Shape 7"/>
          <p:cNvSpPr/>
          <p:nvPr/>
        </p:nvSpPr>
        <p:spPr>
          <a:xfrm>
            <a:off x="457200" y="2697480"/>
            <a:ext cx="6492240" cy="1005840"/>
          </a:xfrm>
          <a:prstGeom prst="roundRect">
            <a:avLst>
              <a:gd name="adj" fmla="val 9091"/>
            </a:avLst>
          </a:prstGeom>
          <a:solidFill>
            <a:srgbClr val="EEF0F3"/>
          </a:solidFill>
          <a:ln w="12700">
            <a:solidFill>
              <a:srgbClr val="EEF0F3"/>
            </a:solidFill>
            <a:prstDash val="solid"/>
          </a:ln>
        </p:spPr>
      </p:sp>
      <p:sp>
        <p:nvSpPr>
          <p:cNvPr id="10" name="Shape 8"/>
          <p:cNvSpPr/>
          <p:nvPr/>
        </p:nvSpPr>
        <p:spPr>
          <a:xfrm>
            <a:off x="621792" y="2880360"/>
            <a:ext cx="640080" cy="640080"/>
          </a:xfrm>
          <a:prstGeom prst="ellipse">
            <a:avLst/>
          </a:prstGeom>
          <a:solidFill>
            <a:srgbClr val="C3C8D1"/>
          </a:solidFill>
          <a:ln w="12700">
            <a:solidFill>
              <a:srgbClr val="C3C8D1"/>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Leverage — ép giá vì có nhiều nhà cung cấp AV trên thị trường</a:t>
            </a:r>
            <a:endParaRPr lang="en-US" sz="1600" dirty="0"/>
          </a:p>
        </p:txBody>
      </p:sp>
      <p:sp>
        <p:nvSpPr>
          <p:cNvPr id="13" name="Shape 11"/>
          <p:cNvSpPr/>
          <p:nvPr/>
        </p:nvSpPr>
        <p:spPr>
          <a:xfrm>
            <a:off x="457200" y="3886200"/>
            <a:ext cx="6492240" cy="1005840"/>
          </a:xfrm>
          <a:prstGeom prst="roundRect">
            <a:avLst>
              <a:gd name="adj" fmla="val 9091"/>
            </a:avLst>
          </a:prstGeom>
          <a:solidFill>
            <a:srgbClr val="2A9D8F"/>
          </a:solidFill>
          <a:ln w="12700">
            <a:solidFill>
              <a:srgbClr val="2A9D8F"/>
            </a:solidFill>
            <a:prstDash val="solid"/>
          </a:ln>
        </p:spPr>
      </p:sp>
      <p:sp>
        <p:nvSpPr>
          <p:cNvPr id="14" name="Shape 12"/>
          <p:cNvSpPr/>
          <p:nvPr/>
        </p:nvSpPr>
        <p:spPr>
          <a:xfrm>
            <a:off x="621792" y="4069080"/>
            <a:ext cx="640080" cy="640080"/>
          </a:xfrm>
          <a:prstGeom prst="ellipse">
            <a:avLst/>
          </a:prstGeom>
          <a:solidFill>
            <a:srgbClr val="FFFFFF"/>
          </a:solidFill>
          <a:ln w="12700">
            <a:solidFill>
              <a:srgbClr val="FFFFFF"/>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Bottleneck — đưa báo giá AV và phí phát sinh vào đàm phán trước khi ký hợp đồng khách sạn</a:t>
            </a:r>
            <a:endParaRPr lang="en-US" sz="1600" dirty="0"/>
          </a:p>
        </p:txBody>
      </p:sp>
      <p:sp>
        <p:nvSpPr>
          <p:cNvPr id="17" name="Shape 15"/>
          <p:cNvSpPr/>
          <p:nvPr/>
        </p:nvSpPr>
        <p:spPr>
          <a:xfrm>
            <a:off x="457200" y="5074920"/>
            <a:ext cx="6492240" cy="1005840"/>
          </a:xfrm>
          <a:prstGeom prst="roundRect">
            <a:avLst>
              <a:gd name="adj" fmla="val 9091"/>
            </a:avLst>
          </a:prstGeom>
          <a:solidFill>
            <a:srgbClr val="EEF0F3"/>
          </a:solidFill>
          <a:ln w="12700">
            <a:solidFill>
              <a:srgbClr val="EEF0F3"/>
            </a:solidFill>
            <a:prstDash val="solid"/>
          </a:ln>
        </p:spPr>
      </p:sp>
      <p:sp>
        <p:nvSpPr>
          <p:cNvPr id="18" name="Shape 16"/>
          <p:cNvSpPr/>
          <p:nvPr/>
        </p:nvSpPr>
        <p:spPr>
          <a:xfrm>
            <a:off x="621792" y="5257800"/>
            <a:ext cx="640080" cy="640080"/>
          </a:xfrm>
          <a:prstGeom prst="ellipse">
            <a:avLst/>
          </a:prstGeom>
          <a:solidFill>
            <a:srgbClr val="C3C8D1"/>
          </a:solidFill>
          <a:ln w="12700">
            <a:solidFill>
              <a:srgbClr val="C3C8D1"/>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Strategic — xây quan hệ đối tác dài hạn với đơn vị AV của khách sạn</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Giá trị nhỏ nhưng chỉ còn một nguồn do điều khoản hợp đồng → Bottleneck. Rủi ro đến từ điều khoản, phải xử lý trước khi ký. “Tốn ít tiền” không có nghĩa là Non-critical.</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9</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9 — Đáp án B</a:t>
            </a:r>
            <a:endParaRPr lang="en-US" sz="3000" dirty="0"/>
          </a:p>
        </p:txBody>
      </p:sp>
      <p:sp>
        <p:nvSpPr>
          <p:cNvPr id="5" name="Shape 3"/>
          <p:cNvSpPr/>
          <p:nvPr/>
        </p:nvSpPr>
        <p:spPr>
          <a:xfrm>
            <a:off x="457200" y="1508760"/>
            <a:ext cx="6492240" cy="1005840"/>
          </a:xfrm>
          <a:prstGeom prst="roundRect">
            <a:avLst>
              <a:gd name="adj" fmla="val 9091"/>
            </a:avLst>
          </a:prstGeom>
          <a:solidFill>
            <a:srgbClr val="EEF0F3"/>
          </a:solidFill>
          <a:ln w="12700">
            <a:solidFill>
              <a:srgbClr val="EEF0F3"/>
            </a:solidFill>
            <a:prstDash val="solid"/>
          </a:ln>
        </p:spPr>
      </p:sp>
      <p:sp>
        <p:nvSpPr>
          <p:cNvPr id="6" name="Shape 4"/>
          <p:cNvSpPr/>
          <p:nvPr/>
        </p:nvSpPr>
        <p:spPr>
          <a:xfrm>
            <a:off x="621792" y="1691640"/>
            <a:ext cx="640080" cy="640080"/>
          </a:xfrm>
          <a:prstGeom prst="ellipse">
            <a:avLst/>
          </a:prstGeom>
          <a:solidFill>
            <a:srgbClr val="C3C8D1"/>
          </a:solidFill>
          <a:ln w="12700">
            <a:solidFill>
              <a:srgbClr val="C3C8D1"/>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Diamond → chuyển sang Bow-tie</a:t>
            </a:r>
            <a:endParaRPr lang="en-US" sz="1600" dirty="0"/>
          </a:p>
        </p:txBody>
      </p:sp>
      <p:sp>
        <p:nvSpPr>
          <p:cNvPr id="9" name="Shape 7"/>
          <p:cNvSpPr/>
          <p:nvPr/>
        </p:nvSpPr>
        <p:spPr>
          <a:xfrm>
            <a:off x="457200" y="2697480"/>
            <a:ext cx="6492240" cy="1005840"/>
          </a:xfrm>
          <a:prstGeom prst="roundRect">
            <a:avLst>
              <a:gd name="adj" fmla="val 9091"/>
            </a:avLst>
          </a:prstGeom>
          <a:solidFill>
            <a:srgbClr val="2A9D8F"/>
          </a:solidFill>
          <a:ln w="12700">
            <a:solidFill>
              <a:srgbClr val="2A9D8F"/>
            </a:solidFill>
            <a:prstDash val="solid"/>
          </a:ln>
        </p:spPr>
      </p:sp>
      <p:sp>
        <p:nvSpPr>
          <p:cNvPr id="10" name="Shape 8"/>
          <p:cNvSpPr/>
          <p:nvPr/>
        </p:nvSpPr>
        <p:spPr>
          <a:xfrm>
            <a:off x="621792" y="2880360"/>
            <a:ext cx="640080" cy="640080"/>
          </a:xfrm>
          <a:prstGeom prst="ellipse">
            <a:avLst/>
          </a:prstGeom>
          <a:solidFill>
            <a:srgbClr val="FFFFFF"/>
          </a:solidFill>
          <a:ln w="12700">
            <a:solidFill>
              <a:srgbClr val="FFFFFF"/>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Bow-tie → chuyển sang Diamond, xây đầu mối nhiều cấp, nhiều chức năng</a:t>
            </a:r>
            <a:endParaRPr lang="en-US" sz="1600" dirty="0"/>
          </a:p>
        </p:txBody>
      </p:sp>
      <p:sp>
        <p:nvSpPr>
          <p:cNvPr id="13" name="Shape 11"/>
          <p:cNvSpPr/>
          <p:nvPr/>
        </p:nvSpPr>
        <p:spPr>
          <a:xfrm>
            <a:off x="457200" y="3886200"/>
            <a:ext cx="6492240" cy="1005840"/>
          </a:xfrm>
          <a:prstGeom prst="roundRect">
            <a:avLst>
              <a:gd name="adj" fmla="val 9091"/>
            </a:avLst>
          </a:prstGeom>
          <a:solidFill>
            <a:srgbClr val="EEF0F3"/>
          </a:solidFill>
          <a:ln w="12700">
            <a:solidFill>
              <a:srgbClr val="EEF0F3"/>
            </a:solidFill>
            <a:prstDash val="solid"/>
          </a:ln>
        </p:spPr>
      </p:sp>
      <p:sp>
        <p:nvSpPr>
          <p:cNvPr id="14" name="Shape 12"/>
          <p:cNvSpPr/>
          <p:nvPr/>
        </p:nvSpPr>
        <p:spPr>
          <a:xfrm>
            <a:off x="621792" y="4069080"/>
            <a:ext cx="640080" cy="640080"/>
          </a:xfrm>
          <a:prstGeom prst="ellipse">
            <a:avLst/>
          </a:prstGeom>
          <a:solidFill>
            <a:srgbClr val="C3C8D1"/>
          </a:solidFill>
          <a:ln w="12700">
            <a:solidFill>
              <a:srgbClr val="C3C8D1"/>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Bow-tie → giữ nguyên, chỉ cần làm quen với anh Minh</a:t>
            </a:r>
            <a:endParaRPr lang="en-US" sz="1600" dirty="0"/>
          </a:p>
        </p:txBody>
      </p:sp>
      <p:sp>
        <p:nvSpPr>
          <p:cNvPr id="17" name="Shape 15"/>
          <p:cNvSpPr/>
          <p:nvPr/>
        </p:nvSpPr>
        <p:spPr>
          <a:xfrm>
            <a:off x="457200" y="5074920"/>
            <a:ext cx="6492240" cy="1005840"/>
          </a:xfrm>
          <a:prstGeom prst="roundRect">
            <a:avLst>
              <a:gd name="adj" fmla="val 9091"/>
            </a:avLst>
          </a:prstGeom>
          <a:solidFill>
            <a:srgbClr val="EEF0F3"/>
          </a:solidFill>
          <a:ln w="12700">
            <a:solidFill>
              <a:srgbClr val="EEF0F3"/>
            </a:solidFill>
            <a:prstDash val="solid"/>
          </a:ln>
        </p:spPr>
      </p:sp>
      <p:sp>
        <p:nvSpPr>
          <p:cNvPr id="18" name="Shape 16"/>
          <p:cNvSpPr/>
          <p:nvPr/>
        </p:nvSpPr>
        <p:spPr>
          <a:xfrm>
            <a:off x="621792" y="5257800"/>
            <a:ext cx="640080" cy="640080"/>
          </a:xfrm>
          <a:prstGeom prst="ellipse">
            <a:avLst/>
          </a:prstGeom>
          <a:solidFill>
            <a:srgbClr val="C3C8D1"/>
          </a:solidFill>
          <a:ln w="12700">
            <a:solidFill>
              <a:srgbClr val="C3C8D1"/>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Diamond → giảm số người tiếp xúc để tránh rối</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Một đầu mối ↔ một đầu mối là Bow-tie: đứt khi người đó rời đi. Lộ trình Bow-tie → Diamond: nhiều cấp, nhiều chức năng ở cả hai bên. Chỉ thay người thì vẫn là Bow-tie.</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65760"/>
            <a:ext cx="868680" cy="868680"/>
          </a:xfrm>
          <a:prstGeom prst="ellipse">
            <a:avLst/>
          </a:prstGeom>
          <a:solidFill>
            <a:srgbClr val="2A9D8F"/>
          </a:solidFill>
          <a:ln w="12700">
            <a:solidFill>
              <a:srgbClr val="2A9D8F"/>
            </a:solidFill>
            <a:prstDash val="solid"/>
          </a:ln>
        </p:spPr>
      </p:sp>
      <p:sp>
        <p:nvSpPr>
          <p:cNvPr id="3" name="Text 1"/>
          <p:cNvSpPr txBox="1"/>
          <p:nvPr/>
        </p:nvSpPr>
        <p:spPr>
          <a:xfrm>
            <a:off x="457200" y="36576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10</a:t>
            </a:r>
            <a:endParaRPr lang="en-US" sz="3000" dirty="0"/>
          </a:p>
        </p:txBody>
      </p:sp>
      <p:sp>
        <p:nvSpPr>
          <p:cNvPr id="4" name="Text 2"/>
          <p:cNvSpPr txBox="1"/>
          <p:nvPr/>
        </p:nvSpPr>
        <p:spPr>
          <a:xfrm>
            <a:off x="1508760" y="457200"/>
            <a:ext cx="9144000" cy="640080"/>
          </a:xfrm>
          <a:prstGeom prst="rect">
            <a:avLst/>
          </a:prstGeom>
          <a:noFill/>
          <a:ln/>
        </p:spPr>
        <p:txBody>
          <a:bodyPr wrap="square" lIns="0" tIns="0" rIns="0" bIns="0" rtlCol="0" anchor="t"/>
          <a:lstStyle/>
          <a:p>
            <a:pPr indent="0" marL="0">
              <a:buNone/>
            </a:pPr>
            <a:r>
              <a:rPr lang="en-US" sz="3000" b="1" dirty="0">
                <a:solidFill>
                  <a:srgbClr val="1F2A44"/>
                </a:solidFill>
                <a:latin typeface="Cambria" pitchFamily="34" charset="0"/>
                <a:ea typeface="Cambria" pitchFamily="34" charset="-122"/>
                <a:cs typeface="Cambria" pitchFamily="34" charset="-120"/>
              </a:rPr>
              <a:t>Câu 10 — Đáp án A</a:t>
            </a:r>
            <a:endParaRPr lang="en-US" sz="3000" dirty="0"/>
          </a:p>
        </p:txBody>
      </p:sp>
      <p:sp>
        <p:nvSpPr>
          <p:cNvPr id="5" name="Shape 3"/>
          <p:cNvSpPr/>
          <p:nvPr/>
        </p:nvSpPr>
        <p:spPr>
          <a:xfrm>
            <a:off x="457200" y="1508760"/>
            <a:ext cx="6492240" cy="1005840"/>
          </a:xfrm>
          <a:prstGeom prst="roundRect">
            <a:avLst>
              <a:gd name="adj" fmla="val 9091"/>
            </a:avLst>
          </a:prstGeom>
          <a:solidFill>
            <a:srgbClr val="2A9D8F"/>
          </a:solidFill>
          <a:ln w="12700">
            <a:solidFill>
              <a:srgbClr val="2A9D8F"/>
            </a:solidFill>
            <a:prstDash val="solid"/>
          </a:ln>
        </p:spPr>
      </p:sp>
      <p:sp>
        <p:nvSpPr>
          <p:cNvPr id="6" name="Shape 4"/>
          <p:cNvSpPr/>
          <p:nvPr/>
        </p:nvSpPr>
        <p:spPr>
          <a:xfrm>
            <a:off x="621792" y="1691640"/>
            <a:ext cx="640080" cy="640080"/>
          </a:xfrm>
          <a:prstGeom prst="ellipse">
            <a:avLst/>
          </a:prstGeom>
          <a:solidFill>
            <a:srgbClr val="FFFFFF"/>
          </a:solidFill>
          <a:ln w="12700">
            <a:solidFill>
              <a:srgbClr val="FFFFFF"/>
            </a:solidFill>
            <a:prstDash val="solid"/>
          </a:ln>
        </p:spPr>
      </p:sp>
      <p:sp>
        <p:nvSpPr>
          <p:cNvPr id="7" name="Text 5"/>
          <p:cNvSpPr txBox="1"/>
          <p:nvPr/>
        </p:nvSpPr>
        <p:spPr>
          <a:xfrm>
            <a:off x="621792" y="1691640"/>
            <a:ext cx="640080" cy="640080"/>
          </a:xfrm>
          <a:prstGeom prst="rect">
            <a:avLst/>
          </a:prstGeom>
          <a:noFill/>
          <a:ln/>
        </p:spPr>
        <p:txBody>
          <a:bodyPr wrap="square" lIns="0" tIns="0" rIns="0" bIns="0" rtlCol="0" anchor="ctr"/>
          <a:lstStyle/>
          <a:p>
            <a:pPr algn="ctr" indent="0" marL="0">
              <a:buNone/>
            </a:pPr>
            <a:r>
              <a:rPr lang="en-US" sz="2200" b="1" dirty="0">
                <a:solidFill>
                  <a:srgbClr val="2A9D8F"/>
                </a:solidFill>
                <a:latin typeface="Cambria" pitchFamily="34" charset="0"/>
                <a:ea typeface="Cambria" pitchFamily="34" charset="-122"/>
                <a:cs typeface="Cambria" pitchFamily="34" charset="-120"/>
              </a:rPr>
              <a:t>A</a:t>
            </a:r>
            <a:endParaRPr lang="en-US" sz="2200" dirty="0"/>
          </a:p>
        </p:txBody>
      </p:sp>
      <p:sp>
        <p:nvSpPr>
          <p:cNvPr id="8" name="Text 6"/>
          <p:cNvSpPr txBox="1"/>
          <p:nvPr/>
        </p:nvSpPr>
        <p:spPr>
          <a:xfrm>
            <a:off x="1417320" y="1554480"/>
            <a:ext cx="5394960" cy="9144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Cấp 3 — thay đổi hành vi (behaviour)</a:t>
            </a:r>
            <a:endParaRPr lang="en-US" sz="1600" dirty="0"/>
          </a:p>
        </p:txBody>
      </p:sp>
      <p:sp>
        <p:nvSpPr>
          <p:cNvPr id="9" name="Shape 7"/>
          <p:cNvSpPr/>
          <p:nvPr/>
        </p:nvSpPr>
        <p:spPr>
          <a:xfrm>
            <a:off x="457200" y="2697480"/>
            <a:ext cx="6492240" cy="1005840"/>
          </a:xfrm>
          <a:prstGeom prst="roundRect">
            <a:avLst>
              <a:gd name="adj" fmla="val 9091"/>
            </a:avLst>
          </a:prstGeom>
          <a:solidFill>
            <a:srgbClr val="EEF0F3"/>
          </a:solidFill>
          <a:ln w="12700">
            <a:solidFill>
              <a:srgbClr val="EEF0F3"/>
            </a:solidFill>
            <a:prstDash val="solid"/>
          </a:ln>
        </p:spPr>
      </p:sp>
      <p:sp>
        <p:nvSpPr>
          <p:cNvPr id="10" name="Shape 8"/>
          <p:cNvSpPr/>
          <p:nvPr/>
        </p:nvSpPr>
        <p:spPr>
          <a:xfrm>
            <a:off x="621792" y="2880360"/>
            <a:ext cx="640080" cy="640080"/>
          </a:xfrm>
          <a:prstGeom prst="ellipse">
            <a:avLst/>
          </a:prstGeom>
          <a:solidFill>
            <a:srgbClr val="C3C8D1"/>
          </a:solidFill>
          <a:ln w="12700">
            <a:solidFill>
              <a:srgbClr val="C3C8D1"/>
            </a:solidFill>
            <a:prstDash val="solid"/>
          </a:ln>
        </p:spPr>
      </p:sp>
      <p:sp>
        <p:nvSpPr>
          <p:cNvPr id="11" name="Text 9"/>
          <p:cNvSpPr txBox="1"/>
          <p:nvPr/>
        </p:nvSpPr>
        <p:spPr>
          <a:xfrm>
            <a:off x="621792" y="2880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12" name="Text 10"/>
          <p:cNvSpPr txBox="1"/>
          <p:nvPr/>
        </p:nvSpPr>
        <p:spPr>
          <a:xfrm>
            <a:off x="1417320" y="274320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Cấp 1 — hài lòng</a:t>
            </a:r>
            <a:endParaRPr lang="en-US" sz="1600" dirty="0"/>
          </a:p>
        </p:txBody>
      </p:sp>
      <p:sp>
        <p:nvSpPr>
          <p:cNvPr id="13" name="Shape 11"/>
          <p:cNvSpPr/>
          <p:nvPr/>
        </p:nvSpPr>
        <p:spPr>
          <a:xfrm>
            <a:off x="457200" y="3886200"/>
            <a:ext cx="6492240" cy="1005840"/>
          </a:xfrm>
          <a:prstGeom prst="roundRect">
            <a:avLst>
              <a:gd name="adj" fmla="val 9091"/>
            </a:avLst>
          </a:prstGeom>
          <a:solidFill>
            <a:srgbClr val="EEF0F3"/>
          </a:solidFill>
          <a:ln w="12700">
            <a:solidFill>
              <a:srgbClr val="EEF0F3"/>
            </a:solidFill>
            <a:prstDash val="solid"/>
          </a:ln>
        </p:spPr>
      </p:sp>
      <p:sp>
        <p:nvSpPr>
          <p:cNvPr id="14" name="Shape 12"/>
          <p:cNvSpPr/>
          <p:nvPr/>
        </p:nvSpPr>
        <p:spPr>
          <a:xfrm>
            <a:off x="621792" y="4069080"/>
            <a:ext cx="640080" cy="640080"/>
          </a:xfrm>
          <a:prstGeom prst="ellipse">
            <a:avLst/>
          </a:prstGeom>
          <a:solidFill>
            <a:srgbClr val="C3C8D1"/>
          </a:solidFill>
          <a:ln w="12700">
            <a:solidFill>
              <a:srgbClr val="C3C8D1"/>
            </a:solidFill>
            <a:prstDash val="solid"/>
          </a:ln>
        </p:spPr>
      </p:sp>
      <p:sp>
        <p:nvSpPr>
          <p:cNvPr id="15" name="Text 13"/>
          <p:cNvSpPr txBox="1"/>
          <p:nvPr/>
        </p:nvSpPr>
        <p:spPr>
          <a:xfrm>
            <a:off x="621792" y="40690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417320" y="393192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Cấp 2 — học được</a:t>
            </a:r>
            <a:endParaRPr lang="en-US" sz="1600" dirty="0"/>
          </a:p>
        </p:txBody>
      </p:sp>
      <p:sp>
        <p:nvSpPr>
          <p:cNvPr id="17" name="Shape 15"/>
          <p:cNvSpPr/>
          <p:nvPr/>
        </p:nvSpPr>
        <p:spPr>
          <a:xfrm>
            <a:off x="457200" y="5074920"/>
            <a:ext cx="6492240" cy="1005840"/>
          </a:xfrm>
          <a:prstGeom prst="roundRect">
            <a:avLst>
              <a:gd name="adj" fmla="val 9091"/>
            </a:avLst>
          </a:prstGeom>
          <a:solidFill>
            <a:srgbClr val="EEF0F3"/>
          </a:solidFill>
          <a:ln w="12700">
            <a:solidFill>
              <a:srgbClr val="EEF0F3"/>
            </a:solidFill>
            <a:prstDash val="solid"/>
          </a:ln>
        </p:spPr>
      </p:sp>
      <p:sp>
        <p:nvSpPr>
          <p:cNvPr id="18" name="Shape 16"/>
          <p:cNvSpPr/>
          <p:nvPr/>
        </p:nvSpPr>
        <p:spPr>
          <a:xfrm>
            <a:off x="621792" y="5257800"/>
            <a:ext cx="640080" cy="640080"/>
          </a:xfrm>
          <a:prstGeom prst="ellipse">
            <a:avLst/>
          </a:prstGeom>
          <a:solidFill>
            <a:srgbClr val="C3C8D1"/>
          </a:solidFill>
          <a:ln w="12700">
            <a:solidFill>
              <a:srgbClr val="C3C8D1"/>
            </a:solidFill>
            <a:prstDash val="solid"/>
          </a:ln>
        </p:spPr>
      </p:sp>
      <p:sp>
        <p:nvSpPr>
          <p:cNvPr id="19" name="Text 17"/>
          <p:cNvSpPr txBox="1"/>
          <p:nvPr/>
        </p:nvSpPr>
        <p:spPr>
          <a:xfrm>
            <a:off x="621792" y="5257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0" name="Text 18"/>
          <p:cNvSpPr txBox="1"/>
          <p:nvPr/>
        </p:nvSpPr>
        <p:spPr>
          <a:xfrm>
            <a:off x="1417320" y="5120640"/>
            <a:ext cx="5394960" cy="914400"/>
          </a:xfrm>
          <a:prstGeom prst="rect">
            <a:avLst/>
          </a:prstGeom>
          <a:noFill/>
          <a:ln/>
        </p:spPr>
        <p:txBody>
          <a:bodyPr wrap="square" lIns="0" tIns="0" rIns="0" bIns="0" rtlCol="0" anchor="ctr"/>
          <a:lstStyle/>
          <a:p>
            <a:pPr indent="0" marL="0">
              <a:buNone/>
            </a:pPr>
            <a:r>
              <a:rPr lang="en-US" sz="1600" dirty="0">
                <a:solidFill>
                  <a:srgbClr val="5A6070"/>
                </a:solidFill>
                <a:latin typeface="Calibri" pitchFamily="34" charset="0"/>
                <a:ea typeface="Calibri" pitchFamily="34" charset="-122"/>
                <a:cs typeface="Calibri" pitchFamily="34" charset="-120"/>
              </a:rPr>
              <a:t>Cấp 5 — ROI</a:t>
            </a:r>
            <a:endParaRPr lang="en-US" sz="1600" dirty="0"/>
          </a:p>
        </p:txBody>
      </p:sp>
      <p:sp>
        <p:nvSpPr>
          <p:cNvPr id="21" name="Shape 19"/>
          <p:cNvSpPr/>
          <p:nvPr/>
        </p:nvSpPr>
        <p:spPr>
          <a:xfrm>
            <a:off x="7223760" y="1508760"/>
            <a:ext cx="4480560" cy="4572000"/>
          </a:xfrm>
          <a:prstGeom prst="roundRect">
            <a:avLst>
              <a:gd name="adj" fmla="val 2449"/>
            </a:avLst>
          </a:prstGeom>
          <a:solidFill>
            <a:srgbClr val="F4F1EA"/>
          </a:solidFill>
          <a:ln w="12700">
            <a:solidFill>
              <a:srgbClr val="F4F1EA"/>
            </a:solidFill>
            <a:prstDash val="solid"/>
          </a:ln>
        </p:spPr>
      </p:sp>
      <p:sp>
        <p:nvSpPr>
          <p:cNvPr id="22" name="Text 20"/>
          <p:cNvSpPr txBox="1"/>
          <p:nvPr/>
        </p:nvSpPr>
        <p:spPr>
          <a:xfrm>
            <a:off x="7498080" y="1691640"/>
            <a:ext cx="3931920" cy="457200"/>
          </a:xfrm>
          <a:prstGeom prst="rect">
            <a:avLst/>
          </a:prstGeom>
          <a:noFill/>
          <a:ln/>
        </p:spPr>
        <p:txBody>
          <a:bodyPr wrap="square" lIns="0" tIns="0" rIns="0" bIns="0" rtlCol="0" anchor="t"/>
          <a:lstStyle/>
          <a:p>
            <a:pPr indent="0" marL="0">
              <a:buNone/>
            </a:pPr>
            <a:r>
              <a:rPr lang="en-US" sz="2000" b="1" dirty="0">
                <a:solidFill>
                  <a:srgbClr val="E07A5F"/>
                </a:solidFill>
                <a:latin typeface="Cambria" pitchFamily="34" charset="0"/>
                <a:ea typeface="Cambria" pitchFamily="34" charset="-122"/>
                <a:cs typeface="Cambria" pitchFamily="34" charset="-120"/>
              </a:rPr>
              <a:t>Vì sao?</a:t>
            </a:r>
            <a:endParaRPr lang="en-US" sz="2000" dirty="0"/>
          </a:p>
        </p:txBody>
      </p:sp>
      <p:sp>
        <p:nvSpPr>
          <p:cNvPr id="23" name="Text 21"/>
          <p:cNvSpPr txBox="1"/>
          <p:nvPr/>
        </p:nvSpPr>
        <p:spPr>
          <a:xfrm>
            <a:off x="7498080" y="2240280"/>
            <a:ext cx="3931920" cy="3657600"/>
          </a:xfrm>
          <a:prstGeom prst="rect">
            <a:avLst/>
          </a:prstGeom>
          <a:noFill/>
          <a:ln/>
        </p:spPr>
        <p:txBody>
          <a:bodyPr wrap="square" lIns="0" tIns="0" rIns="0" bIns="0" rtlCol="0" anchor="t"/>
          <a:lstStyle/>
          <a:p>
            <a:pPr indent="0" marL="0">
              <a:spcAft>
                <a:spcPts val="600"/>
              </a:spcAft>
              <a:buNone/>
            </a:pPr>
            <a:r>
              <a:rPr lang="en-US" sz="1600" dirty="0">
                <a:solidFill>
                  <a:srgbClr val="222831"/>
                </a:solidFill>
                <a:latin typeface="Calibri" pitchFamily="34" charset="0"/>
                <a:ea typeface="Calibri" pitchFamily="34" charset="-122"/>
                <a:cs typeface="Calibri" pitchFamily="34" charset="-120"/>
              </a:rPr>
              <a:t>Áp dụng điều đã học vào công việc = thay đổi hành vi (cấp 3). Cấp 2 chỉ đo học được gì; cấp 5 phải quy lợi ích ra tiền so với chi phí.</a:t>
            </a:r>
            <a:endParaRPr lang="en-US" sz="16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8A8F9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Kiểm tra trắc nghiệm Buổi 1–8 – EVM1110E</dc:title>
  <dc:subject>PptxGenJS Presentation</dc:subject>
  <dc:creator>PptxGenJS</dc:creator>
  <cp:lastModifiedBy>PptxGenJS</cp:lastModifiedBy>
  <cp:revision>1</cp:revision>
  <dcterms:created xsi:type="dcterms:W3CDTF">2026-10-03T01:46:30Z</dcterms:created>
  <dcterms:modified xsi:type="dcterms:W3CDTF">2026-10-03T01:46:30Z</dcterms:modified>
</cp:coreProperties>
</file>