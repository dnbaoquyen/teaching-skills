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2 — Bài 2: Tư duy KAM và chọn Key Account. Đây là buổi đầu tiên của Phần 2 — phần trục của môn học.
(GV: Trước khi vào bài: đọc 2–3 “điều còn mơ hồ” nhiều nhất từ phiếu cuối giờ Buổi 1 và trả lời ngắn (≤3 phút, lấy từ thời gian S2).)
Hỏi lớp: —
Chuyển ý: Bắt đầu bằng một khách hàng có thật trong sổ sách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nay khách hàng đem doanh thu lớn nhất cho Nova là Địa ốc Sông Xanh: 3,5 tỷ đồng. Nhưng họ đấu thầu từng sự kiện theo giá, trả tiền sau khoảng 90 ngày, và năm nào cũng đổi agency. Đó có phải Key Account của Nova? Giơ tay: Có — Không — Chưa biết.
(GV: Tình huống giả định (khớp phiếu S6 và Buổi 6). Đếm tay, ghi tỷ lệ lên bảng; không chốt đáp án — để đến slide 19–25. Câu chốt tạm: “Key Account không phải khách lớn nhất, mà là khách đáng đầu tư quan hệ nhất — và cũng muốn đầu tư lại vào ta.”)
Hỏi lớp: “Sông Xanh có phải Key Account của Nova? Có, không, hay chưa biết?”
Chuyển ý: Để trả lời, trước hết phải biết KAM là gì — và nó khác bán hàng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định nghĩa Key Account là người hoặc tổ chức mà doanh nghiệp đã xây dựng mối quan hệ không chỉ là quan hệ kinh doanh tiêu chuẩn, mà dựa trên mức độ tin cậy. Và KAM — quản trị khách hàng trọng yếu — là một chiến lược kinh doanh nhằm phát triển lâu dài, bền vững thông qua quan hệ đối tác có lợi nhuận với các khách hàng quan trọng về mặt chiến lược; KAM không phải một quy trình biệt lập mà là một phần tích hợp của chiến lược doanh nghiệp. Giáo trình của Marcos và cộng sự viết ngắn hơn: KAM là một quá trình tích hợp để quản trị có lợi nhuận các mối quan hệ khách hàng. Ba điểm chung: chiến lược; dài hạn và có lợi nhuận; và chỉ dành cho số ít khách hàng được chọn lọc.
(GV: Đã đối chiếu: slide gốc Chương 1, mục 1.1.1 (Drive của GV); Marcos, Davies, Guesalaga &amp; Holt (2018), Implementing KAM, Kogan Page, Chương 1 (câu nguyên văn, khoảng tr. 18–20 — [VERIFY số trang]). Giáo trình này là tài liệu đọc thêm của môn.)
Hỏi lớp: “Trong ba định nghĩa, chữ nào cho thấy KAM không dành cho mọi khách hàng?”
Chuyển ý: Vậy KAM khác bán hàng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Malcolm McDonald ở Cranfield viết: phần lớn các công ty nghĩ KAM là “bán hàng có gắn thêm núm vặn” — tức là bán hàng xịn hơn, chăm sóc kỹ hơn. Sai. Khách hàng lớn không muốn bị bán hàng. Họ cần người hiểu tài chính, quy trình, tổ chức và văn hóa của họ — và đưa ra giải pháp tạo lợi thế cho họ.
(GV: Nguồn B05: McDonald, Cranfield Executive Development Blog (đã đọc khi soạn tư liệu Buổi 2). “Selling with knobs on” là thành ngữ Anh: bản “nâng cấp” của cùng một thứ.)
Hỏi lớp: —
Chuyển ý: Thế giới bán hàng B2B đã đổi như thế nào để KAM ra đời?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Marcos và cộng sự mô tả bốn dịch chuyển trong cách tạo giá trị ở thị trường doanh nghiệp. Từ giá trị nằm trong sản phẩm, sang giá trị khi sử dụng. Từ từng lần mua rời rạc, sang trao đổi liên tục giữa nhà cung cấp và khách hàng. Từ xung đột vì lợi ích riêng, sang hợp tác dựa trên tin cậy. Từ ranh giới rõ ràng, sang ranh giới mờ — người ngoài nhìn vào không phân biệt được ai là người của nhà cung cấp, ai là người của khách hàng. Vì vậy bán hàng B2B đã chuyển từ những hoạt động có cấu trúc, dễ dự đoán, sang vai trò quản trị quan hệ phức tạp.
(GV: Đã đối chiếu Marcos et al. (2018): Hình 1.2 “Shifts in focus in value creation” (tr. 7) — value within product → value in use; discrete interactions → ongoing exchanges; instrumental conflict → trusted collaboration; clear → blurred boundaries; và đoạn tr. 3 về chuyển từ selling sang consultative selling và account management. Millman &amp; Wilson (1995) — tên bài “From key account selling to key account management” — là mốc học thuật cho chuyển dịch này.)
Hỏi lớp: “Với một gala cuối năm, ‘giá trị khi sử dụng’ của khách hàng là gì?” (gợi ý: khách VIP quay lại giao dịch, không phải sân khấu đẹp)
Chuyển ý: Vậy cụ thể KAM khác Sales ở những khía cạnh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Homburg, Workman và Jensen, 2002, mô tả KAM qua bốn khía cạnh. Activities — hoạt động: agency làm gì riêng cho khách hàng này. Actors — người tham gia: ai, ở cấp nào, ở cả hai bên. Resources — nguồn lực: dành riêng cho khách hàng hay dùng chung. Formalization — mức chính thức hóa: có quy trình, kế hoạch, đánh giá hay tùy từng người.
(GV: Bốn khía cạnh theo Homburg et al. (2002), Journal of Marketing 66(2) — đã có trong tư liệu B04. [VERIFY: toàn văn nếu trích tám cách tiếp cận KAM — không dùng ở đây.])
Hỏi lớp: —
Chuyển ý: Đặt Sales và KAM cạnh nhau theo các khía cạnh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Đặt cạnh nhau. Mục tiêu: Sales chốt hợp đồng, doanh số kỳ này; KAM tạo giá trị dài hạn cho cả hai bên. Thời gian: từng sự kiện, từng quý — so với nhiều năm, ba đến năm năm. Hoạt động: chào giá, đấu thầu, chăm sóc — so với hiểu sâu khách hàng, lập kế hoạch riêng, đồng kiến tạo. Người tham gia: một người bán với một người mua — so với nhiều người, nhiều cấp ở cả hai bên. Nguồn lực: dùng chung cho mọi khách — so với dành riêng. Chính thức hóa: tùy người — so với có quy trình, kế hoạch, đánh giá định kỳ. Và cách tạo giá trị: dịch vụ tốt, giá tốt — so với tạo lợi thế cho khách hàng và cho khách của họ.
(GV: Bảng là tổng hợp của người soạn (đã duyệt, tư liệu Buổi 2 quyết định 3), dựa trên B02–B05; bốn dòng giữa theo Homburg et al. (2002). Slide gốc Chương 1, mục 1.2 cũng có bảng so sánh Sales – KAM nhưng là hình, không trích được chữ — GV có thể chèn hình gốc nếu muốn.)
Hỏi lớp: —
Chuyển ý: Áp vào Nova và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Nova đã làm gala cho An Phát bốn năm. Cách Sales: tháng 10 gọi chị Hạnh hỏi “năm nay ngân hàng có làm gala không ạ?”, làm đề xuất, chào giá, giảm giá khi bị ép, làm xong gala thì chờ năm sau. Cách KAM: hiểu mục tiêu năm tới của An Phát — giữ khách doanh nghiệp tốt; đề xuất một chương trình khách hàng cả năm thay vì một đêm gala; có đầu mối nhiều cấp ở hai bên; và sau mỗi sự kiện, cùng An Phát đánh giá chung.
(GV: Theo W02 lecture notes §1.4. Chị Hạnh là GĐ Marketing An Phát (Buổi 1–7).)
Hỏi lớp: —
Chuyển ý: Nhưng KAM có lợi cho ai — và tốn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liệt kê lợi ích hai phía. Với agency: gần và hiểu khách hàng chiến lược, trở thành đối tác lâu dài; khách lớn là nguồn thông tin thị trường rất giá trị; giảm nguy cơ mất một khách hàng quan trọng — điều có thể đe dọa tài chính công ty; và xây lợi thế cạnh tranh bền vững. Với khách hàng: một đầu mối duy nhất, thông tin tập trung và thống nhất; cùng xác định cơ hội và giải pháp; quan hệ trung thành có thể đem lại chi phí tốt hơn; và nâng năng lực cạnh tranh nhờ quan hệ chặt với nhà cung cấp.
(GV: Đã đối chiếu slide gốc Chương 1, mục 1.4.1 (lợi ích với Agency và với Client). Viết gọn lại, giữ ý.)
Hỏi lớp: —
Chuyển ý: Nhưng KAM không miễn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KAM tốn nhiều nguồn lực. Giáo trình Marcos và cộng sự nói KAM khó được biện minh khi: cách tạo giá trị đơn giản, dịch vụ ít phức tạp; thị trường bị hàng hóa hóa, khách dễ đổi nhà cung cấp; vòng đời sản phẩm ngắn; và khi giá là yếu tố quyết định chọn nhà cung cấp. Slide bộ môn liệt kê cái giá khi triển khai: chọn và phân bổ nhân sự chuyên trách; chi phí đào tạo kỹ năng; xác định lại chỉ số hiệu suất theo khách hàng; xây văn hóa lấy khách hàng làm trung tâm; và có thể phải tái cơ cấu, mở kênh liên lạc mới giữa các bộ phận.
(GV: Đã đối chiếu Marcos et al. (2018), mục “Why should your company consider implementing KAM (or not)?” (tr. 7–8) và slide gốc Chương 1 “Khó khăn khi triển khai KAM tại DN”. Nối sang slide sau: vì tốn kém nên phải chọn.)
Hỏi lớp: “Dòng nào trong cột trái mô tả đúng Sông Xanh?” (giá là yếu tố quyết định)
Chuyển ý: Hai hiểu lầm cần gỡ trước khi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hiểu lầm. Một: KAM là chăm sóc khách VIP chu đáo hơn. Không — KAM là một cách vận hành quan hệ, có kế hoạch và nguồn lực riêng. Hai: làm KAM là phải chiều khách. Không — KAM hướng tới lợi ích hai phía; Buổi 6 chúng ta sẽ tính chi phí phục vụ để biết khi nào chiều khách là lỗ.
Hỏi lớp: —
Chuyển ý: Đến lượt các bạn: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Tám phút: phân loại tám hành vi của Nova với An Phát — S là Sales, K là KAM — mỗi hành vi một lý do dựa trên bảng ở slide 7. Tám phút: chọn hai hành vi S, viết lại thành hành vi K cụ thể: ai làm, làm gì, khi nào. Bốn phút: hoàn thành câu “Với An Phát, Nova làm KAM khi…”. Sản phẩm: bảng trên giấy A3, chụp ảnh lưu lại.
(GV: Phiếu W02_activity_S3_sales_hay_kam.md. Mốc phút 30–50. Đáp án tham khảo trong phần GV của phiếu. Chiếu lại slide 7 trong lúc nhóm làm.)
Hỏi lớp: —
Chuyển ý: Sau thực hành,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Tôi ghi giờ quay lại lên bảng.
(GV: [NEEDS PROFESSOR INPUT: giờ quay lại.] Giáo án: phút 50–58.)
Hỏi lớp: —
Chuyển ý: Sau giải lao: Nova chỉ đủ người giỏi cho hai khách hàng — chọn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tới Nova chỉ đủ người giỏi để làm KAM thật sự với tối đa hai khách hàng. Có năm ứng viên. Nova nên đầu tư quan hệ sâu với ai? Đề cương mục 2.2 cho chúng ta ba tiêu chí.
Hỏi lớp: “Bạn sẽ dùng tiêu chí gì đầu tiên?” (thường: doanh thu)
Chuyển ý: Trước hết: vì sao phải chọn 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so sánh Key Account với bạn thân: bạn có thể có bao nhiêu người bạn thân thật sự — người bạn hiểu rõ, tin tưởng, có mặt khi họ cần? Chỉ vài người. Vậy mà nhiều công ty tuyên bố có hơn 100 Key Account! McDonald còn nói mạnh hơn: một trong những cách nhanh nhất để phá sản là cố làm mọi khách hàng “hài lòng tuyệt đối”. Phải chọn — theo tiềm năng lợi nhuận trong khoảng ba năm và thế mạnh cạnh tranh của chính mình.
(GV: Đã đối chiếu Marcos et al. (2018), mục “Selection of key accounts”, tr. 42–43 ([VERIFY: trang bắt đầu đoạn — bản trích xuất cho thấy đoạn nằm ngay trước tr. 43]). Câu McDonald và ý “3 năm” từ B05 (Cranfield blog).)
Hỏi lớp: —
Chuyển ý: Và khi mỗi người tự chọn Key Account thì chuyện gì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tình huống trong giáo trình: một công ty chế biến gỗ quốc tế mời toàn bộ 17 nhân viên kinh doanh, nhờ mỗi người chỉ ra Key Account trong phần mình phụ trách. Mỗi người chọn ba, bốn khách hàng — tổng cộng 60 “Key Account”. Hỏi lý do: người chọn vì quy mô doanh thu, người chọn vì quan hệ tin cậy nhiều năm, người chọn vì công ty đó có uy tín trong ngành, người chọn vì tiềm năng tăng trưởng. Giám đốc rất lo: phải giảm số lượng để đầu tư đủ cho từng khách, và phải có một quy trình, một bộ tiêu chí chung cho cả công ty. Giáo trình khuyên: lãnh đạo đặt quy trình, với sự tham gia của các bộ phận làm việc với khách hàng.
(GV: Đã đối chiếu Marcos et al. (2018), Case study “Selecting key accounts”, tr. 43–44. Liên hệ: ở agency, account manager nào cũng muốn khách của mình là “key”.)
Hỏi lớp: “Nếu Nova để mỗi account manager tự chọn, bạn đoán sẽ có bao nhiêu Key Account?”
Chuyển ý: Bộ tiêu chí chung đó gồm ba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Khung chọn Key Account của nhóm tác giả Cranfield gồm ba giai đoạn, trả lời ba câu hỏi — đúng ba tiêu chí của đề cương. Một: khách hàng này có thật sự hấp dẫn không — customer attractiveness. Hai: công ty ta có vị thế cạnh tranh mạnh để làm việc với khách hàng này không — supplier's competitive position. Ba: khách hàng có sẵn lòng cùng đầu tư vào một quan hệ đối tác với ta không — willingness to co-invest.
(GV: Đã đối chiếu nguyên văn Marcos et al. (2018, tr. 44): “1 Is this customer a very attractive one? 2 Does our company have a strong competitive position to deal with this customer? 3 Is this customer willing to co-invest in a partnering relationship with us?” Cùng nội dung trong B07 (Guesalaga, Cranfield blog). Đây là nguồn gốc của ba tiêu chí trong đề cương 2.2.)
Hỏi lớp: —
Chuyển ý: Hai câu đầu được vẽ thành một ma trận.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câu đầu được điều chỉnh từ ma trận danh mục GE–McKinsey: trục dọc là sức hấp dẫn của khách hàng, trục ngang là vị thế cạnh tranh của ta — mỗi trục chấm từ 1 đến 10. Câu thứ ba — sẵn lòng cùng đầu tư — được thể hiện bằng kích thước vòng tròn: vòng càng lớn, khách càng muốn cùng đầu tư. Trong ví dụ của giáo trình, hai ứng viên tốt nhất là B và F. B cao ở cả hai trục nhưng ít muốn cùng đầu tư. F thấp hơn một chút, nhưng rất muốn cùng đầu tư. Ban lãnh đạo dùng ma trận này để quyết định có thông tin hơn.
(GV: Đã đối chiếu Marcos et al. (2018), Hình 2.4 và đoạn giải thích tr. 52–53 (B cao hai trục nhưng ít muốn co-invest; F thấp hơn nhưng co-invest cao; “best candidates… are customers B and F”). Tọa độ trên slide là vẽ lại minh họa, không phải số liệu. Ở lớp, W02 lecture notes trình bày tiêu chí 3 như một “cổng” — đó là cách trình bày của môn (đã duyệt), tương thích với hình này.)
Hỏi lớp: —
Chuyển ý: Mỗi trục được chấm bằng những tiêu chí con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Sức hấp dẫn của khách hàng có thể đo bằng nhiều yếu tố, xếp theo hai chiều: thời gian — quá khứ, hiện tại hay tương lai; và bản chất — định lượng hay định tính. Định lượng, hiện tại: quy mô doanh thu, lợi nhuận, độ ổn định nhu cầu, chi phí phục vụ. Định lượng, tương lai: tiềm năng tăng trưởng, biên lợi nhuận tương lai, giá trị vòng đời khách hàng. Định tính, hiện tại: chất lượng quan hệ, niềm tin, độ tin cậy, lòng trung thành, uy tín. Định tính, tương lai: phù hợp chiến lược, phù hợp văn hóa, định hướng hợp tác, khả năng mở thị trường mới. Lời khuyên của giáo trình: chọn bốn đến bảy yếu tố, và cân bằng giữa định lượng và định tính, giữa hiện tại và tương lai.
(GV: Đã đối chiếu Marcos et al. (2018), Hình 2.3 “Customer attractiveness factors” (tr. 45) và khuyến nghị “a handful of factors (four to seven)… balance” (tr. 47). Bản trích xuất không giữ được vị trí từng yếu tố trong hình, nên cách xếp vào 4 ô là của người soạn [VERIFY với hình gốc nếu chiếu hình]. Tiêu chí con cho agency ở phiếu S6 (ngân sách sự kiện/năm, thanh toán đúng hạn…) là nhận định đã duyệt.)
Hỏi lớp: —
Chuyển ý: Trục thứ hai: vị thế cạnh tranh của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Đối thủ của ta cũng nhắm vào chính những khách hàng hấp dẫn đó. Nếu ta không có vị thế tốt, đầu tư vào quan hệ có thể lãng phí. Giáo trình gợi ý các yếu tố: chi phí phục vụ; hiểu biết về khách hàng; uy tín doanh nghiệp; mức độ gần với nhóm ra quyết định của khách; khả năng đáp ứng yêu cầu dịch vụ; năng lực hậu cần, giao hàng; chuyên môn kỹ thuật; và văn hóa đổi mới. Cũng chọn bốn đến bảy yếu tố, nhìn từ phía khách hàng. Và vì rất khó tự đánh giá mình khách quan, nên dùng dữ liệu khách quan và góc nhìn bên ngoài.
(GV: Đã đối chiếu Marcos et al. (2018), Stage 2 “Competitive position” (tr. 47–48; tám yếu tố) và khuyến nghị dùng dữ liệu khách quan, cố vấn bên ngoài (tr. 53). Với agency sự kiện (nhận định): “hậu cần” ≈ mạng lưới nhà cung cấp, “chuyên môn kỹ thuật” ≈ năng lực đúng loại sự kiện. “Gần người ra quyết định” nối sang Buổi 3 (DMU).)
Hỏi lớp: —
Chuyển ý: Mỗi yếu tố được chấm và nhân với trọng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Cách chấm: mỗi yếu tố có trọng số, tổng 100%; mỗi khách hàng được chấm điểm cho từng yếu tố; nhân lên rồi cộng lại. Ví dụ giả định: vị thế của Nova với An Phát. Hiểu biết về An Phát, trọng số 30%, điểm 4 — bốn năm làm gala, biết khách VIP của ngân hàng. Gần người ra quyết định, 30%, điểm 2 — chỉ quen chị Hạnh và một người nữa. Kết quả sự kiện đã làm, 20%, điểm 4. Năng lực làm chương trình cả năm, 20%, điểm 3. Tổng: 3,2 trên 5 — vị thế khá. Và điểm yếu lộ ra ngay: Nova chỉ quen một hai người ở An Phát. Buổi 8 sẽ xử lý điểm yếu này. Quy tắc: mỗi điểm phải có một bằng chứng.
(GV: Giáo trình dùng thang 1–10 (Marcos et al., 2018, tr. 50); phiếu S6 của lớp dùng thang 1–5 cho nhanh — nói rõ điều này. Số liệu giả định, khớp W02 lecture notes §2.4. Tính kiểm: 1,2 + 0,6 + 0,8 + 0,6 = 3,2.)
Hỏi lớp: “Nếu đổi trọng số ‘gần người ra quyết định’ lên 50%, điểm thay đổi thế nào?”
Chuyển ý: Câu hỏi thứ ba khác hẳn hai câu đầu: nó hỏi về phía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Câu thứ ba hỏi từ phía khách hàng — nhóm Cranfield gọi là “choose me and I will choose you”: chọn tôi thì tôi chọn bạn. Theo giáo trình, đây là tiêu chí mới nhất, đưa vào sau khi phỏng vấn các lãnh đạo làm KAM: KAM hiệu quả ngày nay cần cùng sáng tạo, cùng phát triển, cùng đầu tư. Giáo trình đo bằng năm câu hỏi: khách sẵn lòng cùng đầu tư vào quan hệ với ta đến mức nào; muốn cùng tạo ra sản phẩm, dịch vụ, giải pháp đến mức nào; sẵn lòng cùng xây chiến lược kinh doanh đến mức nào; xem ta là nhà cung cấp then chốt đến mức nào; và muốn thiết lập quan hệ đối tác đến mức nào.
(GV: Đã đối chiếu Marcos et al. (2018): Stage 3 (tr. 48–49) và Bảng 2.3 phần III (tr. 51), năm câu nguyên văn tiếng Anh, chấm 1–10, trọng số mặc định 20% mỗi câu. Cụm “Choose me and I will choose you” là tên bài blog Cranfield của Guesalaga (B07), không có trong phần sách đã đọc.)
Hỏi lớp: —
Chuyển ý: Với một agency sự kiện, “cùng đầu tư” trông như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Với agency sự kiện, khách hàng muốn cùng đầu tư thường thể hiện qua bốn dấu hiệu: chấp nhận hợp đồng khung nhiều năm thay vì đấu thầu từng sự kiện; chia sẻ thông tin — mục tiêu kinh doanh, dữ liệu khách mời, kết quả sau sự kiện; cử đầu mối cấp cao và mời agency vào họp kế hoạch năm; và chấp nhận thí điểm cùng làm, chia chi phí, chia rủi ro. Một ví dụ thật nhưng là tương tự: Techcombank từ nhà tài trợ một concert năm 2024 đã trở thành nhà đồng đầu tư năm 2025. Đó là quan hệ nhà sản xuất – nhà tài trợ, không phải agency – khách hàng, nhưng cho thấy khi đối tác muốn đầu tư lại, quan hệ đổi hẳn chất.
(GV: Bốn biểu hiện là nhận định của người soạn (đã duyệt, tư liệu Buổi 2). Techcombank – Yeah1: B08 = U08, U11 trong tư liệu Buổi 9 — nhắc rõ là “tương tự”. Câu của một lãnh đạo ngành dịch vụ chuyên nghiệp trong Marcos et al. (2018, tr. 49): mức sẵn lòng cùng đầu tư là “a signal of commitment”.)
Hỏi lớp: —
Chuyển ý: Thử nhanh một ứng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ứng viên giả định: Hãng hàng không Sao Việt — ngân sách sự kiện lớn, muốn hợp đồng khung ba năm và cùng thiết kế chương trình khách hàng thân thiết. Nhưng Nova chưa từng làm sự kiện quốc tế 2.000 khách, và đối thủ là các agency quốc tế đã làm cho ngành hàng không. Ứng viên này yếu nhất ở tiêu chí nào? Giơ một ngón: sức hấp dẫn; hai ngón: vị thế cạnh tranh của Nova; ba ngón: sẵn lòng cùng đầu tư.
(GV: Đáp án: 2 — vị thế cạnh tranh. Hấp dẫn cao (ngân sách, hợp đồng khung), co-invest cao (cùng thiết kế); điểm yếu là năng lực và đối thủ. Tình huống mới, không trùng ứng viên trong phiếu S6 và bài trắc nghiệm.)
Hỏi lớp: Giơ 1–3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vị thế cạnh tranh. Sao Việt hấp dẫn và muốn cùng đầu tư, nhưng Nova chưa đủ năng lực, đối thủ mạnh hơn. Nova có hai lựa chọn: đầu tư nâng năng lực có thời hạn — ví dụ liên kết với một đối tác có kinh nghiệm quốc tế — hoặc chưa nhận làm Key Account. Ba tiêu chí giúp ta thấy không chỉ ai, mà vì sao.
Hỏi lớp: —
Chuyển ý: Còn những khách hàng không được chọn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được chọn làm Key Account không có nghĩa là bỏ khách hàng. Họ vẫn được phục vụ tốt và có lời — nhưng theo quy trình chuẩn, ít nguồn lực riêng. Buổi 6 sẽ dùng giá trị vòng đời khách hàng và chi phí phục vụ để quyết định chính xác hơn. Và chọn Key Account không phải làm một lần: một lãnh đạo ngành vận tải biển trong giáo trình nói “chúng tôi phải liên tục xét lại và xác nhận lại”. Việc chấm nên do một đội liên chức năng cùng làm, có cả góc nhìn từ bên ngoài.
(GV: Đã đối chiếu Marcos et al. (2018): trích dẫn lãnh đạo ngành vận tải biển (“keep re-qualifying and revalidating”, tr. 43) và khuyến nghị đội liên chức năng, cách tiếp cận “720 độ”, góc nhìn bên ngoài (tr. 53). Ý “phục vụ chuẩn hóa” là nhận định đã duyệt (W02 lecture notes §3.4).)
Hỏi lớp: —
Chuyển ý: Ba lỗi hay gặp khi chọn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coi Key Account là khách hàng lớn nhất — như Sông Xanh ở đầu buổi. Hai: để mỗi người tự chọn khách của mình, mỗi người một lý do — như công ty gỗ với 60 “Key Account”. Ba: chấm điểm không có bằng chứng, hoặc quên hỏi xem khách có muốn chọn ta không. Key Account là khách hàng đáng đầu tư — và muốn cùng đầu tư.
(GV: Quay lại kết quả giơ tay ở slide 2: “Bây giờ Sông Xanh có phải Key Account không?” — mong đợi: chưa qua tiêu chí 3 (đấu thầu theo giá, đổi agency hằng năm).)
Hỏi lớp: —
Chuyển ý: Giờ các bạn chọn Key Account cho Nova: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Ba phút đọc năm ứng viên: An Phát, Sông Xanh, MediPharm, Bright Future, Bếp Việt. Mười lăm phút: chấm hai trục có trọng số — thang 1 đến 5 — đánh giá mức sẵn lòng cùng đầu tư kèm bằng chứng; đặt năm khách lên ma trận; chọn tối đa hai Key Account, và ghi Nova phục vụ ba khách còn lại theo cách nào. Tám phút: xoay trạm hai vòng; các bạn đóng vai anh Đức — CEO Nova — để lại một câu hỏi trên note vàng và một lo ngại trên note hồng. Bốn phút: về bàn, sửa một điểm. Mỗi điểm số phải có một bằng chứng từ phiếu.
(GV: Phiếu W02_activity_S6_chon_key_account.md. Mốc phút 93–123. Chiếu slide 19–22 trong lúc chấm. Anh Đức là CEO Nova.)
Hỏi lớp: —
Chuyển ý: Tổng hợp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2. Một — mục 2.1: KAM không phải bán hàng xịn hơn, mà là quản trị quan hệ dài hạn, hai chiều, nhiều người, có kế hoạch và nguồn lực riêng. Hai — mục 2.2: chọn Key Account bằng hai trục chấm có trọng số — sức hấp dẫn và vị thế cạnh tranh — và câu hỏi đồng đầu tư. Ba: Key Account là khách hàng đáng đầu tư và muốn cùng đầu tư, không phải khách lớn nhất. Với kế hoạch cuối kỳ: nhóm viết một đoạn — khách hàng từ dự án cũ đạt ba tiêu chí đến đâu, và vì sao chọn làm Key Account.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nêu hai khía cạnh khiến KAM khác Sales, mỗi khía cạnh một ví dụ của agency. Hai: vì sao khách hàng doanh thu lớn nhất có thể không phải Key Account? Ba: kể một dấu hiệu cho thấy khách hàng sẵn lòng cùng đầu tư vào quan hệ với agency.
(GV: Gợi ý: (1) bất kỳ hai dòng trong bảng slide 7; (2) có thể trượt vị thế hoặc đồng đầu tư; biên thấp, chi phí phục vụ cao (nối Buổi 6); (3) hợp đồng khung, chia sẻ dữ liệu, đầu mối cấp cao, thí điểm chung.)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hai câu. Một: một điểm khác biệt giữa Sales và KAM, kèm ví dụ từ dự án sự kiện cũ của nhóm bạn. Hai: khách hàng trong dự án cũ đạt ba tiêu chí đến đâu — tiêu chí nào yếu nhất? Không chấm điểm.
(GV: Giáo án S8. Xem: khác biệt có nói về quan hệ, thời gian, giá trị cho khách hàng không; SV có mặc định khách cũ là Key Account không.)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3: đã chọn Key Account thì phải hiểu họ hơn chính họ — ngành và đối thủ của họ, hành trình của khách họ, và ai thật sự quyết định. Mang theo ảnh bảng chấm hôm nay và hồ sơ dự án cũ.
(GV: [NEEDS PROFESSOR INPUT: nếu AM2 có bài cho Buổi 2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2, theo APA 7. Chương 2 của Marcos và cộng sự là phần đọc thêm cho cách chọn Key Account.
(GV: Techcombank – Yeah1: nguồn báo chí trong tư liệu Buổi 9 (U08, U11) — không liệt kê lại ở đây.)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2: Tư duy KAM và chọn Key Account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2</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Khách hàng đem doanh thu lớn nhất có phải Key Account?</a:t>
            </a:r>
            <a:endParaRPr lang="en-US" sz="2800" dirty="0"/>
          </a:p>
        </p:txBody>
      </p:sp>
      <p:sp>
        <p:nvSpPr>
          <p:cNvPr id="3" name="Shape 1"/>
          <p:cNvSpPr/>
          <p:nvPr/>
        </p:nvSpPr>
        <p:spPr>
          <a:xfrm>
            <a:off x="548640" y="1783080"/>
            <a:ext cx="1280160" cy="128016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830275" y="2064715"/>
            <a:ext cx="716890" cy="716890"/>
          </a:xfrm>
          <a:prstGeom prst="rect">
            <a:avLst/>
          </a:prstGeom>
        </p:spPr>
      </p:pic>
      <p:sp>
        <p:nvSpPr>
          <p:cNvPr id="5" name="Text 2"/>
          <p:cNvSpPr txBox="1"/>
          <p:nvPr/>
        </p:nvSpPr>
        <p:spPr>
          <a:xfrm>
            <a:off x="2011680" y="1783080"/>
            <a:ext cx="4206240" cy="548640"/>
          </a:xfrm>
          <a:prstGeom prst="rect">
            <a:avLst/>
          </a:prstGeom>
          <a:noFill/>
          <a:ln/>
        </p:spPr>
        <p:txBody>
          <a:bodyPr wrap="square" lIns="635" tIns="635" rIns="635" bIns="635" rtlCol="0" anchor="ctr"/>
          <a:lstStyle/>
          <a:p>
            <a:pPr indent="0" marL="0">
              <a:buNone/>
            </a:pPr>
            <a:r>
              <a:rPr lang="en-US" sz="2000" b="1" dirty="0">
                <a:solidFill>
                  <a:srgbClr val="FF9259"/>
                </a:solidFill>
                <a:latin typeface="Roboto" pitchFamily="34" charset="0"/>
                <a:ea typeface="Roboto" pitchFamily="34" charset="-122"/>
                <a:cs typeface="Roboto" pitchFamily="34" charset="-120"/>
              </a:rPr>
              <a:t>Địa ốc Sông Xanh (giả định)</a:t>
            </a:r>
            <a:endParaRPr lang="en-US" sz="2000" dirty="0"/>
          </a:p>
        </p:txBody>
      </p:sp>
      <p:sp>
        <p:nvSpPr>
          <p:cNvPr id="6" name="Shape 3"/>
          <p:cNvSpPr/>
          <p:nvPr/>
        </p:nvSpPr>
        <p:spPr>
          <a:xfrm>
            <a:off x="548640" y="3291840"/>
            <a:ext cx="502920" cy="502920"/>
          </a:xfrm>
          <a:prstGeom prst="ellipse">
            <a:avLst/>
          </a:prstGeom>
          <a:solidFill>
            <a:srgbClr val="49B296"/>
          </a:solidFill>
          <a:ln w="12700">
            <a:solidFill>
              <a:srgbClr val="49B296"/>
            </a:solidFill>
            <a:prstDash val="solid"/>
          </a:ln>
        </p:spPr>
      </p:sp>
      <p:sp>
        <p:nvSpPr>
          <p:cNvPr id="7" name="Text 4"/>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1</a:t>
            </a:r>
            <a:endParaRPr lang="en-US" sz="1600" dirty="0"/>
          </a:p>
        </p:txBody>
      </p:sp>
      <p:sp>
        <p:nvSpPr>
          <p:cNvPr id="8" name="Text 5"/>
          <p:cNvSpPr txBox="1"/>
          <p:nvPr/>
        </p:nvSpPr>
        <p:spPr>
          <a:xfrm>
            <a:off x="1234440" y="3246120"/>
            <a:ext cx="512064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Doanh thu cho Nova: 3,5 tỷ đồng/năm — lớn nhất</a:t>
            </a:r>
            <a:endParaRPr lang="en-US" sz="1800" dirty="0"/>
          </a:p>
        </p:txBody>
      </p:sp>
      <p:sp>
        <p:nvSpPr>
          <p:cNvPr id="9" name="Shape 6"/>
          <p:cNvSpPr/>
          <p:nvPr/>
        </p:nvSpPr>
        <p:spPr>
          <a:xfrm>
            <a:off x="548640" y="3950208"/>
            <a:ext cx="502920" cy="502920"/>
          </a:xfrm>
          <a:prstGeom prst="ellipse">
            <a:avLst/>
          </a:prstGeom>
          <a:solidFill>
            <a:srgbClr val="FF5178"/>
          </a:solidFill>
          <a:ln w="12700">
            <a:solidFill>
              <a:srgbClr val="FF5178"/>
            </a:solidFill>
            <a:prstDash val="solid"/>
          </a:ln>
        </p:spPr>
      </p:sp>
      <p:sp>
        <p:nvSpPr>
          <p:cNvPr id="10" name="Text 7"/>
          <p:cNvSpPr txBox="1"/>
          <p:nvPr/>
        </p:nvSpPr>
        <p:spPr>
          <a:xfrm>
            <a:off x="548640" y="3950208"/>
            <a:ext cx="502920" cy="50292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2</a:t>
            </a:r>
            <a:endParaRPr lang="en-US" sz="1600" dirty="0"/>
          </a:p>
        </p:txBody>
      </p:sp>
      <p:sp>
        <p:nvSpPr>
          <p:cNvPr id="11" name="Text 8"/>
          <p:cNvSpPr txBox="1"/>
          <p:nvPr/>
        </p:nvSpPr>
        <p:spPr>
          <a:xfrm>
            <a:off x="1234440" y="3904488"/>
            <a:ext cx="512064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Đấu thầu từng sự kiện theo giá</a:t>
            </a:r>
            <a:endParaRPr lang="en-US" sz="1800" dirty="0"/>
          </a:p>
        </p:txBody>
      </p:sp>
      <p:sp>
        <p:nvSpPr>
          <p:cNvPr id="12" name="Shape 9"/>
          <p:cNvSpPr/>
          <p:nvPr/>
        </p:nvSpPr>
        <p:spPr>
          <a:xfrm>
            <a:off x="548640" y="4608576"/>
            <a:ext cx="502920" cy="502920"/>
          </a:xfrm>
          <a:prstGeom prst="ellipse">
            <a:avLst/>
          </a:prstGeom>
          <a:solidFill>
            <a:srgbClr val="FF5178"/>
          </a:solidFill>
          <a:ln w="12700">
            <a:solidFill>
              <a:srgbClr val="FF5178"/>
            </a:solidFill>
            <a:prstDash val="solid"/>
          </a:ln>
        </p:spPr>
      </p:sp>
      <p:sp>
        <p:nvSpPr>
          <p:cNvPr id="13" name="Text 10"/>
          <p:cNvSpPr txBox="1"/>
          <p:nvPr/>
        </p:nvSpPr>
        <p:spPr>
          <a:xfrm>
            <a:off x="548640" y="4608576"/>
            <a:ext cx="502920" cy="50292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3</a:t>
            </a:r>
            <a:endParaRPr lang="en-US" sz="1600" dirty="0"/>
          </a:p>
        </p:txBody>
      </p:sp>
      <p:sp>
        <p:nvSpPr>
          <p:cNvPr id="14" name="Text 11"/>
          <p:cNvSpPr txBox="1"/>
          <p:nvPr/>
        </p:nvSpPr>
        <p:spPr>
          <a:xfrm>
            <a:off x="1234440" y="4562856"/>
            <a:ext cx="512064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Trả tiền sau khoảng 90 ngày</a:t>
            </a:r>
            <a:endParaRPr lang="en-US" sz="1800" dirty="0"/>
          </a:p>
        </p:txBody>
      </p:sp>
      <p:sp>
        <p:nvSpPr>
          <p:cNvPr id="15" name="Shape 12"/>
          <p:cNvSpPr/>
          <p:nvPr/>
        </p:nvSpPr>
        <p:spPr>
          <a:xfrm>
            <a:off x="548640" y="5266944"/>
            <a:ext cx="502920" cy="502920"/>
          </a:xfrm>
          <a:prstGeom prst="ellipse">
            <a:avLst/>
          </a:prstGeom>
          <a:solidFill>
            <a:srgbClr val="FF5178"/>
          </a:solidFill>
          <a:ln w="12700">
            <a:solidFill>
              <a:srgbClr val="FF5178"/>
            </a:solidFill>
            <a:prstDash val="solid"/>
          </a:ln>
        </p:spPr>
      </p:sp>
      <p:sp>
        <p:nvSpPr>
          <p:cNvPr id="16" name="Text 13"/>
          <p:cNvSpPr txBox="1"/>
          <p:nvPr/>
        </p:nvSpPr>
        <p:spPr>
          <a:xfrm>
            <a:off x="548640" y="5266944"/>
            <a:ext cx="502920" cy="50292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4</a:t>
            </a:r>
            <a:endParaRPr lang="en-US" sz="1600" dirty="0"/>
          </a:p>
        </p:txBody>
      </p:sp>
      <p:sp>
        <p:nvSpPr>
          <p:cNvPr id="17" name="Text 14"/>
          <p:cNvSpPr txBox="1"/>
          <p:nvPr/>
        </p:nvSpPr>
        <p:spPr>
          <a:xfrm>
            <a:off x="1234440" y="5221224"/>
            <a:ext cx="512064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Năm nào cũng đổi agency</a:t>
            </a:r>
            <a:endParaRPr lang="en-US" sz="1800" dirty="0"/>
          </a:p>
        </p:txBody>
      </p:sp>
      <p:sp>
        <p:nvSpPr>
          <p:cNvPr id="18" name="Shape 15"/>
          <p:cNvSpPr/>
          <p:nvPr/>
        </p:nvSpPr>
        <p:spPr>
          <a:xfrm>
            <a:off x="6675120" y="1783080"/>
            <a:ext cx="4965192" cy="4206240"/>
          </a:xfrm>
          <a:prstGeom prst="roundRect">
            <a:avLst>
              <a:gd name="adj" fmla="val 1739"/>
            </a:avLst>
          </a:prstGeom>
          <a:solidFill>
            <a:srgbClr val="22395F"/>
          </a:solidFill>
          <a:ln w="12700">
            <a:solidFill>
              <a:srgbClr val="22395F"/>
            </a:solidFill>
            <a:prstDash val="solid"/>
          </a:ln>
        </p:spPr>
      </p:sp>
      <p:sp>
        <p:nvSpPr>
          <p:cNvPr id="19" name="Text 16"/>
          <p:cNvSpPr txBox="1"/>
          <p:nvPr/>
        </p:nvSpPr>
        <p:spPr>
          <a:xfrm>
            <a:off x="6903720" y="1920240"/>
            <a:ext cx="4572000" cy="54864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Giơ tay</a:t>
            </a:r>
            <a:endParaRPr lang="en-US" sz="2000" dirty="0"/>
          </a:p>
        </p:txBody>
      </p:sp>
      <p:sp>
        <p:nvSpPr>
          <p:cNvPr id="20" name="Shape 17"/>
          <p:cNvSpPr/>
          <p:nvPr/>
        </p:nvSpPr>
        <p:spPr>
          <a:xfrm>
            <a:off x="6949440" y="2651760"/>
            <a:ext cx="4416552" cy="822960"/>
          </a:xfrm>
          <a:prstGeom prst="roundRect">
            <a:avLst>
              <a:gd name="adj" fmla="val 8889"/>
            </a:avLst>
          </a:prstGeom>
          <a:solidFill>
            <a:srgbClr val="49B296"/>
          </a:solidFill>
          <a:ln w="12700">
            <a:solidFill>
              <a:srgbClr val="49B296"/>
            </a:solidFill>
            <a:prstDash val="solid"/>
          </a:ln>
        </p:spPr>
      </p:sp>
      <p:sp>
        <p:nvSpPr>
          <p:cNvPr id="21" name="Text 18"/>
          <p:cNvSpPr txBox="1"/>
          <p:nvPr/>
        </p:nvSpPr>
        <p:spPr>
          <a:xfrm>
            <a:off x="7132320" y="2651760"/>
            <a:ext cx="4023360" cy="82296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Có</a:t>
            </a:r>
            <a:endParaRPr lang="en-US" sz="2200" dirty="0"/>
          </a:p>
        </p:txBody>
      </p:sp>
      <p:sp>
        <p:nvSpPr>
          <p:cNvPr id="22" name="Shape 19"/>
          <p:cNvSpPr/>
          <p:nvPr/>
        </p:nvSpPr>
        <p:spPr>
          <a:xfrm>
            <a:off x="6949440" y="3703320"/>
            <a:ext cx="4416552" cy="822960"/>
          </a:xfrm>
          <a:prstGeom prst="roundRect">
            <a:avLst>
              <a:gd name="adj" fmla="val 8889"/>
            </a:avLst>
          </a:prstGeom>
          <a:solidFill>
            <a:srgbClr val="FF5178"/>
          </a:solidFill>
          <a:ln w="12700">
            <a:solidFill>
              <a:srgbClr val="FF5178"/>
            </a:solidFill>
            <a:prstDash val="solid"/>
          </a:ln>
        </p:spPr>
      </p:sp>
      <p:sp>
        <p:nvSpPr>
          <p:cNvPr id="23" name="Text 20"/>
          <p:cNvSpPr txBox="1"/>
          <p:nvPr/>
        </p:nvSpPr>
        <p:spPr>
          <a:xfrm>
            <a:off x="7132320" y="3703320"/>
            <a:ext cx="4023360" cy="82296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Không</a:t>
            </a:r>
            <a:endParaRPr lang="en-US" sz="2200" dirty="0"/>
          </a:p>
        </p:txBody>
      </p:sp>
      <p:sp>
        <p:nvSpPr>
          <p:cNvPr id="24" name="Shape 21"/>
          <p:cNvSpPr/>
          <p:nvPr/>
        </p:nvSpPr>
        <p:spPr>
          <a:xfrm>
            <a:off x="6949440" y="4754880"/>
            <a:ext cx="4416552" cy="822960"/>
          </a:xfrm>
          <a:prstGeom prst="roundRect">
            <a:avLst>
              <a:gd name="adj" fmla="val 8889"/>
            </a:avLst>
          </a:prstGeom>
          <a:solidFill>
            <a:srgbClr val="09A1E5"/>
          </a:solidFill>
          <a:ln w="12700">
            <a:solidFill>
              <a:srgbClr val="09A1E5"/>
            </a:solidFill>
            <a:prstDash val="solid"/>
          </a:ln>
        </p:spPr>
      </p:sp>
      <p:sp>
        <p:nvSpPr>
          <p:cNvPr id="25" name="Text 22"/>
          <p:cNvSpPr txBox="1"/>
          <p:nvPr/>
        </p:nvSpPr>
        <p:spPr>
          <a:xfrm>
            <a:off x="7132320" y="4754880"/>
            <a:ext cx="4023360" cy="82296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Chưa biết</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Hai nguồn, cùng một ý: KAM là chiến lược quan hệ dài hạn, không phải một hoạt động bán</a:t>
            </a:r>
            <a:endParaRPr lang="en-US" sz="2800" dirty="0"/>
          </a:p>
        </p:txBody>
      </p:sp>
      <p:sp>
        <p:nvSpPr>
          <p:cNvPr id="3" name="Shape 1"/>
          <p:cNvSpPr/>
          <p:nvPr/>
        </p:nvSpPr>
        <p:spPr>
          <a:xfrm>
            <a:off x="548640" y="1783080"/>
            <a:ext cx="3566160"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200400"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Slide bộ môn — Key account</a:t>
            </a:r>
            <a:endParaRPr lang="en-US" sz="1600" dirty="0"/>
          </a:p>
        </p:txBody>
      </p:sp>
      <p:sp>
        <p:nvSpPr>
          <p:cNvPr id="5" name="Shape 3"/>
          <p:cNvSpPr/>
          <p:nvPr/>
        </p:nvSpPr>
        <p:spPr>
          <a:xfrm>
            <a:off x="548640" y="2514600"/>
            <a:ext cx="3566160" cy="2743200"/>
          </a:xfrm>
          <a:prstGeom prst="roundRect">
            <a:avLst>
              <a:gd name="adj" fmla="val 2667"/>
            </a:avLst>
          </a:prstGeom>
          <a:solidFill>
            <a:srgbClr val="22395F"/>
          </a:solidFill>
          <a:ln w="12700">
            <a:solidFill>
              <a:srgbClr val="22395F"/>
            </a:solidFill>
            <a:prstDash val="solid"/>
          </a:ln>
        </p:spPr>
      </p:sp>
      <p:sp>
        <p:nvSpPr>
          <p:cNvPr id="6" name="Text 4"/>
          <p:cNvSpPr txBox="1"/>
          <p:nvPr/>
        </p:nvSpPr>
        <p:spPr>
          <a:xfrm>
            <a:off x="731520" y="2651760"/>
            <a:ext cx="3200400" cy="251460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Người hoặc tổ chức mà doanh nghiệp đã xây dựng mối quan hệ không chỉ là quan hệ kinh doanh tiêu chuẩn, dựa trên mức độ tin cậy.</a:t>
            </a:r>
            <a:endParaRPr lang="en-US" sz="1600" dirty="0"/>
          </a:p>
        </p:txBody>
      </p:sp>
      <p:sp>
        <p:nvSpPr>
          <p:cNvPr id="7" name="Text 5"/>
          <p:cNvSpPr txBox="1"/>
          <p:nvPr/>
        </p:nvSpPr>
        <p:spPr>
          <a:xfrm>
            <a:off x="548640" y="5349240"/>
            <a:ext cx="3566160" cy="45720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 Chương 1)</a:t>
            </a:r>
            <a:endParaRPr lang="en-US" sz="1200" dirty="0"/>
          </a:p>
        </p:txBody>
      </p:sp>
      <p:sp>
        <p:nvSpPr>
          <p:cNvPr id="8" name="Shape 6"/>
          <p:cNvSpPr/>
          <p:nvPr/>
        </p:nvSpPr>
        <p:spPr>
          <a:xfrm>
            <a:off x="4325112" y="1783080"/>
            <a:ext cx="3566160"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507992" y="1783080"/>
            <a:ext cx="3200400"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Slide bộ môn — KAM</a:t>
            </a:r>
            <a:endParaRPr lang="en-US" sz="1600" dirty="0"/>
          </a:p>
        </p:txBody>
      </p:sp>
      <p:sp>
        <p:nvSpPr>
          <p:cNvPr id="10" name="Shape 8"/>
          <p:cNvSpPr/>
          <p:nvPr/>
        </p:nvSpPr>
        <p:spPr>
          <a:xfrm>
            <a:off x="4325112" y="2514600"/>
            <a:ext cx="3566160" cy="2743200"/>
          </a:xfrm>
          <a:prstGeom prst="roundRect">
            <a:avLst>
              <a:gd name="adj" fmla="val 2667"/>
            </a:avLst>
          </a:prstGeom>
          <a:solidFill>
            <a:srgbClr val="22395F"/>
          </a:solidFill>
          <a:ln w="12700">
            <a:solidFill>
              <a:srgbClr val="22395F"/>
            </a:solidFill>
            <a:prstDash val="solid"/>
          </a:ln>
        </p:spPr>
      </p:sp>
      <p:sp>
        <p:nvSpPr>
          <p:cNvPr id="11" name="Text 9"/>
          <p:cNvSpPr txBox="1"/>
          <p:nvPr/>
        </p:nvSpPr>
        <p:spPr>
          <a:xfrm>
            <a:off x="4507992" y="2651760"/>
            <a:ext cx="3200400" cy="251460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Chiến lược kinh doanh nhằm phát triển lâu dài, bền vững thông qua quan hệ đối tác có lợi nhuận với các khách hàng quan trọng về mặt chiến lược; là một phần tích hợp của chiến lược doanh nghiệp.</a:t>
            </a:r>
            <a:endParaRPr lang="en-US" sz="1600" dirty="0"/>
          </a:p>
        </p:txBody>
      </p:sp>
      <p:sp>
        <p:nvSpPr>
          <p:cNvPr id="12" name="Text 10"/>
          <p:cNvSpPr txBox="1"/>
          <p:nvPr/>
        </p:nvSpPr>
        <p:spPr>
          <a:xfrm>
            <a:off x="4325112" y="5349240"/>
            <a:ext cx="3566160" cy="45720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 Chương 1)</a:t>
            </a:r>
            <a:endParaRPr lang="en-US" sz="1200" dirty="0"/>
          </a:p>
        </p:txBody>
      </p:sp>
      <p:sp>
        <p:nvSpPr>
          <p:cNvPr id="13" name="Shape 11"/>
          <p:cNvSpPr/>
          <p:nvPr/>
        </p:nvSpPr>
        <p:spPr>
          <a:xfrm>
            <a:off x="8101584" y="1783080"/>
            <a:ext cx="3566160"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84464" y="1783080"/>
            <a:ext cx="3200400"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a:t>
            </a:r>
            <a:endParaRPr lang="en-US" sz="1600" dirty="0"/>
          </a:p>
        </p:txBody>
      </p:sp>
      <p:sp>
        <p:nvSpPr>
          <p:cNvPr id="15" name="Shape 13"/>
          <p:cNvSpPr/>
          <p:nvPr/>
        </p:nvSpPr>
        <p:spPr>
          <a:xfrm>
            <a:off x="8101584" y="2514600"/>
            <a:ext cx="3566160" cy="2743200"/>
          </a:xfrm>
          <a:prstGeom prst="roundRect">
            <a:avLst>
              <a:gd name="adj" fmla="val 2667"/>
            </a:avLst>
          </a:prstGeom>
          <a:solidFill>
            <a:srgbClr val="22395F"/>
          </a:solidFill>
          <a:ln w="12700">
            <a:solidFill>
              <a:srgbClr val="22395F"/>
            </a:solidFill>
            <a:prstDash val="solid"/>
          </a:ln>
        </p:spPr>
      </p:sp>
      <p:sp>
        <p:nvSpPr>
          <p:cNvPr id="16" name="Text 14"/>
          <p:cNvSpPr txBox="1"/>
          <p:nvPr/>
        </p:nvSpPr>
        <p:spPr>
          <a:xfrm>
            <a:off x="8284464" y="2651760"/>
            <a:ext cx="3200400" cy="251460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“KAM is an integrated process for the profitable management of customer relationships.”</a:t>
            </a:r>
            <a:endParaRPr lang="en-US" sz="1600" dirty="0"/>
          </a:p>
        </p:txBody>
      </p:sp>
      <p:sp>
        <p:nvSpPr>
          <p:cNvPr id="17" name="Text 15"/>
          <p:cNvSpPr txBox="1"/>
          <p:nvPr/>
        </p:nvSpPr>
        <p:spPr>
          <a:xfrm>
            <a:off x="8101584" y="5349240"/>
            <a:ext cx="3566160" cy="45720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(Marcos et al., 2018, Chương 1)</a:t>
            </a:r>
            <a:endParaRPr lang="en-US" sz="1200" dirty="0"/>
          </a:p>
        </p:txBody>
      </p:sp>
      <p:sp>
        <p:nvSpPr>
          <p:cNvPr id="18" name="Text 16"/>
          <p:cNvSpPr txBox="1"/>
          <p:nvPr/>
        </p:nvSpPr>
        <p:spPr>
          <a:xfrm>
            <a:off x="548640" y="5806440"/>
            <a:ext cx="11091672"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Ba điểm chung: chiến lược · dài hạn, có lợi nhuận · số ít khách hàng chọn lọc</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KAM không phải “bán hàng xịn hơn”: khách hàng lớn không muốn bị bán hàng</a:t>
            </a:r>
            <a:endParaRPr lang="en-US" sz="2800" dirty="0"/>
          </a:p>
        </p:txBody>
      </p:sp>
      <p:sp>
        <p:nvSpPr>
          <p:cNvPr id="3" name="Shape 1"/>
          <p:cNvSpPr/>
          <p:nvPr/>
        </p:nvSpPr>
        <p:spPr>
          <a:xfrm>
            <a:off x="548640" y="1783080"/>
            <a:ext cx="5669280" cy="4023360"/>
          </a:xfrm>
          <a:prstGeom prst="roundRect">
            <a:avLst>
              <a:gd name="adj" fmla="val 1818"/>
            </a:avLst>
          </a:prstGeom>
          <a:solidFill>
            <a:srgbClr val="FFD23B"/>
          </a:solidFill>
          <a:ln w="12700">
            <a:solidFill>
              <a:srgbClr val="FFD23B"/>
            </a:solidFill>
            <a:prstDash val="solid"/>
          </a:ln>
        </p:spPr>
      </p:sp>
      <p:sp>
        <p:nvSpPr>
          <p:cNvPr id="4" name="Text 2"/>
          <p:cNvSpPr txBox="1"/>
          <p:nvPr/>
        </p:nvSpPr>
        <p:spPr>
          <a:xfrm>
            <a:off x="822960" y="1920240"/>
            <a:ext cx="5120640" cy="2377440"/>
          </a:xfrm>
          <a:prstGeom prst="rect">
            <a:avLst/>
          </a:prstGeom>
          <a:noFill/>
          <a:ln/>
        </p:spPr>
        <p:txBody>
          <a:bodyPr wrap="square" lIns="635" tIns="635" rIns="635" bIns="635" rtlCol="0" anchor="ctr"/>
          <a:lstStyle/>
          <a:p>
            <a:pPr indent="0" marL="0">
              <a:buNone/>
            </a:pPr>
            <a:r>
              <a:rPr lang="en-US" sz="2600" b="1" i="1" dirty="0">
                <a:solidFill>
                  <a:srgbClr val="172849"/>
                </a:solidFill>
                <a:latin typeface="Roboto" pitchFamily="34" charset="0"/>
                <a:ea typeface="Roboto" pitchFamily="34" charset="-122"/>
                <a:cs typeface="Roboto" pitchFamily="34" charset="-120"/>
              </a:rPr>
              <a:t>“Most companies think that KAM is ‘selling with knobs on’.”</a:t>
            </a:r>
            <a:endParaRPr lang="en-US" sz="2600" dirty="0"/>
          </a:p>
        </p:txBody>
      </p:sp>
      <p:sp>
        <p:nvSpPr>
          <p:cNvPr id="5" name="Text 3"/>
          <p:cNvSpPr txBox="1"/>
          <p:nvPr/>
        </p:nvSpPr>
        <p:spPr>
          <a:xfrm>
            <a:off x="822960" y="4389120"/>
            <a:ext cx="5120640" cy="548640"/>
          </a:xfrm>
          <a:prstGeom prst="rect">
            <a:avLst/>
          </a:prstGeom>
          <a:noFill/>
          <a:ln/>
        </p:spPr>
        <p:txBody>
          <a:bodyPr wrap="square" lIns="635" tIns="635" rIns="635" bIns="635" rtlCol="0" anchor="ctr"/>
          <a:lstStyle/>
          <a:p>
            <a:pPr indent="0" marL="0">
              <a:buNone/>
            </a:pPr>
            <a:r>
              <a:rPr lang="en-US" sz="1600" dirty="0">
                <a:solidFill>
                  <a:srgbClr val="172849"/>
                </a:solidFill>
                <a:latin typeface="Roboto" pitchFamily="34" charset="0"/>
                <a:ea typeface="Roboto" pitchFamily="34" charset="-122"/>
                <a:cs typeface="Roboto" pitchFamily="34" charset="-120"/>
              </a:rPr>
              <a:t>— Malcolm McDonald, Cranfield</a:t>
            </a:r>
            <a:endParaRPr lang="en-US" sz="1600" dirty="0"/>
          </a:p>
        </p:txBody>
      </p:sp>
      <p:sp>
        <p:nvSpPr>
          <p:cNvPr id="6" name="Text 4"/>
          <p:cNvSpPr txBox="1"/>
          <p:nvPr/>
        </p:nvSpPr>
        <p:spPr>
          <a:xfrm>
            <a:off x="6492240" y="1783080"/>
            <a:ext cx="5120640" cy="5486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Khách hàng lớn cần người hiểu</a:t>
            </a:r>
            <a:endParaRPr lang="en-US" sz="2000" dirty="0"/>
          </a:p>
        </p:txBody>
      </p:sp>
      <p:sp>
        <p:nvSpPr>
          <p:cNvPr id="7" name="Shape 5"/>
          <p:cNvSpPr/>
          <p:nvPr/>
        </p:nvSpPr>
        <p:spPr>
          <a:xfrm>
            <a:off x="6492240" y="2468880"/>
            <a:ext cx="2423160" cy="1051560"/>
          </a:xfrm>
          <a:prstGeom prst="roundRect">
            <a:avLst>
              <a:gd name="adj" fmla="val 6957"/>
            </a:avLst>
          </a:prstGeom>
          <a:solidFill>
            <a:srgbClr val="22395F"/>
          </a:solidFill>
          <a:ln w="12700">
            <a:solidFill>
              <a:srgbClr val="22395F"/>
            </a:solidFill>
            <a:prstDash val="solid"/>
          </a:ln>
        </p:spPr>
      </p:sp>
      <p:sp>
        <p:nvSpPr>
          <p:cNvPr id="8" name="Shape 6"/>
          <p:cNvSpPr/>
          <p:nvPr/>
        </p:nvSpPr>
        <p:spPr>
          <a:xfrm>
            <a:off x="6629400" y="2651760"/>
            <a:ext cx="685800" cy="685800"/>
          </a:xfrm>
          <a:prstGeom prst="ellipse">
            <a:avLst/>
          </a:prstGeom>
          <a:solidFill>
            <a:srgbClr val="49B296"/>
          </a:solidFill>
          <a:ln w="12700">
            <a:solidFill>
              <a:srgbClr val="49B296"/>
            </a:solidFill>
            <a:prstDash val="solid"/>
          </a:ln>
        </p:spPr>
      </p:sp>
      <p:pic>
        <p:nvPicPr>
          <p:cNvPr id="9" name="Image 0" descr="preencoded.png">    </p:cNvPr>
          <p:cNvPicPr>
            <a:picLocks noChangeAspect="1"/>
          </p:cNvPicPr>
          <p:nvPr/>
        </p:nvPicPr>
        <p:blipFill>
          <a:blip r:embed="rId1"/>
          <a:stretch>
            <a:fillRect/>
          </a:stretch>
        </p:blipFill>
        <p:spPr>
          <a:xfrm>
            <a:off x="6780276" y="2802636"/>
            <a:ext cx="384048" cy="384048"/>
          </a:xfrm>
          <a:prstGeom prst="rect">
            <a:avLst/>
          </a:prstGeom>
        </p:spPr>
      </p:pic>
      <p:sp>
        <p:nvSpPr>
          <p:cNvPr id="10" name="Text 7"/>
          <p:cNvSpPr txBox="1"/>
          <p:nvPr/>
        </p:nvSpPr>
        <p:spPr>
          <a:xfrm>
            <a:off x="7452360" y="2468880"/>
            <a:ext cx="1371600" cy="105156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tài chính</a:t>
            </a:r>
            <a:endParaRPr lang="en-US" sz="1800" dirty="0"/>
          </a:p>
        </p:txBody>
      </p:sp>
      <p:sp>
        <p:nvSpPr>
          <p:cNvPr id="11" name="Shape 8"/>
          <p:cNvSpPr/>
          <p:nvPr/>
        </p:nvSpPr>
        <p:spPr>
          <a:xfrm>
            <a:off x="9098280" y="2468880"/>
            <a:ext cx="2423160" cy="1051560"/>
          </a:xfrm>
          <a:prstGeom prst="roundRect">
            <a:avLst>
              <a:gd name="adj" fmla="val 6957"/>
            </a:avLst>
          </a:prstGeom>
          <a:solidFill>
            <a:srgbClr val="22395F"/>
          </a:solidFill>
          <a:ln w="12700">
            <a:solidFill>
              <a:srgbClr val="22395F"/>
            </a:solidFill>
            <a:prstDash val="solid"/>
          </a:ln>
        </p:spPr>
      </p:sp>
      <p:sp>
        <p:nvSpPr>
          <p:cNvPr id="12" name="Shape 9"/>
          <p:cNvSpPr/>
          <p:nvPr/>
        </p:nvSpPr>
        <p:spPr>
          <a:xfrm>
            <a:off x="9235440" y="2651760"/>
            <a:ext cx="685800" cy="685800"/>
          </a:xfrm>
          <a:prstGeom prst="ellipse">
            <a:avLst/>
          </a:prstGeom>
          <a:solidFill>
            <a:srgbClr val="49B296"/>
          </a:solidFill>
          <a:ln w="12700">
            <a:solidFill>
              <a:srgbClr val="49B296"/>
            </a:solidFill>
            <a:prstDash val="solid"/>
          </a:ln>
        </p:spPr>
      </p:sp>
      <p:pic>
        <p:nvPicPr>
          <p:cNvPr id="13" name="Image 1" descr="preencoded.png">    </p:cNvPr>
          <p:cNvPicPr>
            <a:picLocks noChangeAspect="1"/>
          </p:cNvPicPr>
          <p:nvPr/>
        </p:nvPicPr>
        <p:blipFill>
          <a:blip r:embed="rId2"/>
          <a:stretch>
            <a:fillRect/>
          </a:stretch>
        </p:blipFill>
        <p:spPr>
          <a:xfrm>
            <a:off x="9386316" y="2802636"/>
            <a:ext cx="384048" cy="384048"/>
          </a:xfrm>
          <a:prstGeom prst="rect">
            <a:avLst/>
          </a:prstGeom>
        </p:spPr>
      </p:pic>
      <p:sp>
        <p:nvSpPr>
          <p:cNvPr id="14" name="Text 10"/>
          <p:cNvSpPr txBox="1"/>
          <p:nvPr/>
        </p:nvSpPr>
        <p:spPr>
          <a:xfrm>
            <a:off x="10058400" y="2468880"/>
            <a:ext cx="1371600" cy="105156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quy trình</a:t>
            </a:r>
            <a:endParaRPr lang="en-US" sz="1800" dirty="0"/>
          </a:p>
        </p:txBody>
      </p:sp>
      <p:sp>
        <p:nvSpPr>
          <p:cNvPr id="15" name="Shape 11"/>
          <p:cNvSpPr/>
          <p:nvPr/>
        </p:nvSpPr>
        <p:spPr>
          <a:xfrm>
            <a:off x="6492240" y="3703320"/>
            <a:ext cx="2423160" cy="1051560"/>
          </a:xfrm>
          <a:prstGeom prst="roundRect">
            <a:avLst>
              <a:gd name="adj" fmla="val 6957"/>
            </a:avLst>
          </a:prstGeom>
          <a:solidFill>
            <a:srgbClr val="22395F"/>
          </a:solidFill>
          <a:ln w="12700">
            <a:solidFill>
              <a:srgbClr val="22395F"/>
            </a:solidFill>
            <a:prstDash val="solid"/>
          </a:ln>
        </p:spPr>
      </p:sp>
      <p:sp>
        <p:nvSpPr>
          <p:cNvPr id="16" name="Shape 12"/>
          <p:cNvSpPr/>
          <p:nvPr/>
        </p:nvSpPr>
        <p:spPr>
          <a:xfrm>
            <a:off x="6629400" y="3886200"/>
            <a:ext cx="685800" cy="685800"/>
          </a:xfrm>
          <a:prstGeom prst="ellipse">
            <a:avLst/>
          </a:prstGeom>
          <a:solidFill>
            <a:srgbClr val="49B296"/>
          </a:solidFill>
          <a:ln w="12700">
            <a:solidFill>
              <a:srgbClr val="49B296"/>
            </a:solidFill>
            <a:prstDash val="solid"/>
          </a:ln>
        </p:spPr>
      </p:sp>
      <p:pic>
        <p:nvPicPr>
          <p:cNvPr id="17" name="Image 2" descr="preencoded.png">    </p:cNvPr>
          <p:cNvPicPr>
            <a:picLocks noChangeAspect="1"/>
          </p:cNvPicPr>
          <p:nvPr/>
        </p:nvPicPr>
        <p:blipFill>
          <a:blip r:embed="rId3"/>
          <a:stretch>
            <a:fillRect/>
          </a:stretch>
        </p:blipFill>
        <p:spPr>
          <a:xfrm>
            <a:off x="6780276" y="4037076"/>
            <a:ext cx="384048" cy="384048"/>
          </a:xfrm>
          <a:prstGeom prst="rect">
            <a:avLst/>
          </a:prstGeom>
        </p:spPr>
      </p:pic>
      <p:sp>
        <p:nvSpPr>
          <p:cNvPr id="18" name="Text 13"/>
          <p:cNvSpPr txBox="1"/>
          <p:nvPr/>
        </p:nvSpPr>
        <p:spPr>
          <a:xfrm>
            <a:off x="7452360" y="3703320"/>
            <a:ext cx="1371600" cy="105156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tổ chức</a:t>
            </a:r>
            <a:endParaRPr lang="en-US" sz="1800" dirty="0"/>
          </a:p>
        </p:txBody>
      </p:sp>
      <p:sp>
        <p:nvSpPr>
          <p:cNvPr id="19" name="Shape 14"/>
          <p:cNvSpPr/>
          <p:nvPr/>
        </p:nvSpPr>
        <p:spPr>
          <a:xfrm>
            <a:off x="9098280" y="3703320"/>
            <a:ext cx="2423160" cy="1051560"/>
          </a:xfrm>
          <a:prstGeom prst="roundRect">
            <a:avLst>
              <a:gd name="adj" fmla="val 6957"/>
            </a:avLst>
          </a:prstGeom>
          <a:solidFill>
            <a:srgbClr val="22395F"/>
          </a:solidFill>
          <a:ln w="12700">
            <a:solidFill>
              <a:srgbClr val="22395F"/>
            </a:solidFill>
            <a:prstDash val="solid"/>
          </a:ln>
        </p:spPr>
      </p:sp>
      <p:sp>
        <p:nvSpPr>
          <p:cNvPr id="20" name="Shape 15"/>
          <p:cNvSpPr/>
          <p:nvPr/>
        </p:nvSpPr>
        <p:spPr>
          <a:xfrm>
            <a:off x="9235440" y="3886200"/>
            <a:ext cx="685800" cy="685800"/>
          </a:xfrm>
          <a:prstGeom prst="ellipse">
            <a:avLst/>
          </a:prstGeom>
          <a:solidFill>
            <a:srgbClr val="49B296"/>
          </a:solidFill>
          <a:ln w="12700">
            <a:solidFill>
              <a:srgbClr val="49B296"/>
            </a:solidFill>
            <a:prstDash val="solid"/>
          </a:ln>
        </p:spPr>
      </p:sp>
      <p:pic>
        <p:nvPicPr>
          <p:cNvPr id="21" name="Image 3" descr="preencoded.png">    </p:cNvPr>
          <p:cNvPicPr>
            <a:picLocks noChangeAspect="1"/>
          </p:cNvPicPr>
          <p:nvPr/>
        </p:nvPicPr>
        <p:blipFill>
          <a:blip r:embed="rId4"/>
          <a:stretch>
            <a:fillRect/>
          </a:stretch>
        </p:blipFill>
        <p:spPr>
          <a:xfrm>
            <a:off x="9386316" y="4037076"/>
            <a:ext cx="384048" cy="384048"/>
          </a:xfrm>
          <a:prstGeom prst="rect">
            <a:avLst/>
          </a:prstGeom>
        </p:spPr>
      </p:pic>
      <p:sp>
        <p:nvSpPr>
          <p:cNvPr id="22" name="Text 16"/>
          <p:cNvSpPr txBox="1"/>
          <p:nvPr/>
        </p:nvSpPr>
        <p:spPr>
          <a:xfrm>
            <a:off x="10058400" y="3703320"/>
            <a:ext cx="1371600" cy="105156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văn hóa</a:t>
            </a:r>
            <a:endParaRPr lang="en-US" sz="1800" dirty="0"/>
          </a:p>
        </p:txBody>
      </p:sp>
      <p:sp>
        <p:nvSpPr>
          <p:cNvPr id="23" name="Text 17"/>
          <p:cNvSpPr txBox="1"/>
          <p:nvPr/>
        </p:nvSpPr>
        <p:spPr>
          <a:xfrm>
            <a:off x="6492240" y="5074920"/>
            <a:ext cx="5120640" cy="64008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 và đưa ra giải pháp tạo lợi thế cho họ.</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Giá trị trong B2B đã dịch chuyển theo bốn hướng — bán hàng cũ không theo kịp</a:t>
            </a:r>
            <a:endParaRPr lang="en-US" sz="2800" dirty="0"/>
          </a:p>
        </p:txBody>
      </p:sp>
      <p:sp>
        <p:nvSpPr>
          <p:cNvPr id="3" name="Text 1"/>
          <p:cNvSpPr txBox="1"/>
          <p:nvPr/>
        </p:nvSpPr>
        <p:spPr>
          <a:xfrm>
            <a:off x="548640" y="1645920"/>
            <a:ext cx="448056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Từ</a:t>
            </a:r>
            <a:endParaRPr lang="en-US" sz="1500" dirty="0"/>
          </a:p>
        </p:txBody>
      </p:sp>
      <p:sp>
        <p:nvSpPr>
          <p:cNvPr id="4" name="Text 2"/>
          <p:cNvSpPr txBox="1"/>
          <p:nvPr/>
        </p:nvSpPr>
        <p:spPr>
          <a:xfrm>
            <a:off x="6400800" y="1645920"/>
            <a:ext cx="52120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Sang</a:t>
            </a:r>
            <a:endParaRPr lang="en-US" sz="1500" dirty="0"/>
          </a:p>
        </p:txBody>
      </p:sp>
      <p:sp>
        <p:nvSpPr>
          <p:cNvPr id="5" name="Shape 3"/>
          <p:cNvSpPr/>
          <p:nvPr/>
        </p:nvSpPr>
        <p:spPr>
          <a:xfrm>
            <a:off x="548640" y="2103120"/>
            <a:ext cx="4754880" cy="731520"/>
          </a:xfrm>
          <a:prstGeom prst="roundRect">
            <a:avLst>
              <a:gd name="adj" fmla="val 10000"/>
            </a:avLst>
          </a:prstGeom>
          <a:solidFill>
            <a:srgbClr val="22395F"/>
          </a:solidFill>
          <a:ln w="12700">
            <a:solidFill>
              <a:srgbClr val="22395F"/>
            </a:solidFill>
            <a:prstDash val="solid"/>
          </a:ln>
        </p:spPr>
      </p:sp>
      <p:sp>
        <p:nvSpPr>
          <p:cNvPr id="6" name="Text 4"/>
          <p:cNvSpPr txBox="1"/>
          <p:nvPr/>
        </p:nvSpPr>
        <p:spPr>
          <a:xfrm>
            <a:off x="777240" y="2103120"/>
            <a:ext cx="4389120" cy="7315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Giá trị nằm trong sản phẩm</a:t>
            </a:r>
            <a:endParaRPr lang="en-US" sz="1800" dirty="0"/>
          </a:p>
        </p:txBody>
      </p:sp>
      <p:sp>
        <p:nvSpPr>
          <p:cNvPr id="7" name="Shape 5"/>
          <p:cNvSpPr/>
          <p:nvPr/>
        </p:nvSpPr>
        <p:spPr>
          <a:xfrm>
            <a:off x="5532120" y="2267712"/>
            <a:ext cx="640080" cy="411480"/>
          </a:xfrm>
          <a:prstGeom prst="rightArrow">
            <a:avLst/>
          </a:prstGeom>
          <a:solidFill>
            <a:srgbClr val="49B296"/>
          </a:solidFill>
          <a:ln w="12700">
            <a:solidFill>
              <a:srgbClr val="49B296"/>
            </a:solidFill>
            <a:prstDash val="solid"/>
          </a:ln>
        </p:spPr>
      </p:sp>
      <p:sp>
        <p:nvSpPr>
          <p:cNvPr id="8" name="Shape 6"/>
          <p:cNvSpPr/>
          <p:nvPr/>
        </p:nvSpPr>
        <p:spPr>
          <a:xfrm>
            <a:off x="6400800" y="2103120"/>
            <a:ext cx="5239512" cy="731520"/>
          </a:xfrm>
          <a:prstGeom prst="roundRect">
            <a:avLst>
              <a:gd name="adj" fmla="val 10000"/>
            </a:avLst>
          </a:prstGeom>
          <a:solidFill>
            <a:srgbClr val="49B296"/>
          </a:solidFill>
          <a:ln w="12700">
            <a:solidFill>
              <a:srgbClr val="49B296"/>
            </a:solidFill>
            <a:prstDash val="solid"/>
          </a:ln>
        </p:spPr>
      </p:sp>
      <p:sp>
        <p:nvSpPr>
          <p:cNvPr id="9" name="Text 7"/>
          <p:cNvSpPr txBox="1"/>
          <p:nvPr/>
        </p:nvSpPr>
        <p:spPr>
          <a:xfrm>
            <a:off x="6629400" y="2103120"/>
            <a:ext cx="4846320" cy="73152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Giá trị khi sử dụng</a:t>
            </a:r>
            <a:endParaRPr lang="en-US" sz="1800" dirty="0"/>
          </a:p>
        </p:txBody>
      </p:sp>
      <p:sp>
        <p:nvSpPr>
          <p:cNvPr id="10" name="Shape 8"/>
          <p:cNvSpPr/>
          <p:nvPr/>
        </p:nvSpPr>
        <p:spPr>
          <a:xfrm>
            <a:off x="548640" y="3017520"/>
            <a:ext cx="4754880" cy="731520"/>
          </a:xfrm>
          <a:prstGeom prst="roundRect">
            <a:avLst>
              <a:gd name="adj" fmla="val 10000"/>
            </a:avLst>
          </a:prstGeom>
          <a:solidFill>
            <a:srgbClr val="22395F"/>
          </a:solidFill>
          <a:ln w="12700">
            <a:solidFill>
              <a:srgbClr val="22395F"/>
            </a:solidFill>
            <a:prstDash val="solid"/>
          </a:ln>
        </p:spPr>
      </p:sp>
      <p:sp>
        <p:nvSpPr>
          <p:cNvPr id="11" name="Text 9"/>
          <p:cNvSpPr txBox="1"/>
          <p:nvPr/>
        </p:nvSpPr>
        <p:spPr>
          <a:xfrm>
            <a:off x="777240" y="3017520"/>
            <a:ext cx="4389120" cy="7315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Từng lần mua rời rạc</a:t>
            </a:r>
            <a:endParaRPr lang="en-US" sz="1800" dirty="0"/>
          </a:p>
        </p:txBody>
      </p:sp>
      <p:sp>
        <p:nvSpPr>
          <p:cNvPr id="12" name="Shape 10"/>
          <p:cNvSpPr/>
          <p:nvPr/>
        </p:nvSpPr>
        <p:spPr>
          <a:xfrm>
            <a:off x="5532120" y="3182112"/>
            <a:ext cx="640080" cy="411480"/>
          </a:xfrm>
          <a:prstGeom prst="rightArrow">
            <a:avLst/>
          </a:prstGeom>
          <a:solidFill>
            <a:srgbClr val="FFD23B"/>
          </a:solidFill>
          <a:ln w="12700">
            <a:solidFill>
              <a:srgbClr val="FFD23B"/>
            </a:solidFill>
            <a:prstDash val="solid"/>
          </a:ln>
        </p:spPr>
      </p:sp>
      <p:sp>
        <p:nvSpPr>
          <p:cNvPr id="13" name="Shape 11"/>
          <p:cNvSpPr/>
          <p:nvPr/>
        </p:nvSpPr>
        <p:spPr>
          <a:xfrm>
            <a:off x="6400800" y="3017520"/>
            <a:ext cx="5239512" cy="731520"/>
          </a:xfrm>
          <a:prstGeom prst="roundRect">
            <a:avLst>
              <a:gd name="adj" fmla="val 10000"/>
            </a:avLst>
          </a:prstGeom>
          <a:solidFill>
            <a:srgbClr val="FFD23B"/>
          </a:solidFill>
          <a:ln w="12700">
            <a:solidFill>
              <a:srgbClr val="FFD23B"/>
            </a:solidFill>
            <a:prstDash val="solid"/>
          </a:ln>
        </p:spPr>
      </p:sp>
      <p:sp>
        <p:nvSpPr>
          <p:cNvPr id="14" name="Text 12"/>
          <p:cNvSpPr txBox="1"/>
          <p:nvPr/>
        </p:nvSpPr>
        <p:spPr>
          <a:xfrm>
            <a:off x="6629400" y="3017520"/>
            <a:ext cx="4846320" cy="73152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Trao đổi liên tục</a:t>
            </a:r>
            <a:endParaRPr lang="en-US" sz="1800" dirty="0"/>
          </a:p>
        </p:txBody>
      </p:sp>
      <p:sp>
        <p:nvSpPr>
          <p:cNvPr id="15" name="Shape 13"/>
          <p:cNvSpPr/>
          <p:nvPr/>
        </p:nvSpPr>
        <p:spPr>
          <a:xfrm>
            <a:off x="548640" y="3931920"/>
            <a:ext cx="4754880" cy="731520"/>
          </a:xfrm>
          <a:prstGeom prst="roundRect">
            <a:avLst>
              <a:gd name="adj" fmla="val 10000"/>
            </a:avLst>
          </a:prstGeom>
          <a:solidFill>
            <a:srgbClr val="22395F"/>
          </a:solidFill>
          <a:ln w="12700">
            <a:solidFill>
              <a:srgbClr val="22395F"/>
            </a:solidFill>
            <a:prstDash val="solid"/>
          </a:ln>
        </p:spPr>
      </p:sp>
      <p:sp>
        <p:nvSpPr>
          <p:cNvPr id="16" name="Text 14"/>
          <p:cNvSpPr txBox="1"/>
          <p:nvPr/>
        </p:nvSpPr>
        <p:spPr>
          <a:xfrm>
            <a:off x="777240" y="3931920"/>
            <a:ext cx="4389120" cy="7315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Xung đột vì lợi ích riêng</a:t>
            </a:r>
            <a:endParaRPr lang="en-US" sz="1800" dirty="0"/>
          </a:p>
        </p:txBody>
      </p:sp>
      <p:sp>
        <p:nvSpPr>
          <p:cNvPr id="17" name="Shape 15"/>
          <p:cNvSpPr/>
          <p:nvPr/>
        </p:nvSpPr>
        <p:spPr>
          <a:xfrm>
            <a:off x="5532120" y="4096512"/>
            <a:ext cx="640080" cy="411480"/>
          </a:xfrm>
          <a:prstGeom prst="rightArrow">
            <a:avLst/>
          </a:prstGeom>
          <a:solidFill>
            <a:srgbClr val="FF5178"/>
          </a:solidFill>
          <a:ln w="12700">
            <a:solidFill>
              <a:srgbClr val="FF5178"/>
            </a:solidFill>
            <a:prstDash val="solid"/>
          </a:ln>
        </p:spPr>
      </p:sp>
      <p:sp>
        <p:nvSpPr>
          <p:cNvPr id="18" name="Shape 16"/>
          <p:cNvSpPr/>
          <p:nvPr/>
        </p:nvSpPr>
        <p:spPr>
          <a:xfrm>
            <a:off x="6400800" y="3931920"/>
            <a:ext cx="5239512" cy="731520"/>
          </a:xfrm>
          <a:prstGeom prst="roundRect">
            <a:avLst>
              <a:gd name="adj" fmla="val 10000"/>
            </a:avLst>
          </a:prstGeom>
          <a:solidFill>
            <a:srgbClr val="FF5178"/>
          </a:solidFill>
          <a:ln w="12700">
            <a:solidFill>
              <a:srgbClr val="FF5178"/>
            </a:solidFill>
            <a:prstDash val="solid"/>
          </a:ln>
        </p:spPr>
      </p:sp>
      <p:sp>
        <p:nvSpPr>
          <p:cNvPr id="19" name="Text 17"/>
          <p:cNvSpPr txBox="1"/>
          <p:nvPr/>
        </p:nvSpPr>
        <p:spPr>
          <a:xfrm>
            <a:off x="6629400" y="3931920"/>
            <a:ext cx="4846320" cy="73152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Hợp tác dựa trên tin cậy</a:t>
            </a:r>
            <a:endParaRPr lang="en-US" sz="1800" dirty="0"/>
          </a:p>
        </p:txBody>
      </p:sp>
      <p:sp>
        <p:nvSpPr>
          <p:cNvPr id="20" name="Shape 18"/>
          <p:cNvSpPr/>
          <p:nvPr/>
        </p:nvSpPr>
        <p:spPr>
          <a:xfrm>
            <a:off x="548640" y="4846320"/>
            <a:ext cx="4754880" cy="731520"/>
          </a:xfrm>
          <a:prstGeom prst="roundRect">
            <a:avLst>
              <a:gd name="adj" fmla="val 10000"/>
            </a:avLst>
          </a:prstGeom>
          <a:solidFill>
            <a:srgbClr val="22395F"/>
          </a:solidFill>
          <a:ln w="12700">
            <a:solidFill>
              <a:srgbClr val="22395F"/>
            </a:solidFill>
            <a:prstDash val="solid"/>
          </a:ln>
        </p:spPr>
      </p:sp>
      <p:sp>
        <p:nvSpPr>
          <p:cNvPr id="21" name="Text 19"/>
          <p:cNvSpPr txBox="1"/>
          <p:nvPr/>
        </p:nvSpPr>
        <p:spPr>
          <a:xfrm>
            <a:off x="777240" y="4846320"/>
            <a:ext cx="4389120" cy="7315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Ranh giới rõ ràng</a:t>
            </a:r>
            <a:endParaRPr lang="en-US" sz="1800" dirty="0"/>
          </a:p>
        </p:txBody>
      </p:sp>
      <p:sp>
        <p:nvSpPr>
          <p:cNvPr id="22" name="Shape 20"/>
          <p:cNvSpPr/>
          <p:nvPr/>
        </p:nvSpPr>
        <p:spPr>
          <a:xfrm>
            <a:off x="5532120" y="5010912"/>
            <a:ext cx="640080" cy="411480"/>
          </a:xfrm>
          <a:prstGeom prst="rightArrow">
            <a:avLst/>
          </a:prstGeom>
          <a:solidFill>
            <a:srgbClr val="09A1E5"/>
          </a:solidFill>
          <a:ln w="12700">
            <a:solidFill>
              <a:srgbClr val="09A1E5"/>
            </a:solidFill>
            <a:prstDash val="solid"/>
          </a:ln>
        </p:spPr>
      </p:sp>
      <p:sp>
        <p:nvSpPr>
          <p:cNvPr id="23" name="Shape 21"/>
          <p:cNvSpPr/>
          <p:nvPr/>
        </p:nvSpPr>
        <p:spPr>
          <a:xfrm>
            <a:off x="6400800" y="4846320"/>
            <a:ext cx="5239512" cy="731520"/>
          </a:xfrm>
          <a:prstGeom prst="roundRect">
            <a:avLst>
              <a:gd name="adj" fmla="val 10000"/>
            </a:avLst>
          </a:prstGeom>
          <a:solidFill>
            <a:srgbClr val="09A1E5"/>
          </a:solidFill>
          <a:ln w="12700">
            <a:solidFill>
              <a:srgbClr val="09A1E5"/>
            </a:solidFill>
            <a:prstDash val="solid"/>
          </a:ln>
        </p:spPr>
      </p:sp>
      <p:sp>
        <p:nvSpPr>
          <p:cNvPr id="24" name="Text 22"/>
          <p:cNvSpPr txBox="1"/>
          <p:nvPr/>
        </p:nvSpPr>
        <p:spPr>
          <a:xfrm>
            <a:off x="6629400" y="4846320"/>
            <a:ext cx="4846320" cy="73152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Ranh giới mờ, cùng một đội</a:t>
            </a:r>
            <a:endParaRPr lang="en-US" sz="1800" dirty="0"/>
          </a:p>
        </p:txBody>
      </p:sp>
      <p:sp>
        <p:nvSpPr>
          <p:cNvPr id="25" name="Text 23"/>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1.2, tr. 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KAM được nhận diện qua bốn khía cạnh: hoạt động, người tham gia, nguồn lực, mức chính thức hóa</a:t>
            </a:r>
            <a:endParaRPr lang="en-US" sz="2800" dirty="0"/>
          </a:p>
        </p:txBody>
      </p:sp>
      <p:sp>
        <p:nvSpPr>
          <p:cNvPr id="3" name="Shape 1"/>
          <p:cNvSpPr/>
          <p:nvPr/>
        </p:nvSpPr>
        <p:spPr>
          <a:xfrm>
            <a:off x="548640" y="1783080"/>
            <a:ext cx="2633472" cy="3657600"/>
          </a:xfrm>
          <a:prstGeom prst="roundRect">
            <a:avLst>
              <a:gd name="adj" fmla="val 2778"/>
            </a:avLst>
          </a:prstGeom>
          <a:solidFill>
            <a:srgbClr val="22395F"/>
          </a:solidFill>
          <a:ln w="12700">
            <a:solidFill>
              <a:srgbClr val="22395F"/>
            </a:solidFill>
            <a:prstDash val="solid"/>
          </a:ln>
        </p:spPr>
      </p:sp>
      <p:sp>
        <p:nvSpPr>
          <p:cNvPr id="4" name="Shape 2"/>
          <p:cNvSpPr/>
          <p:nvPr/>
        </p:nvSpPr>
        <p:spPr>
          <a:xfrm>
            <a:off x="1408176"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09344" y="2212848"/>
            <a:ext cx="512064" cy="512064"/>
          </a:xfrm>
          <a:prstGeom prst="rect">
            <a:avLst/>
          </a:prstGeom>
        </p:spPr>
      </p:pic>
      <p:sp>
        <p:nvSpPr>
          <p:cNvPr id="6" name="Text 3"/>
          <p:cNvSpPr txBox="1"/>
          <p:nvPr/>
        </p:nvSpPr>
        <p:spPr>
          <a:xfrm>
            <a:off x="548640" y="3063240"/>
            <a:ext cx="2633472" cy="457200"/>
          </a:xfrm>
          <a:prstGeom prst="rect">
            <a:avLst/>
          </a:prstGeom>
          <a:noFill/>
          <a:ln/>
        </p:spPr>
        <p:txBody>
          <a:bodyPr wrap="square" lIns="635" tIns="635" rIns="635" bIns="635" rtlCol="0" anchor="ctr"/>
          <a:lstStyle/>
          <a:p>
            <a:pPr algn="ctr" indent="0" marL="0">
              <a:buNone/>
            </a:pPr>
            <a:r>
              <a:rPr lang="en-US" sz="1900" b="1" dirty="0">
                <a:solidFill>
                  <a:srgbClr val="49B296"/>
                </a:solidFill>
                <a:latin typeface="Roboto" pitchFamily="34" charset="0"/>
                <a:ea typeface="Roboto" pitchFamily="34" charset="-122"/>
                <a:cs typeface="Roboto" pitchFamily="34" charset="-120"/>
              </a:rPr>
              <a:t>Activities</a:t>
            </a:r>
            <a:endParaRPr lang="en-US" sz="1900" dirty="0"/>
          </a:p>
        </p:txBody>
      </p:sp>
      <p:sp>
        <p:nvSpPr>
          <p:cNvPr id="7" name="Text 4"/>
          <p:cNvSpPr txBox="1"/>
          <p:nvPr/>
        </p:nvSpPr>
        <p:spPr>
          <a:xfrm>
            <a:off x="548640" y="3520440"/>
            <a:ext cx="2633472" cy="41148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Hoạt động</a:t>
            </a:r>
            <a:endParaRPr lang="en-US" sz="1600" dirty="0"/>
          </a:p>
        </p:txBody>
      </p:sp>
      <p:sp>
        <p:nvSpPr>
          <p:cNvPr id="8" name="Text 5"/>
          <p:cNvSpPr txBox="1"/>
          <p:nvPr/>
        </p:nvSpPr>
        <p:spPr>
          <a:xfrm>
            <a:off x="731520" y="4023360"/>
            <a:ext cx="2267712"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làm gì riêng cho khách hàng này</a:t>
            </a:r>
            <a:endParaRPr lang="en-US" sz="1600" dirty="0"/>
          </a:p>
        </p:txBody>
      </p:sp>
      <p:sp>
        <p:nvSpPr>
          <p:cNvPr id="9" name="Shape 6"/>
          <p:cNvSpPr/>
          <p:nvPr/>
        </p:nvSpPr>
        <p:spPr>
          <a:xfrm>
            <a:off x="3383280" y="1783080"/>
            <a:ext cx="2633472" cy="3657600"/>
          </a:xfrm>
          <a:prstGeom prst="roundRect">
            <a:avLst>
              <a:gd name="adj" fmla="val 2778"/>
            </a:avLst>
          </a:prstGeom>
          <a:solidFill>
            <a:srgbClr val="22395F"/>
          </a:solidFill>
          <a:ln w="12700">
            <a:solidFill>
              <a:srgbClr val="22395F"/>
            </a:solidFill>
            <a:prstDash val="solid"/>
          </a:ln>
        </p:spPr>
      </p:sp>
      <p:sp>
        <p:nvSpPr>
          <p:cNvPr id="10" name="Shape 7"/>
          <p:cNvSpPr/>
          <p:nvPr/>
        </p:nvSpPr>
        <p:spPr>
          <a:xfrm>
            <a:off x="4242816" y="2011680"/>
            <a:ext cx="914400" cy="91440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4443984" y="2212848"/>
            <a:ext cx="512064" cy="512064"/>
          </a:xfrm>
          <a:prstGeom prst="rect">
            <a:avLst/>
          </a:prstGeom>
        </p:spPr>
      </p:pic>
      <p:sp>
        <p:nvSpPr>
          <p:cNvPr id="12" name="Text 8"/>
          <p:cNvSpPr txBox="1"/>
          <p:nvPr/>
        </p:nvSpPr>
        <p:spPr>
          <a:xfrm>
            <a:off x="3383280" y="3063240"/>
            <a:ext cx="2633472" cy="457200"/>
          </a:xfrm>
          <a:prstGeom prst="rect">
            <a:avLst/>
          </a:prstGeom>
          <a:noFill/>
          <a:ln/>
        </p:spPr>
        <p:txBody>
          <a:bodyPr wrap="square" lIns="635" tIns="635" rIns="635" bIns="635" rtlCol="0" anchor="ctr"/>
          <a:lstStyle/>
          <a:p>
            <a:pPr algn="ctr" indent="0" marL="0">
              <a:buNone/>
            </a:pPr>
            <a:r>
              <a:rPr lang="en-US" sz="1900" b="1" dirty="0">
                <a:solidFill>
                  <a:srgbClr val="FFD23B"/>
                </a:solidFill>
                <a:latin typeface="Roboto" pitchFamily="34" charset="0"/>
                <a:ea typeface="Roboto" pitchFamily="34" charset="-122"/>
                <a:cs typeface="Roboto" pitchFamily="34" charset="-120"/>
              </a:rPr>
              <a:t>Actors</a:t>
            </a:r>
            <a:endParaRPr lang="en-US" sz="1900" dirty="0"/>
          </a:p>
        </p:txBody>
      </p:sp>
      <p:sp>
        <p:nvSpPr>
          <p:cNvPr id="13" name="Text 9"/>
          <p:cNvSpPr txBox="1"/>
          <p:nvPr/>
        </p:nvSpPr>
        <p:spPr>
          <a:xfrm>
            <a:off x="3383280" y="3520440"/>
            <a:ext cx="2633472" cy="41148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Người tham gia</a:t>
            </a:r>
            <a:endParaRPr lang="en-US" sz="1600" dirty="0"/>
          </a:p>
        </p:txBody>
      </p:sp>
      <p:sp>
        <p:nvSpPr>
          <p:cNvPr id="14" name="Text 10"/>
          <p:cNvSpPr txBox="1"/>
          <p:nvPr/>
        </p:nvSpPr>
        <p:spPr>
          <a:xfrm>
            <a:off x="3566160" y="4023360"/>
            <a:ext cx="2267712"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ai, ở cấp nào, hai bên</a:t>
            </a:r>
            <a:endParaRPr lang="en-US" sz="1600" dirty="0"/>
          </a:p>
        </p:txBody>
      </p:sp>
      <p:sp>
        <p:nvSpPr>
          <p:cNvPr id="15" name="Shape 11"/>
          <p:cNvSpPr/>
          <p:nvPr/>
        </p:nvSpPr>
        <p:spPr>
          <a:xfrm>
            <a:off x="6217920" y="1783080"/>
            <a:ext cx="2633472" cy="3657600"/>
          </a:xfrm>
          <a:prstGeom prst="roundRect">
            <a:avLst>
              <a:gd name="adj" fmla="val 2778"/>
            </a:avLst>
          </a:prstGeom>
          <a:solidFill>
            <a:srgbClr val="22395F"/>
          </a:solidFill>
          <a:ln w="12700">
            <a:solidFill>
              <a:srgbClr val="22395F"/>
            </a:solidFill>
            <a:prstDash val="solid"/>
          </a:ln>
        </p:spPr>
      </p:sp>
      <p:sp>
        <p:nvSpPr>
          <p:cNvPr id="16" name="Shape 12"/>
          <p:cNvSpPr/>
          <p:nvPr/>
        </p:nvSpPr>
        <p:spPr>
          <a:xfrm>
            <a:off x="7077456" y="2011680"/>
            <a:ext cx="914400" cy="91440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7278624" y="2212848"/>
            <a:ext cx="512064" cy="512064"/>
          </a:xfrm>
          <a:prstGeom prst="rect">
            <a:avLst/>
          </a:prstGeom>
        </p:spPr>
      </p:pic>
      <p:sp>
        <p:nvSpPr>
          <p:cNvPr id="18" name="Text 13"/>
          <p:cNvSpPr txBox="1"/>
          <p:nvPr/>
        </p:nvSpPr>
        <p:spPr>
          <a:xfrm>
            <a:off x="6217920" y="3063240"/>
            <a:ext cx="2633472" cy="457200"/>
          </a:xfrm>
          <a:prstGeom prst="rect">
            <a:avLst/>
          </a:prstGeom>
          <a:noFill/>
          <a:ln/>
        </p:spPr>
        <p:txBody>
          <a:bodyPr wrap="square" lIns="635" tIns="635" rIns="635" bIns="635" rtlCol="0" anchor="ctr"/>
          <a:lstStyle/>
          <a:p>
            <a:pPr algn="ctr" indent="0" marL="0">
              <a:buNone/>
            </a:pPr>
            <a:r>
              <a:rPr lang="en-US" sz="1900" b="1" dirty="0">
                <a:solidFill>
                  <a:srgbClr val="FF5178"/>
                </a:solidFill>
                <a:latin typeface="Roboto" pitchFamily="34" charset="0"/>
                <a:ea typeface="Roboto" pitchFamily="34" charset="-122"/>
                <a:cs typeface="Roboto" pitchFamily="34" charset="-120"/>
              </a:rPr>
              <a:t>Resources</a:t>
            </a:r>
            <a:endParaRPr lang="en-US" sz="1900" dirty="0"/>
          </a:p>
        </p:txBody>
      </p:sp>
      <p:sp>
        <p:nvSpPr>
          <p:cNvPr id="19" name="Text 14"/>
          <p:cNvSpPr txBox="1"/>
          <p:nvPr/>
        </p:nvSpPr>
        <p:spPr>
          <a:xfrm>
            <a:off x="6217920" y="3520440"/>
            <a:ext cx="2633472" cy="41148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Nguồn lực</a:t>
            </a:r>
            <a:endParaRPr lang="en-US" sz="1600" dirty="0"/>
          </a:p>
        </p:txBody>
      </p:sp>
      <p:sp>
        <p:nvSpPr>
          <p:cNvPr id="20" name="Text 15"/>
          <p:cNvSpPr txBox="1"/>
          <p:nvPr/>
        </p:nvSpPr>
        <p:spPr>
          <a:xfrm>
            <a:off x="6400800" y="4023360"/>
            <a:ext cx="2267712"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dành riêng hay dùng chung</a:t>
            </a:r>
            <a:endParaRPr lang="en-US" sz="1600" dirty="0"/>
          </a:p>
        </p:txBody>
      </p:sp>
      <p:sp>
        <p:nvSpPr>
          <p:cNvPr id="21" name="Shape 16"/>
          <p:cNvSpPr/>
          <p:nvPr/>
        </p:nvSpPr>
        <p:spPr>
          <a:xfrm>
            <a:off x="9052560" y="1783080"/>
            <a:ext cx="2633472" cy="3657600"/>
          </a:xfrm>
          <a:prstGeom prst="roundRect">
            <a:avLst>
              <a:gd name="adj" fmla="val 2778"/>
            </a:avLst>
          </a:prstGeom>
          <a:solidFill>
            <a:srgbClr val="22395F"/>
          </a:solidFill>
          <a:ln w="12700">
            <a:solidFill>
              <a:srgbClr val="22395F"/>
            </a:solidFill>
            <a:prstDash val="solid"/>
          </a:ln>
        </p:spPr>
      </p:sp>
      <p:sp>
        <p:nvSpPr>
          <p:cNvPr id="22" name="Shape 17"/>
          <p:cNvSpPr/>
          <p:nvPr/>
        </p:nvSpPr>
        <p:spPr>
          <a:xfrm>
            <a:off x="9912096" y="2011680"/>
            <a:ext cx="914400" cy="914400"/>
          </a:xfrm>
          <a:prstGeom prst="ellipse">
            <a:avLst/>
          </a:prstGeom>
          <a:solidFill>
            <a:srgbClr val="09A1E5"/>
          </a:solidFill>
          <a:ln w="12700">
            <a:solidFill>
              <a:srgbClr val="09A1E5"/>
            </a:solidFill>
            <a:prstDash val="solid"/>
          </a:ln>
        </p:spPr>
      </p:sp>
      <p:pic>
        <p:nvPicPr>
          <p:cNvPr id="23" name="Image 3" descr="preencoded.png">    </p:cNvPr>
          <p:cNvPicPr>
            <a:picLocks noChangeAspect="1"/>
          </p:cNvPicPr>
          <p:nvPr/>
        </p:nvPicPr>
        <p:blipFill>
          <a:blip r:embed="rId4"/>
          <a:stretch>
            <a:fillRect/>
          </a:stretch>
        </p:blipFill>
        <p:spPr>
          <a:xfrm>
            <a:off x="10113264" y="2212848"/>
            <a:ext cx="512064" cy="512064"/>
          </a:xfrm>
          <a:prstGeom prst="rect">
            <a:avLst/>
          </a:prstGeom>
        </p:spPr>
      </p:pic>
      <p:sp>
        <p:nvSpPr>
          <p:cNvPr id="24" name="Text 18"/>
          <p:cNvSpPr txBox="1"/>
          <p:nvPr/>
        </p:nvSpPr>
        <p:spPr>
          <a:xfrm>
            <a:off x="9052560" y="3063240"/>
            <a:ext cx="2633472" cy="457200"/>
          </a:xfrm>
          <a:prstGeom prst="rect">
            <a:avLst/>
          </a:prstGeom>
          <a:noFill/>
          <a:ln/>
        </p:spPr>
        <p:txBody>
          <a:bodyPr wrap="square" lIns="635" tIns="635" rIns="635" bIns="635" rtlCol="0" anchor="ctr"/>
          <a:lstStyle/>
          <a:p>
            <a:pPr algn="ctr" indent="0" marL="0">
              <a:buNone/>
            </a:pPr>
            <a:r>
              <a:rPr lang="en-US" sz="1900" b="1" dirty="0">
                <a:solidFill>
                  <a:srgbClr val="09A1E5"/>
                </a:solidFill>
                <a:latin typeface="Roboto" pitchFamily="34" charset="0"/>
                <a:ea typeface="Roboto" pitchFamily="34" charset="-122"/>
                <a:cs typeface="Roboto" pitchFamily="34" charset="-120"/>
              </a:rPr>
              <a:t>Formalization</a:t>
            </a:r>
            <a:endParaRPr lang="en-US" sz="1900" dirty="0"/>
          </a:p>
        </p:txBody>
      </p:sp>
      <p:sp>
        <p:nvSpPr>
          <p:cNvPr id="25" name="Text 19"/>
          <p:cNvSpPr txBox="1"/>
          <p:nvPr/>
        </p:nvSpPr>
        <p:spPr>
          <a:xfrm>
            <a:off x="9052560" y="3520440"/>
            <a:ext cx="2633472" cy="41148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Chính thức hóa</a:t>
            </a:r>
            <a:endParaRPr lang="en-US" sz="1600" dirty="0"/>
          </a:p>
        </p:txBody>
      </p:sp>
      <p:sp>
        <p:nvSpPr>
          <p:cNvPr id="26" name="Text 20"/>
          <p:cNvSpPr txBox="1"/>
          <p:nvPr/>
        </p:nvSpPr>
        <p:spPr>
          <a:xfrm>
            <a:off x="9235440" y="4023360"/>
            <a:ext cx="2267712"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có quy trình, kế hoạch, đánh giá</a:t>
            </a:r>
            <a:endParaRPr lang="en-US" sz="1600" dirty="0"/>
          </a:p>
        </p:txBody>
      </p:sp>
      <p:sp>
        <p:nvSpPr>
          <p:cNvPr id="27" name="Text 21"/>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Homburg, Workman &amp; Jensen (2002).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Sales và KAM khác nhau ở mục tiêu, thời gian và cách tạo giá trị</a:t>
            </a:r>
            <a:endParaRPr lang="en-US" sz="2800" dirty="0"/>
          </a:p>
        </p:txBody>
      </p:sp>
      <p:sp>
        <p:nvSpPr>
          <p:cNvPr id="3" name="Text 1"/>
          <p:cNvSpPr txBox="1"/>
          <p:nvPr/>
        </p:nvSpPr>
        <p:spPr>
          <a:xfrm>
            <a:off x="594360" y="1645920"/>
            <a:ext cx="237744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Khía cạnh</a:t>
            </a:r>
            <a:endParaRPr lang="en-US" sz="1500" dirty="0"/>
          </a:p>
        </p:txBody>
      </p:sp>
      <p:sp>
        <p:nvSpPr>
          <p:cNvPr id="4" name="Text 2"/>
          <p:cNvSpPr txBox="1"/>
          <p:nvPr/>
        </p:nvSpPr>
        <p:spPr>
          <a:xfrm>
            <a:off x="3017520" y="1645920"/>
            <a:ext cx="4114800" cy="41148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Sales</a:t>
            </a:r>
            <a:endParaRPr lang="en-US" sz="1500" dirty="0"/>
          </a:p>
        </p:txBody>
      </p:sp>
      <p:sp>
        <p:nvSpPr>
          <p:cNvPr id="5" name="Text 3"/>
          <p:cNvSpPr txBox="1"/>
          <p:nvPr/>
        </p:nvSpPr>
        <p:spPr>
          <a:xfrm>
            <a:off x="7269480" y="1645920"/>
            <a:ext cx="4389120" cy="411480"/>
          </a:xfrm>
          <a:prstGeom prst="rect">
            <a:avLst/>
          </a:prstGeom>
          <a:noFill/>
          <a:ln/>
        </p:spPr>
        <p:txBody>
          <a:bodyPr wrap="square" lIns="635" tIns="635" rIns="635" bIns="635" rtlCol="0" anchor="ctr"/>
          <a:lstStyle/>
          <a:p>
            <a:pPr indent="0" marL="0">
              <a:buNone/>
            </a:pPr>
            <a:r>
              <a:rPr lang="en-US" sz="1500" b="1" dirty="0">
                <a:solidFill>
                  <a:srgbClr val="49B296"/>
                </a:solidFill>
                <a:latin typeface="Roboto" pitchFamily="34" charset="0"/>
                <a:ea typeface="Roboto" pitchFamily="34" charset="-122"/>
                <a:cs typeface="Roboto" pitchFamily="34" charset="-120"/>
              </a:rPr>
              <a:t>KAM</a:t>
            </a:r>
            <a:endParaRPr lang="en-US" sz="1500" dirty="0"/>
          </a:p>
        </p:txBody>
      </p:sp>
      <p:sp>
        <p:nvSpPr>
          <p:cNvPr id="6" name="Shape 4"/>
          <p:cNvSpPr/>
          <p:nvPr/>
        </p:nvSpPr>
        <p:spPr>
          <a:xfrm>
            <a:off x="411480" y="2103120"/>
            <a:ext cx="11365992" cy="512064"/>
          </a:xfrm>
          <a:prstGeom prst="roundRect">
            <a:avLst>
              <a:gd name="adj" fmla="val 14286"/>
            </a:avLst>
          </a:prstGeom>
          <a:solidFill>
            <a:srgbClr val="22395F"/>
          </a:solidFill>
          <a:ln w="12700">
            <a:solidFill>
              <a:srgbClr val="22395F"/>
            </a:solidFill>
            <a:prstDash val="solid"/>
          </a:ln>
        </p:spPr>
      </p:sp>
      <p:sp>
        <p:nvSpPr>
          <p:cNvPr id="7" name="Text 5"/>
          <p:cNvSpPr txBox="1"/>
          <p:nvPr/>
        </p:nvSpPr>
        <p:spPr>
          <a:xfrm>
            <a:off x="594360" y="210312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Mục tiêu</a:t>
            </a:r>
            <a:endParaRPr lang="en-US" sz="1500" dirty="0"/>
          </a:p>
        </p:txBody>
      </p:sp>
      <p:sp>
        <p:nvSpPr>
          <p:cNvPr id="8" name="Text 6"/>
          <p:cNvSpPr txBox="1"/>
          <p:nvPr/>
        </p:nvSpPr>
        <p:spPr>
          <a:xfrm>
            <a:off x="3017520" y="210312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Chốt hợp đồng, doanh số kỳ này</a:t>
            </a:r>
            <a:endParaRPr lang="en-US" sz="1500" dirty="0"/>
          </a:p>
        </p:txBody>
      </p:sp>
      <p:sp>
        <p:nvSpPr>
          <p:cNvPr id="9" name="Text 7"/>
          <p:cNvSpPr txBox="1"/>
          <p:nvPr/>
        </p:nvSpPr>
        <p:spPr>
          <a:xfrm>
            <a:off x="7269480" y="210312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Giá trị dài hạn cho cả hai bên</a:t>
            </a:r>
            <a:endParaRPr lang="en-US" sz="1500" dirty="0"/>
          </a:p>
        </p:txBody>
      </p:sp>
      <p:sp>
        <p:nvSpPr>
          <p:cNvPr id="10" name="Text 8"/>
          <p:cNvSpPr txBox="1"/>
          <p:nvPr/>
        </p:nvSpPr>
        <p:spPr>
          <a:xfrm>
            <a:off x="594360" y="265176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Thời gian</a:t>
            </a:r>
            <a:endParaRPr lang="en-US" sz="1500" dirty="0"/>
          </a:p>
        </p:txBody>
      </p:sp>
      <p:sp>
        <p:nvSpPr>
          <p:cNvPr id="11" name="Text 9"/>
          <p:cNvSpPr txBox="1"/>
          <p:nvPr/>
        </p:nvSpPr>
        <p:spPr>
          <a:xfrm>
            <a:off x="3017520" y="265176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Từng sự kiện, từng quý</a:t>
            </a:r>
            <a:endParaRPr lang="en-US" sz="1500" dirty="0"/>
          </a:p>
        </p:txBody>
      </p:sp>
      <p:sp>
        <p:nvSpPr>
          <p:cNvPr id="12" name="Text 10"/>
          <p:cNvSpPr txBox="1"/>
          <p:nvPr/>
        </p:nvSpPr>
        <p:spPr>
          <a:xfrm>
            <a:off x="7269480" y="265176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Nhiều năm (3–5 năm)</a:t>
            </a:r>
            <a:endParaRPr lang="en-US" sz="1500" dirty="0"/>
          </a:p>
        </p:txBody>
      </p:sp>
      <p:sp>
        <p:nvSpPr>
          <p:cNvPr id="13" name="Shape 11"/>
          <p:cNvSpPr/>
          <p:nvPr/>
        </p:nvSpPr>
        <p:spPr>
          <a:xfrm>
            <a:off x="411480" y="3200400"/>
            <a:ext cx="11365992" cy="512064"/>
          </a:xfrm>
          <a:prstGeom prst="roundRect">
            <a:avLst>
              <a:gd name="adj" fmla="val 14286"/>
            </a:avLst>
          </a:prstGeom>
          <a:solidFill>
            <a:srgbClr val="22395F"/>
          </a:solidFill>
          <a:ln w="12700">
            <a:solidFill>
              <a:srgbClr val="22395F"/>
            </a:solidFill>
            <a:prstDash val="solid"/>
          </a:ln>
        </p:spPr>
      </p:sp>
      <p:sp>
        <p:nvSpPr>
          <p:cNvPr id="14" name="Text 12"/>
          <p:cNvSpPr txBox="1"/>
          <p:nvPr/>
        </p:nvSpPr>
        <p:spPr>
          <a:xfrm>
            <a:off x="594360" y="320040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Hoạt động</a:t>
            </a:r>
            <a:endParaRPr lang="en-US" sz="1500" dirty="0"/>
          </a:p>
        </p:txBody>
      </p:sp>
      <p:sp>
        <p:nvSpPr>
          <p:cNvPr id="15" name="Text 13"/>
          <p:cNvSpPr txBox="1"/>
          <p:nvPr/>
        </p:nvSpPr>
        <p:spPr>
          <a:xfrm>
            <a:off x="3017520" y="320040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Chào giá, đấu thầu, chăm sóc</a:t>
            </a:r>
            <a:endParaRPr lang="en-US" sz="1500" dirty="0"/>
          </a:p>
        </p:txBody>
      </p:sp>
      <p:sp>
        <p:nvSpPr>
          <p:cNvPr id="16" name="Text 14"/>
          <p:cNvSpPr txBox="1"/>
          <p:nvPr/>
        </p:nvSpPr>
        <p:spPr>
          <a:xfrm>
            <a:off x="7269480" y="320040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Hiểu sâu, kế hoạch riêng, đồng kiến tạo</a:t>
            </a:r>
            <a:endParaRPr lang="en-US" sz="1500" dirty="0"/>
          </a:p>
        </p:txBody>
      </p:sp>
      <p:sp>
        <p:nvSpPr>
          <p:cNvPr id="17" name="Text 15"/>
          <p:cNvSpPr txBox="1"/>
          <p:nvPr/>
        </p:nvSpPr>
        <p:spPr>
          <a:xfrm>
            <a:off x="594360" y="374904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Người tham gia</a:t>
            </a:r>
            <a:endParaRPr lang="en-US" sz="1500" dirty="0"/>
          </a:p>
        </p:txBody>
      </p:sp>
      <p:sp>
        <p:nvSpPr>
          <p:cNvPr id="18" name="Text 16"/>
          <p:cNvSpPr txBox="1"/>
          <p:nvPr/>
        </p:nvSpPr>
        <p:spPr>
          <a:xfrm>
            <a:off x="3017520" y="374904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Một người bán ↔ một người mua</a:t>
            </a:r>
            <a:endParaRPr lang="en-US" sz="1500" dirty="0"/>
          </a:p>
        </p:txBody>
      </p:sp>
      <p:sp>
        <p:nvSpPr>
          <p:cNvPr id="19" name="Text 17"/>
          <p:cNvSpPr txBox="1"/>
          <p:nvPr/>
        </p:nvSpPr>
        <p:spPr>
          <a:xfrm>
            <a:off x="7269480" y="374904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Nhiều người, nhiều cấp hai bên</a:t>
            </a:r>
            <a:endParaRPr lang="en-US" sz="1500" dirty="0"/>
          </a:p>
        </p:txBody>
      </p:sp>
      <p:sp>
        <p:nvSpPr>
          <p:cNvPr id="20" name="Shape 18"/>
          <p:cNvSpPr/>
          <p:nvPr/>
        </p:nvSpPr>
        <p:spPr>
          <a:xfrm>
            <a:off x="411480" y="4297680"/>
            <a:ext cx="11365992" cy="512064"/>
          </a:xfrm>
          <a:prstGeom prst="roundRect">
            <a:avLst>
              <a:gd name="adj" fmla="val 14286"/>
            </a:avLst>
          </a:prstGeom>
          <a:solidFill>
            <a:srgbClr val="22395F"/>
          </a:solidFill>
          <a:ln w="12700">
            <a:solidFill>
              <a:srgbClr val="22395F"/>
            </a:solidFill>
            <a:prstDash val="solid"/>
          </a:ln>
        </p:spPr>
      </p:sp>
      <p:sp>
        <p:nvSpPr>
          <p:cNvPr id="21" name="Text 19"/>
          <p:cNvSpPr txBox="1"/>
          <p:nvPr/>
        </p:nvSpPr>
        <p:spPr>
          <a:xfrm>
            <a:off x="594360" y="429768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Nguồn lực</a:t>
            </a:r>
            <a:endParaRPr lang="en-US" sz="1500" dirty="0"/>
          </a:p>
        </p:txBody>
      </p:sp>
      <p:sp>
        <p:nvSpPr>
          <p:cNvPr id="22" name="Text 20"/>
          <p:cNvSpPr txBox="1"/>
          <p:nvPr/>
        </p:nvSpPr>
        <p:spPr>
          <a:xfrm>
            <a:off x="3017520" y="429768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Chung cho mọi khách</a:t>
            </a:r>
            <a:endParaRPr lang="en-US" sz="1500" dirty="0"/>
          </a:p>
        </p:txBody>
      </p:sp>
      <p:sp>
        <p:nvSpPr>
          <p:cNvPr id="23" name="Text 21"/>
          <p:cNvSpPr txBox="1"/>
          <p:nvPr/>
        </p:nvSpPr>
        <p:spPr>
          <a:xfrm>
            <a:off x="7269480" y="429768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Dành riêng cho khách này</a:t>
            </a:r>
            <a:endParaRPr lang="en-US" sz="1500" dirty="0"/>
          </a:p>
        </p:txBody>
      </p:sp>
      <p:sp>
        <p:nvSpPr>
          <p:cNvPr id="24" name="Text 22"/>
          <p:cNvSpPr txBox="1"/>
          <p:nvPr/>
        </p:nvSpPr>
        <p:spPr>
          <a:xfrm>
            <a:off x="594360" y="484632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Chính thức hóa</a:t>
            </a:r>
            <a:endParaRPr lang="en-US" sz="1500" dirty="0"/>
          </a:p>
        </p:txBody>
      </p:sp>
      <p:sp>
        <p:nvSpPr>
          <p:cNvPr id="25" name="Text 23"/>
          <p:cNvSpPr txBox="1"/>
          <p:nvPr/>
        </p:nvSpPr>
        <p:spPr>
          <a:xfrm>
            <a:off x="3017520" y="484632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Tùy người</a:t>
            </a:r>
            <a:endParaRPr lang="en-US" sz="1500" dirty="0"/>
          </a:p>
        </p:txBody>
      </p:sp>
      <p:sp>
        <p:nvSpPr>
          <p:cNvPr id="26" name="Text 24"/>
          <p:cNvSpPr txBox="1"/>
          <p:nvPr/>
        </p:nvSpPr>
        <p:spPr>
          <a:xfrm>
            <a:off x="7269480" y="484632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Quy trình, kế hoạch, đánh giá định kỳ</a:t>
            </a:r>
            <a:endParaRPr lang="en-US" sz="1500" dirty="0"/>
          </a:p>
        </p:txBody>
      </p:sp>
      <p:sp>
        <p:nvSpPr>
          <p:cNvPr id="27" name="Shape 25"/>
          <p:cNvSpPr/>
          <p:nvPr/>
        </p:nvSpPr>
        <p:spPr>
          <a:xfrm>
            <a:off x="411480" y="5394960"/>
            <a:ext cx="11365992" cy="512064"/>
          </a:xfrm>
          <a:prstGeom prst="roundRect">
            <a:avLst>
              <a:gd name="adj" fmla="val 14286"/>
            </a:avLst>
          </a:prstGeom>
          <a:solidFill>
            <a:srgbClr val="22395F"/>
          </a:solidFill>
          <a:ln w="12700">
            <a:solidFill>
              <a:srgbClr val="22395F"/>
            </a:solidFill>
            <a:prstDash val="solid"/>
          </a:ln>
        </p:spPr>
      </p:sp>
      <p:sp>
        <p:nvSpPr>
          <p:cNvPr id="28" name="Text 26"/>
          <p:cNvSpPr txBox="1"/>
          <p:nvPr/>
        </p:nvSpPr>
        <p:spPr>
          <a:xfrm>
            <a:off x="594360" y="539496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Tạo giá trị</a:t>
            </a:r>
            <a:endParaRPr lang="en-US" sz="1500" dirty="0"/>
          </a:p>
        </p:txBody>
      </p:sp>
      <p:sp>
        <p:nvSpPr>
          <p:cNvPr id="29" name="Text 27"/>
          <p:cNvSpPr txBox="1"/>
          <p:nvPr/>
        </p:nvSpPr>
        <p:spPr>
          <a:xfrm>
            <a:off x="3017520" y="539496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Dịch vụ tốt, giá tốt</a:t>
            </a:r>
            <a:endParaRPr lang="en-US" sz="1500" dirty="0"/>
          </a:p>
        </p:txBody>
      </p:sp>
      <p:sp>
        <p:nvSpPr>
          <p:cNvPr id="30" name="Text 28"/>
          <p:cNvSpPr txBox="1"/>
          <p:nvPr/>
        </p:nvSpPr>
        <p:spPr>
          <a:xfrm>
            <a:off x="7269480" y="539496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Lợi thế cho khách hàng và khách của họ</a:t>
            </a:r>
            <a:endParaRPr lang="en-US" sz="1500" dirty="0"/>
          </a:p>
        </p:txBody>
      </p:sp>
      <p:sp>
        <p:nvSpPr>
          <p:cNvPr id="31" name="Text 29"/>
          <p:cNvSpPr txBox="1"/>
          <p:nvPr/>
        </p:nvSpPr>
        <p:spPr>
          <a:xfrm>
            <a:off x="9966960" y="598932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Roboto" pitchFamily="34" charset="0"/>
                <a:ea typeface="Roboto" pitchFamily="34" charset="-122"/>
                <a:cs typeface="Roboto" pitchFamily="34" charset="-120"/>
              </a:rPr>
              <a:t>(tổng hợp của môn)</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An Phát: chờ brief gala mỗi năm, hay đề xuất một chương trình cả năm?</a:t>
            </a:r>
            <a:endParaRPr lang="en-US" sz="2800" dirty="0"/>
          </a:p>
        </p:txBody>
      </p:sp>
      <p:sp>
        <p:nvSpPr>
          <p:cNvPr id="3" name="Shape 1"/>
          <p:cNvSpPr/>
          <p:nvPr/>
        </p:nvSpPr>
        <p:spPr>
          <a:xfrm>
            <a:off x="548640" y="1783080"/>
            <a:ext cx="5486400"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548640" y="1783080"/>
            <a:ext cx="5486400" cy="640080"/>
          </a:xfrm>
          <a:prstGeom prst="roundRect">
            <a:avLst>
              <a:gd name="adj" fmla="val 11429"/>
            </a:avLst>
          </a:prstGeom>
          <a:solidFill>
            <a:srgbClr val="FF5178"/>
          </a:solidFill>
          <a:ln w="12700">
            <a:solidFill>
              <a:srgbClr val="FF5178"/>
            </a:solidFill>
            <a:prstDash val="solid"/>
          </a:ln>
        </p:spPr>
      </p:sp>
      <p:sp>
        <p:nvSpPr>
          <p:cNvPr id="5" name="Text 3"/>
          <p:cNvSpPr txBox="1"/>
          <p:nvPr/>
        </p:nvSpPr>
        <p:spPr>
          <a:xfrm>
            <a:off x="777240"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Cách Sales</a:t>
            </a:r>
            <a:endParaRPr lang="en-US" sz="2000" dirty="0"/>
          </a:p>
        </p:txBody>
      </p:sp>
      <p:sp>
        <p:nvSpPr>
          <p:cNvPr id="6" name="Text 4"/>
          <p:cNvSpPr txBox="1"/>
          <p:nvPr/>
        </p:nvSpPr>
        <p:spPr>
          <a:xfrm>
            <a:off x="822960" y="2606040"/>
            <a:ext cx="5029200" cy="301752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Tháng 10 gọi hỏi “năm nay có gala không?”</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Làm đề xuất, chào giá, giảm giá khi bị ép</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Làm xong gala, chờ năm sau</a:t>
            </a:r>
            <a:endParaRPr lang="en-US" sz="1800" dirty="0"/>
          </a:p>
        </p:txBody>
      </p:sp>
      <p:sp>
        <p:nvSpPr>
          <p:cNvPr id="7" name="Shape 5"/>
          <p:cNvSpPr/>
          <p:nvPr/>
        </p:nvSpPr>
        <p:spPr>
          <a:xfrm>
            <a:off x="6263640" y="1783080"/>
            <a:ext cx="5376672" cy="4023360"/>
          </a:xfrm>
          <a:prstGeom prst="roundRect">
            <a:avLst>
              <a:gd name="adj" fmla="val 1818"/>
            </a:avLst>
          </a:prstGeom>
          <a:solidFill>
            <a:srgbClr val="22395F"/>
          </a:solidFill>
          <a:ln w="12700">
            <a:solidFill>
              <a:srgbClr val="22395F"/>
            </a:solidFill>
            <a:prstDash val="solid"/>
          </a:ln>
        </p:spPr>
      </p:sp>
      <p:sp>
        <p:nvSpPr>
          <p:cNvPr id="8" name="Shape 6"/>
          <p:cNvSpPr/>
          <p:nvPr/>
        </p:nvSpPr>
        <p:spPr>
          <a:xfrm>
            <a:off x="6263640" y="1783080"/>
            <a:ext cx="5376672" cy="640080"/>
          </a:xfrm>
          <a:prstGeom prst="roundRect">
            <a:avLst>
              <a:gd name="adj" fmla="val 11429"/>
            </a:avLst>
          </a:prstGeom>
          <a:solidFill>
            <a:srgbClr val="49B296"/>
          </a:solidFill>
          <a:ln w="12700">
            <a:solidFill>
              <a:srgbClr val="49B296"/>
            </a:solidFill>
            <a:prstDash val="solid"/>
          </a:ln>
        </p:spPr>
      </p:sp>
      <p:sp>
        <p:nvSpPr>
          <p:cNvPr id="9" name="Text 7"/>
          <p:cNvSpPr txBox="1"/>
          <p:nvPr/>
        </p:nvSpPr>
        <p:spPr>
          <a:xfrm>
            <a:off x="6492240" y="1783080"/>
            <a:ext cx="493776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Cách KAM</a:t>
            </a:r>
            <a:endParaRPr lang="en-US" sz="2000" dirty="0"/>
          </a:p>
        </p:txBody>
      </p:sp>
      <p:sp>
        <p:nvSpPr>
          <p:cNvPr id="10" name="Text 8"/>
          <p:cNvSpPr txBox="1"/>
          <p:nvPr/>
        </p:nvSpPr>
        <p:spPr>
          <a:xfrm>
            <a:off x="6537960" y="2606040"/>
            <a:ext cx="4937760" cy="301752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Hiểu mục tiêu năm tới: giữ khách doanh nghiệp</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Đề xuất chương trình khách hàng cả năm</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Đầu mối nhiều cấp; đánh giá chung sau mỗi sự kiện</a:t>
            </a:r>
            <a:endParaRPr lang="en-US" sz="1800" dirty="0"/>
          </a:p>
        </p:txBody>
      </p:sp>
      <p:sp>
        <p:nvSpPr>
          <p:cNvPr id="11" name="Text 9"/>
          <p:cNvSpPr txBox="1"/>
          <p:nvPr/>
        </p:nvSpPr>
        <p:spPr>
          <a:xfrm>
            <a:off x="9966960" y="589788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KAM có lợi cho cả hai phía — agency và khách hàng</a:t>
            </a:r>
            <a:endParaRPr lang="en-US" sz="2800" dirty="0"/>
          </a:p>
        </p:txBody>
      </p:sp>
      <p:sp>
        <p:nvSpPr>
          <p:cNvPr id="3" name="Shape 1"/>
          <p:cNvSpPr/>
          <p:nvPr/>
        </p:nvSpPr>
        <p:spPr>
          <a:xfrm>
            <a:off x="548640" y="1783080"/>
            <a:ext cx="5376672" cy="4114800"/>
          </a:xfrm>
          <a:prstGeom prst="roundRect">
            <a:avLst>
              <a:gd name="adj" fmla="val 1778"/>
            </a:avLst>
          </a:prstGeom>
          <a:solidFill>
            <a:srgbClr val="22395F"/>
          </a:solidFill>
          <a:ln w="12700">
            <a:solidFill>
              <a:srgbClr val="22395F"/>
            </a:solidFill>
            <a:prstDash val="solid"/>
          </a:ln>
        </p:spPr>
      </p:sp>
      <p:sp>
        <p:nvSpPr>
          <p:cNvPr id="4" name="Shape 2"/>
          <p:cNvSpPr/>
          <p:nvPr/>
        </p:nvSpPr>
        <p:spPr>
          <a:xfrm>
            <a:off x="777240" y="1920240"/>
            <a:ext cx="731520" cy="73152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38174" y="2081174"/>
            <a:ext cx="409651" cy="409651"/>
          </a:xfrm>
          <a:prstGeom prst="rect">
            <a:avLst/>
          </a:prstGeom>
        </p:spPr>
      </p:pic>
      <p:sp>
        <p:nvSpPr>
          <p:cNvPr id="6" name="Text 3"/>
          <p:cNvSpPr txBox="1"/>
          <p:nvPr/>
        </p:nvSpPr>
        <p:spPr>
          <a:xfrm>
            <a:off x="1691640" y="1920240"/>
            <a:ext cx="4023360" cy="73152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Agency được gì</a:t>
            </a:r>
            <a:endParaRPr lang="en-US" sz="2000" dirty="0"/>
          </a:p>
        </p:txBody>
      </p:sp>
      <p:sp>
        <p:nvSpPr>
          <p:cNvPr id="7" name="Text 4"/>
          <p:cNvSpPr txBox="1"/>
          <p:nvPr/>
        </p:nvSpPr>
        <p:spPr>
          <a:xfrm>
            <a:off x="822960" y="2788920"/>
            <a:ext cx="4892040"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Hiểu và gần khách hàng chiến lược, thành đối tác lâu dài</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Nguồn thông tin thị trường giá trị từ khách lớn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Giảm nguy cơ mất một khách hàng rất quan trọng</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Lợi thế cạnh tranh bền vững, khác biệt với đối thủ</a:t>
            </a:r>
            <a:endParaRPr lang="en-US" sz="1600" dirty="0"/>
          </a:p>
        </p:txBody>
      </p:sp>
      <p:sp>
        <p:nvSpPr>
          <p:cNvPr id="8" name="Shape 5"/>
          <p:cNvSpPr/>
          <p:nvPr/>
        </p:nvSpPr>
        <p:spPr>
          <a:xfrm>
            <a:off x="6263640" y="1783080"/>
            <a:ext cx="5376672" cy="4114800"/>
          </a:xfrm>
          <a:prstGeom prst="roundRect">
            <a:avLst>
              <a:gd name="adj" fmla="val 1778"/>
            </a:avLst>
          </a:prstGeom>
          <a:solidFill>
            <a:srgbClr val="22395F"/>
          </a:solidFill>
          <a:ln w="12700">
            <a:solidFill>
              <a:srgbClr val="22395F"/>
            </a:solidFill>
            <a:prstDash val="solid"/>
          </a:ln>
        </p:spPr>
      </p:sp>
      <p:sp>
        <p:nvSpPr>
          <p:cNvPr id="9" name="Shape 6"/>
          <p:cNvSpPr/>
          <p:nvPr/>
        </p:nvSpPr>
        <p:spPr>
          <a:xfrm>
            <a:off x="6492240" y="1920240"/>
            <a:ext cx="731520" cy="73152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6653174" y="2081174"/>
            <a:ext cx="409651" cy="409651"/>
          </a:xfrm>
          <a:prstGeom prst="rect">
            <a:avLst/>
          </a:prstGeom>
        </p:spPr>
      </p:pic>
      <p:sp>
        <p:nvSpPr>
          <p:cNvPr id="11" name="Text 7"/>
          <p:cNvSpPr txBox="1"/>
          <p:nvPr/>
        </p:nvSpPr>
        <p:spPr>
          <a:xfrm>
            <a:off x="7406640" y="1920240"/>
            <a:ext cx="4023360" cy="73152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Khách hàng được gì</a:t>
            </a:r>
            <a:endParaRPr lang="en-US" sz="2000" dirty="0"/>
          </a:p>
        </p:txBody>
      </p:sp>
      <p:sp>
        <p:nvSpPr>
          <p:cNvPr id="12" name="Text 8"/>
          <p:cNvSpPr txBox="1"/>
          <p:nvPr/>
        </p:nvSpPr>
        <p:spPr>
          <a:xfrm>
            <a:off x="6537960" y="2788920"/>
            <a:ext cx="4892040"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Một đầu mối duy nhất, thông tin thống nhất</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Cùng xác định cơ hội và giải pháp cho dự án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Quan hệ trung thành có thể đem lại chi phí tốt hơn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Nâng năng lực cạnh tranh nhờ quan hệ chặt với nhà cung cấp</a:t>
            </a:r>
            <a:endParaRPr lang="en-US" sz="1600" dirty="0"/>
          </a:p>
        </p:txBody>
      </p:sp>
      <p:sp>
        <p:nvSpPr>
          <p:cNvPr id="13" name="Text 9"/>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Trần Nguyễn Huỳnh Như (2023), Chương 1, mục 1.4.1.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KAM tốn kém: không phải ngành nào, khách hàng nào cũng đáng làm KAM</a:t>
            </a:r>
            <a:endParaRPr lang="en-US" sz="2800" dirty="0"/>
          </a:p>
        </p:txBody>
      </p:sp>
      <p:sp>
        <p:nvSpPr>
          <p:cNvPr id="3" name="Text 1"/>
          <p:cNvSpPr txBox="1"/>
          <p:nvPr/>
        </p:nvSpPr>
        <p:spPr>
          <a:xfrm>
            <a:off x="548640" y="1691640"/>
            <a:ext cx="5486400" cy="45720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Khi KAM khó được biện minh</a:t>
            </a:r>
            <a:endParaRPr lang="en-US" sz="1800" dirty="0"/>
          </a:p>
        </p:txBody>
      </p:sp>
      <p:sp>
        <p:nvSpPr>
          <p:cNvPr id="4" name="Shape 2"/>
          <p:cNvSpPr/>
          <p:nvPr/>
        </p:nvSpPr>
        <p:spPr>
          <a:xfrm>
            <a:off x="548640" y="2194560"/>
            <a:ext cx="5486400" cy="731520"/>
          </a:xfrm>
          <a:prstGeom prst="roundRect">
            <a:avLst>
              <a:gd name="adj" fmla="val 10000"/>
            </a:avLst>
          </a:prstGeom>
          <a:solidFill>
            <a:srgbClr val="22395F"/>
          </a:solidFill>
          <a:ln w="12700">
            <a:solidFill>
              <a:srgbClr val="22395F"/>
            </a:solidFill>
            <a:prstDash val="solid"/>
          </a:ln>
        </p:spPr>
      </p:sp>
      <p:sp>
        <p:nvSpPr>
          <p:cNvPr id="5" name="Shape 3"/>
          <p:cNvSpPr/>
          <p:nvPr/>
        </p:nvSpPr>
        <p:spPr>
          <a:xfrm>
            <a:off x="685800" y="2304288"/>
            <a:ext cx="512064" cy="512064"/>
          </a:xfrm>
          <a:prstGeom prst="ellipse">
            <a:avLst/>
          </a:prstGeom>
          <a:solidFill>
            <a:srgbClr val="FF5178"/>
          </a:solidFill>
          <a:ln w="12700">
            <a:solidFill>
              <a:srgbClr val="FF5178"/>
            </a:solidFill>
            <a:prstDash val="solid"/>
          </a:ln>
        </p:spPr>
      </p:sp>
      <p:pic>
        <p:nvPicPr>
          <p:cNvPr id="6" name="Image 0" descr="preencoded.png">    </p:cNvPr>
          <p:cNvPicPr>
            <a:picLocks noChangeAspect="1"/>
          </p:cNvPicPr>
          <p:nvPr/>
        </p:nvPicPr>
        <p:blipFill>
          <a:blip r:embed="rId1"/>
          <a:stretch>
            <a:fillRect/>
          </a:stretch>
        </p:blipFill>
        <p:spPr>
          <a:xfrm>
            <a:off x="798454" y="2416942"/>
            <a:ext cx="286756" cy="286756"/>
          </a:xfrm>
          <a:prstGeom prst="rect">
            <a:avLst/>
          </a:prstGeom>
        </p:spPr>
      </p:pic>
      <p:sp>
        <p:nvSpPr>
          <p:cNvPr id="7" name="Text 4"/>
          <p:cNvSpPr txBox="1"/>
          <p:nvPr/>
        </p:nvSpPr>
        <p:spPr>
          <a:xfrm>
            <a:off x="1371600" y="2194560"/>
            <a:ext cx="457200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Cách tạo giá trị đơn giản, dịch vụ ít phức tạp</a:t>
            </a:r>
            <a:endParaRPr lang="en-US" sz="1600" dirty="0"/>
          </a:p>
        </p:txBody>
      </p:sp>
      <p:sp>
        <p:nvSpPr>
          <p:cNvPr id="8" name="Shape 5"/>
          <p:cNvSpPr/>
          <p:nvPr/>
        </p:nvSpPr>
        <p:spPr>
          <a:xfrm>
            <a:off x="548640" y="3063240"/>
            <a:ext cx="5486400" cy="731520"/>
          </a:xfrm>
          <a:prstGeom prst="roundRect">
            <a:avLst>
              <a:gd name="adj" fmla="val 10000"/>
            </a:avLst>
          </a:prstGeom>
          <a:solidFill>
            <a:srgbClr val="22395F"/>
          </a:solidFill>
          <a:ln w="12700">
            <a:solidFill>
              <a:srgbClr val="22395F"/>
            </a:solidFill>
            <a:prstDash val="solid"/>
          </a:ln>
        </p:spPr>
      </p:sp>
      <p:sp>
        <p:nvSpPr>
          <p:cNvPr id="9" name="Shape 6"/>
          <p:cNvSpPr/>
          <p:nvPr/>
        </p:nvSpPr>
        <p:spPr>
          <a:xfrm>
            <a:off x="685800" y="3172968"/>
            <a:ext cx="512064" cy="512064"/>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798454" y="3285622"/>
            <a:ext cx="286756" cy="286756"/>
          </a:xfrm>
          <a:prstGeom prst="rect">
            <a:avLst/>
          </a:prstGeom>
        </p:spPr>
      </p:pic>
      <p:sp>
        <p:nvSpPr>
          <p:cNvPr id="11" name="Text 7"/>
          <p:cNvSpPr txBox="1"/>
          <p:nvPr/>
        </p:nvSpPr>
        <p:spPr>
          <a:xfrm>
            <a:off x="1371600" y="3063240"/>
            <a:ext cx="457200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Thị trường hàng hóa hóa: khách dễ đổi nhà cung cấp</a:t>
            </a:r>
            <a:endParaRPr lang="en-US" sz="1600" dirty="0"/>
          </a:p>
        </p:txBody>
      </p:sp>
      <p:sp>
        <p:nvSpPr>
          <p:cNvPr id="12" name="Shape 8"/>
          <p:cNvSpPr/>
          <p:nvPr/>
        </p:nvSpPr>
        <p:spPr>
          <a:xfrm>
            <a:off x="548640" y="3931920"/>
            <a:ext cx="5486400" cy="731520"/>
          </a:xfrm>
          <a:prstGeom prst="roundRect">
            <a:avLst>
              <a:gd name="adj" fmla="val 10000"/>
            </a:avLst>
          </a:prstGeom>
          <a:solidFill>
            <a:srgbClr val="22395F"/>
          </a:solidFill>
          <a:ln w="12700">
            <a:solidFill>
              <a:srgbClr val="22395F"/>
            </a:solidFill>
            <a:prstDash val="solid"/>
          </a:ln>
        </p:spPr>
      </p:sp>
      <p:sp>
        <p:nvSpPr>
          <p:cNvPr id="13" name="Shape 9"/>
          <p:cNvSpPr/>
          <p:nvPr/>
        </p:nvSpPr>
        <p:spPr>
          <a:xfrm>
            <a:off x="685800" y="4041648"/>
            <a:ext cx="512064" cy="512064"/>
          </a:xfrm>
          <a:prstGeom prst="ellipse">
            <a:avLst/>
          </a:prstGeom>
          <a:solidFill>
            <a:srgbClr val="FF5178"/>
          </a:solidFill>
          <a:ln w="12700">
            <a:solidFill>
              <a:srgbClr val="FF5178"/>
            </a:solidFill>
            <a:prstDash val="solid"/>
          </a:ln>
        </p:spPr>
      </p:sp>
      <p:pic>
        <p:nvPicPr>
          <p:cNvPr id="14" name="Image 2" descr="preencoded.png">    </p:cNvPr>
          <p:cNvPicPr>
            <a:picLocks noChangeAspect="1"/>
          </p:cNvPicPr>
          <p:nvPr/>
        </p:nvPicPr>
        <p:blipFill>
          <a:blip r:embed="rId3"/>
          <a:stretch>
            <a:fillRect/>
          </a:stretch>
        </p:blipFill>
        <p:spPr>
          <a:xfrm>
            <a:off x="798454" y="4154302"/>
            <a:ext cx="286756" cy="286756"/>
          </a:xfrm>
          <a:prstGeom prst="rect">
            <a:avLst/>
          </a:prstGeom>
        </p:spPr>
      </p:pic>
      <p:sp>
        <p:nvSpPr>
          <p:cNvPr id="15" name="Text 10"/>
          <p:cNvSpPr txBox="1"/>
          <p:nvPr/>
        </p:nvSpPr>
        <p:spPr>
          <a:xfrm>
            <a:off x="1371600" y="3931920"/>
            <a:ext cx="457200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Vòng đời sản phẩm ngắn</a:t>
            </a:r>
            <a:endParaRPr lang="en-US" sz="1600" dirty="0"/>
          </a:p>
        </p:txBody>
      </p:sp>
      <p:sp>
        <p:nvSpPr>
          <p:cNvPr id="16" name="Shape 11"/>
          <p:cNvSpPr/>
          <p:nvPr/>
        </p:nvSpPr>
        <p:spPr>
          <a:xfrm>
            <a:off x="548640" y="4800600"/>
            <a:ext cx="5486400" cy="731520"/>
          </a:xfrm>
          <a:prstGeom prst="roundRect">
            <a:avLst>
              <a:gd name="adj" fmla="val 10000"/>
            </a:avLst>
          </a:prstGeom>
          <a:solidFill>
            <a:srgbClr val="22395F"/>
          </a:solidFill>
          <a:ln w="12700">
            <a:solidFill>
              <a:srgbClr val="22395F"/>
            </a:solidFill>
            <a:prstDash val="solid"/>
          </a:ln>
        </p:spPr>
      </p:sp>
      <p:sp>
        <p:nvSpPr>
          <p:cNvPr id="17" name="Shape 12"/>
          <p:cNvSpPr/>
          <p:nvPr/>
        </p:nvSpPr>
        <p:spPr>
          <a:xfrm>
            <a:off x="685800" y="4910328"/>
            <a:ext cx="512064" cy="512064"/>
          </a:xfrm>
          <a:prstGeom prst="ellipse">
            <a:avLst/>
          </a:prstGeom>
          <a:solidFill>
            <a:srgbClr val="FF5178"/>
          </a:solidFill>
          <a:ln w="12700">
            <a:solidFill>
              <a:srgbClr val="FF5178"/>
            </a:solidFill>
            <a:prstDash val="solid"/>
          </a:ln>
        </p:spPr>
      </p:sp>
      <p:pic>
        <p:nvPicPr>
          <p:cNvPr id="18" name="Image 3" descr="preencoded.png">    </p:cNvPr>
          <p:cNvPicPr>
            <a:picLocks noChangeAspect="1"/>
          </p:cNvPicPr>
          <p:nvPr/>
        </p:nvPicPr>
        <p:blipFill>
          <a:blip r:embed="rId4"/>
          <a:stretch>
            <a:fillRect/>
          </a:stretch>
        </p:blipFill>
        <p:spPr>
          <a:xfrm>
            <a:off x="798454" y="5022982"/>
            <a:ext cx="286756" cy="286756"/>
          </a:xfrm>
          <a:prstGeom prst="rect">
            <a:avLst/>
          </a:prstGeom>
        </p:spPr>
      </p:pic>
      <p:sp>
        <p:nvSpPr>
          <p:cNvPr id="19" name="Text 13"/>
          <p:cNvSpPr txBox="1"/>
          <p:nvPr/>
        </p:nvSpPr>
        <p:spPr>
          <a:xfrm>
            <a:off x="1371600" y="4800600"/>
            <a:ext cx="457200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Giá là yếu tố quyết định chọn nhà cung cấp</a:t>
            </a:r>
            <a:endParaRPr lang="en-US" sz="1600" dirty="0"/>
          </a:p>
        </p:txBody>
      </p:sp>
      <p:sp>
        <p:nvSpPr>
          <p:cNvPr id="20" name="Text 14"/>
          <p:cNvSpPr txBox="1"/>
          <p:nvPr/>
        </p:nvSpPr>
        <p:spPr>
          <a:xfrm>
            <a:off x="6355080" y="1691640"/>
            <a:ext cx="5303520" cy="45720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Cái giá khi triển khai KAM</a:t>
            </a:r>
            <a:endParaRPr lang="en-US" sz="1800" dirty="0"/>
          </a:p>
        </p:txBody>
      </p:sp>
      <p:sp>
        <p:nvSpPr>
          <p:cNvPr id="21" name="Shape 15"/>
          <p:cNvSpPr/>
          <p:nvPr/>
        </p:nvSpPr>
        <p:spPr>
          <a:xfrm>
            <a:off x="6355080" y="2194560"/>
            <a:ext cx="5285232" cy="3337560"/>
          </a:xfrm>
          <a:prstGeom prst="roundRect">
            <a:avLst>
              <a:gd name="adj" fmla="val 2192"/>
            </a:avLst>
          </a:prstGeom>
          <a:solidFill>
            <a:srgbClr val="22395F"/>
          </a:solidFill>
          <a:ln w="12700">
            <a:solidFill>
              <a:srgbClr val="22395F"/>
            </a:solidFill>
            <a:prstDash val="solid"/>
          </a:ln>
        </p:spPr>
      </p:sp>
      <p:sp>
        <p:nvSpPr>
          <p:cNvPr id="22" name="Text 16"/>
          <p:cNvSpPr txBox="1"/>
          <p:nvPr/>
        </p:nvSpPr>
        <p:spPr>
          <a:xfrm>
            <a:off x="6583680" y="233172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Chọn và phân bổ nhân sự chuyên trách</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Đào tạo kỹ năng cho người làm với khách</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Đổi chỉ số hiệu suất theo khách hàng</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Văn hóa lấy khách hàng làm trung tâm</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Có thể phải tái cơ cấu, mở kênh liên lạc mới</a:t>
            </a:r>
            <a:endParaRPr lang="en-US" sz="1600" dirty="0"/>
          </a:p>
        </p:txBody>
      </p:sp>
      <p:sp>
        <p:nvSpPr>
          <p:cNvPr id="23" name="Text 17"/>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8); Trần Nguyễn Huỳnh Như (2023), Chương 1, mục 1.4.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KAM không có nghĩa là chiều khách, cũng không chỉ là chăm VIP kỹ hơn</a:t>
            </a:r>
            <a:endParaRPr lang="en-US" sz="2800" dirty="0"/>
          </a:p>
        </p:txBody>
      </p:sp>
      <p:sp>
        <p:nvSpPr>
          <p:cNvPr id="3" name="Shape 1"/>
          <p:cNvSpPr/>
          <p:nvPr/>
        </p:nvSpPr>
        <p:spPr>
          <a:xfrm>
            <a:off x="548640" y="1828800"/>
            <a:ext cx="5120640" cy="1691640"/>
          </a:xfrm>
          <a:prstGeom prst="roundRect">
            <a:avLst>
              <a:gd name="adj" fmla="val 4324"/>
            </a:avLst>
          </a:prstGeom>
          <a:solidFill>
            <a:srgbClr val="22395F"/>
          </a:solidFill>
          <a:ln w="12700">
            <a:solidFill>
              <a:srgbClr val="22395F"/>
            </a:solidFill>
            <a:prstDash val="solid"/>
          </a:ln>
        </p:spPr>
      </p:sp>
      <p:sp>
        <p:nvSpPr>
          <p:cNvPr id="4" name="Shape 2"/>
          <p:cNvSpPr/>
          <p:nvPr/>
        </p:nvSpPr>
        <p:spPr>
          <a:xfrm>
            <a:off x="777240" y="2286000"/>
            <a:ext cx="731520" cy="73152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38174" y="2446934"/>
            <a:ext cx="409651" cy="409651"/>
          </a:xfrm>
          <a:prstGeom prst="rect">
            <a:avLst/>
          </a:prstGeom>
        </p:spPr>
      </p:pic>
      <p:sp>
        <p:nvSpPr>
          <p:cNvPr id="6" name="Text 3"/>
          <p:cNvSpPr txBox="1"/>
          <p:nvPr/>
        </p:nvSpPr>
        <p:spPr>
          <a:xfrm>
            <a:off x="1691640" y="182880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“KAM = chăm sóc khách VIP chu đáo hơn”</a:t>
            </a:r>
            <a:endParaRPr lang="en-US" sz="1800" dirty="0"/>
          </a:p>
        </p:txBody>
      </p:sp>
      <p:sp>
        <p:nvSpPr>
          <p:cNvPr id="7" name="Shape 4"/>
          <p:cNvSpPr/>
          <p:nvPr/>
        </p:nvSpPr>
        <p:spPr>
          <a:xfrm>
            <a:off x="5806440" y="2423160"/>
            <a:ext cx="548640" cy="502920"/>
          </a:xfrm>
          <a:prstGeom prst="rightArrow">
            <a:avLst/>
          </a:prstGeom>
          <a:solidFill>
            <a:srgbClr val="FFD23B"/>
          </a:solidFill>
          <a:ln w="12700">
            <a:solidFill>
              <a:srgbClr val="FFD23B"/>
            </a:solidFill>
            <a:prstDash val="solid"/>
          </a:ln>
        </p:spPr>
      </p:sp>
      <p:sp>
        <p:nvSpPr>
          <p:cNvPr id="8" name="Shape 5"/>
          <p:cNvSpPr/>
          <p:nvPr/>
        </p:nvSpPr>
        <p:spPr>
          <a:xfrm>
            <a:off x="6492240" y="1828800"/>
            <a:ext cx="5148072" cy="1691640"/>
          </a:xfrm>
          <a:prstGeom prst="roundRect">
            <a:avLst>
              <a:gd name="adj" fmla="val 4324"/>
            </a:avLst>
          </a:prstGeom>
          <a:solidFill>
            <a:srgbClr val="49B296"/>
          </a:solidFill>
          <a:ln w="12700">
            <a:solidFill>
              <a:srgbClr val="49B296"/>
            </a:solidFill>
            <a:prstDash val="solid"/>
          </a:ln>
        </p:spPr>
      </p:sp>
      <p:sp>
        <p:nvSpPr>
          <p:cNvPr id="9" name="Text 6"/>
          <p:cNvSpPr txBox="1"/>
          <p:nvPr/>
        </p:nvSpPr>
        <p:spPr>
          <a:xfrm>
            <a:off x="6720840" y="182880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KAM là cách vận hành quan hệ, có kế hoạch và nguồn lực riêng</a:t>
            </a:r>
            <a:endParaRPr lang="en-US" sz="1800" dirty="0"/>
          </a:p>
        </p:txBody>
      </p:sp>
      <p:sp>
        <p:nvSpPr>
          <p:cNvPr id="10" name="Shape 7"/>
          <p:cNvSpPr/>
          <p:nvPr/>
        </p:nvSpPr>
        <p:spPr>
          <a:xfrm>
            <a:off x="548640" y="3794760"/>
            <a:ext cx="5120640" cy="1691640"/>
          </a:xfrm>
          <a:prstGeom prst="roundRect">
            <a:avLst>
              <a:gd name="adj" fmla="val 4324"/>
            </a:avLst>
          </a:prstGeom>
          <a:solidFill>
            <a:srgbClr val="22395F"/>
          </a:solidFill>
          <a:ln w="12700">
            <a:solidFill>
              <a:srgbClr val="22395F"/>
            </a:solidFill>
            <a:prstDash val="solid"/>
          </a:ln>
        </p:spPr>
      </p:sp>
      <p:sp>
        <p:nvSpPr>
          <p:cNvPr id="11" name="Shape 8"/>
          <p:cNvSpPr/>
          <p:nvPr/>
        </p:nvSpPr>
        <p:spPr>
          <a:xfrm>
            <a:off x="777240" y="4251960"/>
            <a:ext cx="731520" cy="73152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938174" y="4412894"/>
            <a:ext cx="409651" cy="409651"/>
          </a:xfrm>
          <a:prstGeom prst="rect">
            <a:avLst/>
          </a:prstGeom>
        </p:spPr>
      </p:pic>
      <p:sp>
        <p:nvSpPr>
          <p:cNvPr id="13" name="Text 9"/>
          <p:cNvSpPr txBox="1"/>
          <p:nvPr/>
        </p:nvSpPr>
        <p:spPr>
          <a:xfrm>
            <a:off x="1691640" y="379476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“Làm KAM là phải chiều khách”</a:t>
            </a:r>
            <a:endParaRPr lang="en-US" sz="1800" dirty="0"/>
          </a:p>
        </p:txBody>
      </p:sp>
      <p:sp>
        <p:nvSpPr>
          <p:cNvPr id="14" name="Shape 10"/>
          <p:cNvSpPr/>
          <p:nvPr/>
        </p:nvSpPr>
        <p:spPr>
          <a:xfrm>
            <a:off x="5806440" y="4389120"/>
            <a:ext cx="548640" cy="502920"/>
          </a:xfrm>
          <a:prstGeom prst="rightArrow">
            <a:avLst/>
          </a:prstGeom>
          <a:solidFill>
            <a:srgbClr val="FFD23B"/>
          </a:solidFill>
          <a:ln w="12700">
            <a:solidFill>
              <a:srgbClr val="FFD23B"/>
            </a:solidFill>
            <a:prstDash val="solid"/>
          </a:ln>
        </p:spPr>
      </p:sp>
      <p:sp>
        <p:nvSpPr>
          <p:cNvPr id="15" name="Shape 11"/>
          <p:cNvSpPr/>
          <p:nvPr/>
        </p:nvSpPr>
        <p:spPr>
          <a:xfrm>
            <a:off x="6492240" y="3794760"/>
            <a:ext cx="5148072" cy="1691640"/>
          </a:xfrm>
          <a:prstGeom prst="roundRect">
            <a:avLst>
              <a:gd name="adj" fmla="val 4324"/>
            </a:avLst>
          </a:prstGeom>
          <a:solidFill>
            <a:srgbClr val="49B296"/>
          </a:solidFill>
          <a:ln w="12700">
            <a:solidFill>
              <a:srgbClr val="49B296"/>
            </a:solidFill>
            <a:prstDash val="solid"/>
          </a:ln>
        </p:spPr>
      </p:sp>
      <p:sp>
        <p:nvSpPr>
          <p:cNvPr id="16" name="Text 12"/>
          <p:cNvSpPr txBox="1"/>
          <p:nvPr/>
        </p:nvSpPr>
        <p:spPr>
          <a:xfrm>
            <a:off x="6720840" y="379476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KAM hướng tới lợi ích hai phía; Buổi 6 sẽ tính chi phí phục vụ</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hành vi nào là Sales, hành vi nào là KAM?</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Phân loại 8 hành vi của Nova với An Phát: S hay K, mỗi hành vi một lý do theo bảng ở slide 7</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Chọn 2 hành vi S, viết lại thành hành vi K cụ thể: ai làm, làm gì, khi nào</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Hoàn thành câu: “Với An Phát, Nova làm KAM khi …”</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phân loại trên A3 — chụp ảnh lưu lại</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Năm khách hàng, đủ người giỏi cho hai</a:t>
            </a:r>
            <a:endParaRPr lang="en-US" sz="2800" dirty="0"/>
          </a:p>
        </p:txBody>
      </p:sp>
      <p:sp>
        <p:nvSpPr>
          <p:cNvPr id="3" name="Shape 1"/>
          <p:cNvSpPr/>
          <p:nvPr/>
        </p:nvSpPr>
        <p:spPr>
          <a:xfrm>
            <a:off x="5184648" y="1737360"/>
            <a:ext cx="1828800" cy="1828800"/>
          </a:xfrm>
          <a:prstGeom prst="ellipse">
            <a:avLst/>
          </a:prstGeom>
          <a:solidFill>
            <a:srgbClr val="FF5178"/>
          </a:solidFill>
          <a:ln w="12700">
            <a:solidFill>
              <a:srgbClr val="FF5178"/>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Nova nên đầu tư quan hệ sâu với ai?</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Đề cương 2.2: ba tiêu chí nâng một khách hàng lên Key Account</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Key Account giống bạn thân: không ai có một trăm người bạn thân</a:t>
            </a:r>
            <a:endParaRPr lang="en-US" sz="2800" dirty="0"/>
          </a:p>
        </p:txBody>
      </p:sp>
      <p:sp>
        <p:nvSpPr>
          <p:cNvPr id="3" name="Shape 1"/>
          <p:cNvSpPr/>
          <p:nvPr/>
        </p:nvSpPr>
        <p:spPr>
          <a:xfrm>
            <a:off x="548640" y="1828800"/>
            <a:ext cx="1463040" cy="1463040"/>
          </a:xfrm>
          <a:prstGeom prst="ellipse">
            <a:avLst/>
          </a:prstGeom>
          <a:solidFill>
            <a:srgbClr val="49B296"/>
          </a:solidFill>
          <a:ln w="12700">
            <a:solidFill>
              <a:srgbClr val="49B296"/>
            </a:solidFill>
            <a:prstDash val="solid"/>
          </a:ln>
        </p:spPr>
      </p:sp>
      <p:pic>
        <p:nvPicPr>
          <p:cNvPr id="4" name="Image 0" descr="preencoded.png">    </p:cNvPr>
          <p:cNvPicPr>
            <a:picLocks noChangeAspect="1"/>
          </p:cNvPicPr>
          <p:nvPr/>
        </p:nvPicPr>
        <p:blipFill>
          <a:blip r:embed="rId1"/>
          <a:stretch>
            <a:fillRect/>
          </a:stretch>
        </p:blipFill>
        <p:spPr>
          <a:xfrm>
            <a:off x="870509" y="2150669"/>
            <a:ext cx="819302" cy="819302"/>
          </a:xfrm>
          <a:prstGeom prst="rect">
            <a:avLst/>
          </a:prstGeom>
        </p:spPr>
      </p:pic>
      <p:sp>
        <p:nvSpPr>
          <p:cNvPr id="5" name="Text 2"/>
          <p:cNvSpPr txBox="1"/>
          <p:nvPr/>
        </p:nvSpPr>
        <p:spPr>
          <a:xfrm>
            <a:off x="2286000" y="1783080"/>
            <a:ext cx="9326880" cy="1737360"/>
          </a:xfrm>
          <a:prstGeom prst="rect">
            <a:avLst/>
          </a:prstGeom>
          <a:noFill/>
          <a:ln/>
        </p:spPr>
        <p:txBody>
          <a:bodyPr wrap="square" lIns="635" tIns="635" rIns="635" bIns="635" rtlCol="0" anchor="ctr"/>
          <a:lstStyle/>
          <a:p>
            <a:pPr indent="0" marL="0">
              <a:buNone/>
            </a:pPr>
            <a:r>
              <a:rPr lang="en-US" sz="1800" i="1" dirty="0">
                <a:solidFill>
                  <a:srgbClr val="FBFAF4"/>
                </a:solidFill>
                <a:latin typeface="Roboto" pitchFamily="34" charset="0"/>
                <a:ea typeface="Roboto" pitchFamily="34" charset="-122"/>
                <a:cs typeface="Roboto" pitchFamily="34" charset="-120"/>
              </a:rPr>
              <a:t>“How many intimate friends can you really have? … only with a few. However, it is common to find companies that claim to have more than 100 key accounts!”</a:t>
            </a:r>
            <a:endParaRPr lang="en-US" sz="1800" dirty="0"/>
          </a:p>
        </p:txBody>
      </p:sp>
      <p:sp>
        <p:nvSpPr>
          <p:cNvPr id="6" name="Text 3"/>
          <p:cNvSpPr txBox="1"/>
          <p:nvPr/>
        </p:nvSpPr>
        <p:spPr>
          <a:xfrm>
            <a:off x="2286000" y="3520440"/>
            <a:ext cx="9326880" cy="411480"/>
          </a:xfrm>
          <a:prstGeom prst="rect">
            <a:avLst/>
          </a:prstGeom>
          <a:noFill/>
          <a:ln/>
        </p:spPr>
        <p:txBody>
          <a:bodyPr wrap="square" lIns="635" tIns="635" rIns="635" bIns="635" rtlCol="0" anchor="ctr"/>
          <a:lstStyle/>
          <a:p>
            <a:pPr indent="0" marL="0">
              <a:buNone/>
            </a:pPr>
            <a:r>
              <a:rPr lang="en-US" sz="1300" dirty="0">
                <a:solidFill>
                  <a:srgbClr val="A9B6D3"/>
                </a:solidFill>
                <a:latin typeface="Roboto" pitchFamily="34" charset="0"/>
                <a:ea typeface="Roboto" pitchFamily="34" charset="-122"/>
                <a:cs typeface="Roboto" pitchFamily="34" charset="-120"/>
              </a:rPr>
              <a:t>(Marcos et al., 2018, tr. 42)</a:t>
            </a:r>
            <a:endParaRPr lang="en-US" sz="1300" dirty="0"/>
          </a:p>
        </p:txBody>
      </p:sp>
      <p:sp>
        <p:nvSpPr>
          <p:cNvPr id="7" name="Shape 4"/>
          <p:cNvSpPr/>
          <p:nvPr/>
        </p:nvSpPr>
        <p:spPr>
          <a:xfrm>
            <a:off x="548640" y="4160520"/>
            <a:ext cx="11091672" cy="1600200"/>
          </a:xfrm>
          <a:prstGeom prst="roundRect">
            <a:avLst>
              <a:gd name="adj" fmla="val 4571"/>
            </a:avLst>
          </a:prstGeom>
          <a:solidFill>
            <a:srgbClr val="FFD23B"/>
          </a:solidFill>
          <a:ln w="12700">
            <a:solidFill>
              <a:srgbClr val="FFD23B"/>
            </a:solidFill>
            <a:prstDash val="solid"/>
          </a:ln>
        </p:spPr>
      </p:sp>
      <p:sp>
        <p:nvSpPr>
          <p:cNvPr id="8" name="Text 5"/>
          <p:cNvSpPr txBox="1"/>
          <p:nvPr/>
        </p:nvSpPr>
        <p:spPr>
          <a:xfrm>
            <a:off x="822960" y="4160520"/>
            <a:ext cx="10607040" cy="914400"/>
          </a:xfrm>
          <a:prstGeom prst="rect">
            <a:avLst/>
          </a:prstGeom>
          <a:noFill/>
          <a:ln/>
        </p:spPr>
        <p:txBody>
          <a:bodyPr wrap="square" lIns="635" tIns="635" rIns="635" bIns="635" rtlCol="0" anchor="ctr"/>
          <a:lstStyle/>
          <a:p>
            <a:pPr indent="0" marL="0">
              <a:buNone/>
            </a:pPr>
            <a:r>
              <a:rPr lang="en-US" sz="2000" b="1" i="1" dirty="0">
                <a:solidFill>
                  <a:srgbClr val="172849"/>
                </a:solidFill>
                <a:latin typeface="Roboto" pitchFamily="34" charset="0"/>
                <a:ea typeface="Roboto" pitchFamily="34" charset="-122"/>
                <a:cs typeface="Roboto" pitchFamily="34" charset="-120"/>
              </a:rPr>
              <a:t>“One of the quickest ways to go bankrupt is to ‘delight’ your customers!” — McDonald</a:t>
            </a:r>
            <a:endParaRPr lang="en-US" sz="2000" dirty="0"/>
          </a:p>
        </p:txBody>
      </p:sp>
      <p:sp>
        <p:nvSpPr>
          <p:cNvPr id="9" name="Text 6"/>
          <p:cNvSpPr txBox="1"/>
          <p:nvPr/>
        </p:nvSpPr>
        <p:spPr>
          <a:xfrm>
            <a:off x="822960" y="4983480"/>
            <a:ext cx="10607040" cy="640080"/>
          </a:xfrm>
          <a:prstGeom prst="rect">
            <a:avLst/>
          </a:prstGeom>
          <a:noFill/>
          <a:ln/>
        </p:spPr>
        <p:txBody>
          <a:bodyPr wrap="square" lIns="635" tIns="635" rIns="635" bIns="635" rtlCol="0" anchor="ctr"/>
          <a:lstStyle/>
          <a:p>
            <a:pPr indent="0" marL="0">
              <a:buNone/>
            </a:pPr>
            <a:r>
              <a:rPr lang="en-US" sz="1700" dirty="0">
                <a:solidFill>
                  <a:srgbClr val="172849"/>
                </a:solidFill>
                <a:latin typeface="Roboto" pitchFamily="34" charset="0"/>
                <a:ea typeface="Roboto" pitchFamily="34" charset="-122"/>
                <a:cs typeface="Roboto" pitchFamily="34" charset="-120"/>
              </a:rPr>
              <a:t>Chọn theo tiềm năng lợi nhuận khoảng 3 năm và thế mạnh cạnh tranh của mình.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Mười bảy người bán, sáu mươi “Key Account”: khi mỗi người tự chọn</a:t>
            </a:r>
            <a:endParaRPr lang="en-US" sz="2800" dirty="0"/>
          </a:p>
        </p:txBody>
      </p:sp>
      <p:sp>
        <p:nvSpPr>
          <p:cNvPr id="3" name="Shape 1"/>
          <p:cNvSpPr/>
          <p:nvPr/>
        </p:nvSpPr>
        <p:spPr>
          <a:xfrm>
            <a:off x="548640" y="1783080"/>
            <a:ext cx="5029200" cy="3977640"/>
          </a:xfrm>
          <a:prstGeom prst="roundRect">
            <a:avLst>
              <a:gd name="adj" fmla="val 1839"/>
            </a:avLst>
          </a:prstGeom>
          <a:solidFill>
            <a:srgbClr val="22395F"/>
          </a:solidFill>
          <a:ln w="12700">
            <a:solidFill>
              <a:srgbClr val="22395F"/>
            </a:solidFill>
            <a:prstDash val="solid"/>
          </a:ln>
        </p:spPr>
      </p:sp>
      <p:sp>
        <p:nvSpPr>
          <p:cNvPr id="4" name="Text 2"/>
          <p:cNvSpPr txBox="1"/>
          <p:nvPr/>
        </p:nvSpPr>
        <p:spPr>
          <a:xfrm>
            <a:off x="548640" y="1920240"/>
            <a:ext cx="2468880" cy="1097280"/>
          </a:xfrm>
          <a:prstGeom prst="rect">
            <a:avLst/>
          </a:prstGeom>
          <a:noFill/>
          <a:ln/>
        </p:spPr>
        <p:txBody>
          <a:bodyPr wrap="square" lIns="635" tIns="635" rIns="635" bIns="635" rtlCol="0" anchor="ctr"/>
          <a:lstStyle/>
          <a:p>
            <a:pPr algn="ctr" indent="0" marL="0">
              <a:buNone/>
            </a:pPr>
            <a:r>
              <a:rPr lang="en-US" sz="5400" b="1" dirty="0">
                <a:solidFill>
                  <a:srgbClr val="09A1E5"/>
                </a:solidFill>
                <a:latin typeface="Roboto" pitchFamily="34" charset="0"/>
                <a:ea typeface="Roboto" pitchFamily="34" charset="-122"/>
                <a:cs typeface="Roboto" pitchFamily="34" charset="-120"/>
              </a:rPr>
              <a:t>17</a:t>
            </a:r>
            <a:endParaRPr lang="en-US" sz="5400" dirty="0"/>
          </a:p>
        </p:txBody>
      </p:sp>
      <p:sp>
        <p:nvSpPr>
          <p:cNvPr id="5" name="Text 3"/>
          <p:cNvSpPr txBox="1"/>
          <p:nvPr/>
        </p:nvSpPr>
        <p:spPr>
          <a:xfrm>
            <a:off x="548640" y="3017520"/>
            <a:ext cx="2468880" cy="457200"/>
          </a:xfrm>
          <a:prstGeom prst="rect">
            <a:avLst/>
          </a:prstGeom>
          <a:noFill/>
          <a:ln/>
        </p:spPr>
        <p:txBody>
          <a:bodyPr wrap="square" lIns="635" tIns="635" rIns="635" bIns="635" rtlCol="0" anchor="ctr"/>
          <a:lstStyle/>
          <a:p>
            <a:pPr algn="ctr" indent="0" marL="0">
              <a:buNone/>
            </a:pPr>
            <a:r>
              <a:rPr lang="en-US" sz="1500" dirty="0">
                <a:solidFill>
                  <a:srgbClr val="A9B6D3"/>
                </a:solidFill>
                <a:latin typeface="Roboto" pitchFamily="34" charset="0"/>
                <a:ea typeface="Roboto" pitchFamily="34" charset="-122"/>
                <a:cs typeface="Roboto" pitchFamily="34" charset="-120"/>
              </a:rPr>
              <a:t>nhân viên kinh doanh</a:t>
            </a:r>
            <a:endParaRPr lang="en-US" sz="1500" dirty="0"/>
          </a:p>
        </p:txBody>
      </p:sp>
      <p:sp>
        <p:nvSpPr>
          <p:cNvPr id="6" name="Text 4"/>
          <p:cNvSpPr txBox="1"/>
          <p:nvPr/>
        </p:nvSpPr>
        <p:spPr>
          <a:xfrm>
            <a:off x="3017520" y="1920240"/>
            <a:ext cx="2468880" cy="1097280"/>
          </a:xfrm>
          <a:prstGeom prst="rect">
            <a:avLst/>
          </a:prstGeom>
          <a:noFill/>
          <a:ln/>
        </p:spPr>
        <p:txBody>
          <a:bodyPr wrap="square" lIns="635" tIns="635" rIns="635" bIns="635" rtlCol="0" anchor="ctr"/>
          <a:lstStyle/>
          <a:p>
            <a:pPr algn="ctr" indent="0" marL="0">
              <a:buNone/>
            </a:pPr>
            <a:r>
              <a:rPr lang="en-US" sz="5400" b="1" dirty="0">
                <a:solidFill>
                  <a:srgbClr val="FF5178"/>
                </a:solidFill>
                <a:latin typeface="Roboto" pitchFamily="34" charset="0"/>
                <a:ea typeface="Roboto" pitchFamily="34" charset="-122"/>
                <a:cs typeface="Roboto" pitchFamily="34" charset="-120"/>
              </a:rPr>
              <a:t>60</a:t>
            </a:r>
            <a:endParaRPr lang="en-US" sz="5400" dirty="0"/>
          </a:p>
        </p:txBody>
      </p:sp>
      <p:sp>
        <p:nvSpPr>
          <p:cNvPr id="7" name="Text 5"/>
          <p:cNvSpPr txBox="1"/>
          <p:nvPr/>
        </p:nvSpPr>
        <p:spPr>
          <a:xfrm>
            <a:off x="3017520" y="3017520"/>
            <a:ext cx="2468880" cy="457200"/>
          </a:xfrm>
          <a:prstGeom prst="rect">
            <a:avLst/>
          </a:prstGeom>
          <a:noFill/>
          <a:ln/>
        </p:spPr>
        <p:txBody>
          <a:bodyPr wrap="square" lIns="635" tIns="635" rIns="635" bIns="635" rtlCol="0" anchor="ctr"/>
          <a:lstStyle/>
          <a:p>
            <a:pPr algn="ctr" indent="0" marL="0">
              <a:buNone/>
            </a:pPr>
            <a:r>
              <a:rPr lang="en-US" sz="1500" dirty="0">
                <a:solidFill>
                  <a:srgbClr val="A9B6D3"/>
                </a:solidFill>
                <a:latin typeface="Roboto" pitchFamily="34" charset="0"/>
                <a:ea typeface="Roboto" pitchFamily="34" charset="-122"/>
                <a:cs typeface="Roboto" pitchFamily="34" charset="-120"/>
              </a:rPr>
              <a:t>“Key Account”</a:t>
            </a:r>
            <a:endParaRPr lang="en-US" sz="1500" dirty="0"/>
          </a:p>
        </p:txBody>
      </p:sp>
      <p:sp>
        <p:nvSpPr>
          <p:cNvPr id="8" name="Text 6"/>
          <p:cNvSpPr txBox="1"/>
          <p:nvPr/>
        </p:nvSpPr>
        <p:spPr>
          <a:xfrm>
            <a:off x="777240" y="3657600"/>
            <a:ext cx="4572000" cy="192024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Một công ty chế biến gỗ quốc tế: mỗi người chọn 3–4 khách hàng của mình, mỗi người một lý do.</a:t>
            </a:r>
            <a:endParaRPr lang="en-US" sz="1600" dirty="0"/>
          </a:p>
        </p:txBody>
      </p:sp>
      <p:sp>
        <p:nvSpPr>
          <p:cNvPr id="9" name="Text 7"/>
          <p:cNvSpPr txBox="1"/>
          <p:nvPr/>
        </p:nvSpPr>
        <p:spPr>
          <a:xfrm>
            <a:off x="5943600" y="1783080"/>
            <a:ext cx="5669280" cy="457200"/>
          </a:xfrm>
          <a:prstGeom prst="rect">
            <a:avLst/>
          </a:prstGeom>
          <a:noFill/>
          <a:ln/>
        </p:spPr>
        <p:txBody>
          <a:bodyPr wrap="square" lIns="635" tIns="635" rIns="635" bIns="635" rtlCol="0" anchor="ctr"/>
          <a:lstStyle/>
          <a:p>
            <a:pPr indent="0" marL="0">
              <a:buNone/>
            </a:pPr>
            <a:r>
              <a:rPr lang="en-US" sz="1700" b="1" dirty="0">
                <a:solidFill>
                  <a:srgbClr val="A9B6D3"/>
                </a:solidFill>
                <a:latin typeface="Roboto" pitchFamily="34" charset="0"/>
                <a:ea typeface="Roboto" pitchFamily="34" charset="-122"/>
                <a:cs typeface="Roboto" pitchFamily="34" charset="-120"/>
              </a:rPr>
              <a:t>Lý do mỗi người đưa ra</a:t>
            </a:r>
            <a:endParaRPr lang="en-US" sz="1700" dirty="0"/>
          </a:p>
        </p:txBody>
      </p:sp>
      <p:sp>
        <p:nvSpPr>
          <p:cNvPr id="10" name="Shape 8"/>
          <p:cNvSpPr/>
          <p:nvPr/>
        </p:nvSpPr>
        <p:spPr>
          <a:xfrm>
            <a:off x="5943600" y="2286000"/>
            <a:ext cx="5696712" cy="548640"/>
          </a:xfrm>
          <a:prstGeom prst="roundRect">
            <a:avLst>
              <a:gd name="adj" fmla="val 13333"/>
            </a:avLst>
          </a:prstGeom>
          <a:solidFill>
            <a:srgbClr val="49B296"/>
          </a:solidFill>
          <a:ln w="12700">
            <a:solidFill>
              <a:srgbClr val="49B296"/>
            </a:solidFill>
            <a:prstDash val="solid"/>
          </a:ln>
        </p:spPr>
      </p:sp>
      <p:sp>
        <p:nvSpPr>
          <p:cNvPr id="11" name="Text 9"/>
          <p:cNvSpPr txBox="1"/>
          <p:nvPr/>
        </p:nvSpPr>
        <p:spPr>
          <a:xfrm>
            <a:off x="6126480" y="2286000"/>
            <a:ext cx="530352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quy mô doanh thu</a:t>
            </a:r>
            <a:endParaRPr lang="en-US" sz="1700" dirty="0"/>
          </a:p>
        </p:txBody>
      </p:sp>
      <p:sp>
        <p:nvSpPr>
          <p:cNvPr id="12" name="Shape 10"/>
          <p:cNvSpPr/>
          <p:nvPr/>
        </p:nvSpPr>
        <p:spPr>
          <a:xfrm>
            <a:off x="5943600" y="2944368"/>
            <a:ext cx="5696712" cy="548640"/>
          </a:xfrm>
          <a:prstGeom prst="roundRect">
            <a:avLst>
              <a:gd name="adj" fmla="val 13333"/>
            </a:avLst>
          </a:prstGeom>
          <a:solidFill>
            <a:srgbClr val="FFD23B"/>
          </a:solidFill>
          <a:ln w="12700">
            <a:solidFill>
              <a:srgbClr val="FFD23B"/>
            </a:solidFill>
            <a:prstDash val="solid"/>
          </a:ln>
        </p:spPr>
      </p:sp>
      <p:sp>
        <p:nvSpPr>
          <p:cNvPr id="13" name="Text 11"/>
          <p:cNvSpPr txBox="1"/>
          <p:nvPr/>
        </p:nvSpPr>
        <p:spPr>
          <a:xfrm>
            <a:off x="6126480" y="2944368"/>
            <a:ext cx="530352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quan hệ tin cậy nhiều năm</a:t>
            </a:r>
            <a:endParaRPr lang="en-US" sz="1700" dirty="0"/>
          </a:p>
        </p:txBody>
      </p:sp>
      <p:sp>
        <p:nvSpPr>
          <p:cNvPr id="14" name="Shape 12"/>
          <p:cNvSpPr/>
          <p:nvPr/>
        </p:nvSpPr>
        <p:spPr>
          <a:xfrm>
            <a:off x="5943600" y="3602736"/>
            <a:ext cx="5696712" cy="548640"/>
          </a:xfrm>
          <a:prstGeom prst="roundRect">
            <a:avLst>
              <a:gd name="adj" fmla="val 13333"/>
            </a:avLst>
          </a:prstGeom>
          <a:solidFill>
            <a:srgbClr val="FF9259"/>
          </a:solidFill>
          <a:ln w="12700">
            <a:solidFill>
              <a:srgbClr val="FF9259"/>
            </a:solidFill>
            <a:prstDash val="solid"/>
          </a:ln>
        </p:spPr>
      </p:sp>
      <p:sp>
        <p:nvSpPr>
          <p:cNvPr id="15" name="Text 13"/>
          <p:cNvSpPr txBox="1"/>
          <p:nvPr/>
        </p:nvSpPr>
        <p:spPr>
          <a:xfrm>
            <a:off x="6126480" y="3602736"/>
            <a:ext cx="530352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uy tín trong ngành</a:t>
            </a:r>
            <a:endParaRPr lang="en-US" sz="1700" dirty="0"/>
          </a:p>
        </p:txBody>
      </p:sp>
      <p:sp>
        <p:nvSpPr>
          <p:cNvPr id="16" name="Shape 14"/>
          <p:cNvSpPr/>
          <p:nvPr/>
        </p:nvSpPr>
        <p:spPr>
          <a:xfrm>
            <a:off x="5943600" y="4261104"/>
            <a:ext cx="5696712" cy="548640"/>
          </a:xfrm>
          <a:prstGeom prst="roundRect">
            <a:avLst>
              <a:gd name="adj" fmla="val 13333"/>
            </a:avLst>
          </a:prstGeom>
          <a:solidFill>
            <a:srgbClr val="09A1E5"/>
          </a:solidFill>
          <a:ln w="12700">
            <a:solidFill>
              <a:srgbClr val="09A1E5"/>
            </a:solidFill>
            <a:prstDash val="solid"/>
          </a:ln>
        </p:spPr>
      </p:sp>
      <p:sp>
        <p:nvSpPr>
          <p:cNvPr id="17" name="Text 15"/>
          <p:cNvSpPr txBox="1"/>
          <p:nvPr/>
        </p:nvSpPr>
        <p:spPr>
          <a:xfrm>
            <a:off x="6126480" y="4261104"/>
            <a:ext cx="530352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tiềm năng tăng trưởng</a:t>
            </a:r>
            <a:endParaRPr lang="en-US" sz="1700" dirty="0"/>
          </a:p>
        </p:txBody>
      </p:sp>
      <p:sp>
        <p:nvSpPr>
          <p:cNvPr id="18" name="Text 16"/>
          <p:cNvSpPr txBox="1"/>
          <p:nvPr/>
        </p:nvSpPr>
        <p:spPr>
          <a:xfrm>
            <a:off x="5943600" y="4983480"/>
            <a:ext cx="5696712" cy="86868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Bài học: một quy trình, một bộ tiêu chí chung cho cả công ty — do lãnh đạo đặt, các bộ phận cùng tham gia.</a:t>
            </a:r>
            <a:endParaRPr lang="en-US" sz="1600" dirty="0"/>
          </a:p>
        </p:txBody>
      </p:sp>
      <p:sp>
        <p:nvSpPr>
          <p:cNvPr id="19" name="Text 17"/>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43–44).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để chọn Key Account</a:t>
            </a:r>
            <a:endParaRPr lang="en-US" sz="2800" dirty="0"/>
          </a:p>
        </p:txBody>
      </p:sp>
      <p:sp>
        <p:nvSpPr>
          <p:cNvPr id="3" name="Shape 1"/>
          <p:cNvSpPr/>
          <p:nvPr/>
        </p:nvSpPr>
        <p:spPr>
          <a:xfrm>
            <a:off x="548640" y="192024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920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783080"/>
            <a:ext cx="9994392" cy="1143000"/>
          </a:xfrm>
          <a:prstGeom prst="roundRect">
            <a:avLst>
              <a:gd name="adj" fmla="val 6400"/>
            </a:avLst>
          </a:prstGeom>
          <a:solidFill>
            <a:srgbClr val="22395F"/>
          </a:solidFill>
          <a:ln w="12700">
            <a:solidFill>
              <a:srgbClr val="22395F"/>
            </a:solidFill>
            <a:prstDash val="solid"/>
          </a:ln>
        </p:spPr>
      </p:sp>
      <p:sp>
        <p:nvSpPr>
          <p:cNvPr id="6" name="Text 4"/>
          <p:cNvSpPr txBox="1"/>
          <p:nvPr/>
        </p:nvSpPr>
        <p:spPr>
          <a:xfrm>
            <a:off x="1874520" y="1828800"/>
            <a:ext cx="9601200" cy="640080"/>
          </a:xfrm>
          <a:prstGeom prst="rect">
            <a:avLst/>
          </a:prstGeom>
          <a:noFill/>
          <a:ln/>
        </p:spPr>
        <p:txBody>
          <a:bodyPr wrap="square" lIns="635" tIns="635" rIns="635" bIns="635" rtlCol="0" anchor="ctr"/>
          <a:lstStyle/>
          <a:p>
            <a:pPr indent="0" marL="0">
              <a:buNone/>
            </a:pPr>
            <a:r>
              <a:rPr lang="en-US" sz="2000" b="1" dirty="0">
                <a:solidFill>
                  <a:srgbClr val="FBFAF4"/>
                </a:solidFill>
                <a:latin typeface="Roboto" pitchFamily="34" charset="0"/>
                <a:ea typeface="Roboto" pitchFamily="34" charset="-122"/>
                <a:cs typeface="Roboto" pitchFamily="34" charset="-120"/>
              </a:rPr>
              <a:t>Khách hàng này có thật sự hấp dẫn không?</a:t>
            </a:r>
            <a:endParaRPr lang="en-US" sz="2000" dirty="0"/>
          </a:p>
        </p:txBody>
      </p:sp>
      <p:sp>
        <p:nvSpPr>
          <p:cNvPr id="7" name="Text 5"/>
          <p:cNvSpPr txBox="1"/>
          <p:nvPr/>
        </p:nvSpPr>
        <p:spPr>
          <a:xfrm>
            <a:off x="1874520" y="2423160"/>
            <a:ext cx="9601200" cy="411480"/>
          </a:xfrm>
          <a:prstGeom prst="rect">
            <a:avLst/>
          </a:prstGeom>
          <a:noFill/>
          <a:ln/>
        </p:spPr>
        <p:txBody>
          <a:bodyPr wrap="square" lIns="635" tIns="635" rIns="635" bIns="635" rtlCol="0" anchor="ctr"/>
          <a:lstStyle/>
          <a:p>
            <a:pPr indent="0" marL="0">
              <a:buNone/>
            </a:pPr>
            <a:r>
              <a:rPr lang="en-US" sz="1500" i="1" dirty="0">
                <a:solidFill>
                  <a:srgbClr val="49B296"/>
                </a:solidFill>
                <a:latin typeface="Roboto" pitchFamily="34" charset="0"/>
                <a:ea typeface="Roboto" pitchFamily="34" charset="-122"/>
                <a:cs typeface="Roboto" pitchFamily="34" charset="-120"/>
              </a:rPr>
              <a:t>Customer attractiveness</a:t>
            </a:r>
            <a:endParaRPr lang="en-US" sz="1500" dirty="0"/>
          </a:p>
        </p:txBody>
      </p:sp>
      <p:sp>
        <p:nvSpPr>
          <p:cNvPr id="8" name="Shape 6"/>
          <p:cNvSpPr/>
          <p:nvPr/>
        </p:nvSpPr>
        <p:spPr>
          <a:xfrm>
            <a:off x="548640" y="3246120"/>
            <a:ext cx="868680" cy="868680"/>
          </a:xfrm>
          <a:prstGeom prst="ellipse">
            <a:avLst/>
          </a:prstGeom>
          <a:solidFill>
            <a:srgbClr val="FFD23B"/>
          </a:solidFill>
          <a:ln w="12700">
            <a:solidFill>
              <a:srgbClr val="FFD23B"/>
            </a:solidFill>
            <a:prstDash val="solid"/>
          </a:ln>
        </p:spPr>
      </p:sp>
      <p:sp>
        <p:nvSpPr>
          <p:cNvPr id="9" name="Text 7"/>
          <p:cNvSpPr txBox="1"/>
          <p:nvPr/>
        </p:nvSpPr>
        <p:spPr>
          <a:xfrm>
            <a:off x="548640" y="324612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10" name="Shape 8"/>
          <p:cNvSpPr/>
          <p:nvPr/>
        </p:nvSpPr>
        <p:spPr>
          <a:xfrm>
            <a:off x="1645920" y="3108960"/>
            <a:ext cx="9994392" cy="1143000"/>
          </a:xfrm>
          <a:prstGeom prst="roundRect">
            <a:avLst>
              <a:gd name="adj" fmla="val 6400"/>
            </a:avLst>
          </a:prstGeom>
          <a:solidFill>
            <a:srgbClr val="22395F"/>
          </a:solidFill>
          <a:ln w="12700">
            <a:solidFill>
              <a:srgbClr val="22395F"/>
            </a:solidFill>
            <a:prstDash val="solid"/>
          </a:ln>
        </p:spPr>
      </p:sp>
      <p:sp>
        <p:nvSpPr>
          <p:cNvPr id="11" name="Text 9"/>
          <p:cNvSpPr txBox="1"/>
          <p:nvPr/>
        </p:nvSpPr>
        <p:spPr>
          <a:xfrm>
            <a:off x="1874520" y="3154680"/>
            <a:ext cx="9601200" cy="640080"/>
          </a:xfrm>
          <a:prstGeom prst="rect">
            <a:avLst/>
          </a:prstGeom>
          <a:noFill/>
          <a:ln/>
        </p:spPr>
        <p:txBody>
          <a:bodyPr wrap="square" lIns="635" tIns="635" rIns="635" bIns="635" rtlCol="0" anchor="ctr"/>
          <a:lstStyle/>
          <a:p>
            <a:pPr indent="0" marL="0">
              <a:buNone/>
            </a:pPr>
            <a:r>
              <a:rPr lang="en-US" sz="2000" b="1" dirty="0">
                <a:solidFill>
                  <a:srgbClr val="FBFAF4"/>
                </a:solidFill>
                <a:latin typeface="Roboto" pitchFamily="34" charset="0"/>
                <a:ea typeface="Roboto" pitchFamily="34" charset="-122"/>
                <a:cs typeface="Roboto" pitchFamily="34" charset="-120"/>
              </a:rPr>
              <a:t>Công ty ta có vị thế cạnh tranh mạnh với khách hàng này không?</a:t>
            </a:r>
            <a:endParaRPr lang="en-US" sz="2000" dirty="0"/>
          </a:p>
        </p:txBody>
      </p:sp>
      <p:sp>
        <p:nvSpPr>
          <p:cNvPr id="12" name="Text 10"/>
          <p:cNvSpPr txBox="1"/>
          <p:nvPr/>
        </p:nvSpPr>
        <p:spPr>
          <a:xfrm>
            <a:off x="1874520" y="3749040"/>
            <a:ext cx="9601200" cy="411480"/>
          </a:xfrm>
          <a:prstGeom prst="rect">
            <a:avLst/>
          </a:prstGeom>
          <a:noFill/>
          <a:ln/>
        </p:spPr>
        <p:txBody>
          <a:bodyPr wrap="square" lIns="635" tIns="635" rIns="635" bIns="635" rtlCol="0" anchor="ctr"/>
          <a:lstStyle/>
          <a:p>
            <a:pPr indent="0" marL="0">
              <a:buNone/>
            </a:pPr>
            <a:r>
              <a:rPr lang="en-US" sz="1500" i="1" dirty="0">
                <a:solidFill>
                  <a:srgbClr val="FFD23B"/>
                </a:solidFill>
                <a:latin typeface="Roboto" pitchFamily="34" charset="0"/>
                <a:ea typeface="Roboto" pitchFamily="34" charset="-122"/>
                <a:cs typeface="Roboto" pitchFamily="34" charset="-120"/>
              </a:rPr>
              <a:t>Supplier's competitive position</a:t>
            </a:r>
            <a:endParaRPr lang="en-US" sz="1500" dirty="0"/>
          </a:p>
        </p:txBody>
      </p:sp>
      <p:sp>
        <p:nvSpPr>
          <p:cNvPr id="13" name="Shape 11"/>
          <p:cNvSpPr/>
          <p:nvPr/>
        </p:nvSpPr>
        <p:spPr>
          <a:xfrm>
            <a:off x="548640" y="4572000"/>
            <a:ext cx="868680" cy="868680"/>
          </a:xfrm>
          <a:prstGeom prst="ellipse">
            <a:avLst/>
          </a:prstGeom>
          <a:solidFill>
            <a:srgbClr val="FF5178"/>
          </a:solidFill>
          <a:ln w="12700">
            <a:solidFill>
              <a:srgbClr val="FF5178"/>
            </a:solidFill>
            <a:prstDash val="solid"/>
          </a:ln>
        </p:spPr>
      </p:sp>
      <p:sp>
        <p:nvSpPr>
          <p:cNvPr id="14" name="Text 12"/>
          <p:cNvSpPr txBox="1"/>
          <p:nvPr/>
        </p:nvSpPr>
        <p:spPr>
          <a:xfrm>
            <a:off x="548640" y="45720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5" name="Shape 13"/>
          <p:cNvSpPr/>
          <p:nvPr/>
        </p:nvSpPr>
        <p:spPr>
          <a:xfrm>
            <a:off x="1645920" y="4434840"/>
            <a:ext cx="9994392" cy="1143000"/>
          </a:xfrm>
          <a:prstGeom prst="roundRect">
            <a:avLst>
              <a:gd name="adj" fmla="val 6400"/>
            </a:avLst>
          </a:prstGeom>
          <a:solidFill>
            <a:srgbClr val="22395F"/>
          </a:solidFill>
          <a:ln w="12700">
            <a:solidFill>
              <a:srgbClr val="22395F"/>
            </a:solidFill>
            <a:prstDash val="solid"/>
          </a:ln>
        </p:spPr>
      </p:sp>
      <p:sp>
        <p:nvSpPr>
          <p:cNvPr id="16" name="Text 14"/>
          <p:cNvSpPr txBox="1"/>
          <p:nvPr/>
        </p:nvSpPr>
        <p:spPr>
          <a:xfrm>
            <a:off x="1874520" y="4480560"/>
            <a:ext cx="9601200" cy="640080"/>
          </a:xfrm>
          <a:prstGeom prst="rect">
            <a:avLst/>
          </a:prstGeom>
          <a:noFill/>
          <a:ln/>
        </p:spPr>
        <p:txBody>
          <a:bodyPr wrap="square" lIns="635" tIns="635" rIns="635" bIns="635" rtlCol="0" anchor="ctr"/>
          <a:lstStyle/>
          <a:p>
            <a:pPr indent="0" marL="0">
              <a:buNone/>
            </a:pPr>
            <a:r>
              <a:rPr lang="en-US" sz="2000" b="1" dirty="0">
                <a:solidFill>
                  <a:srgbClr val="FBFAF4"/>
                </a:solidFill>
                <a:latin typeface="Roboto" pitchFamily="34" charset="0"/>
                <a:ea typeface="Roboto" pitchFamily="34" charset="-122"/>
                <a:cs typeface="Roboto" pitchFamily="34" charset="-120"/>
              </a:rPr>
              <a:t>Khách hàng có sẵn lòng cùng đầu tư vào quan hệ đối tác với ta không?</a:t>
            </a:r>
            <a:endParaRPr lang="en-US" sz="2000" dirty="0"/>
          </a:p>
        </p:txBody>
      </p:sp>
      <p:sp>
        <p:nvSpPr>
          <p:cNvPr id="17" name="Text 15"/>
          <p:cNvSpPr txBox="1"/>
          <p:nvPr/>
        </p:nvSpPr>
        <p:spPr>
          <a:xfrm>
            <a:off x="1874520" y="5074920"/>
            <a:ext cx="9601200" cy="411480"/>
          </a:xfrm>
          <a:prstGeom prst="rect">
            <a:avLst/>
          </a:prstGeom>
          <a:noFill/>
          <a:ln/>
        </p:spPr>
        <p:txBody>
          <a:bodyPr wrap="square" lIns="635" tIns="635" rIns="635" bIns="635" rtlCol="0" anchor="ctr"/>
          <a:lstStyle/>
          <a:p>
            <a:pPr indent="0" marL="0">
              <a:buNone/>
            </a:pPr>
            <a:r>
              <a:rPr lang="en-US" sz="1500" i="1" dirty="0">
                <a:solidFill>
                  <a:srgbClr val="FF5178"/>
                </a:solidFill>
                <a:latin typeface="Roboto" pitchFamily="34" charset="0"/>
                <a:ea typeface="Roboto" pitchFamily="34" charset="-122"/>
                <a:cs typeface="Roboto" pitchFamily="34" charset="-120"/>
              </a:rPr>
              <a:t>Willingness to co-invest</a:t>
            </a:r>
            <a:endParaRPr lang="en-US" sz="1500" dirty="0"/>
          </a:p>
        </p:txBody>
      </p:sp>
      <p:sp>
        <p:nvSpPr>
          <p:cNvPr id="18" name="Text 16"/>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44); Guesalaga (n.d.), Cranfield.</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Hai trục đầu tạo thành ma trận; câu thứ ba là kích thước vòng tròn</a:t>
            </a:r>
            <a:endParaRPr lang="en-US" sz="2800" dirty="0"/>
          </a:p>
        </p:txBody>
      </p:sp>
      <p:sp>
        <p:nvSpPr>
          <p:cNvPr id="3" name="Shape 1"/>
          <p:cNvSpPr/>
          <p:nvPr/>
        </p:nvSpPr>
        <p:spPr>
          <a:xfrm>
            <a:off x="1280160" y="1783080"/>
            <a:ext cx="0" cy="3931920"/>
          </a:xfrm>
          <a:prstGeom prst="line">
            <a:avLst/>
          </a:prstGeom>
          <a:noFill/>
          <a:ln w="25400">
            <a:solidFill>
              <a:srgbClr val="A9B6D3"/>
            </a:solidFill>
            <a:prstDash val="solid"/>
          </a:ln>
        </p:spPr>
      </p:sp>
      <p:sp>
        <p:nvSpPr>
          <p:cNvPr id="4" name="Shape 2"/>
          <p:cNvSpPr/>
          <p:nvPr/>
        </p:nvSpPr>
        <p:spPr>
          <a:xfrm>
            <a:off x="1280160" y="5715000"/>
            <a:ext cx="5852160" cy="0"/>
          </a:xfrm>
          <a:prstGeom prst="line">
            <a:avLst/>
          </a:prstGeom>
          <a:noFill/>
          <a:ln w="25400">
            <a:solidFill>
              <a:srgbClr val="A9B6D3"/>
            </a:solidFill>
            <a:prstDash val="solid"/>
          </a:ln>
        </p:spPr>
      </p:sp>
      <p:sp>
        <p:nvSpPr>
          <p:cNvPr id="5" name="Text 3"/>
          <p:cNvSpPr txBox="1"/>
          <p:nvPr/>
        </p:nvSpPr>
        <p:spPr>
          <a:xfrm rot="16200000">
            <a:off x="-1143000" y="3547872"/>
            <a:ext cx="3657600" cy="411480"/>
          </a:xfrm>
          <a:prstGeom prst="rect">
            <a:avLst/>
          </a:prstGeom>
          <a:noFill/>
          <a:ln/>
        </p:spPr>
        <p:txBody>
          <a:bodyPr wrap="square" lIns="635" tIns="635" rIns="635" bIns="635" rtlCol="0" anchor="ctr"/>
          <a:lstStyle/>
          <a:p>
            <a:pPr algn="ctr" indent="0" marL="0">
              <a:buNone/>
            </a:pPr>
            <a:r>
              <a:rPr lang="en-US" sz="1400" dirty="0">
                <a:solidFill>
                  <a:srgbClr val="A9B6D3"/>
                </a:solidFill>
                <a:latin typeface="Roboto" pitchFamily="34" charset="0"/>
                <a:ea typeface="Roboto" pitchFamily="34" charset="-122"/>
                <a:cs typeface="Roboto" pitchFamily="34" charset="-120"/>
              </a:rPr>
              <a:t>Sức hấp dẫn của khách hàng →</a:t>
            </a:r>
            <a:endParaRPr lang="en-US" sz="1400" dirty="0"/>
          </a:p>
        </p:txBody>
      </p:sp>
      <p:sp>
        <p:nvSpPr>
          <p:cNvPr id="6" name="Text 4"/>
          <p:cNvSpPr txBox="1"/>
          <p:nvPr/>
        </p:nvSpPr>
        <p:spPr>
          <a:xfrm>
            <a:off x="1280160" y="5760720"/>
            <a:ext cx="5852160" cy="411480"/>
          </a:xfrm>
          <a:prstGeom prst="rect">
            <a:avLst/>
          </a:prstGeom>
          <a:noFill/>
          <a:ln/>
        </p:spPr>
        <p:txBody>
          <a:bodyPr wrap="square" lIns="635" tIns="635" rIns="635" bIns="635" rtlCol="0" anchor="ctr"/>
          <a:lstStyle/>
          <a:p>
            <a:pPr algn="ctr" indent="0" marL="0">
              <a:buNone/>
            </a:pPr>
            <a:r>
              <a:rPr lang="en-US" sz="1400" dirty="0">
                <a:solidFill>
                  <a:srgbClr val="A9B6D3"/>
                </a:solidFill>
                <a:latin typeface="Roboto" pitchFamily="34" charset="0"/>
                <a:ea typeface="Roboto" pitchFamily="34" charset="-122"/>
                <a:cs typeface="Roboto" pitchFamily="34" charset="-120"/>
              </a:rPr>
              <a:t>Vị thế cạnh tranh của agency →</a:t>
            </a:r>
            <a:endParaRPr lang="en-US" sz="1400" dirty="0"/>
          </a:p>
        </p:txBody>
      </p:sp>
      <p:sp>
        <p:nvSpPr>
          <p:cNvPr id="7" name="Shape 5"/>
          <p:cNvSpPr/>
          <p:nvPr/>
        </p:nvSpPr>
        <p:spPr>
          <a:xfrm>
            <a:off x="5760720" y="1920240"/>
            <a:ext cx="548640" cy="548640"/>
          </a:xfrm>
          <a:prstGeom prst="ellipse">
            <a:avLst/>
          </a:prstGeom>
          <a:solidFill>
            <a:srgbClr val="FF5178"/>
          </a:solidFill>
          <a:ln w="12700">
            <a:solidFill>
              <a:srgbClr val="FF5178"/>
            </a:solidFill>
            <a:prstDash val="solid"/>
          </a:ln>
        </p:spPr>
      </p:sp>
      <p:sp>
        <p:nvSpPr>
          <p:cNvPr id="8" name="Text 6"/>
          <p:cNvSpPr txBox="1"/>
          <p:nvPr/>
        </p:nvSpPr>
        <p:spPr>
          <a:xfrm>
            <a:off x="5760720" y="1920240"/>
            <a:ext cx="548640" cy="548640"/>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B</a:t>
            </a:r>
            <a:endParaRPr lang="en-US" sz="1400" dirty="0"/>
          </a:p>
        </p:txBody>
      </p:sp>
      <p:sp>
        <p:nvSpPr>
          <p:cNvPr id="9" name="Shape 7"/>
          <p:cNvSpPr/>
          <p:nvPr/>
        </p:nvSpPr>
        <p:spPr>
          <a:xfrm>
            <a:off x="4206240" y="2377440"/>
            <a:ext cx="1188720" cy="1188720"/>
          </a:xfrm>
          <a:prstGeom prst="ellipse">
            <a:avLst/>
          </a:prstGeom>
          <a:solidFill>
            <a:srgbClr val="49B296"/>
          </a:solidFill>
          <a:ln w="12700">
            <a:solidFill>
              <a:srgbClr val="49B296"/>
            </a:solidFill>
            <a:prstDash val="solid"/>
          </a:ln>
        </p:spPr>
      </p:sp>
      <p:sp>
        <p:nvSpPr>
          <p:cNvPr id="10" name="Text 8"/>
          <p:cNvSpPr txBox="1"/>
          <p:nvPr/>
        </p:nvSpPr>
        <p:spPr>
          <a:xfrm>
            <a:off x="4206240" y="2377440"/>
            <a:ext cx="1188720" cy="1188720"/>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F</a:t>
            </a:r>
            <a:endParaRPr lang="en-US" sz="1400" dirty="0"/>
          </a:p>
        </p:txBody>
      </p:sp>
      <p:sp>
        <p:nvSpPr>
          <p:cNvPr id="11" name="Shape 9"/>
          <p:cNvSpPr/>
          <p:nvPr/>
        </p:nvSpPr>
        <p:spPr>
          <a:xfrm>
            <a:off x="2743200" y="3566160"/>
            <a:ext cx="640080" cy="640080"/>
          </a:xfrm>
          <a:prstGeom prst="ellipse">
            <a:avLst/>
          </a:prstGeom>
          <a:solidFill>
            <a:srgbClr val="A9B6D3"/>
          </a:solidFill>
          <a:ln w="12700">
            <a:solidFill>
              <a:srgbClr val="A9B6D3"/>
            </a:solidFill>
            <a:prstDash val="solid"/>
          </a:ln>
        </p:spPr>
      </p:sp>
      <p:sp>
        <p:nvSpPr>
          <p:cNvPr id="12" name="Text 10"/>
          <p:cNvSpPr txBox="1"/>
          <p:nvPr/>
        </p:nvSpPr>
        <p:spPr>
          <a:xfrm>
            <a:off x="2743200" y="3566160"/>
            <a:ext cx="640080" cy="640080"/>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A</a:t>
            </a:r>
            <a:endParaRPr lang="en-US" sz="1400" dirty="0"/>
          </a:p>
        </p:txBody>
      </p:sp>
      <p:sp>
        <p:nvSpPr>
          <p:cNvPr id="13" name="Shape 11"/>
          <p:cNvSpPr/>
          <p:nvPr/>
        </p:nvSpPr>
        <p:spPr>
          <a:xfrm>
            <a:off x="5120640" y="4297680"/>
            <a:ext cx="548640" cy="548640"/>
          </a:xfrm>
          <a:prstGeom prst="ellipse">
            <a:avLst/>
          </a:prstGeom>
          <a:solidFill>
            <a:srgbClr val="A9B6D3"/>
          </a:solidFill>
          <a:ln w="12700">
            <a:solidFill>
              <a:srgbClr val="A9B6D3"/>
            </a:solidFill>
            <a:prstDash val="solid"/>
          </a:ln>
        </p:spPr>
      </p:sp>
      <p:sp>
        <p:nvSpPr>
          <p:cNvPr id="14" name="Text 12"/>
          <p:cNvSpPr txBox="1"/>
          <p:nvPr/>
        </p:nvSpPr>
        <p:spPr>
          <a:xfrm>
            <a:off x="5120640" y="4297680"/>
            <a:ext cx="548640" cy="548640"/>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C</a:t>
            </a:r>
            <a:endParaRPr lang="en-US" sz="1400" dirty="0"/>
          </a:p>
        </p:txBody>
      </p:sp>
      <p:sp>
        <p:nvSpPr>
          <p:cNvPr id="15" name="Shape 13"/>
          <p:cNvSpPr/>
          <p:nvPr/>
        </p:nvSpPr>
        <p:spPr>
          <a:xfrm>
            <a:off x="2011680" y="4846320"/>
            <a:ext cx="457200" cy="457200"/>
          </a:xfrm>
          <a:prstGeom prst="ellipse">
            <a:avLst/>
          </a:prstGeom>
          <a:solidFill>
            <a:srgbClr val="A9B6D3"/>
          </a:solidFill>
          <a:ln w="12700">
            <a:solidFill>
              <a:srgbClr val="A9B6D3"/>
            </a:solidFill>
            <a:prstDash val="solid"/>
          </a:ln>
        </p:spPr>
      </p:sp>
      <p:sp>
        <p:nvSpPr>
          <p:cNvPr id="16" name="Text 14"/>
          <p:cNvSpPr txBox="1"/>
          <p:nvPr/>
        </p:nvSpPr>
        <p:spPr>
          <a:xfrm>
            <a:off x="2011680" y="4846320"/>
            <a:ext cx="457200" cy="457200"/>
          </a:xfrm>
          <a:prstGeom prst="rect">
            <a:avLst/>
          </a:prstGeom>
          <a:noFill/>
          <a:ln/>
        </p:spPr>
        <p:txBody>
          <a:bodyPr wrap="square" lIns="0" tIns="0" rIns="0" bIns="0"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E</a:t>
            </a:r>
            <a:endParaRPr lang="en-US" sz="1400" dirty="0"/>
          </a:p>
        </p:txBody>
      </p:sp>
      <p:sp>
        <p:nvSpPr>
          <p:cNvPr id="17" name="Shape 15"/>
          <p:cNvSpPr/>
          <p:nvPr/>
        </p:nvSpPr>
        <p:spPr>
          <a:xfrm>
            <a:off x="7589520" y="1783080"/>
            <a:ext cx="4050792" cy="3931920"/>
          </a:xfrm>
          <a:prstGeom prst="roundRect">
            <a:avLst>
              <a:gd name="adj" fmla="val 1860"/>
            </a:avLst>
          </a:prstGeom>
          <a:solidFill>
            <a:srgbClr val="22395F"/>
          </a:solidFill>
          <a:ln w="12700">
            <a:solidFill>
              <a:srgbClr val="22395F"/>
            </a:solidFill>
            <a:prstDash val="solid"/>
          </a:ln>
        </p:spPr>
      </p:sp>
      <p:sp>
        <p:nvSpPr>
          <p:cNvPr id="18" name="Text 16"/>
          <p:cNvSpPr txBox="1"/>
          <p:nvPr/>
        </p:nvSpPr>
        <p:spPr>
          <a:xfrm>
            <a:off x="7772400" y="1920240"/>
            <a:ext cx="3657600" cy="1371600"/>
          </a:xfrm>
          <a:prstGeom prst="rect">
            <a:avLst/>
          </a:prstGeom>
          <a:noFill/>
          <a:ln/>
        </p:spPr>
        <p:txBody>
          <a:bodyPr wrap="square" lIns="635" tIns="635" rIns="635" bIns="635" rtlCol="0" anchor="t"/>
          <a:lstStyle/>
          <a:p>
            <a:pPr indent="0" marL="0">
              <a:buNone/>
            </a:pPr>
            <a:r>
              <a:rPr lang="en-US" sz="1600" b="1" dirty="0">
                <a:solidFill>
                  <a:srgbClr val="FF5178"/>
                </a:solidFill>
                <a:latin typeface="Roboto" pitchFamily="34" charset="0"/>
                <a:ea typeface="Roboto" pitchFamily="34" charset="-122"/>
                <a:cs typeface="Roboto" pitchFamily="34" charset="-120"/>
              </a:rPr>
              <a:t>B: </a:t>
            </a:r>
            <a:pPr indent="0" marL="0">
              <a:buNone/>
            </a:pPr>
            <a:r>
              <a:rPr lang="en-US" sz="1600" dirty="0">
                <a:solidFill>
                  <a:srgbClr val="FBFAF4"/>
                </a:solidFill>
                <a:latin typeface="Roboto" pitchFamily="34" charset="0"/>
                <a:ea typeface="Roboto" pitchFamily="34" charset="-122"/>
                <a:cs typeface="Roboto" pitchFamily="34" charset="-120"/>
              </a:rPr>
              <a:t>hấp dẫn và vị thế đều cao, nhưng ít muốn cùng đầu tư (vòng nhỏ)</a:t>
            </a:r>
            <a:endParaRPr lang="en-US" sz="1600" dirty="0"/>
          </a:p>
        </p:txBody>
      </p:sp>
      <p:sp>
        <p:nvSpPr>
          <p:cNvPr id="19" name="Text 17"/>
          <p:cNvSpPr txBox="1"/>
          <p:nvPr/>
        </p:nvSpPr>
        <p:spPr>
          <a:xfrm>
            <a:off x="7772400" y="3291840"/>
            <a:ext cx="3657600" cy="1371600"/>
          </a:xfrm>
          <a:prstGeom prst="rect">
            <a:avLst/>
          </a:prstGeom>
          <a:noFill/>
          <a:ln/>
        </p:spPr>
        <p:txBody>
          <a:bodyPr wrap="square" lIns="635" tIns="635" rIns="635" bIns="635" rtlCol="0" anchor="t"/>
          <a:lstStyle/>
          <a:p>
            <a:pPr indent="0" marL="0">
              <a:buNone/>
            </a:pPr>
            <a:r>
              <a:rPr lang="en-US" sz="1600" b="1" dirty="0">
                <a:solidFill>
                  <a:srgbClr val="49B296"/>
                </a:solidFill>
                <a:latin typeface="Roboto" pitchFamily="34" charset="0"/>
                <a:ea typeface="Roboto" pitchFamily="34" charset="-122"/>
                <a:cs typeface="Roboto" pitchFamily="34" charset="-120"/>
              </a:rPr>
              <a:t>F: </a:t>
            </a:r>
            <a:pPr indent="0" marL="0">
              <a:buNone/>
            </a:pPr>
            <a:r>
              <a:rPr lang="en-US" sz="1600" dirty="0">
                <a:solidFill>
                  <a:srgbClr val="FBFAF4"/>
                </a:solidFill>
                <a:latin typeface="Roboto" pitchFamily="34" charset="0"/>
                <a:ea typeface="Roboto" pitchFamily="34" charset="-122"/>
                <a:cs typeface="Roboto" pitchFamily="34" charset="-120"/>
              </a:rPr>
              <a:t>thấp hơn một chút ở hai trục, nhưng rất muốn cùng đầu tư (vòng lớn)</a:t>
            </a:r>
            <a:endParaRPr lang="en-US" sz="1600" dirty="0"/>
          </a:p>
        </p:txBody>
      </p:sp>
      <p:sp>
        <p:nvSpPr>
          <p:cNvPr id="20" name="Text 18"/>
          <p:cNvSpPr txBox="1"/>
          <p:nvPr/>
        </p:nvSpPr>
        <p:spPr>
          <a:xfrm>
            <a:off x="7772400" y="4709160"/>
            <a:ext cx="3657600" cy="822960"/>
          </a:xfrm>
          <a:prstGeom prst="rect">
            <a:avLst/>
          </a:prstGeom>
          <a:noFill/>
          <a:ln/>
        </p:spPr>
        <p:txBody>
          <a:bodyPr wrap="square" lIns="635" tIns="635" rIns="635" bIns="635" rtlCol="0" anchor="t"/>
          <a:lstStyle/>
          <a:p>
            <a:pPr indent="0" marL="0">
              <a:buNone/>
            </a:pPr>
            <a:r>
              <a:rPr lang="en-US" sz="1600" b="1" dirty="0">
                <a:solidFill>
                  <a:srgbClr val="FFD23B"/>
                </a:solidFill>
                <a:latin typeface="Roboto" pitchFamily="34" charset="0"/>
                <a:ea typeface="Roboto" pitchFamily="34" charset="-122"/>
                <a:cs typeface="Roboto" pitchFamily="34" charset="-120"/>
              </a:rPr>
              <a:t>Cả hai đều là ứng viên tốt nhất.</a:t>
            </a:r>
            <a:endParaRPr lang="en-US" sz="1600" dirty="0"/>
          </a:p>
        </p:txBody>
      </p:sp>
      <p:sp>
        <p:nvSpPr>
          <p:cNvPr id="21" name="Text 19"/>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Phỏng theo Marcos et al. (2018, Hình 2.4, tr. 52–53); vị trí các vòng là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Sức hấp dẫn: chọn 4–7 yếu tố, cân bằng định lượng – định tính, hiện tại – tương lai</a:t>
            </a:r>
            <a:endParaRPr lang="en-US" sz="2800" dirty="0"/>
          </a:p>
        </p:txBody>
      </p:sp>
      <p:sp>
        <p:nvSpPr>
          <p:cNvPr id="3" name="Text 1"/>
          <p:cNvSpPr txBox="1"/>
          <p:nvPr/>
        </p:nvSpPr>
        <p:spPr>
          <a:xfrm>
            <a:off x="3017520" y="1691640"/>
            <a:ext cx="4206240" cy="411480"/>
          </a:xfrm>
          <a:prstGeom prst="rect">
            <a:avLst/>
          </a:prstGeom>
          <a:noFill/>
          <a:ln/>
        </p:spPr>
        <p:txBody>
          <a:bodyPr wrap="square" lIns="635" tIns="635" rIns="635" bIns="635" rtlCol="0" anchor="ctr"/>
          <a:lstStyle/>
          <a:p>
            <a:pPr algn="ctr" indent="0" marL="0">
              <a:buNone/>
            </a:pPr>
            <a:r>
              <a:rPr lang="en-US" sz="1500" b="1" dirty="0">
                <a:solidFill>
                  <a:srgbClr val="A9B6D3"/>
                </a:solidFill>
                <a:latin typeface="Roboto" pitchFamily="34" charset="0"/>
                <a:ea typeface="Roboto" pitchFamily="34" charset="-122"/>
                <a:cs typeface="Roboto" pitchFamily="34" charset="-120"/>
              </a:rPr>
              <a:t>Quá khứ, hiện tại</a:t>
            </a:r>
            <a:endParaRPr lang="en-US" sz="1500" dirty="0"/>
          </a:p>
        </p:txBody>
      </p:sp>
      <p:sp>
        <p:nvSpPr>
          <p:cNvPr id="4" name="Text 2"/>
          <p:cNvSpPr txBox="1"/>
          <p:nvPr/>
        </p:nvSpPr>
        <p:spPr>
          <a:xfrm>
            <a:off x="7406640" y="1691640"/>
            <a:ext cx="4206240" cy="411480"/>
          </a:xfrm>
          <a:prstGeom prst="rect">
            <a:avLst/>
          </a:prstGeom>
          <a:noFill/>
          <a:ln/>
        </p:spPr>
        <p:txBody>
          <a:bodyPr wrap="square" lIns="635" tIns="635" rIns="635" bIns="635" rtlCol="0" anchor="ctr"/>
          <a:lstStyle/>
          <a:p>
            <a:pPr algn="ctr" indent="0" marL="0">
              <a:buNone/>
            </a:pPr>
            <a:r>
              <a:rPr lang="en-US" sz="1500" b="1" dirty="0">
                <a:solidFill>
                  <a:srgbClr val="A9B6D3"/>
                </a:solidFill>
                <a:latin typeface="Roboto" pitchFamily="34" charset="0"/>
                <a:ea typeface="Roboto" pitchFamily="34" charset="-122"/>
                <a:cs typeface="Roboto" pitchFamily="34" charset="-120"/>
              </a:rPr>
              <a:t>Tương lai</a:t>
            </a:r>
            <a:endParaRPr lang="en-US" sz="1500" dirty="0"/>
          </a:p>
        </p:txBody>
      </p:sp>
      <p:sp>
        <p:nvSpPr>
          <p:cNvPr id="5" name="Text 3"/>
          <p:cNvSpPr txBox="1"/>
          <p:nvPr/>
        </p:nvSpPr>
        <p:spPr>
          <a:xfrm>
            <a:off x="548640" y="2194560"/>
            <a:ext cx="2286000" cy="1554480"/>
          </a:xfrm>
          <a:prstGeom prst="rect">
            <a:avLst/>
          </a:prstGeom>
          <a:noFill/>
          <a:ln/>
        </p:spPr>
        <p:txBody>
          <a:bodyPr wrap="square" lIns="635" tIns="635" rIns="635" bIns="635" rtlCol="0" anchor="ctr"/>
          <a:lstStyle/>
          <a:p>
            <a:pPr indent="0" marL="0">
              <a:buNone/>
            </a:pPr>
            <a:r>
              <a:rPr lang="en-US" sz="1600" b="1" dirty="0">
                <a:solidFill>
                  <a:srgbClr val="A9B6D3"/>
                </a:solidFill>
                <a:latin typeface="Roboto" pitchFamily="34" charset="0"/>
                <a:ea typeface="Roboto" pitchFamily="34" charset="-122"/>
                <a:cs typeface="Roboto" pitchFamily="34" charset="-120"/>
              </a:rPr>
              <a:t>Định lượng</a:t>
            </a:r>
            <a:endParaRPr lang="en-US" sz="1600" dirty="0"/>
          </a:p>
        </p:txBody>
      </p:sp>
      <p:sp>
        <p:nvSpPr>
          <p:cNvPr id="6" name="Text 4"/>
          <p:cNvSpPr txBox="1"/>
          <p:nvPr/>
        </p:nvSpPr>
        <p:spPr>
          <a:xfrm>
            <a:off x="548640" y="3931920"/>
            <a:ext cx="2286000" cy="1554480"/>
          </a:xfrm>
          <a:prstGeom prst="rect">
            <a:avLst/>
          </a:prstGeom>
          <a:noFill/>
          <a:ln/>
        </p:spPr>
        <p:txBody>
          <a:bodyPr wrap="square" lIns="635" tIns="635" rIns="635" bIns="635" rtlCol="0" anchor="ctr"/>
          <a:lstStyle/>
          <a:p>
            <a:pPr indent="0" marL="0">
              <a:buNone/>
            </a:pPr>
            <a:r>
              <a:rPr lang="en-US" sz="1600" b="1" dirty="0">
                <a:solidFill>
                  <a:srgbClr val="A9B6D3"/>
                </a:solidFill>
                <a:latin typeface="Roboto" pitchFamily="34" charset="0"/>
                <a:ea typeface="Roboto" pitchFamily="34" charset="-122"/>
                <a:cs typeface="Roboto" pitchFamily="34" charset="-120"/>
              </a:rPr>
              <a:t>Định tính</a:t>
            </a:r>
            <a:endParaRPr lang="en-US" sz="1600" dirty="0"/>
          </a:p>
        </p:txBody>
      </p:sp>
      <p:sp>
        <p:nvSpPr>
          <p:cNvPr id="7" name="Shape 5"/>
          <p:cNvSpPr/>
          <p:nvPr/>
        </p:nvSpPr>
        <p:spPr>
          <a:xfrm>
            <a:off x="3017520" y="2194560"/>
            <a:ext cx="4206240" cy="1554480"/>
          </a:xfrm>
          <a:prstGeom prst="roundRect">
            <a:avLst>
              <a:gd name="adj" fmla="val 4706"/>
            </a:avLst>
          </a:prstGeom>
          <a:solidFill>
            <a:srgbClr val="49B296"/>
          </a:solidFill>
          <a:ln w="12700">
            <a:solidFill>
              <a:srgbClr val="49B296"/>
            </a:solidFill>
            <a:prstDash val="solid"/>
          </a:ln>
        </p:spPr>
      </p:sp>
      <p:sp>
        <p:nvSpPr>
          <p:cNvPr id="8" name="Text 6"/>
          <p:cNvSpPr txBox="1"/>
          <p:nvPr/>
        </p:nvSpPr>
        <p:spPr>
          <a:xfrm>
            <a:off x="3200400" y="2194560"/>
            <a:ext cx="3840480" cy="15544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Quy mô doanh thu · lợi nhuận · ổn định nhu cầu · chi phí phục vụ</a:t>
            </a:r>
            <a:endParaRPr lang="en-US" sz="1600" dirty="0"/>
          </a:p>
        </p:txBody>
      </p:sp>
      <p:sp>
        <p:nvSpPr>
          <p:cNvPr id="9" name="Shape 7"/>
          <p:cNvSpPr/>
          <p:nvPr/>
        </p:nvSpPr>
        <p:spPr>
          <a:xfrm>
            <a:off x="7406640" y="2194560"/>
            <a:ext cx="4206240" cy="1554480"/>
          </a:xfrm>
          <a:prstGeom prst="roundRect">
            <a:avLst>
              <a:gd name="adj" fmla="val 4706"/>
            </a:avLst>
          </a:prstGeom>
          <a:solidFill>
            <a:srgbClr val="FFD23B"/>
          </a:solidFill>
          <a:ln w="12700">
            <a:solidFill>
              <a:srgbClr val="FFD23B"/>
            </a:solidFill>
            <a:prstDash val="solid"/>
          </a:ln>
        </p:spPr>
      </p:sp>
      <p:sp>
        <p:nvSpPr>
          <p:cNvPr id="10" name="Text 8"/>
          <p:cNvSpPr txBox="1"/>
          <p:nvPr/>
        </p:nvSpPr>
        <p:spPr>
          <a:xfrm>
            <a:off x="7589520" y="2194560"/>
            <a:ext cx="3840480" cy="15544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Tiềm năng tăng trưởng · biên lợi nhuận tương lai · giá trị vòng đời (CLV)</a:t>
            </a:r>
            <a:endParaRPr lang="en-US" sz="1600" dirty="0"/>
          </a:p>
        </p:txBody>
      </p:sp>
      <p:sp>
        <p:nvSpPr>
          <p:cNvPr id="11" name="Shape 9"/>
          <p:cNvSpPr/>
          <p:nvPr/>
        </p:nvSpPr>
        <p:spPr>
          <a:xfrm>
            <a:off x="3017520" y="3931920"/>
            <a:ext cx="4206240" cy="1554480"/>
          </a:xfrm>
          <a:prstGeom prst="roundRect">
            <a:avLst>
              <a:gd name="adj" fmla="val 4706"/>
            </a:avLst>
          </a:prstGeom>
          <a:solidFill>
            <a:srgbClr val="09A1E5"/>
          </a:solidFill>
          <a:ln w="12700">
            <a:solidFill>
              <a:srgbClr val="09A1E5"/>
            </a:solidFill>
            <a:prstDash val="solid"/>
          </a:ln>
        </p:spPr>
      </p:sp>
      <p:sp>
        <p:nvSpPr>
          <p:cNvPr id="12" name="Text 10"/>
          <p:cNvSpPr txBox="1"/>
          <p:nvPr/>
        </p:nvSpPr>
        <p:spPr>
          <a:xfrm>
            <a:off x="3200400" y="3931920"/>
            <a:ext cx="3840480" cy="15544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Chất lượng quan hệ · niềm tin · độ tin cậy · lòng trung thành · uy tín</a:t>
            </a:r>
            <a:endParaRPr lang="en-US" sz="1600" dirty="0"/>
          </a:p>
        </p:txBody>
      </p:sp>
      <p:sp>
        <p:nvSpPr>
          <p:cNvPr id="13" name="Shape 11"/>
          <p:cNvSpPr/>
          <p:nvPr/>
        </p:nvSpPr>
        <p:spPr>
          <a:xfrm>
            <a:off x="7406640" y="3931920"/>
            <a:ext cx="4206240" cy="1554480"/>
          </a:xfrm>
          <a:prstGeom prst="roundRect">
            <a:avLst>
              <a:gd name="adj" fmla="val 4706"/>
            </a:avLst>
          </a:prstGeom>
          <a:solidFill>
            <a:srgbClr val="FF5178"/>
          </a:solidFill>
          <a:ln w="12700">
            <a:solidFill>
              <a:srgbClr val="FF5178"/>
            </a:solidFill>
            <a:prstDash val="solid"/>
          </a:ln>
        </p:spPr>
      </p:sp>
      <p:sp>
        <p:nvSpPr>
          <p:cNvPr id="14" name="Text 12"/>
          <p:cNvSpPr txBox="1"/>
          <p:nvPr/>
        </p:nvSpPr>
        <p:spPr>
          <a:xfrm>
            <a:off x="7589520" y="3931920"/>
            <a:ext cx="3840480" cy="15544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Phù hợp chiến lược · phù hợp văn hóa · định hướng hợp tác · mở thị trường mới</a:t>
            </a:r>
            <a:endParaRPr lang="en-US" sz="1600" dirty="0"/>
          </a:p>
        </p:txBody>
      </p:sp>
      <p:sp>
        <p:nvSpPr>
          <p:cNvPr id="15" name="Text 13"/>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Phỏng theo Marcos et al. (2018, Hình 2.3, tr. 45); cách xếp vào ô là gợi ý của môn.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Vị thế cạnh tranh: nhìn từ phía khách hàng, ta mạnh hơn đối thủ ở đâu?</a:t>
            </a:r>
            <a:endParaRPr lang="en-US" sz="2800" dirty="0"/>
          </a:p>
        </p:txBody>
      </p:sp>
      <p:sp>
        <p:nvSpPr>
          <p:cNvPr id="3" name="Shape 1"/>
          <p:cNvSpPr/>
          <p:nvPr/>
        </p:nvSpPr>
        <p:spPr>
          <a:xfrm>
            <a:off x="548640" y="1783080"/>
            <a:ext cx="2633472" cy="1645920"/>
          </a:xfrm>
          <a:prstGeom prst="roundRect">
            <a:avLst>
              <a:gd name="adj" fmla="val 4444"/>
            </a:avLst>
          </a:prstGeom>
          <a:solidFill>
            <a:srgbClr val="22395F"/>
          </a:solidFill>
          <a:ln w="12700">
            <a:solidFill>
              <a:srgbClr val="22395F"/>
            </a:solidFill>
            <a:prstDash val="solid"/>
          </a:ln>
        </p:spPr>
      </p:sp>
      <p:sp>
        <p:nvSpPr>
          <p:cNvPr id="4" name="Shape 2"/>
          <p:cNvSpPr/>
          <p:nvPr/>
        </p:nvSpPr>
        <p:spPr>
          <a:xfrm>
            <a:off x="1499616" y="1920240"/>
            <a:ext cx="731520" cy="73152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60550" y="2081174"/>
            <a:ext cx="409651" cy="409651"/>
          </a:xfrm>
          <a:prstGeom prst="rect">
            <a:avLst/>
          </a:prstGeom>
        </p:spPr>
      </p:pic>
      <p:sp>
        <p:nvSpPr>
          <p:cNvPr id="6" name="Text 3"/>
          <p:cNvSpPr txBox="1"/>
          <p:nvPr/>
        </p:nvSpPr>
        <p:spPr>
          <a:xfrm>
            <a:off x="640080" y="26974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Chi phí phục vụ</a:t>
            </a:r>
            <a:endParaRPr lang="en-US" sz="1600" dirty="0"/>
          </a:p>
        </p:txBody>
      </p:sp>
      <p:sp>
        <p:nvSpPr>
          <p:cNvPr id="7" name="Shape 4"/>
          <p:cNvSpPr/>
          <p:nvPr/>
        </p:nvSpPr>
        <p:spPr>
          <a:xfrm>
            <a:off x="3383280" y="1783080"/>
            <a:ext cx="2633472" cy="1645920"/>
          </a:xfrm>
          <a:prstGeom prst="roundRect">
            <a:avLst>
              <a:gd name="adj" fmla="val 4444"/>
            </a:avLst>
          </a:prstGeom>
          <a:solidFill>
            <a:srgbClr val="22395F"/>
          </a:solidFill>
          <a:ln w="12700">
            <a:solidFill>
              <a:srgbClr val="22395F"/>
            </a:solidFill>
            <a:prstDash val="solid"/>
          </a:ln>
        </p:spPr>
      </p:sp>
      <p:sp>
        <p:nvSpPr>
          <p:cNvPr id="8" name="Shape 5"/>
          <p:cNvSpPr/>
          <p:nvPr/>
        </p:nvSpPr>
        <p:spPr>
          <a:xfrm>
            <a:off x="4334256" y="1920240"/>
            <a:ext cx="731520" cy="73152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4495190" y="2081174"/>
            <a:ext cx="409651" cy="409651"/>
          </a:xfrm>
          <a:prstGeom prst="rect">
            <a:avLst/>
          </a:prstGeom>
        </p:spPr>
      </p:pic>
      <p:sp>
        <p:nvSpPr>
          <p:cNvPr id="10" name="Text 6"/>
          <p:cNvSpPr txBox="1"/>
          <p:nvPr/>
        </p:nvSpPr>
        <p:spPr>
          <a:xfrm>
            <a:off x="3474720" y="26974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Hiểu biết về khách hàng</a:t>
            </a:r>
            <a:endParaRPr lang="en-US" sz="1600" dirty="0"/>
          </a:p>
        </p:txBody>
      </p:sp>
      <p:sp>
        <p:nvSpPr>
          <p:cNvPr id="11" name="Shape 7"/>
          <p:cNvSpPr/>
          <p:nvPr/>
        </p:nvSpPr>
        <p:spPr>
          <a:xfrm>
            <a:off x="6217920" y="1783080"/>
            <a:ext cx="2633472" cy="1645920"/>
          </a:xfrm>
          <a:prstGeom prst="roundRect">
            <a:avLst>
              <a:gd name="adj" fmla="val 4444"/>
            </a:avLst>
          </a:prstGeom>
          <a:solidFill>
            <a:srgbClr val="22395F"/>
          </a:solidFill>
          <a:ln w="12700">
            <a:solidFill>
              <a:srgbClr val="22395F"/>
            </a:solidFill>
            <a:prstDash val="solid"/>
          </a:ln>
        </p:spPr>
      </p:sp>
      <p:sp>
        <p:nvSpPr>
          <p:cNvPr id="12" name="Shape 8"/>
          <p:cNvSpPr/>
          <p:nvPr/>
        </p:nvSpPr>
        <p:spPr>
          <a:xfrm>
            <a:off x="7168896" y="1920240"/>
            <a:ext cx="731520" cy="73152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7329830" y="2081174"/>
            <a:ext cx="409651" cy="409651"/>
          </a:xfrm>
          <a:prstGeom prst="rect">
            <a:avLst/>
          </a:prstGeom>
        </p:spPr>
      </p:pic>
      <p:sp>
        <p:nvSpPr>
          <p:cNvPr id="14" name="Text 9"/>
          <p:cNvSpPr txBox="1"/>
          <p:nvPr/>
        </p:nvSpPr>
        <p:spPr>
          <a:xfrm>
            <a:off x="6309360" y="26974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Uy tín doanh nghiệp</a:t>
            </a:r>
            <a:endParaRPr lang="en-US" sz="1600" dirty="0"/>
          </a:p>
        </p:txBody>
      </p:sp>
      <p:sp>
        <p:nvSpPr>
          <p:cNvPr id="15" name="Shape 10"/>
          <p:cNvSpPr/>
          <p:nvPr/>
        </p:nvSpPr>
        <p:spPr>
          <a:xfrm>
            <a:off x="9052560" y="1783080"/>
            <a:ext cx="2633472" cy="1645920"/>
          </a:xfrm>
          <a:prstGeom prst="roundRect">
            <a:avLst>
              <a:gd name="adj" fmla="val 4444"/>
            </a:avLst>
          </a:prstGeom>
          <a:solidFill>
            <a:srgbClr val="22395F"/>
          </a:solidFill>
          <a:ln w="12700">
            <a:solidFill>
              <a:srgbClr val="22395F"/>
            </a:solidFill>
            <a:prstDash val="solid"/>
          </a:ln>
        </p:spPr>
      </p:sp>
      <p:sp>
        <p:nvSpPr>
          <p:cNvPr id="16" name="Shape 11"/>
          <p:cNvSpPr/>
          <p:nvPr/>
        </p:nvSpPr>
        <p:spPr>
          <a:xfrm>
            <a:off x="10003536" y="1920240"/>
            <a:ext cx="731520" cy="73152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10164470" y="2081174"/>
            <a:ext cx="409651" cy="409651"/>
          </a:xfrm>
          <a:prstGeom prst="rect">
            <a:avLst/>
          </a:prstGeom>
        </p:spPr>
      </p:pic>
      <p:sp>
        <p:nvSpPr>
          <p:cNvPr id="18" name="Text 12"/>
          <p:cNvSpPr txBox="1"/>
          <p:nvPr/>
        </p:nvSpPr>
        <p:spPr>
          <a:xfrm>
            <a:off x="9144000" y="26974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Gần người ra quyết định</a:t>
            </a:r>
            <a:endParaRPr lang="en-US" sz="1600" dirty="0"/>
          </a:p>
        </p:txBody>
      </p:sp>
      <p:sp>
        <p:nvSpPr>
          <p:cNvPr id="19" name="Shape 13"/>
          <p:cNvSpPr/>
          <p:nvPr/>
        </p:nvSpPr>
        <p:spPr>
          <a:xfrm>
            <a:off x="548640" y="3611880"/>
            <a:ext cx="2633472" cy="1645920"/>
          </a:xfrm>
          <a:prstGeom prst="roundRect">
            <a:avLst>
              <a:gd name="adj" fmla="val 4444"/>
            </a:avLst>
          </a:prstGeom>
          <a:solidFill>
            <a:srgbClr val="22395F"/>
          </a:solidFill>
          <a:ln w="12700">
            <a:solidFill>
              <a:srgbClr val="22395F"/>
            </a:solidFill>
            <a:prstDash val="solid"/>
          </a:ln>
        </p:spPr>
      </p:sp>
      <p:sp>
        <p:nvSpPr>
          <p:cNvPr id="20" name="Shape 14"/>
          <p:cNvSpPr/>
          <p:nvPr/>
        </p:nvSpPr>
        <p:spPr>
          <a:xfrm>
            <a:off x="1499616" y="3749040"/>
            <a:ext cx="731520" cy="731520"/>
          </a:xfrm>
          <a:prstGeom prst="ellipse">
            <a:avLst/>
          </a:prstGeom>
          <a:solidFill>
            <a:srgbClr val="09A1E5"/>
          </a:solidFill>
          <a:ln w="12700">
            <a:solidFill>
              <a:srgbClr val="09A1E5"/>
            </a:solidFill>
            <a:prstDash val="solid"/>
          </a:ln>
        </p:spPr>
      </p:sp>
      <p:pic>
        <p:nvPicPr>
          <p:cNvPr id="21" name="Image 4" descr="preencoded.png">    </p:cNvPr>
          <p:cNvPicPr>
            <a:picLocks noChangeAspect="1"/>
          </p:cNvPicPr>
          <p:nvPr/>
        </p:nvPicPr>
        <p:blipFill>
          <a:blip r:embed="rId5"/>
          <a:stretch>
            <a:fillRect/>
          </a:stretch>
        </p:blipFill>
        <p:spPr>
          <a:xfrm>
            <a:off x="1660550" y="3909974"/>
            <a:ext cx="409651" cy="409651"/>
          </a:xfrm>
          <a:prstGeom prst="rect">
            <a:avLst/>
          </a:prstGeom>
        </p:spPr>
      </p:pic>
      <p:sp>
        <p:nvSpPr>
          <p:cNvPr id="22" name="Text 15"/>
          <p:cNvSpPr txBox="1"/>
          <p:nvPr/>
        </p:nvSpPr>
        <p:spPr>
          <a:xfrm>
            <a:off x="640080" y="45262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Đáp ứng yêu cầu dịch vụ</a:t>
            </a:r>
            <a:endParaRPr lang="en-US" sz="1600" dirty="0"/>
          </a:p>
        </p:txBody>
      </p:sp>
      <p:sp>
        <p:nvSpPr>
          <p:cNvPr id="23" name="Shape 16"/>
          <p:cNvSpPr/>
          <p:nvPr/>
        </p:nvSpPr>
        <p:spPr>
          <a:xfrm>
            <a:off x="3383280" y="3611880"/>
            <a:ext cx="2633472" cy="1645920"/>
          </a:xfrm>
          <a:prstGeom prst="roundRect">
            <a:avLst>
              <a:gd name="adj" fmla="val 4444"/>
            </a:avLst>
          </a:prstGeom>
          <a:solidFill>
            <a:srgbClr val="22395F"/>
          </a:solidFill>
          <a:ln w="12700">
            <a:solidFill>
              <a:srgbClr val="22395F"/>
            </a:solidFill>
            <a:prstDash val="solid"/>
          </a:ln>
        </p:spPr>
      </p:sp>
      <p:sp>
        <p:nvSpPr>
          <p:cNvPr id="24" name="Shape 17"/>
          <p:cNvSpPr/>
          <p:nvPr/>
        </p:nvSpPr>
        <p:spPr>
          <a:xfrm>
            <a:off x="4334256" y="3749040"/>
            <a:ext cx="731520" cy="731520"/>
          </a:xfrm>
          <a:prstGeom prst="ellipse">
            <a:avLst/>
          </a:prstGeom>
          <a:solidFill>
            <a:srgbClr val="49B296"/>
          </a:solidFill>
          <a:ln w="12700">
            <a:solidFill>
              <a:srgbClr val="49B296"/>
            </a:solidFill>
            <a:prstDash val="solid"/>
          </a:ln>
        </p:spPr>
      </p:sp>
      <p:pic>
        <p:nvPicPr>
          <p:cNvPr id="25" name="Image 5" descr="preencoded.png">    </p:cNvPr>
          <p:cNvPicPr>
            <a:picLocks noChangeAspect="1"/>
          </p:cNvPicPr>
          <p:nvPr/>
        </p:nvPicPr>
        <p:blipFill>
          <a:blip r:embed="rId6"/>
          <a:stretch>
            <a:fillRect/>
          </a:stretch>
        </p:blipFill>
        <p:spPr>
          <a:xfrm>
            <a:off x="4495190" y="3909974"/>
            <a:ext cx="409651" cy="409651"/>
          </a:xfrm>
          <a:prstGeom prst="rect">
            <a:avLst/>
          </a:prstGeom>
        </p:spPr>
      </p:pic>
      <p:sp>
        <p:nvSpPr>
          <p:cNvPr id="26" name="Text 18"/>
          <p:cNvSpPr txBox="1"/>
          <p:nvPr/>
        </p:nvSpPr>
        <p:spPr>
          <a:xfrm>
            <a:off x="3474720" y="45262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Hậu cần, giao hàng</a:t>
            </a:r>
            <a:endParaRPr lang="en-US" sz="1600" dirty="0"/>
          </a:p>
        </p:txBody>
      </p:sp>
      <p:sp>
        <p:nvSpPr>
          <p:cNvPr id="27" name="Shape 19"/>
          <p:cNvSpPr/>
          <p:nvPr/>
        </p:nvSpPr>
        <p:spPr>
          <a:xfrm>
            <a:off x="6217920" y="3611880"/>
            <a:ext cx="2633472" cy="1645920"/>
          </a:xfrm>
          <a:prstGeom prst="roundRect">
            <a:avLst>
              <a:gd name="adj" fmla="val 4444"/>
            </a:avLst>
          </a:prstGeom>
          <a:solidFill>
            <a:srgbClr val="22395F"/>
          </a:solidFill>
          <a:ln w="12700">
            <a:solidFill>
              <a:srgbClr val="22395F"/>
            </a:solidFill>
            <a:prstDash val="solid"/>
          </a:ln>
        </p:spPr>
      </p:sp>
      <p:sp>
        <p:nvSpPr>
          <p:cNvPr id="28" name="Shape 20"/>
          <p:cNvSpPr/>
          <p:nvPr/>
        </p:nvSpPr>
        <p:spPr>
          <a:xfrm>
            <a:off x="7168896" y="3749040"/>
            <a:ext cx="731520" cy="731520"/>
          </a:xfrm>
          <a:prstGeom prst="ellipse">
            <a:avLst/>
          </a:prstGeom>
          <a:solidFill>
            <a:srgbClr val="FFD23B"/>
          </a:solidFill>
          <a:ln w="12700">
            <a:solidFill>
              <a:srgbClr val="FFD23B"/>
            </a:solidFill>
            <a:prstDash val="solid"/>
          </a:ln>
        </p:spPr>
      </p:sp>
      <p:pic>
        <p:nvPicPr>
          <p:cNvPr id="29" name="Image 6" descr="preencoded.png">    </p:cNvPr>
          <p:cNvPicPr>
            <a:picLocks noChangeAspect="1"/>
          </p:cNvPicPr>
          <p:nvPr/>
        </p:nvPicPr>
        <p:blipFill>
          <a:blip r:embed="rId7"/>
          <a:stretch>
            <a:fillRect/>
          </a:stretch>
        </p:blipFill>
        <p:spPr>
          <a:xfrm>
            <a:off x="7329830" y="3909974"/>
            <a:ext cx="409651" cy="409651"/>
          </a:xfrm>
          <a:prstGeom prst="rect">
            <a:avLst/>
          </a:prstGeom>
        </p:spPr>
      </p:pic>
      <p:sp>
        <p:nvSpPr>
          <p:cNvPr id="30" name="Text 21"/>
          <p:cNvSpPr txBox="1"/>
          <p:nvPr/>
        </p:nvSpPr>
        <p:spPr>
          <a:xfrm>
            <a:off x="6309360" y="45262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Chuyên môn kỹ thuật</a:t>
            </a:r>
            <a:endParaRPr lang="en-US" sz="1600" dirty="0"/>
          </a:p>
        </p:txBody>
      </p:sp>
      <p:sp>
        <p:nvSpPr>
          <p:cNvPr id="31" name="Shape 22"/>
          <p:cNvSpPr/>
          <p:nvPr/>
        </p:nvSpPr>
        <p:spPr>
          <a:xfrm>
            <a:off x="9052560" y="3611880"/>
            <a:ext cx="2633472" cy="1645920"/>
          </a:xfrm>
          <a:prstGeom prst="roundRect">
            <a:avLst>
              <a:gd name="adj" fmla="val 4444"/>
            </a:avLst>
          </a:prstGeom>
          <a:solidFill>
            <a:srgbClr val="22395F"/>
          </a:solidFill>
          <a:ln w="12700">
            <a:solidFill>
              <a:srgbClr val="22395F"/>
            </a:solidFill>
            <a:prstDash val="solid"/>
          </a:ln>
        </p:spPr>
      </p:sp>
      <p:sp>
        <p:nvSpPr>
          <p:cNvPr id="32" name="Shape 23"/>
          <p:cNvSpPr/>
          <p:nvPr/>
        </p:nvSpPr>
        <p:spPr>
          <a:xfrm>
            <a:off x="10003536" y="3749040"/>
            <a:ext cx="731520" cy="731520"/>
          </a:xfrm>
          <a:prstGeom prst="ellipse">
            <a:avLst/>
          </a:prstGeom>
          <a:solidFill>
            <a:srgbClr val="FF9259"/>
          </a:solidFill>
          <a:ln w="12700">
            <a:solidFill>
              <a:srgbClr val="FF9259"/>
            </a:solidFill>
            <a:prstDash val="solid"/>
          </a:ln>
        </p:spPr>
      </p:sp>
      <p:pic>
        <p:nvPicPr>
          <p:cNvPr id="33" name="Image 7" descr="preencoded.png">    </p:cNvPr>
          <p:cNvPicPr>
            <a:picLocks noChangeAspect="1"/>
          </p:cNvPicPr>
          <p:nvPr/>
        </p:nvPicPr>
        <p:blipFill>
          <a:blip r:embed="rId8"/>
          <a:stretch>
            <a:fillRect/>
          </a:stretch>
        </p:blipFill>
        <p:spPr>
          <a:xfrm>
            <a:off x="10164470" y="3909974"/>
            <a:ext cx="409651" cy="409651"/>
          </a:xfrm>
          <a:prstGeom prst="rect">
            <a:avLst/>
          </a:prstGeom>
        </p:spPr>
      </p:pic>
      <p:sp>
        <p:nvSpPr>
          <p:cNvPr id="34" name="Text 24"/>
          <p:cNvSpPr txBox="1"/>
          <p:nvPr/>
        </p:nvSpPr>
        <p:spPr>
          <a:xfrm>
            <a:off x="9144000" y="45262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Văn hóa đổi mới</a:t>
            </a:r>
            <a:endParaRPr lang="en-US" sz="1600" dirty="0"/>
          </a:p>
        </p:txBody>
      </p:sp>
      <p:sp>
        <p:nvSpPr>
          <p:cNvPr id="35" name="Text 25"/>
          <p:cNvSpPr txBox="1"/>
          <p:nvPr/>
        </p:nvSpPr>
        <p:spPr>
          <a:xfrm>
            <a:off x="548640" y="548640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Chọn 4–7 yếu tố; dùng dữ liệu khách quan và góc nhìn bên ngoài để tránh tự đánh giá cao mình.</a:t>
            </a:r>
            <a:endParaRPr lang="en-US" sz="1600" dirty="0"/>
          </a:p>
        </p:txBody>
      </p:sp>
      <p:sp>
        <p:nvSpPr>
          <p:cNvPr id="36" name="Text 26"/>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47–48, 53).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Chấm có trọng số: mỗi yếu tố một điểm, mỗi điểm một bằng chứng</a:t>
            </a:r>
            <a:endParaRPr lang="en-US" sz="2800" dirty="0"/>
          </a:p>
        </p:txBody>
      </p:sp>
      <p:sp>
        <p:nvSpPr>
          <p:cNvPr id="3" name="Text 1"/>
          <p:cNvSpPr txBox="1"/>
          <p:nvPr/>
        </p:nvSpPr>
        <p:spPr>
          <a:xfrm>
            <a:off x="548640" y="1645920"/>
            <a:ext cx="11091672" cy="457200"/>
          </a:xfrm>
          <a:prstGeom prst="rect">
            <a:avLst/>
          </a:prstGeom>
          <a:noFill/>
          <a:ln/>
        </p:spPr>
        <p:txBody>
          <a:bodyPr wrap="square" lIns="635" tIns="635" rIns="635" bIns="635" rtlCol="0" anchor="ctr"/>
          <a:lstStyle/>
          <a:p>
            <a:pPr indent="0" marL="0">
              <a:buNone/>
            </a:pPr>
            <a:r>
              <a:rPr lang="en-US" sz="1600" i="1" dirty="0">
                <a:solidFill>
                  <a:srgbClr val="A9B6D3"/>
                </a:solidFill>
                <a:latin typeface="Roboto" pitchFamily="34" charset="0"/>
                <a:ea typeface="Roboto" pitchFamily="34" charset="-122"/>
                <a:cs typeface="Roboto" pitchFamily="34" charset="-120"/>
              </a:rPr>
              <a:t>Ví dụ: vị thế cạnh tranh của Nova với An Phát (giả định)</a:t>
            </a:r>
            <a:endParaRPr lang="en-US" sz="1600" dirty="0"/>
          </a:p>
        </p:txBody>
      </p:sp>
      <p:sp>
        <p:nvSpPr>
          <p:cNvPr id="4" name="Text 2"/>
          <p:cNvSpPr txBox="1"/>
          <p:nvPr/>
        </p:nvSpPr>
        <p:spPr>
          <a:xfrm>
            <a:off x="594360" y="2148840"/>
            <a:ext cx="33832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Yếu tố</a:t>
            </a:r>
            <a:endParaRPr lang="en-US" sz="1500" dirty="0"/>
          </a:p>
        </p:txBody>
      </p:sp>
      <p:sp>
        <p:nvSpPr>
          <p:cNvPr id="5" name="Text 3"/>
          <p:cNvSpPr txBox="1"/>
          <p:nvPr/>
        </p:nvSpPr>
        <p:spPr>
          <a:xfrm>
            <a:off x="4023360" y="2148840"/>
            <a:ext cx="10972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Trọng số</a:t>
            </a:r>
            <a:endParaRPr lang="en-US" sz="1500" dirty="0"/>
          </a:p>
        </p:txBody>
      </p:sp>
      <p:sp>
        <p:nvSpPr>
          <p:cNvPr id="6" name="Text 4"/>
          <p:cNvSpPr txBox="1"/>
          <p:nvPr/>
        </p:nvSpPr>
        <p:spPr>
          <a:xfrm>
            <a:off x="5212080" y="2148840"/>
            <a:ext cx="10972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Điểm 1–5</a:t>
            </a:r>
            <a:endParaRPr lang="en-US" sz="1500" dirty="0"/>
          </a:p>
        </p:txBody>
      </p:sp>
      <p:sp>
        <p:nvSpPr>
          <p:cNvPr id="7" name="Text 5"/>
          <p:cNvSpPr txBox="1"/>
          <p:nvPr/>
        </p:nvSpPr>
        <p:spPr>
          <a:xfrm>
            <a:off x="6400800" y="2148840"/>
            <a:ext cx="52120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Bằng chứng</a:t>
            </a:r>
            <a:endParaRPr lang="en-US" sz="1500" dirty="0"/>
          </a:p>
        </p:txBody>
      </p:sp>
      <p:sp>
        <p:nvSpPr>
          <p:cNvPr id="8" name="Shape 6"/>
          <p:cNvSpPr/>
          <p:nvPr/>
        </p:nvSpPr>
        <p:spPr>
          <a:xfrm>
            <a:off x="411480" y="2606040"/>
            <a:ext cx="11365992" cy="566928"/>
          </a:xfrm>
          <a:prstGeom prst="roundRect">
            <a:avLst>
              <a:gd name="adj" fmla="val 12903"/>
            </a:avLst>
          </a:prstGeom>
          <a:solidFill>
            <a:srgbClr val="22395F"/>
          </a:solidFill>
          <a:ln w="12700">
            <a:solidFill>
              <a:srgbClr val="22395F"/>
            </a:solidFill>
            <a:prstDash val="solid"/>
          </a:ln>
        </p:spPr>
      </p:sp>
      <p:sp>
        <p:nvSpPr>
          <p:cNvPr id="9" name="Text 7"/>
          <p:cNvSpPr txBox="1"/>
          <p:nvPr/>
        </p:nvSpPr>
        <p:spPr>
          <a:xfrm>
            <a:off x="594360" y="2606040"/>
            <a:ext cx="3383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Hiểu biết về An Phát</a:t>
            </a:r>
            <a:endParaRPr lang="en-US" sz="1500" dirty="0"/>
          </a:p>
        </p:txBody>
      </p:sp>
      <p:sp>
        <p:nvSpPr>
          <p:cNvPr id="10" name="Text 8"/>
          <p:cNvSpPr txBox="1"/>
          <p:nvPr/>
        </p:nvSpPr>
        <p:spPr>
          <a:xfrm>
            <a:off x="4023360" y="2606040"/>
            <a:ext cx="1097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30%</a:t>
            </a:r>
            <a:endParaRPr lang="en-US" sz="1500" dirty="0"/>
          </a:p>
        </p:txBody>
      </p:sp>
      <p:sp>
        <p:nvSpPr>
          <p:cNvPr id="11" name="Text 9"/>
          <p:cNvSpPr txBox="1"/>
          <p:nvPr/>
        </p:nvSpPr>
        <p:spPr>
          <a:xfrm>
            <a:off x="5212080" y="2606040"/>
            <a:ext cx="1097280" cy="566928"/>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4</a:t>
            </a:r>
            <a:endParaRPr lang="en-US" sz="1500" dirty="0"/>
          </a:p>
        </p:txBody>
      </p:sp>
      <p:sp>
        <p:nvSpPr>
          <p:cNvPr id="12" name="Text 10"/>
          <p:cNvSpPr txBox="1"/>
          <p:nvPr/>
        </p:nvSpPr>
        <p:spPr>
          <a:xfrm>
            <a:off x="6400800" y="2606040"/>
            <a:ext cx="52120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4 năm làm gala, biết khách VIP của ngân hàng</a:t>
            </a:r>
            <a:endParaRPr lang="en-US" sz="1500" dirty="0"/>
          </a:p>
        </p:txBody>
      </p:sp>
      <p:sp>
        <p:nvSpPr>
          <p:cNvPr id="13" name="Shape 11"/>
          <p:cNvSpPr/>
          <p:nvPr/>
        </p:nvSpPr>
        <p:spPr>
          <a:xfrm>
            <a:off x="411480" y="3264408"/>
            <a:ext cx="11365992" cy="566928"/>
          </a:xfrm>
          <a:prstGeom prst="roundRect">
            <a:avLst>
              <a:gd name="adj" fmla="val 12903"/>
            </a:avLst>
          </a:prstGeom>
          <a:solidFill>
            <a:srgbClr val="22395F"/>
          </a:solidFill>
          <a:ln w="12700">
            <a:solidFill>
              <a:srgbClr val="22395F"/>
            </a:solidFill>
            <a:prstDash val="solid"/>
          </a:ln>
        </p:spPr>
      </p:sp>
      <p:sp>
        <p:nvSpPr>
          <p:cNvPr id="14" name="Text 12"/>
          <p:cNvSpPr txBox="1"/>
          <p:nvPr/>
        </p:nvSpPr>
        <p:spPr>
          <a:xfrm>
            <a:off x="594360" y="3264408"/>
            <a:ext cx="3383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Gần người ra quyết định</a:t>
            </a:r>
            <a:endParaRPr lang="en-US" sz="1500" dirty="0"/>
          </a:p>
        </p:txBody>
      </p:sp>
      <p:sp>
        <p:nvSpPr>
          <p:cNvPr id="15" name="Text 13"/>
          <p:cNvSpPr txBox="1"/>
          <p:nvPr/>
        </p:nvSpPr>
        <p:spPr>
          <a:xfrm>
            <a:off x="4023360" y="3264408"/>
            <a:ext cx="1097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30%</a:t>
            </a:r>
            <a:endParaRPr lang="en-US" sz="1500" dirty="0"/>
          </a:p>
        </p:txBody>
      </p:sp>
      <p:sp>
        <p:nvSpPr>
          <p:cNvPr id="16" name="Text 14"/>
          <p:cNvSpPr txBox="1"/>
          <p:nvPr/>
        </p:nvSpPr>
        <p:spPr>
          <a:xfrm>
            <a:off x="5212080" y="3264408"/>
            <a:ext cx="1097280" cy="566928"/>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2</a:t>
            </a:r>
            <a:endParaRPr lang="en-US" sz="1500" dirty="0"/>
          </a:p>
        </p:txBody>
      </p:sp>
      <p:sp>
        <p:nvSpPr>
          <p:cNvPr id="17" name="Text 15"/>
          <p:cNvSpPr txBox="1"/>
          <p:nvPr/>
        </p:nvSpPr>
        <p:spPr>
          <a:xfrm>
            <a:off x="6400800" y="3264408"/>
            <a:ext cx="52120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chỉ quen chị Hạnh và 1 người</a:t>
            </a:r>
            <a:endParaRPr lang="en-US" sz="1500" dirty="0"/>
          </a:p>
        </p:txBody>
      </p:sp>
      <p:sp>
        <p:nvSpPr>
          <p:cNvPr id="18" name="Shape 16"/>
          <p:cNvSpPr/>
          <p:nvPr/>
        </p:nvSpPr>
        <p:spPr>
          <a:xfrm>
            <a:off x="411480" y="3922776"/>
            <a:ext cx="11365992" cy="566928"/>
          </a:xfrm>
          <a:prstGeom prst="roundRect">
            <a:avLst>
              <a:gd name="adj" fmla="val 12903"/>
            </a:avLst>
          </a:prstGeom>
          <a:solidFill>
            <a:srgbClr val="22395F"/>
          </a:solidFill>
          <a:ln w="12700">
            <a:solidFill>
              <a:srgbClr val="22395F"/>
            </a:solidFill>
            <a:prstDash val="solid"/>
          </a:ln>
        </p:spPr>
      </p:sp>
      <p:sp>
        <p:nvSpPr>
          <p:cNvPr id="19" name="Text 17"/>
          <p:cNvSpPr txBox="1"/>
          <p:nvPr/>
        </p:nvSpPr>
        <p:spPr>
          <a:xfrm>
            <a:off x="594360" y="3922776"/>
            <a:ext cx="3383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Kết quả sự kiện đã làm</a:t>
            </a:r>
            <a:endParaRPr lang="en-US" sz="1500" dirty="0"/>
          </a:p>
        </p:txBody>
      </p:sp>
      <p:sp>
        <p:nvSpPr>
          <p:cNvPr id="20" name="Text 18"/>
          <p:cNvSpPr txBox="1"/>
          <p:nvPr/>
        </p:nvSpPr>
        <p:spPr>
          <a:xfrm>
            <a:off x="4023360" y="3922776"/>
            <a:ext cx="1097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20%</a:t>
            </a:r>
            <a:endParaRPr lang="en-US" sz="1500" dirty="0"/>
          </a:p>
        </p:txBody>
      </p:sp>
      <p:sp>
        <p:nvSpPr>
          <p:cNvPr id="21" name="Text 19"/>
          <p:cNvSpPr txBox="1"/>
          <p:nvPr/>
        </p:nvSpPr>
        <p:spPr>
          <a:xfrm>
            <a:off x="5212080" y="3922776"/>
            <a:ext cx="1097280" cy="566928"/>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4</a:t>
            </a:r>
            <a:endParaRPr lang="en-US" sz="1500" dirty="0"/>
          </a:p>
        </p:txBody>
      </p:sp>
      <p:sp>
        <p:nvSpPr>
          <p:cNvPr id="22" name="Text 20"/>
          <p:cNvSpPr txBox="1"/>
          <p:nvPr/>
        </p:nvSpPr>
        <p:spPr>
          <a:xfrm>
            <a:off x="6400800" y="3922776"/>
            <a:ext cx="52120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gala 3 năm liền không sự cố lớn</a:t>
            </a:r>
            <a:endParaRPr lang="en-US" sz="1500" dirty="0"/>
          </a:p>
        </p:txBody>
      </p:sp>
      <p:sp>
        <p:nvSpPr>
          <p:cNvPr id="23" name="Shape 21"/>
          <p:cNvSpPr/>
          <p:nvPr/>
        </p:nvSpPr>
        <p:spPr>
          <a:xfrm>
            <a:off x="411480" y="4581144"/>
            <a:ext cx="11365992" cy="566928"/>
          </a:xfrm>
          <a:prstGeom prst="roundRect">
            <a:avLst>
              <a:gd name="adj" fmla="val 12903"/>
            </a:avLst>
          </a:prstGeom>
          <a:solidFill>
            <a:srgbClr val="22395F"/>
          </a:solidFill>
          <a:ln w="12700">
            <a:solidFill>
              <a:srgbClr val="22395F"/>
            </a:solidFill>
            <a:prstDash val="solid"/>
          </a:ln>
        </p:spPr>
      </p:sp>
      <p:sp>
        <p:nvSpPr>
          <p:cNvPr id="24" name="Text 22"/>
          <p:cNvSpPr txBox="1"/>
          <p:nvPr/>
        </p:nvSpPr>
        <p:spPr>
          <a:xfrm>
            <a:off x="594360" y="4581144"/>
            <a:ext cx="3383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Năng lực chương trình cả năm</a:t>
            </a:r>
            <a:endParaRPr lang="en-US" sz="1500" dirty="0"/>
          </a:p>
        </p:txBody>
      </p:sp>
      <p:sp>
        <p:nvSpPr>
          <p:cNvPr id="25" name="Text 23"/>
          <p:cNvSpPr txBox="1"/>
          <p:nvPr/>
        </p:nvSpPr>
        <p:spPr>
          <a:xfrm>
            <a:off x="4023360" y="4581144"/>
            <a:ext cx="1097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20%</a:t>
            </a:r>
            <a:endParaRPr lang="en-US" sz="1500" dirty="0"/>
          </a:p>
        </p:txBody>
      </p:sp>
      <p:sp>
        <p:nvSpPr>
          <p:cNvPr id="26" name="Text 24"/>
          <p:cNvSpPr txBox="1"/>
          <p:nvPr/>
        </p:nvSpPr>
        <p:spPr>
          <a:xfrm>
            <a:off x="5212080" y="4581144"/>
            <a:ext cx="1097280" cy="566928"/>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3</a:t>
            </a:r>
            <a:endParaRPr lang="en-US" sz="1500" dirty="0"/>
          </a:p>
        </p:txBody>
      </p:sp>
      <p:sp>
        <p:nvSpPr>
          <p:cNvPr id="27" name="Text 25"/>
          <p:cNvSpPr txBox="1"/>
          <p:nvPr/>
        </p:nvSpPr>
        <p:spPr>
          <a:xfrm>
            <a:off x="6400800" y="4581144"/>
            <a:ext cx="52120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mới làm sự kiện đơn lẻ</a:t>
            </a:r>
            <a:endParaRPr lang="en-US" sz="1500" dirty="0"/>
          </a:p>
        </p:txBody>
      </p:sp>
      <p:sp>
        <p:nvSpPr>
          <p:cNvPr id="28" name="Shape 26"/>
          <p:cNvSpPr/>
          <p:nvPr/>
        </p:nvSpPr>
        <p:spPr>
          <a:xfrm>
            <a:off x="548640" y="5349240"/>
            <a:ext cx="11091672" cy="685800"/>
          </a:xfrm>
          <a:prstGeom prst="roundRect">
            <a:avLst>
              <a:gd name="adj" fmla="val 10667"/>
            </a:avLst>
          </a:prstGeom>
          <a:solidFill>
            <a:srgbClr val="FFD23B"/>
          </a:solidFill>
          <a:ln w="12700">
            <a:solidFill>
              <a:srgbClr val="FFD23B"/>
            </a:solidFill>
            <a:prstDash val="solid"/>
          </a:ln>
        </p:spPr>
      </p:sp>
      <p:sp>
        <p:nvSpPr>
          <p:cNvPr id="29" name="Text 27"/>
          <p:cNvSpPr txBox="1"/>
          <p:nvPr/>
        </p:nvSpPr>
        <p:spPr>
          <a:xfrm>
            <a:off x="777240" y="5349240"/>
            <a:ext cx="10698480" cy="68580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Điểm = 4×30% + 2×30% + 4×20% + 3×20% = 3,2/5 → vị thế khá; điểm yếu: chỉ quen một hai người</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Câu thứ ba hỏi từ phía khách hàng: họ có chọn ta không?</a:t>
            </a:r>
            <a:endParaRPr lang="en-US" sz="2800" dirty="0"/>
          </a:p>
        </p:txBody>
      </p:sp>
      <p:sp>
        <p:nvSpPr>
          <p:cNvPr id="3" name="Shape 1"/>
          <p:cNvSpPr/>
          <p:nvPr/>
        </p:nvSpPr>
        <p:spPr>
          <a:xfrm>
            <a:off x="548640" y="1783080"/>
            <a:ext cx="4023360" cy="4023360"/>
          </a:xfrm>
          <a:prstGeom prst="roundRect">
            <a:avLst>
              <a:gd name="adj" fmla="val 1818"/>
            </a:avLst>
          </a:prstGeom>
          <a:solidFill>
            <a:srgbClr val="FF5178"/>
          </a:solidFill>
          <a:ln w="12700">
            <a:solidFill>
              <a:srgbClr val="FF5178"/>
            </a:solidFill>
            <a:prstDash val="solid"/>
          </a:ln>
        </p:spPr>
      </p:sp>
      <p:sp>
        <p:nvSpPr>
          <p:cNvPr id="4" name="Text 2"/>
          <p:cNvSpPr txBox="1"/>
          <p:nvPr/>
        </p:nvSpPr>
        <p:spPr>
          <a:xfrm>
            <a:off x="777240" y="1920240"/>
            <a:ext cx="3566160" cy="2011680"/>
          </a:xfrm>
          <a:prstGeom prst="rect">
            <a:avLst/>
          </a:prstGeom>
          <a:noFill/>
          <a:ln/>
        </p:spPr>
        <p:txBody>
          <a:bodyPr wrap="square" lIns="635" tIns="635" rIns="635" bIns="635" rtlCol="0" anchor="ctr"/>
          <a:lstStyle/>
          <a:p>
            <a:pPr indent="0" marL="0">
              <a:buNone/>
            </a:pPr>
            <a:r>
              <a:rPr lang="en-US" sz="2600" b="1" i="1" dirty="0">
                <a:solidFill>
                  <a:srgbClr val="172849"/>
                </a:solidFill>
                <a:latin typeface="Roboto" pitchFamily="34" charset="0"/>
                <a:ea typeface="Roboto" pitchFamily="34" charset="-122"/>
                <a:cs typeface="Roboto" pitchFamily="34" charset="-120"/>
              </a:rPr>
              <a:t>Choose me and I will choose you</a:t>
            </a:r>
            <a:endParaRPr lang="en-US" sz="2600" dirty="0"/>
          </a:p>
        </p:txBody>
      </p:sp>
      <p:sp>
        <p:nvSpPr>
          <p:cNvPr id="5" name="Text 3"/>
          <p:cNvSpPr txBox="1"/>
          <p:nvPr/>
        </p:nvSpPr>
        <p:spPr>
          <a:xfrm>
            <a:off x="777240" y="3977640"/>
            <a:ext cx="3566160" cy="45720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(Guesalaga, n.d., Cranfield)</a:t>
            </a:r>
            <a:endParaRPr lang="en-US" sz="1400" dirty="0"/>
          </a:p>
        </p:txBody>
      </p:sp>
      <p:sp>
        <p:nvSpPr>
          <p:cNvPr id="6" name="Text 4"/>
          <p:cNvSpPr txBox="1"/>
          <p:nvPr/>
        </p:nvSpPr>
        <p:spPr>
          <a:xfrm>
            <a:off x="777240" y="4434840"/>
            <a:ext cx="3566160" cy="12801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Một khách hàng hấp dẫn, ta có vị thế tốt — nhưng họ không muốn đầu tư lại thì khó thành Key Account.</a:t>
            </a:r>
            <a:endParaRPr lang="en-US" sz="1400" dirty="0"/>
          </a:p>
        </p:txBody>
      </p:sp>
      <p:sp>
        <p:nvSpPr>
          <p:cNvPr id="7" name="Text 5"/>
          <p:cNvSpPr txBox="1"/>
          <p:nvPr/>
        </p:nvSpPr>
        <p:spPr>
          <a:xfrm>
            <a:off x="4846320" y="1737360"/>
            <a:ext cx="6766560"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Năm câu hỏi đo mức sẵn lòng cùng đầu tư</a:t>
            </a:r>
            <a:endParaRPr lang="en-US" sz="1700" dirty="0"/>
          </a:p>
        </p:txBody>
      </p:sp>
      <p:sp>
        <p:nvSpPr>
          <p:cNvPr id="8" name="Shape 6"/>
          <p:cNvSpPr/>
          <p:nvPr/>
        </p:nvSpPr>
        <p:spPr>
          <a:xfrm>
            <a:off x="4846320" y="2350008"/>
            <a:ext cx="502920" cy="502920"/>
          </a:xfrm>
          <a:prstGeom prst="ellipse">
            <a:avLst/>
          </a:prstGeom>
          <a:solidFill>
            <a:srgbClr val="49B296"/>
          </a:solidFill>
          <a:ln w="12700">
            <a:solidFill>
              <a:srgbClr val="49B296"/>
            </a:solidFill>
            <a:prstDash val="solid"/>
          </a:ln>
        </p:spPr>
      </p:sp>
      <p:sp>
        <p:nvSpPr>
          <p:cNvPr id="9" name="Text 7"/>
          <p:cNvSpPr txBox="1"/>
          <p:nvPr/>
        </p:nvSpPr>
        <p:spPr>
          <a:xfrm>
            <a:off x="4846320" y="2350008"/>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1</a:t>
            </a:r>
            <a:endParaRPr lang="en-US" sz="1500" dirty="0"/>
          </a:p>
        </p:txBody>
      </p:sp>
      <p:sp>
        <p:nvSpPr>
          <p:cNvPr id="10" name="Shape 8"/>
          <p:cNvSpPr/>
          <p:nvPr/>
        </p:nvSpPr>
        <p:spPr>
          <a:xfrm>
            <a:off x="5486400" y="2286000"/>
            <a:ext cx="6153912" cy="621792"/>
          </a:xfrm>
          <a:prstGeom prst="roundRect">
            <a:avLst>
              <a:gd name="adj" fmla="val 11765"/>
            </a:avLst>
          </a:prstGeom>
          <a:solidFill>
            <a:srgbClr val="22395F"/>
          </a:solidFill>
          <a:ln w="12700">
            <a:solidFill>
              <a:srgbClr val="22395F"/>
            </a:solidFill>
            <a:prstDash val="solid"/>
          </a:ln>
        </p:spPr>
      </p:sp>
      <p:sp>
        <p:nvSpPr>
          <p:cNvPr id="11" name="Text 9"/>
          <p:cNvSpPr txBox="1"/>
          <p:nvPr/>
        </p:nvSpPr>
        <p:spPr>
          <a:xfrm>
            <a:off x="5669280" y="2286000"/>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Khách hàng sẵn lòng cùng đầu tư vào quan hệ với ta đến mức nào?</a:t>
            </a:r>
            <a:endParaRPr lang="en-US" sz="1400" dirty="0"/>
          </a:p>
        </p:txBody>
      </p:sp>
      <p:sp>
        <p:nvSpPr>
          <p:cNvPr id="12" name="Shape 10"/>
          <p:cNvSpPr/>
          <p:nvPr/>
        </p:nvSpPr>
        <p:spPr>
          <a:xfrm>
            <a:off x="4846320" y="3063240"/>
            <a:ext cx="502920" cy="502920"/>
          </a:xfrm>
          <a:prstGeom prst="ellipse">
            <a:avLst/>
          </a:prstGeom>
          <a:solidFill>
            <a:srgbClr val="FFD23B"/>
          </a:solidFill>
          <a:ln w="12700">
            <a:solidFill>
              <a:srgbClr val="FFD23B"/>
            </a:solidFill>
            <a:prstDash val="solid"/>
          </a:ln>
        </p:spPr>
      </p:sp>
      <p:sp>
        <p:nvSpPr>
          <p:cNvPr id="13" name="Text 11"/>
          <p:cNvSpPr txBox="1"/>
          <p:nvPr/>
        </p:nvSpPr>
        <p:spPr>
          <a:xfrm>
            <a:off x="4846320" y="3063240"/>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2</a:t>
            </a:r>
            <a:endParaRPr lang="en-US" sz="1500" dirty="0"/>
          </a:p>
        </p:txBody>
      </p:sp>
      <p:sp>
        <p:nvSpPr>
          <p:cNvPr id="14" name="Shape 12"/>
          <p:cNvSpPr/>
          <p:nvPr/>
        </p:nvSpPr>
        <p:spPr>
          <a:xfrm>
            <a:off x="5486400" y="2999232"/>
            <a:ext cx="6153912" cy="621792"/>
          </a:xfrm>
          <a:prstGeom prst="roundRect">
            <a:avLst>
              <a:gd name="adj" fmla="val 11765"/>
            </a:avLst>
          </a:prstGeom>
          <a:solidFill>
            <a:srgbClr val="22395F"/>
          </a:solidFill>
          <a:ln w="12700">
            <a:solidFill>
              <a:srgbClr val="22395F"/>
            </a:solidFill>
            <a:prstDash val="solid"/>
          </a:ln>
        </p:spPr>
      </p:sp>
      <p:sp>
        <p:nvSpPr>
          <p:cNvPr id="15" name="Text 13"/>
          <p:cNvSpPr txBox="1"/>
          <p:nvPr/>
        </p:nvSpPr>
        <p:spPr>
          <a:xfrm>
            <a:off x="5669280" y="2999232"/>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Khách hàng muốn cùng tạo ra sản phẩm, dịch vụ, giải pháp với ta đến mức nào?</a:t>
            </a:r>
            <a:endParaRPr lang="en-US" sz="1400" dirty="0"/>
          </a:p>
        </p:txBody>
      </p:sp>
      <p:sp>
        <p:nvSpPr>
          <p:cNvPr id="16" name="Shape 14"/>
          <p:cNvSpPr/>
          <p:nvPr/>
        </p:nvSpPr>
        <p:spPr>
          <a:xfrm>
            <a:off x="4846320" y="3776472"/>
            <a:ext cx="502920" cy="502920"/>
          </a:xfrm>
          <a:prstGeom prst="ellipse">
            <a:avLst/>
          </a:prstGeom>
          <a:solidFill>
            <a:srgbClr val="FF9259"/>
          </a:solidFill>
          <a:ln w="12700">
            <a:solidFill>
              <a:srgbClr val="FF9259"/>
            </a:solidFill>
            <a:prstDash val="solid"/>
          </a:ln>
        </p:spPr>
      </p:sp>
      <p:sp>
        <p:nvSpPr>
          <p:cNvPr id="17" name="Text 15"/>
          <p:cNvSpPr txBox="1"/>
          <p:nvPr/>
        </p:nvSpPr>
        <p:spPr>
          <a:xfrm>
            <a:off x="4846320" y="3776472"/>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3</a:t>
            </a:r>
            <a:endParaRPr lang="en-US" sz="1500" dirty="0"/>
          </a:p>
        </p:txBody>
      </p:sp>
      <p:sp>
        <p:nvSpPr>
          <p:cNvPr id="18" name="Shape 16"/>
          <p:cNvSpPr/>
          <p:nvPr/>
        </p:nvSpPr>
        <p:spPr>
          <a:xfrm>
            <a:off x="5486400" y="3712464"/>
            <a:ext cx="6153912" cy="621792"/>
          </a:xfrm>
          <a:prstGeom prst="roundRect">
            <a:avLst>
              <a:gd name="adj" fmla="val 11765"/>
            </a:avLst>
          </a:prstGeom>
          <a:solidFill>
            <a:srgbClr val="22395F"/>
          </a:solidFill>
          <a:ln w="12700">
            <a:solidFill>
              <a:srgbClr val="22395F"/>
            </a:solidFill>
            <a:prstDash val="solid"/>
          </a:ln>
        </p:spPr>
      </p:sp>
      <p:sp>
        <p:nvSpPr>
          <p:cNvPr id="19" name="Text 17"/>
          <p:cNvSpPr txBox="1"/>
          <p:nvPr/>
        </p:nvSpPr>
        <p:spPr>
          <a:xfrm>
            <a:off x="5669280" y="3712464"/>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Khách hàng sẵn lòng cùng xây chiến lược kinh doanh với ta đến mức nào?</a:t>
            </a:r>
            <a:endParaRPr lang="en-US" sz="1400" dirty="0"/>
          </a:p>
        </p:txBody>
      </p:sp>
      <p:sp>
        <p:nvSpPr>
          <p:cNvPr id="20" name="Shape 18"/>
          <p:cNvSpPr/>
          <p:nvPr/>
        </p:nvSpPr>
        <p:spPr>
          <a:xfrm>
            <a:off x="4846320" y="4489704"/>
            <a:ext cx="502920" cy="502920"/>
          </a:xfrm>
          <a:prstGeom prst="ellipse">
            <a:avLst/>
          </a:prstGeom>
          <a:solidFill>
            <a:srgbClr val="09A1E5"/>
          </a:solidFill>
          <a:ln w="12700">
            <a:solidFill>
              <a:srgbClr val="09A1E5"/>
            </a:solidFill>
            <a:prstDash val="solid"/>
          </a:ln>
        </p:spPr>
      </p:sp>
      <p:sp>
        <p:nvSpPr>
          <p:cNvPr id="21" name="Text 19"/>
          <p:cNvSpPr txBox="1"/>
          <p:nvPr/>
        </p:nvSpPr>
        <p:spPr>
          <a:xfrm>
            <a:off x="4846320" y="4489704"/>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4</a:t>
            </a:r>
            <a:endParaRPr lang="en-US" sz="1500" dirty="0"/>
          </a:p>
        </p:txBody>
      </p:sp>
      <p:sp>
        <p:nvSpPr>
          <p:cNvPr id="22" name="Shape 20"/>
          <p:cNvSpPr/>
          <p:nvPr/>
        </p:nvSpPr>
        <p:spPr>
          <a:xfrm>
            <a:off x="5486400" y="4425696"/>
            <a:ext cx="6153912" cy="621792"/>
          </a:xfrm>
          <a:prstGeom prst="roundRect">
            <a:avLst>
              <a:gd name="adj" fmla="val 11765"/>
            </a:avLst>
          </a:prstGeom>
          <a:solidFill>
            <a:srgbClr val="22395F"/>
          </a:solidFill>
          <a:ln w="12700">
            <a:solidFill>
              <a:srgbClr val="22395F"/>
            </a:solidFill>
            <a:prstDash val="solid"/>
          </a:ln>
        </p:spPr>
      </p:sp>
      <p:sp>
        <p:nvSpPr>
          <p:cNvPr id="23" name="Text 21"/>
          <p:cNvSpPr txBox="1"/>
          <p:nvPr/>
        </p:nvSpPr>
        <p:spPr>
          <a:xfrm>
            <a:off x="5669280" y="4425696"/>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Khách hàng xem ta là nhà cung cấp then chốt đến mức nào?</a:t>
            </a:r>
            <a:endParaRPr lang="en-US" sz="1400" dirty="0"/>
          </a:p>
        </p:txBody>
      </p:sp>
      <p:sp>
        <p:nvSpPr>
          <p:cNvPr id="24" name="Shape 22"/>
          <p:cNvSpPr/>
          <p:nvPr/>
        </p:nvSpPr>
        <p:spPr>
          <a:xfrm>
            <a:off x="4846320" y="5202936"/>
            <a:ext cx="502920" cy="502920"/>
          </a:xfrm>
          <a:prstGeom prst="ellipse">
            <a:avLst/>
          </a:prstGeom>
          <a:solidFill>
            <a:srgbClr val="FF5178"/>
          </a:solidFill>
          <a:ln w="12700">
            <a:solidFill>
              <a:srgbClr val="FF5178"/>
            </a:solidFill>
            <a:prstDash val="solid"/>
          </a:ln>
        </p:spPr>
      </p:sp>
      <p:sp>
        <p:nvSpPr>
          <p:cNvPr id="25" name="Text 23"/>
          <p:cNvSpPr txBox="1"/>
          <p:nvPr/>
        </p:nvSpPr>
        <p:spPr>
          <a:xfrm>
            <a:off x="4846320" y="5202936"/>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5</a:t>
            </a:r>
            <a:endParaRPr lang="en-US" sz="1500" dirty="0"/>
          </a:p>
        </p:txBody>
      </p:sp>
      <p:sp>
        <p:nvSpPr>
          <p:cNvPr id="26" name="Shape 24"/>
          <p:cNvSpPr/>
          <p:nvPr/>
        </p:nvSpPr>
        <p:spPr>
          <a:xfrm>
            <a:off x="5486400" y="5138928"/>
            <a:ext cx="6153912" cy="621792"/>
          </a:xfrm>
          <a:prstGeom prst="roundRect">
            <a:avLst>
              <a:gd name="adj" fmla="val 11765"/>
            </a:avLst>
          </a:prstGeom>
          <a:solidFill>
            <a:srgbClr val="22395F"/>
          </a:solidFill>
          <a:ln w="12700">
            <a:solidFill>
              <a:srgbClr val="22395F"/>
            </a:solidFill>
            <a:prstDash val="solid"/>
          </a:ln>
        </p:spPr>
      </p:sp>
      <p:sp>
        <p:nvSpPr>
          <p:cNvPr id="27" name="Text 25"/>
          <p:cNvSpPr txBox="1"/>
          <p:nvPr/>
        </p:nvSpPr>
        <p:spPr>
          <a:xfrm>
            <a:off x="5669280" y="5138928"/>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Khách hàng muốn thiết lập quan hệ đối tác với ta đến mức nào?</a:t>
            </a:r>
            <a:endParaRPr lang="en-US" sz="1400" dirty="0"/>
          </a:p>
        </p:txBody>
      </p:sp>
      <p:sp>
        <p:nvSpPr>
          <p:cNvPr id="28" name="Text 26"/>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Bảng 2.3, tr. 51), mỗi câu chấm 1–10, mặc định trọng số 20%.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agency sự kiện, đồng đầu tư có bốn biểu hiện quan sát được</a:t>
            </a:r>
            <a:endParaRPr lang="en-US" sz="2800" dirty="0"/>
          </a:p>
        </p:txBody>
      </p:sp>
      <p:sp>
        <p:nvSpPr>
          <p:cNvPr id="3" name="Shape 1"/>
          <p:cNvSpPr/>
          <p:nvPr/>
        </p:nvSpPr>
        <p:spPr>
          <a:xfrm>
            <a:off x="548640" y="1783080"/>
            <a:ext cx="5376672" cy="1691640"/>
          </a:xfrm>
          <a:prstGeom prst="roundRect">
            <a:avLst>
              <a:gd name="adj" fmla="val 4324"/>
            </a:avLst>
          </a:prstGeom>
          <a:solidFill>
            <a:srgbClr val="22395F"/>
          </a:solidFill>
          <a:ln w="12700">
            <a:solidFill>
              <a:srgbClr val="22395F"/>
            </a:solidFill>
            <a:prstDash val="solid"/>
          </a:ln>
        </p:spPr>
      </p:sp>
      <p:sp>
        <p:nvSpPr>
          <p:cNvPr id="4" name="Shape 2"/>
          <p:cNvSpPr/>
          <p:nvPr/>
        </p:nvSpPr>
        <p:spPr>
          <a:xfrm>
            <a:off x="777240" y="2194560"/>
            <a:ext cx="868680" cy="86868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68350" y="2385670"/>
            <a:ext cx="486461" cy="486461"/>
          </a:xfrm>
          <a:prstGeom prst="rect">
            <a:avLst/>
          </a:prstGeom>
        </p:spPr>
      </p:pic>
      <p:sp>
        <p:nvSpPr>
          <p:cNvPr id="6" name="Text 3"/>
          <p:cNvSpPr txBox="1"/>
          <p:nvPr/>
        </p:nvSpPr>
        <p:spPr>
          <a:xfrm>
            <a:off x="1874520" y="1783080"/>
            <a:ext cx="3886200" cy="169164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Hợp đồng khung nhiều năm thay vì đấu thầu từng sự kiện</a:t>
            </a:r>
            <a:endParaRPr lang="en-US" sz="1700" dirty="0"/>
          </a:p>
        </p:txBody>
      </p:sp>
      <p:sp>
        <p:nvSpPr>
          <p:cNvPr id="7" name="Shape 4"/>
          <p:cNvSpPr/>
          <p:nvPr/>
        </p:nvSpPr>
        <p:spPr>
          <a:xfrm>
            <a:off x="6263640" y="1783080"/>
            <a:ext cx="5376672" cy="1691640"/>
          </a:xfrm>
          <a:prstGeom prst="roundRect">
            <a:avLst>
              <a:gd name="adj" fmla="val 4324"/>
            </a:avLst>
          </a:prstGeom>
          <a:solidFill>
            <a:srgbClr val="22395F"/>
          </a:solidFill>
          <a:ln w="12700">
            <a:solidFill>
              <a:srgbClr val="22395F"/>
            </a:solidFill>
            <a:prstDash val="solid"/>
          </a:ln>
        </p:spPr>
      </p:sp>
      <p:sp>
        <p:nvSpPr>
          <p:cNvPr id="8" name="Shape 5"/>
          <p:cNvSpPr/>
          <p:nvPr/>
        </p:nvSpPr>
        <p:spPr>
          <a:xfrm>
            <a:off x="6492240" y="2194560"/>
            <a:ext cx="868680" cy="86868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6683350" y="2385670"/>
            <a:ext cx="486461" cy="486461"/>
          </a:xfrm>
          <a:prstGeom prst="rect">
            <a:avLst/>
          </a:prstGeom>
        </p:spPr>
      </p:pic>
      <p:sp>
        <p:nvSpPr>
          <p:cNvPr id="10" name="Text 6"/>
          <p:cNvSpPr txBox="1"/>
          <p:nvPr/>
        </p:nvSpPr>
        <p:spPr>
          <a:xfrm>
            <a:off x="7589520" y="1783080"/>
            <a:ext cx="3886200" cy="169164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Chia sẻ thông tin: mục tiêu kinh doanh, dữ liệu khách mời, kết quả sau sự kiện</a:t>
            </a:r>
            <a:endParaRPr lang="en-US" sz="1700" dirty="0"/>
          </a:p>
        </p:txBody>
      </p:sp>
      <p:sp>
        <p:nvSpPr>
          <p:cNvPr id="11" name="Shape 7"/>
          <p:cNvSpPr/>
          <p:nvPr/>
        </p:nvSpPr>
        <p:spPr>
          <a:xfrm>
            <a:off x="548640" y="3657600"/>
            <a:ext cx="5376672" cy="1691640"/>
          </a:xfrm>
          <a:prstGeom prst="roundRect">
            <a:avLst>
              <a:gd name="adj" fmla="val 4324"/>
            </a:avLst>
          </a:prstGeom>
          <a:solidFill>
            <a:srgbClr val="22395F"/>
          </a:solidFill>
          <a:ln w="12700">
            <a:solidFill>
              <a:srgbClr val="22395F"/>
            </a:solidFill>
            <a:prstDash val="solid"/>
          </a:ln>
        </p:spPr>
      </p:sp>
      <p:sp>
        <p:nvSpPr>
          <p:cNvPr id="12" name="Shape 8"/>
          <p:cNvSpPr/>
          <p:nvPr/>
        </p:nvSpPr>
        <p:spPr>
          <a:xfrm>
            <a:off x="777240" y="4069080"/>
            <a:ext cx="868680" cy="86868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968350" y="4260190"/>
            <a:ext cx="486461" cy="486461"/>
          </a:xfrm>
          <a:prstGeom prst="rect">
            <a:avLst/>
          </a:prstGeom>
        </p:spPr>
      </p:pic>
      <p:sp>
        <p:nvSpPr>
          <p:cNvPr id="14" name="Text 9"/>
          <p:cNvSpPr txBox="1"/>
          <p:nvPr/>
        </p:nvSpPr>
        <p:spPr>
          <a:xfrm>
            <a:off x="1874520" y="3657600"/>
            <a:ext cx="3886200" cy="169164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Cử đầu mối cấp cao; mời agency vào họp kế hoạch năm</a:t>
            </a:r>
            <a:endParaRPr lang="en-US" sz="1700" dirty="0"/>
          </a:p>
        </p:txBody>
      </p:sp>
      <p:sp>
        <p:nvSpPr>
          <p:cNvPr id="15" name="Shape 10"/>
          <p:cNvSpPr/>
          <p:nvPr/>
        </p:nvSpPr>
        <p:spPr>
          <a:xfrm>
            <a:off x="6263640" y="3657600"/>
            <a:ext cx="5376672" cy="1691640"/>
          </a:xfrm>
          <a:prstGeom prst="roundRect">
            <a:avLst>
              <a:gd name="adj" fmla="val 4324"/>
            </a:avLst>
          </a:prstGeom>
          <a:solidFill>
            <a:srgbClr val="22395F"/>
          </a:solidFill>
          <a:ln w="12700">
            <a:solidFill>
              <a:srgbClr val="22395F"/>
            </a:solidFill>
            <a:prstDash val="solid"/>
          </a:ln>
        </p:spPr>
      </p:sp>
      <p:sp>
        <p:nvSpPr>
          <p:cNvPr id="16" name="Shape 11"/>
          <p:cNvSpPr/>
          <p:nvPr/>
        </p:nvSpPr>
        <p:spPr>
          <a:xfrm>
            <a:off x="6492240" y="4069080"/>
            <a:ext cx="868680" cy="868680"/>
          </a:xfrm>
          <a:prstGeom prst="ellipse">
            <a:avLst/>
          </a:prstGeom>
          <a:solidFill>
            <a:srgbClr val="09A1E5"/>
          </a:solidFill>
          <a:ln w="12700">
            <a:solidFill>
              <a:srgbClr val="09A1E5"/>
            </a:solidFill>
            <a:prstDash val="solid"/>
          </a:ln>
        </p:spPr>
      </p:sp>
      <p:pic>
        <p:nvPicPr>
          <p:cNvPr id="17" name="Image 3" descr="preencoded.png">    </p:cNvPr>
          <p:cNvPicPr>
            <a:picLocks noChangeAspect="1"/>
          </p:cNvPicPr>
          <p:nvPr/>
        </p:nvPicPr>
        <p:blipFill>
          <a:blip r:embed="rId4"/>
          <a:stretch>
            <a:fillRect/>
          </a:stretch>
        </p:blipFill>
        <p:spPr>
          <a:xfrm>
            <a:off x="6683350" y="4260190"/>
            <a:ext cx="486461" cy="486461"/>
          </a:xfrm>
          <a:prstGeom prst="rect">
            <a:avLst/>
          </a:prstGeom>
        </p:spPr>
      </p:pic>
      <p:sp>
        <p:nvSpPr>
          <p:cNvPr id="18" name="Text 12"/>
          <p:cNvSpPr txBox="1"/>
          <p:nvPr/>
        </p:nvSpPr>
        <p:spPr>
          <a:xfrm>
            <a:off x="7589520" y="3657600"/>
            <a:ext cx="3886200" cy="169164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Chấp nhận thí điểm cùng làm: chia chi phí, chia rủi ro</a:t>
            </a:r>
            <a:endParaRPr lang="en-US" sz="1700" dirty="0"/>
          </a:p>
        </p:txBody>
      </p:sp>
      <p:sp>
        <p:nvSpPr>
          <p:cNvPr id="19" name="Text 13"/>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Ví dụ tương tự: Techcombank từ nhà tài trợ concert (2024) thành nhà đồng đầu tư (2025).</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1–3 ngón: ứng viên này yếu nhất ở tiêu chí nào?</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301752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Hãng hàng không Sao Việt (giả định): ngân sách sự kiện lớn, muốn hợp đồng khung 3 năm và cùng thiết kế chương trình khách hàng thân thiết. Nhưng Nova chưa từng làm sự kiện quốc tế 2.000 khách; đối thủ là các agency quốc tế đã làm cho ngành hàng không.</a:t>
            </a:r>
            <a:endParaRPr lang="en-US" sz="1600" dirty="0"/>
          </a:p>
        </p:txBody>
      </p:sp>
      <p:sp>
        <p:nvSpPr>
          <p:cNvPr id="7" name="Shape 4"/>
          <p:cNvSpPr/>
          <p:nvPr/>
        </p:nvSpPr>
        <p:spPr>
          <a:xfrm>
            <a:off x="7498080" y="1920240"/>
            <a:ext cx="685800" cy="685800"/>
          </a:xfrm>
          <a:prstGeom prst="ellipse">
            <a:avLst/>
          </a:prstGeom>
          <a:solidFill>
            <a:srgbClr val="49B296"/>
          </a:solidFill>
          <a:ln w="12700">
            <a:solidFill>
              <a:srgbClr val="49B296"/>
            </a:solidFill>
            <a:prstDash val="solid"/>
          </a:ln>
        </p:spPr>
      </p:sp>
      <p:sp>
        <p:nvSpPr>
          <p:cNvPr id="8" name="Text 5"/>
          <p:cNvSpPr txBox="1"/>
          <p:nvPr/>
        </p:nvSpPr>
        <p:spPr>
          <a:xfrm>
            <a:off x="7498080" y="1920240"/>
            <a:ext cx="685800" cy="68580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a:t>
            </a:r>
            <a:endParaRPr lang="en-US" sz="1800" dirty="0"/>
          </a:p>
        </p:txBody>
      </p:sp>
      <p:sp>
        <p:nvSpPr>
          <p:cNvPr id="9" name="Shape 6"/>
          <p:cNvSpPr/>
          <p:nvPr/>
        </p:nvSpPr>
        <p:spPr>
          <a:xfrm>
            <a:off x="8321040" y="1920240"/>
            <a:ext cx="3319272" cy="685800"/>
          </a:xfrm>
          <a:prstGeom prst="roundRect">
            <a:avLst>
              <a:gd name="adj" fmla="val 10667"/>
            </a:avLst>
          </a:prstGeom>
          <a:solidFill>
            <a:srgbClr val="22395F"/>
          </a:solidFill>
          <a:ln w="12700">
            <a:solidFill>
              <a:srgbClr val="22395F"/>
            </a:solidFill>
            <a:prstDash val="solid"/>
          </a:ln>
        </p:spPr>
      </p:sp>
      <p:sp>
        <p:nvSpPr>
          <p:cNvPr id="10" name="Text 7"/>
          <p:cNvSpPr txBox="1"/>
          <p:nvPr/>
        </p:nvSpPr>
        <p:spPr>
          <a:xfrm>
            <a:off x="8503920" y="1920240"/>
            <a:ext cx="301752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Sức hấp dẫn</a:t>
            </a:r>
            <a:endParaRPr lang="en-US" sz="1700" dirty="0"/>
          </a:p>
        </p:txBody>
      </p:sp>
      <p:sp>
        <p:nvSpPr>
          <p:cNvPr id="11" name="Shape 8"/>
          <p:cNvSpPr/>
          <p:nvPr/>
        </p:nvSpPr>
        <p:spPr>
          <a:xfrm>
            <a:off x="7498080" y="2880360"/>
            <a:ext cx="685800" cy="685800"/>
          </a:xfrm>
          <a:prstGeom prst="ellipse">
            <a:avLst/>
          </a:prstGeom>
          <a:solidFill>
            <a:srgbClr val="FFD23B"/>
          </a:solidFill>
          <a:ln w="12700">
            <a:solidFill>
              <a:srgbClr val="FFD23B"/>
            </a:solidFill>
            <a:prstDash val="solid"/>
          </a:ln>
        </p:spPr>
      </p:sp>
      <p:sp>
        <p:nvSpPr>
          <p:cNvPr id="12" name="Text 9"/>
          <p:cNvSpPr txBox="1"/>
          <p:nvPr/>
        </p:nvSpPr>
        <p:spPr>
          <a:xfrm>
            <a:off x="7498080" y="2880360"/>
            <a:ext cx="685800" cy="68580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a:t>
            </a:r>
            <a:endParaRPr lang="en-US" sz="1800" dirty="0"/>
          </a:p>
        </p:txBody>
      </p:sp>
      <p:sp>
        <p:nvSpPr>
          <p:cNvPr id="13" name="Shape 10"/>
          <p:cNvSpPr/>
          <p:nvPr/>
        </p:nvSpPr>
        <p:spPr>
          <a:xfrm>
            <a:off x="8321040" y="2880360"/>
            <a:ext cx="3319272" cy="685800"/>
          </a:xfrm>
          <a:prstGeom prst="roundRect">
            <a:avLst>
              <a:gd name="adj" fmla="val 10667"/>
            </a:avLst>
          </a:prstGeom>
          <a:solidFill>
            <a:srgbClr val="22395F"/>
          </a:solidFill>
          <a:ln w="12700">
            <a:solidFill>
              <a:srgbClr val="22395F"/>
            </a:solidFill>
            <a:prstDash val="solid"/>
          </a:ln>
        </p:spPr>
      </p:sp>
      <p:sp>
        <p:nvSpPr>
          <p:cNvPr id="14" name="Text 11"/>
          <p:cNvSpPr txBox="1"/>
          <p:nvPr/>
        </p:nvSpPr>
        <p:spPr>
          <a:xfrm>
            <a:off x="8503920" y="2880360"/>
            <a:ext cx="301752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Vị thế cạnh tranh của Nova</a:t>
            </a:r>
            <a:endParaRPr lang="en-US" sz="1700" dirty="0"/>
          </a:p>
        </p:txBody>
      </p:sp>
      <p:sp>
        <p:nvSpPr>
          <p:cNvPr id="15" name="Shape 12"/>
          <p:cNvSpPr/>
          <p:nvPr/>
        </p:nvSpPr>
        <p:spPr>
          <a:xfrm>
            <a:off x="7498080" y="3840480"/>
            <a:ext cx="685800" cy="685800"/>
          </a:xfrm>
          <a:prstGeom prst="ellipse">
            <a:avLst/>
          </a:prstGeom>
          <a:solidFill>
            <a:srgbClr val="FF5178"/>
          </a:solidFill>
          <a:ln w="12700">
            <a:solidFill>
              <a:srgbClr val="FF5178"/>
            </a:solidFill>
            <a:prstDash val="solid"/>
          </a:ln>
        </p:spPr>
      </p:sp>
      <p:sp>
        <p:nvSpPr>
          <p:cNvPr id="16" name="Text 13"/>
          <p:cNvSpPr txBox="1"/>
          <p:nvPr/>
        </p:nvSpPr>
        <p:spPr>
          <a:xfrm>
            <a:off x="7498080" y="3840480"/>
            <a:ext cx="685800" cy="68580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3</a:t>
            </a:r>
            <a:endParaRPr lang="en-US" sz="1800" dirty="0"/>
          </a:p>
        </p:txBody>
      </p:sp>
      <p:sp>
        <p:nvSpPr>
          <p:cNvPr id="17" name="Shape 14"/>
          <p:cNvSpPr/>
          <p:nvPr/>
        </p:nvSpPr>
        <p:spPr>
          <a:xfrm>
            <a:off x="8321040" y="3840480"/>
            <a:ext cx="3319272" cy="685800"/>
          </a:xfrm>
          <a:prstGeom prst="roundRect">
            <a:avLst>
              <a:gd name="adj" fmla="val 10667"/>
            </a:avLst>
          </a:prstGeom>
          <a:solidFill>
            <a:srgbClr val="22395F"/>
          </a:solidFill>
          <a:ln w="12700">
            <a:solidFill>
              <a:srgbClr val="22395F"/>
            </a:solidFill>
            <a:prstDash val="solid"/>
          </a:ln>
        </p:spPr>
      </p:sp>
      <p:sp>
        <p:nvSpPr>
          <p:cNvPr id="18" name="Text 15"/>
          <p:cNvSpPr txBox="1"/>
          <p:nvPr/>
        </p:nvSpPr>
        <p:spPr>
          <a:xfrm>
            <a:off x="8503920" y="3840480"/>
            <a:ext cx="301752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Sẵn lòng cùng đầu tư</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Đáp án: vị thế cạnh tranh — khách hấp dẫn và muốn đầu tư, nhưng Nova chưa đủ sức</a:t>
            </a:r>
            <a:endParaRPr lang="en-US" sz="2800" dirty="0"/>
          </a:p>
        </p:txBody>
      </p:sp>
      <p:sp>
        <p:nvSpPr>
          <p:cNvPr id="3" name="Shape 1"/>
          <p:cNvSpPr/>
          <p:nvPr/>
        </p:nvSpPr>
        <p:spPr>
          <a:xfrm>
            <a:off x="548640" y="1783080"/>
            <a:ext cx="6583680" cy="868680"/>
          </a:xfrm>
          <a:prstGeom prst="roundRect">
            <a:avLst>
              <a:gd name="adj" fmla="val 8421"/>
            </a:avLst>
          </a:prstGeom>
          <a:solidFill>
            <a:srgbClr val="22395F"/>
          </a:solidFill>
          <a:ln w="12700">
            <a:solidFill>
              <a:srgbClr val="22395F"/>
            </a:solidFill>
            <a:prstDash val="solid"/>
          </a:ln>
        </p:spPr>
      </p:sp>
      <p:sp>
        <p:nvSpPr>
          <p:cNvPr id="4" name="Shape 2"/>
          <p:cNvSpPr/>
          <p:nvPr/>
        </p:nvSpPr>
        <p:spPr>
          <a:xfrm>
            <a:off x="731520" y="1920240"/>
            <a:ext cx="594360" cy="5943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862279" y="2050999"/>
            <a:ext cx="332842" cy="332842"/>
          </a:xfrm>
          <a:prstGeom prst="rect">
            <a:avLst/>
          </a:prstGeom>
        </p:spPr>
      </p:pic>
      <p:sp>
        <p:nvSpPr>
          <p:cNvPr id="6" name="Text 3"/>
          <p:cNvSpPr txBox="1"/>
          <p:nvPr/>
        </p:nvSpPr>
        <p:spPr>
          <a:xfrm>
            <a:off x="1554480" y="1783080"/>
            <a:ext cx="54864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Sức hấp dẫn: </a:t>
            </a:r>
            <a:pPr indent="0" marL="0">
              <a:buNone/>
            </a:pPr>
            <a:r>
              <a:rPr lang="en-US" sz="1700" dirty="0">
                <a:solidFill>
                  <a:srgbClr val="FBFAF4"/>
                </a:solidFill>
                <a:latin typeface="Roboto" pitchFamily="34" charset="0"/>
                <a:ea typeface="Roboto" pitchFamily="34" charset="-122"/>
                <a:cs typeface="Roboto" pitchFamily="34" charset="-120"/>
              </a:rPr>
              <a:t>cao — ngân sách lớn, hợp đồng khung</a:t>
            </a:r>
            <a:endParaRPr lang="en-US" sz="1700" dirty="0"/>
          </a:p>
        </p:txBody>
      </p:sp>
      <p:sp>
        <p:nvSpPr>
          <p:cNvPr id="7" name="Shape 4"/>
          <p:cNvSpPr/>
          <p:nvPr/>
        </p:nvSpPr>
        <p:spPr>
          <a:xfrm>
            <a:off x="548640" y="2834640"/>
            <a:ext cx="6583680" cy="868680"/>
          </a:xfrm>
          <a:prstGeom prst="roundRect">
            <a:avLst>
              <a:gd name="adj" fmla="val 8421"/>
            </a:avLst>
          </a:prstGeom>
          <a:solidFill>
            <a:srgbClr val="22395F"/>
          </a:solidFill>
          <a:ln w="12700">
            <a:solidFill>
              <a:srgbClr val="22395F"/>
            </a:solidFill>
            <a:prstDash val="solid"/>
          </a:ln>
        </p:spPr>
      </p:sp>
      <p:sp>
        <p:nvSpPr>
          <p:cNvPr id="8" name="Shape 5"/>
          <p:cNvSpPr/>
          <p:nvPr/>
        </p:nvSpPr>
        <p:spPr>
          <a:xfrm>
            <a:off x="731520" y="2971800"/>
            <a:ext cx="594360" cy="594360"/>
          </a:xfrm>
          <a:prstGeom prst="ellipse">
            <a:avLst/>
          </a:prstGeom>
          <a:solidFill>
            <a:srgbClr val="49B296"/>
          </a:solidFill>
          <a:ln w="12700">
            <a:solidFill>
              <a:srgbClr val="49B296"/>
            </a:solidFill>
            <a:prstDash val="solid"/>
          </a:ln>
        </p:spPr>
      </p:sp>
      <p:pic>
        <p:nvPicPr>
          <p:cNvPr id="9" name="Image 1" descr="preencoded.png">    </p:cNvPr>
          <p:cNvPicPr>
            <a:picLocks noChangeAspect="1"/>
          </p:cNvPicPr>
          <p:nvPr/>
        </p:nvPicPr>
        <p:blipFill>
          <a:blip r:embed="rId2"/>
          <a:stretch>
            <a:fillRect/>
          </a:stretch>
        </p:blipFill>
        <p:spPr>
          <a:xfrm>
            <a:off x="862279" y="3102559"/>
            <a:ext cx="332842" cy="332842"/>
          </a:xfrm>
          <a:prstGeom prst="rect">
            <a:avLst/>
          </a:prstGeom>
        </p:spPr>
      </p:pic>
      <p:sp>
        <p:nvSpPr>
          <p:cNvPr id="10" name="Text 6"/>
          <p:cNvSpPr txBox="1"/>
          <p:nvPr/>
        </p:nvSpPr>
        <p:spPr>
          <a:xfrm>
            <a:off x="1554480" y="2834640"/>
            <a:ext cx="54864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Sẵn lòng cùng đầu tư: </a:t>
            </a:r>
            <a:pPr indent="0" marL="0">
              <a:buNone/>
            </a:pPr>
            <a:r>
              <a:rPr lang="en-US" sz="1700" dirty="0">
                <a:solidFill>
                  <a:srgbClr val="FBFAF4"/>
                </a:solidFill>
                <a:latin typeface="Roboto" pitchFamily="34" charset="0"/>
                <a:ea typeface="Roboto" pitchFamily="34" charset="-122"/>
                <a:cs typeface="Roboto" pitchFamily="34" charset="-120"/>
              </a:rPr>
              <a:t>cao — muốn cùng thiết kế chương trình</a:t>
            </a:r>
            <a:endParaRPr lang="en-US" sz="1700" dirty="0"/>
          </a:p>
        </p:txBody>
      </p:sp>
      <p:sp>
        <p:nvSpPr>
          <p:cNvPr id="11" name="Shape 7"/>
          <p:cNvSpPr/>
          <p:nvPr/>
        </p:nvSpPr>
        <p:spPr>
          <a:xfrm>
            <a:off x="548640" y="3886200"/>
            <a:ext cx="6583680" cy="868680"/>
          </a:xfrm>
          <a:prstGeom prst="roundRect">
            <a:avLst>
              <a:gd name="adj" fmla="val 8421"/>
            </a:avLst>
          </a:prstGeom>
          <a:solidFill>
            <a:srgbClr val="22395F"/>
          </a:solidFill>
          <a:ln w="12700">
            <a:solidFill>
              <a:srgbClr val="22395F"/>
            </a:solidFill>
            <a:prstDash val="solid"/>
          </a:ln>
        </p:spPr>
      </p:sp>
      <p:sp>
        <p:nvSpPr>
          <p:cNvPr id="12" name="Shape 8"/>
          <p:cNvSpPr/>
          <p:nvPr/>
        </p:nvSpPr>
        <p:spPr>
          <a:xfrm>
            <a:off x="731520" y="402336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154119"/>
            <a:ext cx="332842" cy="332842"/>
          </a:xfrm>
          <a:prstGeom prst="rect">
            <a:avLst/>
          </a:prstGeom>
        </p:spPr>
      </p:pic>
      <p:sp>
        <p:nvSpPr>
          <p:cNvPr id="14" name="Text 9"/>
          <p:cNvSpPr txBox="1"/>
          <p:nvPr/>
        </p:nvSpPr>
        <p:spPr>
          <a:xfrm>
            <a:off x="1554480" y="3886200"/>
            <a:ext cx="54864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Vị thế cạnh tranh: </a:t>
            </a:r>
            <a:pPr indent="0" marL="0">
              <a:buNone/>
            </a:pPr>
            <a:r>
              <a:rPr lang="en-US" sz="1700" dirty="0">
                <a:solidFill>
                  <a:srgbClr val="FBFAF4"/>
                </a:solidFill>
                <a:latin typeface="Roboto" pitchFamily="34" charset="0"/>
                <a:ea typeface="Roboto" pitchFamily="34" charset="-122"/>
                <a:cs typeface="Roboto" pitchFamily="34" charset="-120"/>
              </a:rPr>
              <a:t>thấp — chưa có năng lực, đối thủ mạnh hơn</a:t>
            </a:r>
            <a:endParaRPr lang="en-US" sz="1700" dirty="0"/>
          </a:p>
        </p:txBody>
      </p:sp>
      <p:sp>
        <p:nvSpPr>
          <p:cNvPr id="15" name="Shape 10"/>
          <p:cNvSpPr/>
          <p:nvPr/>
        </p:nvSpPr>
        <p:spPr>
          <a:xfrm>
            <a:off x="7498080" y="1783080"/>
            <a:ext cx="4142232" cy="2971800"/>
          </a:xfrm>
          <a:prstGeom prst="roundRect">
            <a:avLst>
              <a:gd name="adj" fmla="val 2462"/>
            </a:avLst>
          </a:prstGeom>
          <a:solidFill>
            <a:srgbClr val="FFD23B"/>
          </a:solidFill>
          <a:ln w="12700">
            <a:solidFill>
              <a:srgbClr val="FFD23B"/>
            </a:solidFill>
            <a:prstDash val="solid"/>
          </a:ln>
        </p:spPr>
      </p:sp>
      <p:sp>
        <p:nvSpPr>
          <p:cNvPr id="16" name="Text 11"/>
          <p:cNvSpPr txBox="1"/>
          <p:nvPr/>
        </p:nvSpPr>
        <p:spPr>
          <a:xfrm>
            <a:off x="7726680" y="1783080"/>
            <a:ext cx="3703320" cy="297180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Lựa chọn: đầu tư nâng năng lực có thời hạn — hoặc chưa nhận làm Key Account.</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chọn không có nghĩa là bỏ: phục vụ chuẩn hóa, vẫn có lời — và chọn lại định kỳ</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Khách hàng không phải Key Account</a:t>
            </a:r>
            <a:endParaRPr lang="en-US" sz="1800" dirty="0"/>
          </a:p>
        </p:txBody>
      </p:sp>
      <p:sp>
        <p:nvSpPr>
          <p:cNvPr id="7" name="Text 4"/>
          <p:cNvSpPr txBox="1"/>
          <p:nvPr/>
        </p:nvSpPr>
        <p:spPr>
          <a:xfrm>
            <a:off x="822960" y="2971800"/>
            <a:ext cx="5029200" cy="265176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Vẫn phục vụ tốt và có lời</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Theo quy trình chuẩn, ít nguồn lực riêng</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Buổi 6: dùng CLV và chi phí phục vụ để quyết định chính xác hơn</a:t>
            </a:r>
            <a:endParaRPr lang="en-US" sz="1700" dirty="0"/>
          </a:p>
        </p:txBody>
      </p:sp>
      <p:sp>
        <p:nvSpPr>
          <p:cNvPr id="8" name="Shape 5"/>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Chọn là việc làm lại định kỳ</a:t>
            </a:r>
            <a:endParaRPr lang="en-US" sz="1800" dirty="0"/>
          </a:p>
        </p:txBody>
      </p:sp>
      <p:sp>
        <p:nvSpPr>
          <p:cNvPr id="12" name="Text 8"/>
          <p:cNvSpPr txBox="1"/>
          <p:nvPr/>
        </p:nvSpPr>
        <p:spPr>
          <a:xfrm>
            <a:off x="6537960" y="2971800"/>
            <a:ext cx="4937760" cy="1005840"/>
          </a:xfrm>
          <a:prstGeom prst="rect">
            <a:avLst/>
          </a:prstGeom>
          <a:noFill/>
          <a:ln/>
        </p:spPr>
        <p:txBody>
          <a:bodyPr wrap="square" lIns="635" tIns="635" rIns="635" bIns="635" rtlCol="0" anchor="t"/>
          <a:lstStyle/>
          <a:p>
            <a:pPr indent="0" marL="0">
              <a:buNone/>
            </a:pPr>
            <a:r>
              <a:rPr lang="en-US" sz="1700" i="1" dirty="0">
                <a:solidFill>
                  <a:srgbClr val="FBFAF4"/>
                </a:solidFill>
                <a:latin typeface="Roboto" pitchFamily="34" charset="0"/>
                <a:ea typeface="Roboto" pitchFamily="34" charset="-122"/>
                <a:cs typeface="Roboto" pitchFamily="34" charset="-120"/>
              </a:rPr>
              <a:t>“…we have to keep re-qualifying and revalidating…”</a:t>
            </a:r>
            <a:endParaRPr lang="en-US" sz="1700" dirty="0"/>
          </a:p>
        </p:txBody>
      </p:sp>
      <p:sp>
        <p:nvSpPr>
          <p:cNvPr id="13" name="Text 9"/>
          <p:cNvSpPr txBox="1"/>
          <p:nvPr/>
        </p:nvSpPr>
        <p:spPr>
          <a:xfrm>
            <a:off x="6537960" y="4069080"/>
            <a:ext cx="4937760" cy="146304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Đội liên chức năng cùng chấm; mời góc nhìn bên ngoài.</a:t>
            </a:r>
            <a:endParaRPr lang="en-US" sz="1700" dirty="0"/>
          </a:p>
        </p:txBody>
      </p:sp>
      <p:sp>
        <p:nvSpPr>
          <p:cNvPr id="14" name="Text 1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43, 53).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lỗi khi chọn Key Account</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Key Account = khách hàng lớn nhất</a:t>
            </a:r>
            <a:endParaRPr lang="en-US" sz="18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Mỗi người tự chọn khách của mình, mỗi người một lý do</a:t>
            </a:r>
            <a:endParaRPr lang="en-US" sz="18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Chấm điểm không có bằng chứng — hoặc quên hỏi khách có muốn chọn ta không</a:t>
            </a:r>
            <a:endParaRPr lang="en-US" sz="18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600" b="1" dirty="0">
                <a:solidFill>
                  <a:srgbClr val="172849"/>
                </a:solidFill>
                <a:latin typeface="Roboto" pitchFamily="34" charset="0"/>
                <a:ea typeface="Roboto" pitchFamily="34" charset="-122"/>
                <a:cs typeface="Roboto" pitchFamily="34" charset="-120"/>
              </a:rPr>
              <a:t>Key Account = đáng đầu tư và muốn cùng đầu tư.</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Nova chọn tối đa hai Key Account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Đọc 5 ứng viên: An Phát, Sông Xanh, MediPharm, Bright Future, Bếp Việt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Chấm hai trục có trọng số, đánh giá đồng đầu tư kèm bằng chứng; đặt lên ma trận; chọn ≤2 Key Account, ghi cách phục vụ 3 khách còn lại</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2 vòng, vai anh Đức — CEO Nova: 1 câu hỏi (note vàng) + 1 lo ngại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sửa một điểm</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chấm + ma trận trên A1 — mẫu cho đoạn “vì sao chọn Key Account” trong kế hoạch</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Mỗi điểm số phải có một bằng chứng từ phiếu.</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2 — và trang 2 của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KAM không phải bán hàng xịn hơn: quan hệ dài hạn, hai chiều, nhiều người, có kế hoạch và nguồn lực riêng</a:t>
            </a:r>
            <a:endParaRPr lang="en-US" sz="18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Chọn bằng hai trục có trọng số — sức hấp dẫn, vị thế cạnh tranh — và câu hỏi đồng đầu tư</a:t>
            </a:r>
            <a:endParaRPr lang="en-US" sz="18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Key Account là khách đáng đầu tư và muốn cùng đầu tư, không phải khách lớn nhất</a:t>
            </a:r>
            <a:endParaRPr lang="en-US" sz="18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Kế hoạch cuối kỳ: một đoạn “khách hàng dự án cũ đạt ba tiêu chí đến đâu, vì sao chọn làm Key Account”.</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Nêu hai khía cạnh khiến KAM khác Sales, mỗi khía cạnh một ví dụ của agency.</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khách hàng doanh thu lớn nhất có thể không phải Key Account?</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Kể một dấu hiệu cho thấy khách hàng sẵn lòng cùng đầu tư vào quan hệ với agency.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Một điểm khác biệt giữa Sales và KAM, kèm ví dụ từ dự án sự kiện cũ của nhóm.</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Khách hàng trong dự án cũ đạt ba tiêu chí đến đâu? Tiêu chí nào yếu nhất?</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3: hiểu khách hàng hơn chính họ</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3 · Thế giới của khách hàng</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Đã chọn Key Account thì phải hiểu họ: ngành và đối thủ của họ, hành trình của khách họ, và ai thật sự quyết định.</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bảng chấm hôm nay</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 brief, kế hoạch, báo cáo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Guesalaga, R.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Adopting key account management – Choose me and I will choose you</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Cranfield School of Management Executive Development Blog.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Homburg, C., Workman, J. P., Jr., &amp; Jensen, O. (2002). A configurational perspective on key account management.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66</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(2), 38–60.</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 J., Davies, M., Guesalaga, R., &amp; Holt, 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Implementing key account management: Designing customer-centric processes for mutual growth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Kogan Page.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McDonald, M.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Why many companies get key account management hopelessly wrong</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Cranfield School of Management Executive Development Blog.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McDonald, M., Millman, T., &amp; Rogers, B. (1997). Key account management: Theory, practice and challenges.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Management, 13</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(8), 737–757.</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Millman, T., &amp; Wilson, K. (1995). From key account selling to key account management.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Practice: Applied Marketing Science, 1</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9–21.</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Trần Nguyễn Huỳnh Như. (2023).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Chương 1: Tổng quan về quản lý khách hàng trong sự kiện</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[Slide bài giảng].</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2: Tư duy KAM và chọn Key Account</dc:title>
  <dc:subject>PptxGenJS Presentation</dc:subject>
  <dc:creator>Đoàn Nguyễn Bảo Quyên</dc:creator>
  <cp:lastModifiedBy>Đoàn Nguyễn Bảo Quyên</cp:lastModifiedBy>
  <cp:revision>1</cp:revision>
  <dcterms:created xsi:type="dcterms:W3CDTF">2026-10-04T04:46:58Z</dcterms:created>
  <dcterms:modified xsi:type="dcterms:W3CDTF">2026-10-04T04:46:58Z</dcterms:modified>
</cp:coreProperties>
</file>