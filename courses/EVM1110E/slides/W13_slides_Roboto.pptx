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13 — mở Phần 4. Hôm nay là buổi xưởng: ít lý thuyết, nhiều thời gian để mỗi nhóm ráp tất cả các trang đã làm thành một bản kế hoạch, theo đúng cấu trúc của đề thi.
(GV: Phần 4, buổi 1/3. Nhắc SV bày tất cả trang SMP đã làm (Buổi 1–12, giấy hoặc ảnh chụp) lên bàn. Đề thi chính thức đã công bố — SV nên có đề trên máy.)
Hỏi lớp: —
Chuyển ý: Câu hỏi đầu tiên của Customer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Buổi 14 và 15, nhóm bạn bước vào phòng với vai KAM Director của agency. Customer Board ngồi đối diện. 15 phút trình bày, 15 phút hỏi đáp. Câu hỏi đầu tiên nhiều khả năng là gì? A — nhóm đã làm những gì; B — kế hoạch này mang lại cho chúng tôi bao nhiêu giá trị; C — nhóm có bao nhiêu slide?
(GV: Đề thi mục 5: hội đồng hỏi trực tiếp, tập trung vào logic tài chính (giá trị, CLV, cost-to-serve, giả định) và chiến lược điểm chạm. Chốt: “Khách hàng quan tâm đến giá trị cho họ. Hôm nay: ráp mọi trang đã làm thành một kế hoạch trả lời được câu B.” Customer Board là giảng viên (đề thi) — không nói số người.)
Hỏi lớp: “A, B hay C?”
Chuyển ý: Đề thi yêu cầu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thi chính thức nói bốn điều. Khách hàng: một tổ chức từ dự án sự kiện nhóm đã làm — không làm dự án mới. Vai: nhóm là agency, lập Kế hoạch quản trị các bên liên quan xoay quanh Key Account Plan cho khách hàng đó. Phạm vi: chỉ các bên bên ngoài; không đi sâu nhân sự nội bộ, an toàn đám đông, phòng cháy chữa cháy. Sản phẩm: bản kế hoạch A4, 20 đến 30 trang nội dung chính, cộng slide, và bảo vệ trước Customer Board.
(GV: Đề thi mục 1–5 (Z10). Phạm vi loại trừ khớp lưu ý HSSEQ ở Buổi 5 (an toàn đám đông thuộc môn Quản trị rủi ro).)
Hỏi lớp: —
Chuyển ý: SMP và KAP liên quan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Key Account Plan là phần lõi: kế hoạch cho một khách hàng quan trọng — hiểu họ, tạo giá trị gì cho họ, thực hiện ra sao. Stakeholder Management Plan của môn là Key Account Plan cộng với việc điều phối các bên bên ngoài — nhà đầu tư và tài trợ, nhà cung cấp và địa điểm, báo chí và KOL, cơ quan quản lý — để giao giá trị cho Key Account. Vòng ngoài không phải chương riêng: nó nằm trong phần D.
(GV: Alt-text: hai vòng tròn đồng tâm; KAP ở lõi, bốn nhóm bên ngoài trỏ vào. Đề cương 13.1–13.2; đề thi mục 1 và phần D.)
Hỏi lớp: —
Chuyển ý: Vì sao phải lập kế hoạch.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Vì sao phải lập kế hoạch cẩn thận? Nghiên cứu với các thành viên Cranfield KAM Best Practice Club: công ty áp dụng tốt công cụ lập kế hoạch key account có khả năng triển khai KAM thành công cao hơn rõ rệt. Nhưng không tổ chức nào tự chấm kế hoạch của mình cao, và phần làm kém nhất là hiểu thế giới của khách hàng. Vì vậy khung của Cranfield bắt đầu từ đó. Kế hoạch có tầm nhìn khoảng ba năm — nó là quy trình, không phải tài liệu viết một lần.
(GV: Marcos et al. (2018), Ch.3, tr. 71–72 (nghiên cứu Cranfield KAM Best Practice Club) và tr. 81 (“the key account plan should be working to a three-year time horizon”). Z02 (blog Holt) ghi 3–5 năm. Câu trích nguyên văn tr. 72.)
Hỏi lớp: —
Chuyển ý: Khung Value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Khung Value Planning chia việc lập kế hoạch thành năm phần. A — Value Insights: phân tích thế giới của khách hàng. B — Value Opportunities: nhìn sang phía nhà cung cấp — cơ hội, phương án của ta với khách hàng này. C — Value Proposition: tạo đề xuất giá trị do khách hàng dẫn dắt, nói về việc giúp khách đạt mục tiêu kinh doanh, không khoe sản phẩm. D — Value Delivery: giao giá trị và đo thành công cho cả khách hàng lẫn ta. E — Executive Summary: bước cuối, thường bị làm ẩu, nhưng là công cụ để được lãnh đạo ủng hộ.
(GV: Marcos et al. (2018, tr. 72): “first presented by Davies and Holt in 2013… foundation in the KAM planning process developed by Ryals and McDonald… now also includes customer-led value proposition development”. Alt-text: bốn ô A→B→C→D theo vòng, ô E ở dưới. Đã đọc toàn văn Ch.3 — thay cho “định nghĩa làm việc” của Z09 ở các phần có nguồn.)
Hỏi lớp: —
Chuyển ý: Bộ công cụ của từng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có bộ công cụ cho từng phần. Đề thi chọn công cụ mà lớp mình đã học. Phần A gần như trùng: PESTEL và đối thủ của khách hàng; đề thi thêm DMU – GRASP, hành trình, Grid và Salience. Phần B khác nhiều nhất: giáo trình phân tích phía nhà cung cấp — đối thủ của ta, nội bộ ta, SWOT của ta; đề thi hỏi vì sao đây là Key Account, chất lượng quan hệ, CLV và cost-to-serve. Cả hai cùng hỏi một câu: ta có cơ hội gì với khách hàng này, đáng đầu tư đến đâu. Khi viết, theo đề thi.
(GV: Đối chiếu Marcos et al. (2018) Hình 3.5 với Đề thi mục “Đề tài”. SWOT 9 ô (tr. 76–77) không bắt buộc trong đề — nhóm có thể dùng để rút nhu cầu ở phần A. Đã kiểm tra: bảng kết thúc y = 6.15, nguồn ở 6.55.)
Hỏi lớp: —
Chuyển ý: Mỗi phần trả lời một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thi viết sẵn câu hỏi cho từng phần. A: khách hàng là ai, ở hoàn cảnh nào, môi trường và đối thủ tạo ra nhu cầu gì, ai quyết định, khách của họ đi hành trình nào. B: vì sao là Key Account, quan hệ hiện tại ra sao, CLV và cost-to-serve bao nhiêu với giả định nào, cơ hội và rủi ro lớn nhất. C: đề xuất giá trị gì, từ nguồn nào, bao nhiêu, đồng kiến tạo thế nào. D: quản trị quan hệ ra sao, mỗi bên bên ngoài gắn điểm chạm nào, tạo giá trị gì, quản lý bằng gì, xung đột và bảo vệ cam kết. E: trong một trang, hội đồng cần biết gì để đồng ý?
(GV: Nguyên văn đầy đủ ở Đề thi, phần “Đề tài”. Các câu hỏi này cũng là tiêu đề mục gợi ý cho bản kế hoạch.)
Hỏi lớp: —
Chuyển ý: Thứ tự viết và thứ tự đọc.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Viết theo thứ tự A, B, C, D rồi mới viết E — vì E chỉ tóm tắt được điều đã phân tích xong. Nhưng đặt E ở trang đầu: đề thi yêu cầu Executive Summary tối đa một trang, đặt đầu kế hoạch. Hội đồng đọc E trước. Giáo trình gợi ý: gói trong một trang, dùng bốn tiêu đề A, B, C, D.
(GV: Marcos et al. (2018, tr. 82): “The best way to construct it is to confine it to one page using the four main section headings”. Alt-text: hai dãy năm vòng tròn có mũi tên — A→E và E→D.)
Hỏi lớp: —
Chuyển ý: Khi thiếu dữ liệu thì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Khách hàng của các bạn là từ dự án cũ. Có nhiều điều các bạn không biết chắc: ngân sách năm sau, doanh thu, số khách. Cranfield khuyên: được đặt giả định — nhưng phải ghi rõ trong kế hoạch rằng đó là giả định. Đề thi nói thẳng hơn: mọi số liệu phải có nguồn, hoặc ghi “Giả định: … vì …”, không bịa số liệu về khách hàng. Mẫu: giả định, vì, kiểm chứng bằng. Các giả định chính đi vào Phụ lục 3 — và hội đồng sẽ hỏi nếu giả định sai thì sao.
(GV: Trích Z01 (Davies, KAM Forum). Đề thi mục 3 và Phụ lục bắt buộc (3). Tiêu chí 9 chấm “độ nhạy giả định”. Ví dụ “giảm 10%” là minh họa cách viết, không phải dữ liệu thật.)
Hỏi lớp: —
Chuyển ý: Bộ khung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Đây là bộ khung Nova – An Phát, ráp từ các buổi trước. A: ngân hàng, mảng khách doanh nghiệp VIP, giám đốc marketing mới, DMU năm vai, khách của An Phát là 600 lãnh đạo doanh nghiệp. B: hấp dẫn, sẵn sàng đồng đầu tư; CLV 5 năm khoảng 926 triệu; rủi ro đổi đầu mối, ngân sách giảm. C: giữ và mở rộng quan hệ với khách VIP — từ một gala thành chương trình cả năm. D: Bow-tie sang Diamond, ROI 6 cấp, các bên bên ngoài, năm bước xử lý xung đột. Đây là khung, không phải bài mẫu. Khách hàng của nhóm bạn khác — phần A của bạn phải khác hoàn toàn.
(GV: Lecture notes §1.5; quyết định GV 6 (không phát bài mẫu SMP hoàn chỉnh). CLV 926 triệu: deck W06 slide “CLV 5 năm của An Phát” (giả định). Đã thay họ tên nhân vật bằng chức danh để làm mẫu cho quy định “dùng chức danh” của đề thi.)
Hỏi lớp: —
Chuyển ý: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30 phút. Ba phút: bày tất cả trang đã làm lên bàn, kẻ năm ô A đến E trên giấy A1. Mười phút: viết một câu cho mỗi ô A đến D; E để trống, viết ở Thực hành 2. Mười hai phút: bảng truy vết — trang nào đi vào phần nào, còn thiếu gì, giả định gì, ai hoàn thiện; phần nào không có trang nào thì đánh dấu đỏ. Năm phút: ba giả định quan trọng nhất. Bảng truy vết và giả định chính là nháp của Phụ lục 2 và Phụ lục 3 trong đề thi.
(GV: Phiếu W13_activity_S3_rap_khung_A_E.md. Mốc phút 25–55. Ghi lên bảng các phần 🔴 của 6 nhóm. Chụp ảnh khung (Phụ lục 2 yêu cầu ảnh chụp các trang làm trên lớp).)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Hỏi lớp: —
Chuyển ý: Phần C — giá trị có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Phần C. McDonald định nghĩa value proposition là việc dịch đề xuất của nhà cung cấp ra tiền, để chứng minh đóng góp vào lợi nhuận của khách hàng. Với tổ chức không vì lợi nhuận, thay lợi nhuận bằng mục tiêu của họ. Cấu trúc CVP đã học ở Buổi 5, cũng là tiêu chí 4 của đề thi: Future state — khách muốn ở đâu; Offering 7P — agency làm gì để đưa họ đến đó; Value appraisal — giá trị bao nhiêu.
(GV: Z05 (định nghĩa — không dùng số liệu 5%/1%/25%, quyết định GV 7). Lỗi Buổi 5: future state là giải pháp của agency (“gala hoành tráng”); value appraisal chỉ có “khách hài lòng”.)
Hỏi lớp: —
Chuyển ý: Giá trị đến từ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thi hỏi: giá trị đến từ nguồn nào — top line, bottom line, HSSEQ, advisory, khách của khách hàng. Đây là năm nguồn đã học ở Buổi 5. Top line: giúp khách tăng doanh thu. Bottom line: giảm chi phí. HSSEQ: uy tín và tính liên tục — tránh sự cố. Advisory: tư vấn, chia sẻ insight — nguồn agency hay quên nhất. Và khách của khách hàng. Không cần đủ năm nguồn; chọn nguồn mạnh nhất và định lượng.
(GV: Năm nguồn thay cho cách chia bốn (tăng/giảm/tránh chi phí + cảm xúc) trong lecture notes §2.1 bản cũ — để khớp đề thi tiêu chí 4. Ánh xạ: tăng giá trị ≈ top line; giảm chi phí ≈ bottom line; tránh chi phí ≈ HSSEQ. Ví dụ là nhận định của người soạn.)
Hỏi lớp: —
Chuyển ý: Tính giá trị có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công thức minh họa: giá trị ước tính bằng số khách doanh nghiệp giữ thêm nhân lợi nhuận bình quân mỗi khách mỗi năm, cộng chi phí tránh được, trừ chi phí chương trình. Mỗi con số trong đó có nguồn hoặc là giả định ghi rõ. Và chuẩn bị cho câu hỏi “nếu sai thì sao?”. Nhớ ví dụ Buổi 6: tỷ lệ giữ chân của An Phát giảm từ 85% xuống 70%, CLV mất khoảng 206 triệu. Đó là độ nhạy — tiêu chí 9 của đề thi chấm đúng điều này cho từng cá nhân.
(GV: Đề thi tiêu chí 9 (cá nhân, 10%): “CLV, cost-to-serve, giá trị định lượng, độ nhạy giả định” — mức Xuất sắc: “nêu được nguồn/giả định và tác động khi giả định thay đổi”. Nếu trễ giờ: bỏ tính trên bảng, giữ công thức.)
Hỏi lớp: “Trong SMP của nhóm, con số nào nhạy nhất?”
Chuyển ý: Mỗi lời hứa cần một dòng đo.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Davies nói: việc của nhà cung cấp là chỉ ra giá trị đã hứa sẽ được ghi nhận thế nào — bằng ROI và KPI. Vậy mỗi lời hứa ở phần C cần một dòng đo ở phần D: đo bằng gì, ai đo, khi nào. Ví dụ: hứa giữ thêm khách doanh nghiệp VIP — đo tỷ lệ khách quay lại năm sau, ROI cấp 4, đo cùng An Phát ở đánh giá chung cuối năm. Rubric tiêu chí 5, mức xuất sắc: mỗi lời hứa ở C có cách đo.
(GV: Z06. Đề thi tiêu chí 5 (8%). Đã kiểm tra: bảng kết thúc y ≈ 5.98, nguồn 6.4.)
Hỏi lớp: —
Chuyển ý: Kế hoạch hành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gợi ý kế hoạch hành động thường là một bảng tính, mỗi việc có tám cột: việc chính, người phụ trách, bộ phận hoặc bên phối hợp, nguồn lực, đo tiến độ, KPI khi xong, hạn, và ngày xong. Phần D của giáo trình có ba mảnh: D1 kế hoạch hành động, D2 ghi nhận giá trị đã giao cho cả hai bên, D3 dự phóng tài chính khoảng ba năm. Với SMP, cột “bên phối hợp” là chỗ các bên bên ngoài xuất hiện.
(GV: Marcos et al. (2018, tr. 81): danh sách cột của action plan; tr. 82: D.2 “captures the value gained by you and your key account”, D.3 “projection of the financial outcomes… three-year time horizon”. Ô [hạn] để trống có chủ ý — không tự đặt ngày.)
Hỏi lớp: —
Chuyển ý: Phần D, mảnh 1: quan hệ với Key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Phần D có hai mảnh. Mảnh 1 — quan hệ với Key Account, tiêu chí 5, 8%. Bốn thứ: chiến lược mua sắm và đàm phán theo Kraljic, Buổi 7; tiếp xúc nhiều cấp từ Bow-tie sang Diamond; chỉ số kết quả và quá trình, ROI 6 cấp; và đánh giá chung định kỳ, Buổi 8. Rubric chấm thấp kế hoạch chỉ đo “hài lòng”. Mức xuất sắc: tiếp xúc nhiều cấp, chỉ số đo được, có lịch đánh giá chung.
(GV: Đề thi tiêu chí 5 — trích mức Xuất sắc và Trung bình. Trang SMP đã làm ở Buổi 7–8 đi vào đây.)
Hỏi lớp: —
Chuyển ý: Mảnh 2: bên liên quan bên ngoài.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Mảnh 2 — các bên bên ngoài, tiêu chí 6, 10%. Mỗi bên trả lời bốn câu. Một: gắn vào điểm chạm nào trên hành trình — trước, trong hay sau; đối tác sở hữu hay bên ngoài. Hai: tạo giá trị gì cho khách của Key Account. Ba: quản lý bằng gì — hợp đồng, ESG, KPI, người phụ trách. Bốn: rủi ro, xung đột, và cách bảo vệ deliverables. Mức xuất sắc: đủ ba nhóm, ít nhất hai xung đột kèm cách bảo vệ deliverables, và một cơ chế minh bạch.
(GV: Đề thi tiêu chí 6 — trích mức Xuất sắc. Lemon &amp; Verhoef (2016) cho các loại điểm chạm. Để slide này chiếu suốt Thực hành 2.)
Hỏi lớp: —
Chuyển ý: 13.2 là một 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13.2 không phải thêm ba chương rời. Đó là một bảng trong phần D. Nhà đầu tư và tài trợ — trang Buổi 9. Nhà cung cấp và địa điểm — Buổi 10. Báo chí và KOL — Buổi 11. Cả mạng lưới — Buổi 12. Mọi bên cùng phục vụ một hành trình của khách hàng.
(GV: Lecture notes §2.2. Đã kiểm tra: bảng kết thúc y ≈ 5.75, hộp vàng 5.9.)
Hỏi lớp: —
Chuyển ý: Phần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Executive Summary — năm câu. Một: khách hàng là ai, đang cần gì. Hai: cơ hội lớn nhất. Ba: agency đề xuất gì, trong một câu. Bốn: giá trị có số và đo bằng gì, ghi giả định. Năm: Customer Board cần quyết gì — ngân sách, cam kết, chia sẻ dữ liệu. Rubric tiêu chí 1: tối đa một trang, nêu nhu cầu, đề xuất, giá trị có số, việc cần quyết; đọc riêng vẫn hiểu. Mức kém: kể lại quá trình làm bài.
(GV: Khung 5 câu là đề xuất của người soạn; khớp mức Xuất sắc của tiêu chí 1 (“nêu rõ nhu cầu khách hàng, đề xuất, giá trị có số và việc cần quyết; đọc riêng vẫn hiểu”). Để chiếu suốt Thực hành 2.)
Hỏi lớp: —
Chuyển ý: Mười lỗi.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Cranfield liệt kê mười lỗi khiến key account plan thất bại. Với nhóm sinh viên, ba lỗi dễ gặp nhất: một người viết — KAM làm một mình; toàn nói về mình, ít hiểu khách hàng; và coi kế hoạch là điền ô. Rubric phạt đúng các lỗi này: tiêu chí 2 mức kém là “nói về agency thay vì khách hàng”, mức trung bình là “liệt kê công cụ như điền ô”. Và tiêu chí 11 chấm từng người có hiểu cả phần không do mình viết.
(GV: Z02. Ánh xạ sang rubric là nhận định của người soạn.)
Hỏi lớp: “Nhóm bạn đang có nguy cơ mắc lỗi nào?”
Chuyển ý: Rubric chính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Rubric chính thức có 11 tiêu chí. Phần I — bản kế hoạch, 60%, điểm chung của nhóm: E 5%, A 12%, B 10%, C 10%, D quan hệ Key Account 8%, D bên ngoài 10%, trình bày và liêm chính 5%. Phần II — 40%: trình bày 10% là điểm nhóm; ba tiêu chí còn lại là điểm cá nhân — bảo vệ logic tài chính, bảo vệ chiến lược điểm chạm, phản biện và làm việc nhóm, mỗi tiêu chí 10%. Nghĩa là 30% điểm của bạn phụ thuộc vào câu trả lời của chính bạn.
(GV: Đề thi mục 6. Phần A nặng nhất (12%) — khớp nhận định của Cranfield rằng hiểu thế giới khách hàng là phần làm kém nhất. Đã kiểm tra: bảng trái kết thúc y ≈ 6.0; bảng phải ≈ 4.5; hộp vàng 4.65–6.15.)
Hỏi lớp: —
Chuyển ý: Hình thức và nộp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Hình thức. Khổ A4, Times New Roman 13, giãn dòng 1,3, lề trên dưới 2 phân, trái 3, phải 2, đánh số trang. Nội dung chính 20 đến 30 trang, không tính bìa, mục lục, tài liệu tham khảo và phụ lục. Nộp trên LMS trước 23 giờ 59 ngày 14 tháng 10 năm 2026: một file PDF kế hoạch và một file slide, đặt tên theo mẫu. Nộp trễ một ngày trừ 20%; không nộp trễ quá ba ngày. Bìa ghi đủ thông tin; tên khách hàng được viết tắt.
(GV: Đề thi mục 2 và 4 — chép nguyên các thông số; không thêm. Slide tham khảo — có thể lướt nhanh vì SV đã có đề.)
Hỏi lớp: —
Chuyển ý: Bốn phụ lục bắt buộc.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thi yêu cầu bốn phụ lục. Một: phân công và tự đánh giá đóng góp của từng thành viên — đây là căn cứ chấm làm việc nhóm. Hai: bảng truy vết các trang đã làm trên lớp từ Buổi 1 đến 13, kèm ảnh chụp. Ba: danh sách giả định chính. Bốn: công bố sử dụng AI nếu có. Phụ lục 2 và 3 các bạn bắt đầu ngay ở Thực hành 1 hôm nay. Thiếu phụ lục bắt buộc thì tiêu chí 7 rơi xuống mức kém.
(GV: Đề thi mục 2 (Phụ lục bắt buộc) và tiêu chí 7 (mức Kém: “thiếu phụ lục bắt buộc”).)
Hỏi lớp: —
Chuyển ý: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Về AI, quy định rất rõ: được dùng, chỉ cần khai báo, và phải hiểu bài — thể hiện qua việc trả lời được câu hỏi vấn đáp. Phụ lục khai báo có ba cột: công cụ nào, dùng cho phần nào và việc gì, nhóm đã kiểm tra và sửa gì. Đề thi yêu cầu mọi thành viên tự giải thích được mọi phần của kế hoạch, và hội đồng có thể chỉ định người trả lời. AI không biết khách hàng của các bạn, không có mặt ở dự án cũ, và không đứng trả lời Customer Board thay các bạn.
(GV: Quyết định GV ngày 4/10/2026 (thay mức D đề xuất trước đó). Mẫu phụ lục: theo ba cột của đề thi mục 3. Không nhắc và không dùng công cụ phát hiện AI (shared/ai_era_integrity.md) — vấn đáp là cơ chế xác nhận.)
Hỏi lớp: —
Chuyển ý: Buổi bảo vệ diễn ra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Buổi bảo vệ. 15 phút trình bày trong vai KAM Director, tập trung vào giá trị cho khách hàng. 15 phút hỏi đáp: logic tài chính — giá trị, CLV, cost-to-serve, giả định; và điểm chạm — trước, trong, sau, vai trò các bên bên ngoài. Mỗi thành viên trả lời ít nhất một câu; hội đồng có thể chỉ định người. Ngôn ngữ là tiếng Việt. Và không đưa thông tin cá nhân của người thật tại khách hàng — dùng chức danh.
(GV: Đề thi mục 3 và 5; tiêu chí 8–11. [NEEDS PROFESSOR INPUT: thứ tự nhóm bảo vệ ở Buổi 14 và 15.])
Hỏi lớp: —
Chuyển ý: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35 phút. Mười hai phút: bảng phần D — mỗi nhóm bên ngoài ít nhất một bên, trả lời bốn câu, cộng hai xung đột và cách bảo vệ deliverables. Năm phút: Executive Summary năm câu trên A3. Mười phút: xoay trạm hai vòng; các bạn đóng vai Customer Board, để lại một câu hỏi tài chính trên giấy vàng và một câu hỏi điểm chạm trên giấy hồng. Trạm chỉ định người trả lời — giống luật buổi bảo vệ. Năm phút cuối: về bàn sửa, ghi câu hỏi khó nhất.
(GV: Phiếu W13_activity_S6_value_delivery_exec_summary.md. Mốc phút 85–120 (3’ mở đầu không ghi trên slide). Ghi các câu hỏi tài chính lặp lại lên bảng. Nếu trễ giờ: xoay 1 vòng.)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13. Một: SMP là Key Account Plan cộng điều phối bên ngoài, theo Value Planning Framework — bắt đầu từ thế giới của khách hàng; mọi con số có nguồn hoặc giả định. Hai: phần C có số, từ năm nguồn giá trị; mỗi lời hứa có một dòng đo ở D; 13.2 là một bảng. Ba: phần E viết cuối, đặt đầu, một trang; bốn phụ lục bắt buộc; khai báo AI; mỗi người tự bảo vệ được mọi phần.
(GV: Việc nhóm cần làm trước hạn nộp: điền các ô 🔴 trong bảng truy vết; sửa theo note của Customer Board; chạy checklist tự rà soát; hoàn thiện bốn phụ lục.)
Hỏi lớp: —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cá nhân, không chấm điểm. Một: phần nào trong A đến E của nhóm bạn đang yếu nhất — cần thông tin gì, từ đâu? Hai: viết một câu value proposition cho khách hàng của nhóm, có con số, ghi rõ đâu là giả định.
(GV: Xem: (a) nhận ra phần yếu cụ thể; (b) value proposition nói về giá trị cho khách hàng, không chỉ “dịch vụ của chúng tôi”; (c) có số và phân biệt số thật với giả định.)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Buổi 14 và 15, các bạn là KAM Director trước Customer Board. Hạn nộp bản kế hoạch và slide trên LMS: 23 giờ 59 ngày 14 tháng 10 năm 2026. Hội đồng sẽ hỏi hai điều: giá trị này bao nhiêu tiền, và các bạn chạm vào khách hàng của họ ở đâu, bằng ai.
(GV: Câu nối theo giáo án. Hạn nộp theo đề thi mục 4. [NEEDS PROFESSOR INPUT: nếu AM2 có bài cho Buổi 13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13, theo APA 7.
(GV: Danh mục đầy đủ Z01–Z10 trong buoi-13_tu-lieu-tong-hop.md, mục 6 và 8.)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Roboto" pitchFamily="34" charset="0"/>
                <a:ea typeface="Roboto" pitchFamily="34" charset="-122"/>
                <a:cs typeface="Roboto" pitchFamily="34" charset="-120"/>
              </a:rPr>
              <a:t>Bài 13: Xây dựng SMP quanh Key Account Plan</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Roboto" pitchFamily="34" charset="0"/>
                <a:ea typeface="Roboto" pitchFamily="34" charset="-122"/>
                <a:cs typeface="Roboto" pitchFamily="34" charset="-120"/>
              </a:rPr>
              <a:t>EVM1110E Quản trị mối quan hệ trong tổ chức sự kiện · Buổi 13</a:t>
            </a:r>
            <a:endParaRPr lang="en-US" sz="1800" dirty="0"/>
          </a:p>
          <a:p>
            <a:pPr indent="0" marL="0">
              <a:buNone/>
            </a:pPr>
            <a:r>
              <a:rPr lang="en-US" sz="1800" dirty="0">
                <a:solidFill>
                  <a:srgbClr val="A9B6D3"/>
                </a:solidFill>
                <a:latin typeface="Roboto" pitchFamily="34" charset="0"/>
                <a:ea typeface="Roboto" pitchFamily="34" charset="-122"/>
                <a:cs typeface="Roboto" pitchFamily="34" charset="-120"/>
              </a:rPr>
              <a:t>Building the SMP around the Key Account Plan</a:t>
            </a:r>
            <a:endParaRPr lang="en-US" sz="1800" dirty="0"/>
          </a:p>
          <a:p>
            <a:pPr indent="0" marL="0">
              <a:buNone/>
            </a:pPr>
            <a:r>
              <a:rPr lang="en-US" sz="1800" dirty="0">
                <a:solidFill>
                  <a:srgbClr val="A9B6D3"/>
                </a:solidFill>
                <a:latin typeface="Roboto" pitchFamily="34" charset="0"/>
                <a:ea typeface="Roboto" pitchFamily="34" charset="-122"/>
                <a:cs typeface="Roboto"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Customer Board sẽ hỏi: kế hoạch này mang lại cho chúng tôi bao nhiêu giá trị?</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5303520" cy="82296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Buổi 14–15. Nhóm bạn là KAM Director của agency. Customer Board ngồi đối diện.</a:t>
            </a:r>
            <a:endParaRPr lang="en-US" sz="1700" dirty="0"/>
          </a:p>
        </p:txBody>
      </p:sp>
      <p:sp>
        <p:nvSpPr>
          <p:cNvPr id="7" name="Text 4"/>
          <p:cNvSpPr txBox="1"/>
          <p:nvPr/>
        </p:nvSpPr>
        <p:spPr>
          <a:xfrm>
            <a:off x="822960" y="2926080"/>
            <a:ext cx="6217920" cy="265176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15 phút trình bày + 15 phút hỏi đáp</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Hội đồng hỏi về logic tài chính: giá trị, CLV, cost-to-serve, giả định</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…và chiến lược điểm chạm: trước – trong – sau, vai trò các bên liên quan bên ngoài</a:t>
            </a:r>
            <a:endParaRPr lang="en-US" sz="1600" dirty="0"/>
          </a:p>
        </p:txBody>
      </p:sp>
      <p:sp>
        <p:nvSpPr>
          <p:cNvPr id="8" name="Shape 5"/>
          <p:cNvSpPr/>
          <p:nvPr/>
        </p:nvSpPr>
        <p:spPr>
          <a:xfrm>
            <a:off x="7452360" y="1783080"/>
            <a:ext cx="4187952" cy="3931920"/>
          </a:xfrm>
          <a:prstGeom prst="roundRect">
            <a:avLst>
              <a:gd name="adj" fmla="val 1860"/>
            </a:avLst>
          </a:prstGeom>
          <a:solidFill>
            <a:srgbClr val="22395F"/>
          </a:solidFill>
          <a:ln w="12700">
            <a:solidFill>
              <a:srgbClr val="22395F"/>
            </a:solidFill>
            <a:prstDash val="solid"/>
          </a:ln>
        </p:spPr>
      </p:sp>
      <p:sp>
        <p:nvSpPr>
          <p:cNvPr id="9" name="Text 6"/>
          <p:cNvSpPr txBox="1"/>
          <p:nvPr/>
        </p:nvSpPr>
        <p:spPr>
          <a:xfrm>
            <a:off x="7680960" y="1874520"/>
            <a:ext cx="3749040" cy="54864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Giơ tay: câu hỏi đầu tiên là…</a:t>
            </a:r>
            <a:endParaRPr lang="en-US" sz="1700" dirty="0"/>
          </a:p>
        </p:txBody>
      </p:sp>
      <p:sp>
        <p:nvSpPr>
          <p:cNvPr id="10" name="Shape 7"/>
          <p:cNvSpPr/>
          <p:nvPr/>
        </p:nvSpPr>
        <p:spPr>
          <a:xfrm>
            <a:off x="7680960" y="2560320"/>
            <a:ext cx="3730752" cy="822960"/>
          </a:xfrm>
          <a:prstGeom prst="roundRect">
            <a:avLst>
              <a:gd name="adj" fmla="val 8889"/>
            </a:avLst>
          </a:prstGeom>
          <a:solidFill>
            <a:srgbClr val="FF9259"/>
          </a:solidFill>
          <a:ln w="12700">
            <a:solidFill>
              <a:srgbClr val="FF9259"/>
            </a:solidFill>
            <a:prstDash val="solid"/>
          </a:ln>
        </p:spPr>
      </p:sp>
      <p:sp>
        <p:nvSpPr>
          <p:cNvPr id="11" name="Text 8"/>
          <p:cNvSpPr txBox="1"/>
          <p:nvPr/>
        </p:nvSpPr>
        <p:spPr>
          <a:xfrm>
            <a:off x="7818120" y="2560320"/>
            <a:ext cx="3474720" cy="8229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A · “Nhóm đã làm những gì?”</a:t>
            </a:r>
            <a:endParaRPr lang="en-US" sz="1600" dirty="0"/>
          </a:p>
        </p:txBody>
      </p:sp>
      <p:sp>
        <p:nvSpPr>
          <p:cNvPr id="12" name="Shape 9"/>
          <p:cNvSpPr/>
          <p:nvPr/>
        </p:nvSpPr>
        <p:spPr>
          <a:xfrm>
            <a:off x="7680960" y="3520440"/>
            <a:ext cx="3730752" cy="822960"/>
          </a:xfrm>
          <a:prstGeom prst="roundRect">
            <a:avLst>
              <a:gd name="adj" fmla="val 8889"/>
            </a:avLst>
          </a:prstGeom>
          <a:solidFill>
            <a:srgbClr val="49B296"/>
          </a:solidFill>
          <a:ln w="12700">
            <a:solidFill>
              <a:srgbClr val="49B296"/>
            </a:solidFill>
            <a:prstDash val="solid"/>
          </a:ln>
        </p:spPr>
      </p:sp>
      <p:sp>
        <p:nvSpPr>
          <p:cNvPr id="13" name="Text 10"/>
          <p:cNvSpPr txBox="1"/>
          <p:nvPr/>
        </p:nvSpPr>
        <p:spPr>
          <a:xfrm>
            <a:off x="7818120" y="3520440"/>
            <a:ext cx="3474720" cy="8229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B · “Chúng tôi được bao nhiêu giá trị?”</a:t>
            </a:r>
            <a:endParaRPr lang="en-US" sz="1600" dirty="0"/>
          </a:p>
        </p:txBody>
      </p:sp>
      <p:sp>
        <p:nvSpPr>
          <p:cNvPr id="14" name="Shape 11"/>
          <p:cNvSpPr/>
          <p:nvPr/>
        </p:nvSpPr>
        <p:spPr>
          <a:xfrm>
            <a:off x="7680960" y="4480560"/>
            <a:ext cx="3730752" cy="822960"/>
          </a:xfrm>
          <a:prstGeom prst="roundRect">
            <a:avLst>
              <a:gd name="adj" fmla="val 8889"/>
            </a:avLst>
          </a:prstGeom>
          <a:solidFill>
            <a:srgbClr val="09A1E5"/>
          </a:solidFill>
          <a:ln w="12700">
            <a:solidFill>
              <a:srgbClr val="09A1E5"/>
            </a:solidFill>
            <a:prstDash val="solid"/>
          </a:ln>
        </p:spPr>
      </p:sp>
      <p:sp>
        <p:nvSpPr>
          <p:cNvPr id="15" name="Text 12"/>
          <p:cNvSpPr txBox="1"/>
          <p:nvPr/>
        </p:nvSpPr>
        <p:spPr>
          <a:xfrm>
            <a:off x="7818120" y="4480560"/>
            <a:ext cx="3474720" cy="8229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C · “Nhóm có bao nhiêu slide?”</a:t>
            </a:r>
            <a:endParaRPr lang="en-US" sz="1600" dirty="0"/>
          </a:p>
        </p:txBody>
      </p:sp>
      <p:sp>
        <p:nvSpPr>
          <p:cNvPr id="16" name="Text 1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Đề thi cuối kỳ EVM1110E, HK1A 2026–2027, mục 5 (Z10).</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Đề thi: một khách hàng cũ, một bản kế hoạch, một buổi bảo vệ</a:t>
            </a:r>
            <a:endParaRPr lang="en-US" sz="2800" dirty="0"/>
          </a:p>
        </p:txBody>
      </p:sp>
      <p:sp>
        <p:nvSpPr>
          <p:cNvPr id="3" name="Shape 1"/>
          <p:cNvSpPr/>
          <p:nvPr/>
        </p:nvSpPr>
        <p:spPr>
          <a:xfrm>
            <a:off x="548640" y="1783080"/>
            <a:ext cx="2615184"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2249424"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Khách hàng</a:t>
            </a:r>
            <a:endParaRPr lang="en-US" sz="1600" dirty="0"/>
          </a:p>
        </p:txBody>
      </p:sp>
      <p:sp>
        <p:nvSpPr>
          <p:cNvPr id="5" name="Shape 3"/>
          <p:cNvSpPr/>
          <p:nvPr/>
        </p:nvSpPr>
        <p:spPr>
          <a:xfrm>
            <a:off x="548640" y="2514600"/>
            <a:ext cx="2615184" cy="2697480"/>
          </a:xfrm>
          <a:prstGeom prst="roundRect">
            <a:avLst>
              <a:gd name="adj" fmla="val 2797"/>
            </a:avLst>
          </a:prstGeom>
          <a:solidFill>
            <a:srgbClr val="22395F"/>
          </a:solidFill>
          <a:ln w="12700">
            <a:solidFill>
              <a:srgbClr val="22395F"/>
            </a:solidFill>
            <a:prstDash val="solid"/>
          </a:ln>
        </p:spPr>
      </p:sp>
      <p:sp>
        <p:nvSpPr>
          <p:cNvPr id="6" name="Text 4"/>
          <p:cNvSpPr txBox="1"/>
          <p:nvPr/>
        </p:nvSpPr>
        <p:spPr>
          <a:xfrm>
            <a:off x="731520" y="2651760"/>
            <a:ext cx="2249424" cy="246888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01 tổ chức từ dự án sự kiện nhóm đã làm ở học phần trước.</a:t>
            </a:r>
            <a:endParaRPr lang="en-US" sz="1500" dirty="0"/>
          </a:p>
          <a:p>
            <a:pPr indent="0" marL="0">
              <a:buNone/>
            </a:pPr>
            <a:r>
              <a:rPr lang="en-US" sz="1500" dirty="0">
                <a:solidFill>
                  <a:srgbClr val="FBFAF4"/>
                </a:solidFill>
                <a:latin typeface="Roboto" pitchFamily="34" charset="0"/>
                <a:ea typeface="Roboto" pitchFamily="34" charset="-122"/>
                <a:cs typeface="Roboto" pitchFamily="34" charset="-120"/>
              </a:rPr>
              <a:t>Không làm dự án mới.</a:t>
            </a:r>
            <a:endParaRPr lang="en-US" sz="1500" dirty="0"/>
          </a:p>
        </p:txBody>
      </p:sp>
      <p:sp>
        <p:nvSpPr>
          <p:cNvPr id="7" name="Text 5"/>
          <p:cNvSpPr txBox="1"/>
          <p:nvPr/>
        </p:nvSpPr>
        <p:spPr>
          <a:xfrm>
            <a:off x="548640" y="5257800"/>
            <a:ext cx="2615184"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Đề thi mục 1</a:t>
            </a:r>
            <a:endParaRPr lang="en-US" sz="1200" dirty="0"/>
          </a:p>
        </p:txBody>
      </p:sp>
      <p:sp>
        <p:nvSpPr>
          <p:cNvPr id="8" name="Shape 6"/>
          <p:cNvSpPr/>
          <p:nvPr/>
        </p:nvSpPr>
        <p:spPr>
          <a:xfrm>
            <a:off x="3374136" y="1783080"/>
            <a:ext cx="2615184"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3557016" y="1783080"/>
            <a:ext cx="2249424"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Vai</a:t>
            </a:r>
            <a:endParaRPr lang="en-US" sz="1600" dirty="0"/>
          </a:p>
        </p:txBody>
      </p:sp>
      <p:sp>
        <p:nvSpPr>
          <p:cNvPr id="10" name="Shape 8"/>
          <p:cNvSpPr/>
          <p:nvPr/>
        </p:nvSpPr>
        <p:spPr>
          <a:xfrm>
            <a:off x="3374136" y="2514600"/>
            <a:ext cx="2615184" cy="2697480"/>
          </a:xfrm>
          <a:prstGeom prst="roundRect">
            <a:avLst>
              <a:gd name="adj" fmla="val 2797"/>
            </a:avLst>
          </a:prstGeom>
          <a:solidFill>
            <a:srgbClr val="22395F"/>
          </a:solidFill>
          <a:ln w="12700">
            <a:solidFill>
              <a:srgbClr val="22395F"/>
            </a:solidFill>
            <a:prstDash val="solid"/>
          </a:ln>
        </p:spPr>
      </p:sp>
      <p:sp>
        <p:nvSpPr>
          <p:cNvPr id="11" name="Text 9"/>
          <p:cNvSpPr txBox="1"/>
          <p:nvPr/>
        </p:nvSpPr>
        <p:spPr>
          <a:xfrm>
            <a:off x="3557016" y="2651760"/>
            <a:ext cx="2249424" cy="246888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Nhóm là agency tổ chức sự kiện. Lập SMP xoay quanh Key Account Plan cho khách hàng đó.</a:t>
            </a:r>
            <a:endParaRPr lang="en-US" sz="1500" dirty="0"/>
          </a:p>
        </p:txBody>
      </p:sp>
      <p:sp>
        <p:nvSpPr>
          <p:cNvPr id="12" name="Text 10"/>
          <p:cNvSpPr txBox="1"/>
          <p:nvPr/>
        </p:nvSpPr>
        <p:spPr>
          <a:xfrm>
            <a:off x="3374136" y="5257800"/>
            <a:ext cx="2615184"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Đề thi mục 1</a:t>
            </a:r>
            <a:endParaRPr lang="en-US" sz="1200" dirty="0"/>
          </a:p>
        </p:txBody>
      </p:sp>
      <p:sp>
        <p:nvSpPr>
          <p:cNvPr id="13" name="Shape 11"/>
          <p:cNvSpPr/>
          <p:nvPr/>
        </p:nvSpPr>
        <p:spPr>
          <a:xfrm>
            <a:off x="6199632" y="1783080"/>
            <a:ext cx="2615184" cy="594360"/>
          </a:xfrm>
          <a:prstGeom prst="roundRect">
            <a:avLst>
              <a:gd name="adj" fmla="val 12308"/>
            </a:avLst>
          </a:prstGeom>
          <a:solidFill>
            <a:srgbClr val="FF9259"/>
          </a:solidFill>
          <a:ln w="12700">
            <a:solidFill>
              <a:srgbClr val="FF9259"/>
            </a:solidFill>
            <a:prstDash val="solid"/>
          </a:ln>
        </p:spPr>
      </p:sp>
      <p:sp>
        <p:nvSpPr>
          <p:cNvPr id="14" name="Text 12"/>
          <p:cNvSpPr txBox="1"/>
          <p:nvPr/>
        </p:nvSpPr>
        <p:spPr>
          <a:xfrm>
            <a:off x="6382512" y="1783080"/>
            <a:ext cx="2249424"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Phạm vi</a:t>
            </a:r>
            <a:endParaRPr lang="en-US" sz="1600" dirty="0"/>
          </a:p>
        </p:txBody>
      </p:sp>
      <p:sp>
        <p:nvSpPr>
          <p:cNvPr id="15" name="Shape 13"/>
          <p:cNvSpPr/>
          <p:nvPr/>
        </p:nvSpPr>
        <p:spPr>
          <a:xfrm>
            <a:off x="6199632" y="2514600"/>
            <a:ext cx="2615184" cy="2697480"/>
          </a:xfrm>
          <a:prstGeom prst="roundRect">
            <a:avLst>
              <a:gd name="adj" fmla="val 2797"/>
            </a:avLst>
          </a:prstGeom>
          <a:solidFill>
            <a:srgbClr val="22395F"/>
          </a:solidFill>
          <a:ln w="12700">
            <a:solidFill>
              <a:srgbClr val="22395F"/>
            </a:solidFill>
            <a:prstDash val="solid"/>
          </a:ln>
        </p:spPr>
      </p:sp>
      <p:sp>
        <p:nvSpPr>
          <p:cNvPr id="16" name="Text 14"/>
          <p:cNvSpPr txBox="1"/>
          <p:nvPr/>
        </p:nvSpPr>
        <p:spPr>
          <a:xfrm>
            <a:off x="6382512" y="2651760"/>
            <a:ext cx="2249424" cy="246888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Chỉ bên liên quan bên ngoài: khách hàng, nhà đầu tư – tài trợ, nhà cung cấp – địa điểm, báo chí – KOL, cơ quan quản lý…</a:t>
            </a:r>
            <a:endParaRPr lang="en-US" sz="1500" dirty="0"/>
          </a:p>
        </p:txBody>
      </p:sp>
      <p:sp>
        <p:nvSpPr>
          <p:cNvPr id="17" name="Text 15"/>
          <p:cNvSpPr txBox="1"/>
          <p:nvPr/>
        </p:nvSpPr>
        <p:spPr>
          <a:xfrm>
            <a:off x="6199632" y="5257800"/>
            <a:ext cx="2615184"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Không đi sâu: nhân sự nội bộ, an toàn đám đông, PCCC</a:t>
            </a:r>
            <a:endParaRPr lang="en-US" sz="1200" dirty="0"/>
          </a:p>
        </p:txBody>
      </p:sp>
      <p:sp>
        <p:nvSpPr>
          <p:cNvPr id="18" name="Shape 16"/>
          <p:cNvSpPr/>
          <p:nvPr/>
        </p:nvSpPr>
        <p:spPr>
          <a:xfrm>
            <a:off x="9025128" y="1783080"/>
            <a:ext cx="2615184" cy="594360"/>
          </a:xfrm>
          <a:prstGeom prst="roundRect">
            <a:avLst>
              <a:gd name="adj" fmla="val 12308"/>
            </a:avLst>
          </a:prstGeom>
          <a:solidFill>
            <a:srgbClr val="FF5178"/>
          </a:solidFill>
          <a:ln w="12700">
            <a:solidFill>
              <a:srgbClr val="FF5178"/>
            </a:solidFill>
            <a:prstDash val="solid"/>
          </a:ln>
        </p:spPr>
      </p:sp>
      <p:sp>
        <p:nvSpPr>
          <p:cNvPr id="19" name="Text 17"/>
          <p:cNvSpPr txBox="1"/>
          <p:nvPr/>
        </p:nvSpPr>
        <p:spPr>
          <a:xfrm>
            <a:off x="9208008" y="1783080"/>
            <a:ext cx="2249424"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Sản phẩm</a:t>
            </a:r>
            <a:endParaRPr lang="en-US" sz="1600" dirty="0"/>
          </a:p>
        </p:txBody>
      </p:sp>
      <p:sp>
        <p:nvSpPr>
          <p:cNvPr id="20" name="Shape 18"/>
          <p:cNvSpPr/>
          <p:nvPr/>
        </p:nvSpPr>
        <p:spPr>
          <a:xfrm>
            <a:off x="9025128" y="2514600"/>
            <a:ext cx="2615184" cy="2697480"/>
          </a:xfrm>
          <a:prstGeom prst="roundRect">
            <a:avLst>
              <a:gd name="adj" fmla="val 2797"/>
            </a:avLst>
          </a:prstGeom>
          <a:solidFill>
            <a:srgbClr val="22395F"/>
          </a:solidFill>
          <a:ln w="12700">
            <a:solidFill>
              <a:srgbClr val="22395F"/>
            </a:solidFill>
            <a:prstDash val="solid"/>
          </a:ln>
        </p:spPr>
      </p:sp>
      <p:sp>
        <p:nvSpPr>
          <p:cNvPr id="21" name="Text 19"/>
          <p:cNvSpPr txBox="1"/>
          <p:nvPr/>
        </p:nvSpPr>
        <p:spPr>
          <a:xfrm>
            <a:off x="9208008" y="2651760"/>
            <a:ext cx="2249424" cy="246888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Bản kế hoạch A4 (20–30 trang nội dung chính) + slide; bảo vệ trước Customer Board.</a:t>
            </a:r>
            <a:endParaRPr lang="en-US" sz="1500" dirty="0"/>
          </a:p>
        </p:txBody>
      </p:sp>
      <p:sp>
        <p:nvSpPr>
          <p:cNvPr id="22" name="Text 20"/>
          <p:cNvSpPr txBox="1"/>
          <p:nvPr/>
        </p:nvSpPr>
        <p:spPr>
          <a:xfrm>
            <a:off x="9025128" y="5257800"/>
            <a:ext cx="2615184"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Đề thi mục 2, 4, 5</a:t>
            </a:r>
            <a:endParaRPr lang="en-US" sz="1200" dirty="0"/>
          </a:p>
        </p:txBody>
      </p:sp>
      <p:sp>
        <p:nvSpPr>
          <p:cNvPr id="23" name="Shape 21"/>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24" name="Text 22"/>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Tiểu luận nhóm (AM7) + đánh giá làm việc nhóm (AM9) — thang 10, 11 tiêu chí.</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SMP của môn = Key Account Plan ở lõi + điều phối bên liên quan bên ngoài</a:t>
            </a:r>
            <a:endParaRPr lang="en-US" sz="2800" dirty="0"/>
          </a:p>
        </p:txBody>
      </p:sp>
      <p:sp>
        <p:nvSpPr>
          <p:cNvPr id="3" name="Shape 1"/>
          <p:cNvSpPr/>
          <p:nvPr/>
        </p:nvSpPr>
        <p:spPr>
          <a:xfrm>
            <a:off x="3566160" y="1783080"/>
            <a:ext cx="4206240" cy="4206240"/>
          </a:xfrm>
          <a:prstGeom prst="ellipse">
            <a:avLst/>
          </a:prstGeom>
          <a:solidFill>
            <a:srgbClr val="22395F"/>
          </a:solidFill>
          <a:ln w="12700">
            <a:solidFill>
              <a:srgbClr val="22395F"/>
            </a:solidFill>
            <a:prstDash val="solid"/>
          </a:ln>
        </p:spPr>
      </p:sp>
      <p:sp>
        <p:nvSpPr>
          <p:cNvPr id="4" name="Shape 2"/>
          <p:cNvSpPr/>
          <p:nvPr/>
        </p:nvSpPr>
        <p:spPr>
          <a:xfrm>
            <a:off x="4526280" y="2743200"/>
            <a:ext cx="2286000" cy="2286000"/>
          </a:xfrm>
          <a:prstGeom prst="ellipse">
            <a:avLst/>
          </a:prstGeom>
          <a:solidFill>
            <a:srgbClr val="FFD23B"/>
          </a:solidFill>
          <a:ln w="12700">
            <a:solidFill>
              <a:srgbClr val="FFD23B"/>
            </a:solidFill>
            <a:prstDash val="solid"/>
          </a:ln>
        </p:spPr>
      </p:sp>
      <p:sp>
        <p:nvSpPr>
          <p:cNvPr id="5" name="Text 3"/>
          <p:cNvSpPr txBox="1"/>
          <p:nvPr/>
        </p:nvSpPr>
        <p:spPr>
          <a:xfrm>
            <a:off x="4526280" y="2743200"/>
            <a:ext cx="2286000" cy="228600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KEY ACCOUNT PLAN</a:t>
            </a:r>
            <a:endParaRPr lang="en-US" sz="1400" dirty="0"/>
          </a:p>
          <a:p>
            <a:pPr algn="ctr" indent="0" marL="0">
              <a:buNone/>
            </a:pPr>
            <a:r>
              <a:rPr lang="en-US" sz="1400" b="1" dirty="0">
                <a:solidFill>
                  <a:srgbClr val="172849"/>
                </a:solidFill>
                <a:latin typeface="Roboto" pitchFamily="34" charset="0"/>
                <a:ea typeface="Roboto" pitchFamily="34" charset="-122"/>
                <a:cs typeface="Roboto" pitchFamily="34" charset="-120"/>
              </a:rPr>
              <a:t>(A–C + quan hệ ở D)</a:t>
            </a:r>
            <a:endParaRPr lang="en-US" sz="1400" dirty="0"/>
          </a:p>
        </p:txBody>
      </p:sp>
      <p:sp>
        <p:nvSpPr>
          <p:cNvPr id="6" name="Shape 4"/>
          <p:cNvSpPr/>
          <p:nvPr/>
        </p:nvSpPr>
        <p:spPr>
          <a:xfrm>
            <a:off x="548640" y="2011680"/>
            <a:ext cx="3291840" cy="914400"/>
          </a:xfrm>
          <a:prstGeom prst="roundRect">
            <a:avLst>
              <a:gd name="adj" fmla="val 8000"/>
            </a:avLst>
          </a:prstGeom>
          <a:solidFill>
            <a:srgbClr val="49B296"/>
          </a:solidFill>
          <a:ln w="12700">
            <a:solidFill>
              <a:srgbClr val="49B296"/>
            </a:solidFill>
            <a:prstDash val="solid"/>
          </a:ln>
        </p:spPr>
      </p:sp>
      <p:sp>
        <p:nvSpPr>
          <p:cNvPr id="7" name="Text 5"/>
          <p:cNvSpPr txBox="1"/>
          <p:nvPr/>
        </p:nvSpPr>
        <p:spPr>
          <a:xfrm>
            <a:off x="685800" y="2011680"/>
            <a:ext cx="3017520" cy="91440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Nhà đầu tư – tài trợ</a:t>
            </a:r>
            <a:endParaRPr lang="en-US" sz="1600" dirty="0"/>
          </a:p>
        </p:txBody>
      </p:sp>
      <p:sp>
        <p:nvSpPr>
          <p:cNvPr id="8" name="Shape 6"/>
          <p:cNvSpPr/>
          <p:nvPr/>
        </p:nvSpPr>
        <p:spPr>
          <a:xfrm>
            <a:off x="8348472" y="2011680"/>
            <a:ext cx="3291840" cy="914400"/>
          </a:xfrm>
          <a:prstGeom prst="roundRect">
            <a:avLst>
              <a:gd name="adj" fmla="val 8000"/>
            </a:avLst>
          </a:prstGeom>
          <a:solidFill>
            <a:srgbClr val="09A1E5"/>
          </a:solidFill>
          <a:ln w="12700">
            <a:solidFill>
              <a:srgbClr val="09A1E5"/>
            </a:solidFill>
            <a:prstDash val="solid"/>
          </a:ln>
        </p:spPr>
      </p:sp>
      <p:sp>
        <p:nvSpPr>
          <p:cNvPr id="9" name="Text 7"/>
          <p:cNvSpPr txBox="1"/>
          <p:nvPr/>
        </p:nvSpPr>
        <p:spPr>
          <a:xfrm>
            <a:off x="8485632" y="2011680"/>
            <a:ext cx="3017520" cy="91440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Nhà cung cấp – địa điểm</a:t>
            </a:r>
            <a:endParaRPr lang="en-US" sz="1600" dirty="0"/>
          </a:p>
        </p:txBody>
      </p:sp>
      <p:sp>
        <p:nvSpPr>
          <p:cNvPr id="10" name="Shape 8"/>
          <p:cNvSpPr/>
          <p:nvPr/>
        </p:nvSpPr>
        <p:spPr>
          <a:xfrm>
            <a:off x="548640" y="4206240"/>
            <a:ext cx="3291840" cy="914400"/>
          </a:xfrm>
          <a:prstGeom prst="roundRect">
            <a:avLst>
              <a:gd name="adj" fmla="val 8000"/>
            </a:avLst>
          </a:prstGeom>
          <a:solidFill>
            <a:srgbClr val="FF9259"/>
          </a:solidFill>
          <a:ln w="12700">
            <a:solidFill>
              <a:srgbClr val="FF9259"/>
            </a:solidFill>
            <a:prstDash val="solid"/>
          </a:ln>
        </p:spPr>
      </p:sp>
      <p:sp>
        <p:nvSpPr>
          <p:cNvPr id="11" name="Text 9"/>
          <p:cNvSpPr txBox="1"/>
          <p:nvPr/>
        </p:nvSpPr>
        <p:spPr>
          <a:xfrm>
            <a:off x="685800" y="4206240"/>
            <a:ext cx="3017520" cy="91440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Báo chí – KOL</a:t>
            </a:r>
            <a:endParaRPr lang="en-US" sz="1600" dirty="0"/>
          </a:p>
        </p:txBody>
      </p:sp>
      <p:sp>
        <p:nvSpPr>
          <p:cNvPr id="12" name="Shape 10"/>
          <p:cNvSpPr/>
          <p:nvPr/>
        </p:nvSpPr>
        <p:spPr>
          <a:xfrm>
            <a:off x="8348472" y="4206240"/>
            <a:ext cx="3291840" cy="914400"/>
          </a:xfrm>
          <a:prstGeom prst="roundRect">
            <a:avLst>
              <a:gd name="adj" fmla="val 8000"/>
            </a:avLst>
          </a:prstGeom>
          <a:solidFill>
            <a:srgbClr val="962B7C"/>
          </a:solidFill>
          <a:ln w="12700">
            <a:solidFill>
              <a:srgbClr val="962B7C"/>
            </a:solidFill>
            <a:prstDash val="solid"/>
          </a:ln>
        </p:spPr>
      </p:sp>
      <p:sp>
        <p:nvSpPr>
          <p:cNvPr id="13" name="Text 11"/>
          <p:cNvSpPr txBox="1"/>
          <p:nvPr/>
        </p:nvSpPr>
        <p:spPr>
          <a:xfrm>
            <a:off x="8485632" y="4206240"/>
            <a:ext cx="3017520" cy="9144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Roboto" pitchFamily="34" charset="0"/>
                <a:ea typeface="Roboto" pitchFamily="34" charset="-122"/>
                <a:cs typeface="Roboto" pitchFamily="34" charset="-120"/>
              </a:rPr>
              <a:t>Cơ quan quản lý…</a:t>
            </a:r>
            <a:endParaRPr lang="en-US" sz="1600" dirty="0"/>
          </a:p>
        </p:txBody>
      </p:sp>
      <p:sp>
        <p:nvSpPr>
          <p:cNvPr id="14" name="Shape 12"/>
          <p:cNvSpPr/>
          <p:nvPr/>
        </p:nvSpPr>
        <p:spPr>
          <a:xfrm>
            <a:off x="3886200" y="2286000"/>
            <a:ext cx="411480" cy="365760"/>
          </a:xfrm>
          <a:prstGeom prst="rightArrow">
            <a:avLst/>
          </a:prstGeom>
          <a:solidFill>
            <a:srgbClr val="A9B6D3"/>
          </a:solidFill>
          <a:ln w="12700">
            <a:solidFill>
              <a:srgbClr val="A9B6D3"/>
            </a:solidFill>
            <a:prstDash val="solid"/>
          </a:ln>
        </p:spPr>
      </p:sp>
      <p:sp>
        <p:nvSpPr>
          <p:cNvPr id="15" name="Shape 13"/>
          <p:cNvSpPr/>
          <p:nvPr/>
        </p:nvSpPr>
        <p:spPr>
          <a:xfrm>
            <a:off x="3886200" y="4480560"/>
            <a:ext cx="411480" cy="365760"/>
          </a:xfrm>
          <a:prstGeom prst="rightArrow">
            <a:avLst/>
          </a:prstGeom>
          <a:solidFill>
            <a:srgbClr val="A9B6D3"/>
          </a:solidFill>
          <a:ln w="12700">
            <a:solidFill>
              <a:srgbClr val="A9B6D3"/>
            </a:solidFill>
            <a:prstDash val="solid"/>
          </a:ln>
        </p:spPr>
      </p:sp>
      <p:sp>
        <p:nvSpPr>
          <p:cNvPr id="16" name="Shape 14"/>
          <p:cNvSpPr/>
          <p:nvPr/>
        </p:nvSpPr>
        <p:spPr>
          <a:xfrm>
            <a:off x="7863840" y="2286000"/>
            <a:ext cx="411480" cy="365760"/>
          </a:xfrm>
          <a:prstGeom prst="leftArrow">
            <a:avLst/>
          </a:prstGeom>
          <a:solidFill>
            <a:srgbClr val="A9B6D3"/>
          </a:solidFill>
          <a:ln w="12700">
            <a:solidFill>
              <a:srgbClr val="A9B6D3"/>
            </a:solidFill>
            <a:prstDash val="solid"/>
          </a:ln>
        </p:spPr>
      </p:sp>
      <p:sp>
        <p:nvSpPr>
          <p:cNvPr id="17" name="Shape 15"/>
          <p:cNvSpPr/>
          <p:nvPr/>
        </p:nvSpPr>
        <p:spPr>
          <a:xfrm>
            <a:off x="7863840" y="4480560"/>
            <a:ext cx="411480" cy="365760"/>
          </a:xfrm>
          <a:prstGeom prst="leftArrow">
            <a:avLst/>
          </a:prstGeom>
          <a:solidFill>
            <a:srgbClr val="A9B6D3"/>
          </a:solidFill>
          <a:ln w="12700">
            <a:solidFill>
              <a:srgbClr val="A9B6D3"/>
            </a:solidFill>
            <a:prstDash val="solid"/>
          </a:ln>
        </p:spPr>
      </p:sp>
      <p:sp>
        <p:nvSpPr>
          <p:cNvPr id="18" name="Shape 16"/>
          <p:cNvSpPr/>
          <p:nvPr/>
        </p:nvSpPr>
        <p:spPr>
          <a:xfrm>
            <a:off x="548640" y="5623560"/>
            <a:ext cx="11091672" cy="640080"/>
          </a:xfrm>
          <a:prstGeom prst="roundRect">
            <a:avLst>
              <a:gd name="adj" fmla="val 11429"/>
            </a:avLst>
          </a:prstGeom>
          <a:solidFill>
            <a:srgbClr val="FFD23B"/>
          </a:solidFill>
          <a:ln w="12700">
            <a:solidFill>
              <a:srgbClr val="FFD23B"/>
            </a:solidFill>
            <a:prstDash val="solid"/>
          </a:ln>
        </p:spPr>
      </p:sp>
      <p:sp>
        <p:nvSpPr>
          <p:cNvPr id="19" name="Text 17"/>
          <p:cNvSpPr txBox="1"/>
          <p:nvPr/>
        </p:nvSpPr>
        <p:spPr>
          <a:xfrm>
            <a:off x="731520" y="5623560"/>
            <a:ext cx="1069848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Vòng ngoài không phải chương riêng: mọi bên đều phục vụ hành trình của khách hàng — nằm trong phần D (13.2).</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Phần bị làm yếu nhất trong key account plan là hiểu thế giới của khách hàng</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4114800" cy="822960"/>
          </a:xfrm>
          <a:prstGeom prst="rect">
            <a:avLst/>
          </a:prstGeom>
          <a:noFill/>
          <a:ln/>
        </p:spPr>
        <p:txBody>
          <a:bodyPr wrap="square" lIns="635" tIns="635" rIns="635" bIns="635" rtlCol="0" anchor="ctr"/>
          <a:lstStyle/>
          <a:p>
            <a:pPr indent="0" marL="0">
              <a:buNone/>
            </a:pPr>
            <a:r>
              <a:rPr lang="en-US" sz="1700" b="1" dirty="0">
                <a:solidFill>
                  <a:srgbClr val="49B296"/>
                </a:solidFill>
                <a:latin typeface="Roboto" pitchFamily="34" charset="0"/>
                <a:ea typeface="Roboto" pitchFamily="34" charset="-122"/>
                <a:cs typeface="Roboto" pitchFamily="34" charset="-120"/>
              </a:rPr>
              <a:t>Nghiên cứu ở Cranfield KAM Best Practice Club</a:t>
            </a:r>
            <a:endParaRPr lang="en-US" sz="1700" dirty="0"/>
          </a:p>
        </p:txBody>
      </p:sp>
      <p:sp>
        <p:nvSpPr>
          <p:cNvPr id="7" name="Text 4"/>
          <p:cNvSpPr txBox="1"/>
          <p:nvPr/>
        </p:nvSpPr>
        <p:spPr>
          <a:xfrm>
            <a:off x="822960" y="2926080"/>
            <a:ext cx="5029200" cy="2697480"/>
          </a:xfrm>
          <a:prstGeom prst="rect">
            <a:avLst/>
          </a:prstGeom>
          <a:noFill/>
          <a:ln/>
        </p:spPr>
        <p:txBody>
          <a:bodyPr wrap="square" lIns="635" tIns="635" rIns="635" bIns="635" rtlCol="0" anchor="t"/>
          <a:lstStyle/>
          <a:p>
            <a:pPr marL="342900" indent="-342900">
              <a:spcAft>
                <a:spcPts val="800"/>
              </a:spcAft>
              <a:buSzPct val="100000"/>
              <a:buChar char="•"/>
            </a:pPr>
            <a:r>
              <a:rPr lang="en-US" sz="1550" dirty="0">
                <a:solidFill>
                  <a:srgbClr val="FBFAF4"/>
                </a:solidFill>
                <a:latin typeface="Roboto" pitchFamily="34" charset="0"/>
                <a:ea typeface="Roboto" pitchFamily="34" charset="-122"/>
                <a:cs typeface="Roboto" pitchFamily="34" charset="-120"/>
              </a:rPr>
              <a:t>Công ty áp dụng tốt các công cụ lập kế hoạch key account có khả năng triển khai KAM thành công cao hơn rõ rệt</a:t>
            </a:r>
            <a:endParaRPr lang="en-US" sz="1550" dirty="0"/>
          </a:p>
          <a:p>
            <a:pPr marL="342900" indent="-342900">
              <a:spcAft>
                <a:spcPts val="800"/>
              </a:spcAft>
              <a:buSzPct val="100000"/>
              <a:buChar char="•"/>
            </a:pPr>
            <a:r>
              <a:rPr lang="en-US" sz="1550" dirty="0">
                <a:solidFill>
                  <a:srgbClr val="FBFAF4"/>
                </a:solidFill>
                <a:latin typeface="Roboto" pitchFamily="34" charset="0"/>
                <a:ea typeface="Roboto" pitchFamily="34" charset="-122"/>
                <a:cs typeface="Roboto" pitchFamily="34" charset="-120"/>
              </a:rPr>
              <a:t>Không tổ chức nào tự chấm kế hoạch của mình cao</a:t>
            </a:r>
            <a:endParaRPr lang="en-US" sz="1550" dirty="0"/>
          </a:p>
          <a:p>
            <a:pPr marL="342900" indent="-342900">
              <a:spcAft>
                <a:spcPts val="800"/>
              </a:spcAft>
              <a:buSzPct val="100000"/>
              <a:buChar char="•"/>
            </a:pPr>
            <a:r>
              <a:rPr lang="en-US" sz="1550" dirty="0">
                <a:solidFill>
                  <a:srgbClr val="FBFAF4"/>
                </a:solidFill>
                <a:latin typeface="Roboto" pitchFamily="34" charset="0"/>
                <a:ea typeface="Roboto" pitchFamily="34" charset="-122"/>
                <a:cs typeface="Roboto" pitchFamily="34" charset="-120"/>
              </a:rPr>
              <a:t>Phần làm kém nhất: hiểu thế giới của khách hàng</a:t>
            </a:r>
            <a:endParaRPr lang="en-US" sz="1550" dirty="0"/>
          </a:p>
        </p:txBody>
      </p:sp>
      <p:sp>
        <p:nvSpPr>
          <p:cNvPr id="8" name="Shape 5"/>
          <p:cNvSpPr/>
          <p:nvPr/>
        </p:nvSpPr>
        <p:spPr>
          <a:xfrm>
            <a:off x="6263640" y="1783080"/>
            <a:ext cx="5376672" cy="3931920"/>
          </a:xfrm>
          <a:prstGeom prst="roundRect">
            <a:avLst>
              <a:gd name="adj" fmla="val 1860"/>
            </a:avLst>
          </a:prstGeom>
          <a:solidFill>
            <a:srgbClr val="22395F"/>
          </a:solidFill>
          <a:ln w="12700">
            <a:solidFill>
              <a:srgbClr val="22395F"/>
            </a:solidFill>
            <a:prstDash val="solid"/>
          </a:ln>
        </p:spPr>
      </p:sp>
      <p:sp>
        <p:nvSpPr>
          <p:cNvPr id="9" name="Shape 6"/>
          <p:cNvSpPr/>
          <p:nvPr/>
        </p:nvSpPr>
        <p:spPr>
          <a:xfrm>
            <a:off x="6492240" y="1965960"/>
            <a:ext cx="822960" cy="82296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6673291" y="2147011"/>
            <a:ext cx="460858" cy="460858"/>
          </a:xfrm>
          <a:prstGeom prst="rect">
            <a:avLst/>
          </a:prstGeom>
        </p:spPr>
      </p:pic>
      <p:sp>
        <p:nvSpPr>
          <p:cNvPr id="11" name="Text 7"/>
          <p:cNvSpPr txBox="1"/>
          <p:nvPr/>
        </p:nvSpPr>
        <p:spPr>
          <a:xfrm>
            <a:off x="7498080" y="1965960"/>
            <a:ext cx="3931920" cy="1737360"/>
          </a:xfrm>
          <a:prstGeom prst="rect">
            <a:avLst/>
          </a:prstGeom>
          <a:noFill/>
          <a:ln/>
        </p:spPr>
        <p:txBody>
          <a:bodyPr wrap="square" lIns="635" tIns="635" rIns="635" bIns="635" rtlCol="0" anchor="t"/>
          <a:lstStyle/>
          <a:p>
            <a:pPr indent="0" marL="0">
              <a:buNone/>
            </a:pPr>
            <a:r>
              <a:rPr lang="en-US" sz="1600" i="1" dirty="0">
                <a:solidFill>
                  <a:srgbClr val="FFD23B"/>
                </a:solidFill>
                <a:latin typeface="Roboto" pitchFamily="34" charset="0"/>
                <a:ea typeface="Roboto" pitchFamily="34" charset="-122"/>
                <a:cs typeface="Roboto" pitchFamily="34" charset="-120"/>
              </a:rPr>
              <a:t>“The Value Planning Framework we use for key account planning starts with understanding the customer’s world.”</a:t>
            </a:r>
            <a:endParaRPr lang="en-US" sz="1600" dirty="0"/>
          </a:p>
        </p:txBody>
      </p:sp>
      <p:sp>
        <p:nvSpPr>
          <p:cNvPr id="12" name="Text 8"/>
          <p:cNvSpPr txBox="1"/>
          <p:nvPr/>
        </p:nvSpPr>
        <p:spPr>
          <a:xfrm>
            <a:off x="6492240" y="3931920"/>
            <a:ext cx="4937760" cy="1280160"/>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Kế hoạch là một quy trình, tầm nhìn khoảng ba năm — không phải tài liệu viết một lần.</a:t>
            </a:r>
            <a:endParaRPr lang="en-US" sz="1600" dirty="0"/>
          </a:p>
        </p:txBody>
      </p:sp>
      <p:sp>
        <p:nvSpPr>
          <p:cNvPr id="13"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71–72, 81); Ryals &amp; Rogers (2007): 78 công ty quốc tế (Z03).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Value Planning Framework: năm phần, khách hàng ở điểm bắt đầu</a:t>
            </a:r>
            <a:endParaRPr lang="en-US" sz="2800" dirty="0"/>
          </a:p>
        </p:txBody>
      </p:sp>
      <p:sp>
        <p:nvSpPr>
          <p:cNvPr id="3" name="Shape 1"/>
          <p:cNvSpPr/>
          <p:nvPr/>
        </p:nvSpPr>
        <p:spPr>
          <a:xfrm>
            <a:off x="548640" y="1783080"/>
            <a:ext cx="5449824" cy="1600200"/>
          </a:xfrm>
          <a:prstGeom prst="roundRect">
            <a:avLst>
              <a:gd name="adj" fmla="val 4571"/>
            </a:avLst>
          </a:prstGeom>
          <a:solidFill>
            <a:srgbClr val="22395F"/>
          </a:solidFill>
          <a:ln w="12700">
            <a:solidFill>
              <a:srgbClr val="22395F"/>
            </a:solidFill>
            <a:prstDash val="solid"/>
          </a:ln>
        </p:spPr>
      </p:sp>
      <p:sp>
        <p:nvSpPr>
          <p:cNvPr id="4" name="Shape 2"/>
          <p:cNvSpPr/>
          <p:nvPr/>
        </p:nvSpPr>
        <p:spPr>
          <a:xfrm>
            <a:off x="731520" y="1965960"/>
            <a:ext cx="731520" cy="731520"/>
          </a:xfrm>
          <a:prstGeom prst="ellipse">
            <a:avLst/>
          </a:prstGeom>
          <a:solidFill>
            <a:srgbClr val="49B296"/>
          </a:solidFill>
          <a:ln w="12700">
            <a:solidFill>
              <a:srgbClr val="49B296"/>
            </a:solidFill>
            <a:prstDash val="solid"/>
          </a:ln>
        </p:spPr>
      </p:sp>
      <p:sp>
        <p:nvSpPr>
          <p:cNvPr id="5" name="Text 3"/>
          <p:cNvSpPr txBox="1"/>
          <p:nvPr/>
        </p:nvSpPr>
        <p:spPr>
          <a:xfrm>
            <a:off x="731520" y="196596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A</a:t>
            </a:r>
            <a:endParaRPr lang="en-US" sz="2200" dirty="0"/>
          </a:p>
        </p:txBody>
      </p:sp>
      <p:sp>
        <p:nvSpPr>
          <p:cNvPr id="6" name="Text 4"/>
          <p:cNvSpPr txBox="1"/>
          <p:nvPr/>
        </p:nvSpPr>
        <p:spPr>
          <a:xfrm>
            <a:off x="1645920" y="1920240"/>
            <a:ext cx="4206240" cy="54864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Value Insights</a:t>
            </a:r>
            <a:endParaRPr lang="en-US" sz="1800" dirty="0"/>
          </a:p>
        </p:txBody>
      </p:sp>
      <p:sp>
        <p:nvSpPr>
          <p:cNvPr id="7" name="Text 5"/>
          <p:cNvSpPr txBox="1"/>
          <p:nvPr/>
        </p:nvSpPr>
        <p:spPr>
          <a:xfrm>
            <a:off x="1645920" y="2468880"/>
            <a:ext cx="4206240" cy="82296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Phân tích thế giới của khách hàng</a:t>
            </a:r>
            <a:endParaRPr lang="en-US" sz="1500" dirty="0"/>
          </a:p>
        </p:txBody>
      </p:sp>
      <p:sp>
        <p:nvSpPr>
          <p:cNvPr id="8" name="Shape 6"/>
          <p:cNvSpPr/>
          <p:nvPr/>
        </p:nvSpPr>
        <p:spPr>
          <a:xfrm>
            <a:off x="6190488" y="1783080"/>
            <a:ext cx="5449824" cy="1600200"/>
          </a:xfrm>
          <a:prstGeom prst="roundRect">
            <a:avLst>
              <a:gd name="adj" fmla="val 4571"/>
            </a:avLst>
          </a:prstGeom>
          <a:solidFill>
            <a:srgbClr val="22395F"/>
          </a:solidFill>
          <a:ln w="12700">
            <a:solidFill>
              <a:srgbClr val="22395F"/>
            </a:solidFill>
            <a:prstDash val="solid"/>
          </a:ln>
        </p:spPr>
      </p:sp>
      <p:sp>
        <p:nvSpPr>
          <p:cNvPr id="9" name="Shape 7"/>
          <p:cNvSpPr/>
          <p:nvPr/>
        </p:nvSpPr>
        <p:spPr>
          <a:xfrm>
            <a:off x="6373368" y="1965960"/>
            <a:ext cx="731520" cy="731520"/>
          </a:xfrm>
          <a:prstGeom prst="ellipse">
            <a:avLst/>
          </a:prstGeom>
          <a:solidFill>
            <a:srgbClr val="09A1E5"/>
          </a:solidFill>
          <a:ln w="12700">
            <a:solidFill>
              <a:srgbClr val="09A1E5"/>
            </a:solidFill>
            <a:prstDash val="solid"/>
          </a:ln>
        </p:spPr>
      </p:sp>
      <p:sp>
        <p:nvSpPr>
          <p:cNvPr id="10" name="Text 8"/>
          <p:cNvSpPr txBox="1"/>
          <p:nvPr/>
        </p:nvSpPr>
        <p:spPr>
          <a:xfrm>
            <a:off x="6373368" y="196596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B</a:t>
            </a:r>
            <a:endParaRPr lang="en-US" sz="2200" dirty="0"/>
          </a:p>
        </p:txBody>
      </p:sp>
      <p:sp>
        <p:nvSpPr>
          <p:cNvPr id="11" name="Text 9"/>
          <p:cNvSpPr txBox="1"/>
          <p:nvPr/>
        </p:nvSpPr>
        <p:spPr>
          <a:xfrm>
            <a:off x="7287768" y="1920240"/>
            <a:ext cx="4206240" cy="548640"/>
          </a:xfrm>
          <a:prstGeom prst="rect">
            <a:avLst/>
          </a:prstGeom>
          <a:noFill/>
          <a:ln/>
        </p:spPr>
        <p:txBody>
          <a:bodyPr wrap="square" lIns="635" tIns="635" rIns="635" bIns="635" rtlCol="0" anchor="ctr"/>
          <a:lstStyle/>
          <a:p>
            <a:pPr indent="0" marL="0">
              <a:buNone/>
            </a:pPr>
            <a:r>
              <a:rPr lang="en-US" sz="1800" b="1" dirty="0">
                <a:solidFill>
                  <a:srgbClr val="09A1E5"/>
                </a:solidFill>
                <a:latin typeface="Roboto" pitchFamily="34" charset="0"/>
                <a:ea typeface="Roboto" pitchFamily="34" charset="-122"/>
                <a:cs typeface="Roboto" pitchFamily="34" charset="-120"/>
              </a:rPr>
              <a:t>Value Opportunities</a:t>
            </a:r>
            <a:endParaRPr lang="en-US" sz="1800" dirty="0"/>
          </a:p>
        </p:txBody>
      </p:sp>
      <p:sp>
        <p:nvSpPr>
          <p:cNvPr id="12" name="Text 10"/>
          <p:cNvSpPr txBox="1"/>
          <p:nvPr/>
        </p:nvSpPr>
        <p:spPr>
          <a:xfrm>
            <a:off x="7287768" y="2468880"/>
            <a:ext cx="4206240" cy="82296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Phân tích thế giới của nhà cung cấp: cơ hội của ta với khách hàng này</a:t>
            </a:r>
            <a:endParaRPr lang="en-US" sz="1500" dirty="0"/>
          </a:p>
        </p:txBody>
      </p:sp>
      <p:sp>
        <p:nvSpPr>
          <p:cNvPr id="13" name="Shape 11"/>
          <p:cNvSpPr/>
          <p:nvPr/>
        </p:nvSpPr>
        <p:spPr>
          <a:xfrm>
            <a:off x="548640" y="3611880"/>
            <a:ext cx="5449824" cy="1600200"/>
          </a:xfrm>
          <a:prstGeom prst="roundRect">
            <a:avLst>
              <a:gd name="adj" fmla="val 4571"/>
            </a:avLst>
          </a:prstGeom>
          <a:solidFill>
            <a:srgbClr val="22395F"/>
          </a:solidFill>
          <a:ln w="12700">
            <a:solidFill>
              <a:srgbClr val="22395F"/>
            </a:solidFill>
            <a:prstDash val="solid"/>
          </a:ln>
        </p:spPr>
      </p:sp>
      <p:sp>
        <p:nvSpPr>
          <p:cNvPr id="14" name="Shape 12"/>
          <p:cNvSpPr/>
          <p:nvPr/>
        </p:nvSpPr>
        <p:spPr>
          <a:xfrm>
            <a:off x="731520" y="3794760"/>
            <a:ext cx="731520" cy="731520"/>
          </a:xfrm>
          <a:prstGeom prst="ellipse">
            <a:avLst/>
          </a:prstGeom>
          <a:solidFill>
            <a:srgbClr val="FF9259"/>
          </a:solidFill>
          <a:ln w="12700">
            <a:solidFill>
              <a:srgbClr val="FF9259"/>
            </a:solidFill>
            <a:prstDash val="solid"/>
          </a:ln>
        </p:spPr>
      </p:sp>
      <p:sp>
        <p:nvSpPr>
          <p:cNvPr id="15" name="Text 13"/>
          <p:cNvSpPr txBox="1"/>
          <p:nvPr/>
        </p:nvSpPr>
        <p:spPr>
          <a:xfrm>
            <a:off x="731520" y="379476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D</a:t>
            </a:r>
            <a:endParaRPr lang="en-US" sz="2200" dirty="0"/>
          </a:p>
        </p:txBody>
      </p:sp>
      <p:sp>
        <p:nvSpPr>
          <p:cNvPr id="16" name="Text 14"/>
          <p:cNvSpPr txBox="1"/>
          <p:nvPr/>
        </p:nvSpPr>
        <p:spPr>
          <a:xfrm>
            <a:off x="1645920" y="3749040"/>
            <a:ext cx="4206240" cy="548640"/>
          </a:xfrm>
          <a:prstGeom prst="rect">
            <a:avLst/>
          </a:prstGeom>
          <a:noFill/>
          <a:ln/>
        </p:spPr>
        <p:txBody>
          <a:bodyPr wrap="square" lIns="635" tIns="635" rIns="635" bIns="635" rtlCol="0" anchor="ctr"/>
          <a:lstStyle/>
          <a:p>
            <a:pPr indent="0" marL="0">
              <a:buNone/>
            </a:pPr>
            <a:r>
              <a:rPr lang="en-US" sz="1800" b="1" dirty="0">
                <a:solidFill>
                  <a:srgbClr val="FF9259"/>
                </a:solidFill>
                <a:latin typeface="Roboto" pitchFamily="34" charset="0"/>
                <a:ea typeface="Roboto" pitchFamily="34" charset="-122"/>
                <a:cs typeface="Roboto" pitchFamily="34" charset="-120"/>
              </a:rPr>
              <a:t>Value Delivery</a:t>
            </a:r>
            <a:endParaRPr lang="en-US" sz="1800" dirty="0"/>
          </a:p>
        </p:txBody>
      </p:sp>
      <p:sp>
        <p:nvSpPr>
          <p:cNvPr id="17" name="Text 15"/>
          <p:cNvSpPr txBox="1"/>
          <p:nvPr/>
        </p:nvSpPr>
        <p:spPr>
          <a:xfrm>
            <a:off x="1645920" y="4297680"/>
            <a:ext cx="4206240" cy="82296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Chứng minh, lập kế hoạch, định lượng và giao giá trị</a:t>
            </a:r>
            <a:endParaRPr lang="en-US" sz="1500" dirty="0"/>
          </a:p>
        </p:txBody>
      </p:sp>
      <p:sp>
        <p:nvSpPr>
          <p:cNvPr id="18" name="Shape 16"/>
          <p:cNvSpPr/>
          <p:nvPr/>
        </p:nvSpPr>
        <p:spPr>
          <a:xfrm>
            <a:off x="6190488" y="3611880"/>
            <a:ext cx="5449824" cy="1600200"/>
          </a:xfrm>
          <a:prstGeom prst="roundRect">
            <a:avLst>
              <a:gd name="adj" fmla="val 4571"/>
            </a:avLst>
          </a:prstGeom>
          <a:solidFill>
            <a:srgbClr val="22395F"/>
          </a:solidFill>
          <a:ln w="12700">
            <a:solidFill>
              <a:srgbClr val="22395F"/>
            </a:solidFill>
            <a:prstDash val="solid"/>
          </a:ln>
        </p:spPr>
      </p:sp>
      <p:sp>
        <p:nvSpPr>
          <p:cNvPr id="19" name="Shape 17"/>
          <p:cNvSpPr/>
          <p:nvPr/>
        </p:nvSpPr>
        <p:spPr>
          <a:xfrm>
            <a:off x="6373368" y="3794760"/>
            <a:ext cx="731520" cy="731520"/>
          </a:xfrm>
          <a:prstGeom prst="ellipse">
            <a:avLst/>
          </a:prstGeom>
          <a:solidFill>
            <a:srgbClr val="FFD23B"/>
          </a:solidFill>
          <a:ln w="12700">
            <a:solidFill>
              <a:srgbClr val="FFD23B"/>
            </a:solidFill>
            <a:prstDash val="solid"/>
          </a:ln>
        </p:spPr>
      </p:sp>
      <p:sp>
        <p:nvSpPr>
          <p:cNvPr id="20" name="Text 18"/>
          <p:cNvSpPr txBox="1"/>
          <p:nvPr/>
        </p:nvSpPr>
        <p:spPr>
          <a:xfrm>
            <a:off x="6373368" y="379476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C</a:t>
            </a:r>
            <a:endParaRPr lang="en-US" sz="2200" dirty="0"/>
          </a:p>
        </p:txBody>
      </p:sp>
      <p:sp>
        <p:nvSpPr>
          <p:cNvPr id="21" name="Text 19"/>
          <p:cNvSpPr txBox="1"/>
          <p:nvPr/>
        </p:nvSpPr>
        <p:spPr>
          <a:xfrm>
            <a:off x="7287768" y="3749040"/>
            <a:ext cx="4206240" cy="54864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Value Proposition</a:t>
            </a:r>
            <a:endParaRPr lang="en-US" sz="1800" dirty="0"/>
          </a:p>
        </p:txBody>
      </p:sp>
      <p:sp>
        <p:nvSpPr>
          <p:cNvPr id="22" name="Text 20"/>
          <p:cNvSpPr txBox="1"/>
          <p:nvPr/>
        </p:nvSpPr>
        <p:spPr>
          <a:xfrm>
            <a:off x="7287768" y="4297680"/>
            <a:ext cx="4206240" cy="82296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Tạo và bán giá trị — do khách hàng dẫn dắt</a:t>
            </a:r>
            <a:endParaRPr lang="en-US" sz="1500" dirty="0"/>
          </a:p>
        </p:txBody>
      </p:sp>
      <p:sp>
        <p:nvSpPr>
          <p:cNvPr id="23" name="Shape 21"/>
          <p:cNvSpPr/>
          <p:nvPr/>
        </p:nvSpPr>
        <p:spPr>
          <a:xfrm>
            <a:off x="5852160" y="2377440"/>
            <a:ext cx="292608" cy="365760"/>
          </a:xfrm>
          <a:prstGeom prst="rightArrow">
            <a:avLst/>
          </a:prstGeom>
          <a:solidFill>
            <a:srgbClr val="A9B6D3"/>
          </a:solidFill>
          <a:ln w="12700">
            <a:solidFill>
              <a:srgbClr val="A9B6D3"/>
            </a:solidFill>
            <a:prstDash val="solid"/>
          </a:ln>
        </p:spPr>
      </p:sp>
      <p:sp>
        <p:nvSpPr>
          <p:cNvPr id="24" name="Shape 22"/>
          <p:cNvSpPr/>
          <p:nvPr/>
        </p:nvSpPr>
        <p:spPr>
          <a:xfrm>
            <a:off x="5852160" y="4206240"/>
            <a:ext cx="292608" cy="365760"/>
          </a:xfrm>
          <a:prstGeom prst="rightArrow">
            <a:avLst/>
          </a:prstGeom>
          <a:solidFill>
            <a:srgbClr val="A9B6D3"/>
          </a:solidFill>
          <a:ln w="12700">
            <a:solidFill>
              <a:srgbClr val="A9B6D3"/>
            </a:solidFill>
            <a:prstDash val="solid"/>
          </a:ln>
        </p:spPr>
      </p:sp>
      <p:sp>
        <p:nvSpPr>
          <p:cNvPr id="25" name="Shape 23"/>
          <p:cNvSpPr/>
          <p:nvPr/>
        </p:nvSpPr>
        <p:spPr>
          <a:xfrm>
            <a:off x="8732520" y="3401568"/>
            <a:ext cx="365760" cy="201168"/>
          </a:xfrm>
          <a:prstGeom prst="downArrow">
            <a:avLst/>
          </a:prstGeom>
          <a:solidFill>
            <a:srgbClr val="A9B6D3"/>
          </a:solidFill>
          <a:ln w="12700">
            <a:solidFill>
              <a:srgbClr val="A9B6D3"/>
            </a:solidFill>
            <a:prstDash val="solid"/>
          </a:ln>
        </p:spPr>
      </p:sp>
      <p:sp>
        <p:nvSpPr>
          <p:cNvPr id="26" name="Shape 24"/>
          <p:cNvSpPr/>
          <p:nvPr/>
        </p:nvSpPr>
        <p:spPr>
          <a:xfrm>
            <a:off x="548640" y="5349240"/>
            <a:ext cx="11091672" cy="594360"/>
          </a:xfrm>
          <a:prstGeom prst="roundRect">
            <a:avLst>
              <a:gd name="adj" fmla="val 12308"/>
            </a:avLst>
          </a:prstGeom>
          <a:solidFill>
            <a:srgbClr val="FF5178"/>
          </a:solidFill>
          <a:ln w="12700">
            <a:solidFill>
              <a:srgbClr val="FF5178"/>
            </a:solidFill>
            <a:prstDash val="solid"/>
          </a:ln>
        </p:spPr>
      </p:sp>
      <p:sp>
        <p:nvSpPr>
          <p:cNvPr id="27" name="Text 25"/>
          <p:cNvSpPr txBox="1"/>
          <p:nvPr/>
        </p:nvSpPr>
        <p:spPr>
          <a:xfrm>
            <a:off x="731520" y="5349240"/>
            <a:ext cx="10698480" cy="59436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E · Executive Summary — bước cuối cùng; công cụ để được lãnh đạo ủng hộ</a:t>
            </a:r>
            <a:endParaRPr lang="en-US" sz="1700" dirty="0"/>
          </a:p>
        </p:txBody>
      </p:sp>
      <p:sp>
        <p:nvSpPr>
          <p:cNvPr id="28" name="Text 26"/>
          <p:cNvSpPr txBox="1"/>
          <p:nvPr/>
        </p:nvSpPr>
        <p:spPr>
          <a:xfrm>
            <a:off x="548640" y="60350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3.4, tr. 72–73), theo Davies &amp; Holt (2013), gốc từ Ryals &amp; McDonald (2010).</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Giáo trình có bộ công cụ cho từng phần; đề thi chọn công cụ của môn</a:t>
            </a:r>
            <a:endParaRPr lang="en-US" sz="2800" dirty="0"/>
          </a:p>
        </p:txBody>
      </p:sp>
      <p:sp>
        <p:nvSpPr>
          <p:cNvPr id="3" name="Shape 1"/>
          <p:cNvSpPr/>
          <p:nvPr/>
        </p:nvSpPr>
        <p:spPr>
          <a:xfrm>
            <a:off x="548640" y="1783080"/>
            <a:ext cx="859536" cy="548640"/>
          </a:xfrm>
          <a:prstGeom prst="roundRect">
            <a:avLst>
              <a:gd name="adj" fmla="val 13333"/>
            </a:avLst>
          </a:prstGeom>
          <a:solidFill>
            <a:srgbClr val="49B296"/>
          </a:solidFill>
          <a:ln w="12700">
            <a:solidFill>
              <a:srgbClr val="49B296"/>
            </a:solidFill>
            <a:prstDash val="solid"/>
          </a:ln>
        </p:spPr>
      </p:sp>
      <p:sp>
        <p:nvSpPr>
          <p:cNvPr id="4" name="Text 2"/>
          <p:cNvSpPr txBox="1"/>
          <p:nvPr/>
        </p:nvSpPr>
        <p:spPr>
          <a:xfrm>
            <a:off x="640080" y="1783080"/>
            <a:ext cx="676656" cy="548640"/>
          </a:xfrm>
          <a:prstGeom prst="rect">
            <a:avLst/>
          </a:prstGeom>
          <a:noFill/>
          <a:ln/>
        </p:spPr>
        <p:txBody>
          <a:bodyPr wrap="square" lIns="635" tIns="635" rIns="635" bIns="635" rtlCol="0" anchor="ctr"/>
          <a:lstStyle/>
          <a:p>
            <a:pPr indent="0" marL="0">
              <a:buNone/>
            </a:pPr>
            <a:r>
              <a:rPr lang="en-US" sz="1350" b="1" dirty="0">
                <a:solidFill>
                  <a:srgbClr val="172849"/>
                </a:solidFill>
                <a:latin typeface="Roboto" pitchFamily="34" charset="0"/>
                <a:ea typeface="Roboto" pitchFamily="34" charset="-122"/>
                <a:cs typeface="Roboto" pitchFamily="34" charset="-120"/>
              </a:rPr>
              <a:t>Phần</a:t>
            </a:r>
            <a:endParaRPr lang="en-US" sz="1350" dirty="0"/>
          </a:p>
        </p:txBody>
      </p:sp>
      <p:sp>
        <p:nvSpPr>
          <p:cNvPr id="5" name="Shape 3"/>
          <p:cNvSpPr/>
          <p:nvPr/>
        </p:nvSpPr>
        <p:spPr>
          <a:xfrm>
            <a:off x="1463040" y="1783080"/>
            <a:ext cx="488289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1554480" y="1783080"/>
            <a:ext cx="4700016" cy="548640"/>
          </a:xfrm>
          <a:prstGeom prst="rect">
            <a:avLst/>
          </a:prstGeom>
          <a:noFill/>
          <a:ln/>
        </p:spPr>
        <p:txBody>
          <a:bodyPr wrap="square" lIns="635" tIns="635" rIns="635" bIns="635" rtlCol="0" anchor="ctr"/>
          <a:lstStyle/>
          <a:p>
            <a:pPr indent="0" marL="0">
              <a:buNone/>
            </a:pPr>
            <a:r>
              <a:rPr lang="en-US" sz="1350" b="1" dirty="0">
                <a:solidFill>
                  <a:srgbClr val="172849"/>
                </a:solidFill>
                <a:latin typeface="Roboto" pitchFamily="34" charset="0"/>
                <a:ea typeface="Roboto" pitchFamily="34" charset="-122"/>
                <a:cs typeface="Roboto" pitchFamily="34" charset="-120"/>
              </a:rPr>
              <a:t>Value Planning Toolkit (giáo trình)</a:t>
            </a:r>
            <a:endParaRPr lang="en-US" sz="1350" dirty="0"/>
          </a:p>
        </p:txBody>
      </p:sp>
      <p:sp>
        <p:nvSpPr>
          <p:cNvPr id="7" name="Shape 5"/>
          <p:cNvSpPr/>
          <p:nvPr/>
        </p:nvSpPr>
        <p:spPr>
          <a:xfrm>
            <a:off x="6400800" y="1783080"/>
            <a:ext cx="5184648" cy="548640"/>
          </a:xfrm>
          <a:prstGeom prst="roundRect">
            <a:avLst>
              <a:gd name="adj" fmla="val 13333"/>
            </a:avLst>
          </a:prstGeom>
          <a:solidFill>
            <a:srgbClr val="49B296"/>
          </a:solidFill>
          <a:ln w="12700">
            <a:solidFill>
              <a:srgbClr val="49B296"/>
            </a:solidFill>
            <a:prstDash val="solid"/>
          </a:ln>
        </p:spPr>
      </p:sp>
      <p:sp>
        <p:nvSpPr>
          <p:cNvPr id="8" name="Text 6"/>
          <p:cNvSpPr txBox="1"/>
          <p:nvPr/>
        </p:nvSpPr>
        <p:spPr>
          <a:xfrm>
            <a:off x="6492240" y="1783080"/>
            <a:ext cx="5001768" cy="548640"/>
          </a:xfrm>
          <a:prstGeom prst="rect">
            <a:avLst/>
          </a:prstGeom>
          <a:noFill/>
          <a:ln/>
        </p:spPr>
        <p:txBody>
          <a:bodyPr wrap="square" lIns="635" tIns="635" rIns="635" bIns="635" rtlCol="0" anchor="ctr"/>
          <a:lstStyle/>
          <a:p>
            <a:pPr indent="0" marL="0">
              <a:buNone/>
            </a:pPr>
            <a:r>
              <a:rPr lang="en-US" sz="1350" b="1" dirty="0">
                <a:solidFill>
                  <a:srgbClr val="172849"/>
                </a:solidFill>
                <a:latin typeface="Roboto" pitchFamily="34" charset="0"/>
                <a:ea typeface="Roboto" pitchFamily="34" charset="-122"/>
                <a:cs typeface="Roboto" pitchFamily="34" charset="-120"/>
              </a:rPr>
              <a:t>Đề thi yêu cầu (công cụ đã học)</a:t>
            </a:r>
            <a:endParaRPr lang="en-US" sz="1350" dirty="0"/>
          </a:p>
        </p:txBody>
      </p:sp>
      <p:sp>
        <p:nvSpPr>
          <p:cNvPr id="9" name="Shape 7"/>
          <p:cNvSpPr/>
          <p:nvPr/>
        </p:nvSpPr>
        <p:spPr>
          <a:xfrm>
            <a:off x="548640" y="2404872"/>
            <a:ext cx="859536" cy="640080"/>
          </a:xfrm>
          <a:prstGeom prst="roundRect">
            <a:avLst>
              <a:gd name="adj" fmla="val 11429"/>
            </a:avLst>
          </a:prstGeom>
          <a:solidFill>
            <a:srgbClr val="49B296"/>
          </a:solidFill>
          <a:ln w="12700">
            <a:solidFill>
              <a:srgbClr val="49B296"/>
            </a:solidFill>
            <a:prstDash val="solid"/>
          </a:ln>
        </p:spPr>
      </p:sp>
      <p:sp>
        <p:nvSpPr>
          <p:cNvPr id="10" name="Text 8"/>
          <p:cNvSpPr txBox="1"/>
          <p:nvPr/>
        </p:nvSpPr>
        <p:spPr>
          <a:xfrm>
            <a:off x="658368" y="2404872"/>
            <a:ext cx="640080" cy="640080"/>
          </a:xfrm>
          <a:prstGeom prst="rect">
            <a:avLst/>
          </a:prstGeom>
          <a:noFill/>
          <a:ln/>
        </p:spPr>
        <p:txBody>
          <a:bodyPr wrap="square" lIns="635" tIns="635" rIns="635" bIns="635" rtlCol="0" anchor="ctr"/>
          <a:lstStyle/>
          <a:p>
            <a:pPr indent="0" marL="0">
              <a:buNone/>
            </a:pPr>
            <a:r>
              <a:rPr lang="en-US" sz="1350" b="1" dirty="0">
                <a:solidFill>
                  <a:srgbClr val="172849"/>
                </a:solidFill>
                <a:latin typeface="Roboto" pitchFamily="34" charset="0"/>
                <a:ea typeface="Roboto" pitchFamily="34" charset="-122"/>
                <a:cs typeface="Roboto" pitchFamily="34" charset="-120"/>
              </a:rPr>
              <a:t>A</a:t>
            </a:r>
            <a:endParaRPr lang="en-US" sz="1350" dirty="0"/>
          </a:p>
        </p:txBody>
      </p:sp>
      <p:sp>
        <p:nvSpPr>
          <p:cNvPr id="11" name="Shape 9"/>
          <p:cNvSpPr/>
          <p:nvPr/>
        </p:nvSpPr>
        <p:spPr>
          <a:xfrm>
            <a:off x="1463040" y="2404872"/>
            <a:ext cx="4882896" cy="640080"/>
          </a:xfrm>
          <a:prstGeom prst="roundRect">
            <a:avLst>
              <a:gd name="adj" fmla="val 11429"/>
            </a:avLst>
          </a:prstGeom>
          <a:solidFill>
            <a:srgbClr val="22395F"/>
          </a:solidFill>
          <a:ln w="12700">
            <a:solidFill>
              <a:srgbClr val="22395F"/>
            </a:solidFill>
            <a:prstDash val="solid"/>
          </a:ln>
        </p:spPr>
      </p:sp>
      <p:sp>
        <p:nvSpPr>
          <p:cNvPr id="12" name="Text 10"/>
          <p:cNvSpPr txBox="1"/>
          <p:nvPr/>
        </p:nvSpPr>
        <p:spPr>
          <a:xfrm>
            <a:off x="1572768" y="2404872"/>
            <a:ext cx="4663440" cy="6400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A1 PESTEL · A2 đối thủ của khách hàng · A3 phân tích nội bộ khách hàng · A4 SWOT 9 ô</a:t>
            </a:r>
            <a:endParaRPr lang="en-US" sz="1350" dirty="0"/>
          </a:p>
        </p:txBody>
      </p:sp>
      <p:sp>
        <p:nvSpPr>
          <p:cNvPr id="13" name="Shape 11"/>
          <p:cNvSpPr/>
          <p:nvPr/>
        </p:nvSpPr>
        <p:spPr>
          <a:xfrm>
            <a:off x="6400800" y="2404872"/>
            <a:ext cx="5184648" cy="640080"/>
          </a:xfrm>
          <a:prstGeom prst="roundRect">
            <a:avLst>
              <a:gd name="adj" fmla="val 11429"/>
            </a:avLst>
          </a:prstGeom>
          <a:solidFill>
            <a:srgbClr val="22395F"/>
          </a:solidFill>
          <a:ln w="12700">
            <a:solidFill>
              <a:srgbClr val="22395F"/>
            </a:solidFill>
            <a:prstDash val="solid"/>
          </a:ln>
        </p:spPr>
      </p:sp>
      <p:sp>
        <p:nvSpPr>
          <p:cNvPr id="14" name="Text 12"/>
          <p:cNvSpPr txBox="1"/>
          <p:nvPr/>
        </p:nvSpPr>
        <p:spPr>
          <a:xfrm>
            <a:off x="6510528" y="2404872"/>
            <a:ext cx="4965192" cy="6400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PESTEL, đối thủ của khách hàng · DMU/GRASP · hành trình khách hàng · Grid, Salience</a:t>
            </a:r>
            <a:endParaRPr lang="en-US" sz="1350" dirty="0"/>
          </a:p>
        </p:txBody>
      </p:sp>
      <p:sp>
        <p:nvSpPr>
          <p:cNvPr id="15" name="Shape 13"/>
          <p:cNvSpPr/>
          <p:nvPr/>
        </p:nvSpPr>
        <p:spPr>
          <a:xfrm>
            <a:off x="548640" y="3118104"/>
            <a:ext cx="859536" cy="640080"/>
          </a:xfrm>
          <a:prstGeom prst="roundRect">
            <a:avLst>
              <a:gd name="adj" fmla="val 11429"/>
            </a:avLst>
          </a:prstGeom>
          <a:solidFill>
            <a:srgbClr val="09A1E5"/>
          </a:solidFill>
          <a:ln w="12700">
            <a:solidFill>
              <a:srgbClr val="09A1E5"/>
            </a:solidFill>
            <a:prstDash val="solid"/>
          </a:ln>
        </p:spPr>
      </p:sp>
      <p:sp>
        <p:nvSpPr>
          <p:cNvPr id="16" name="Text 14"/>
          <p:cNvSpPr txBox="1"/>
          <p:nvPr/>
        </p:nvSpPr>
        <p:spPr>
          <a:xfrm>
            <a:off x="658368" y="3118104"/>
            <a:ext cx="640080" cy="640080"/>
          </a:xfrm>
          <a:prstGeom prst="rect">
            <a:avLst/>
          </a:prstGeom>
          <a:noFill/>
          <a:ln/>
        </p:spPr>
        <p:txBody>
          <a:bodyPr wrap="square" lIns="635" tIns="635" rIns="635" bIns="635" rtlCol="0" anchor="ctr"/>
          <a:lstStyle/>
          <a:p>
            <a:pPr indent="0" marL="0">
              <a:buNone/>
            </a:pPr>
            <a:r>
              <a:rPr lang="en-US" sz="1350" b="1" dirty="0">
                <a:solidFill>
                  <a:srgbClr val="172849"/>
                </a:solidFill>
                <a:latin typeface="Roboto" pitchFamily="34" charset="0"/>
                <a:ea typeface="Roboto" pitchFamily="34" charset="-122"/>
                <a:cs typeface="Roboto" pitchFamily="34" charset="-120"/>
              </a:rPr>
              <a:t>B</a:t>
            </a:r>
            <a:endParaRPr lang="en-US" sz="1350" dirty="0"/>
          </a:p>
        </p:txBody>
      </p:sp>
      <p:sp>
        <p:nvSpPr>
          <p:cNvPr id="17" name="Shape 15"/>
          <p:cNvSpPr/>
          <p:nvPr/>
        </p:nvSpPr>
        <p:spPr>
          <a:xfrm>
            <a:off x="1463040" y="3118104"/>
            <a:ext cx="4882896" cy="640080"/>
          </a:xfrm>
          <a:prstGeom prst="roundRect">
            <a:avLst>
              <a:gd name="adj" fmla="val 11429"/>
            </a:avLst>
          </a:prstGeom>
          <a:solidFill>
            <a:srgbClr val="22395F"/>
          </a:solidFill>
          <a:ln w="12700">
            <a:solidFill>
              <a:srgbClr val="22395F"/>
            </a:solidFill>
            <a:prstDash val="solid"/>
          </a:ln>
        </p:spPr>
      </p:sp>
      <p:sp>
        <p:nvSpPr>
          <p:cNvPr id="18" name="Text 16"/>
          <p:cNvSpPr txBox="1"/>
          <p:nvPr/>
        </p:nvSpPr>
        <p:spPr>
          <a:xfrm>
            <a:off x="1572768" y="3118104"/>
            <a:ext cx="4663440" cy="6400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B1 đối thủ của ta · B2 nội bộ ta · B3 SWOT 9 ô của ta · B4 bản đồ quan hệ, ra quyết định</a:t>
            </a:r>
            <a:endParaRPr lang="en-US" sz="1350" dirty="0"/>
          </a:p>
        </p:txBody>
      </p:sp>
      <p:sp>
        <p:nvSpPr>
          <p:cNvPr id="19" name="Shape 17"/>
          <p:cNvSpPr/>
          <p:nvPr/>
        </p:nvSpPr>
        <p:spPr>
          <a:xfrm>
            <a:off x="6400800" y="3118104"/>
            <a:ext cx="5184648" cy="640080"/>
          </a:xfrm>
          <a:prstGeom prst="roundRect">
            <a:avLst>
              <a:gd name="adj" fmla="val 11429"/>
            </a:avLst>
          </a:prstGeom>
          <a:solidFill>
            <a:srgbClr val="22395F"/>
          </a:solidFill>
          <a:ln w="12700">
            <a:solidFill>
              <a:srgbClr val="22395F"/>
            </a:solidFill>
            <a:prstDash val="solid"/>
          </a:ln>
        </p:spPr>
      </p:sp>
      <p:sp>
        <p:nvSpPr>
          <p:cNvPr id="20" name="Text 18"/>
          <p:cNvSpPr txBox="1"/>
          <p:nvPr/>
        </p:nvSpPr>
        <p:spPr>
          <a:xfrm>
            <a:off x="6510528" y="3118104"/>
            <a:ext cx="4965192" cy="6400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Ba tiêu chí Key Account · chất lượng quan hệ · CLV · cost-to-serve · cơ hội và rủi ro</a:t>
            </a:r>
            <a:endParaRPr lang="en-US" sz="1350" dirty="0"/>
          </a:p>
        </p:txBody>
      </p:sp>
      <p:sp>
        <p:nvSpPr>
          <p:cNvPr id="21" name="Shape 19"/>
          <p:cNvSpPr/>
          <p:nvPr/>
        </p:nvSpPr>
        <p:spPr>
          <a:xfrm>
            <a:off x="548640" y="3831336"/>
            <a:ext cx="859536" cy="640080"/>
          </a:xfrm>
          <a:prstGeom prst="roundRect">
            <a:avLst>
              <a:gd name="adj" fmla="val 11429"/>
            </a:avLst>
          </a:prstGeom>
          <a:solidFill>
            <a:srgbClr val="FFD23B"/>
          </a:solidFill>
          <a:ln w="12700">
            <a:solidFill>
              <a:srgbClr val="FFD23B"/>
            </a:solidFill>
            <a:prstDash val="solid"/>
          </a:ln>
        </p:spPr>
      </p:sp>
      <p:sp>
        <p:nvSpPr>
          <p:cNvPr id="22" name="Text 20"/>
          <p:cNvSpPr txBox="1"/>
          <p:nvPr/>
        </p:nvSpPr>
        <p:spPr>
          <a:xfrm>
            <a:off x="658368" y="3831336"/>
            <a:ext cx="640080" cy="640080"/>
          </a:xfrm>
          <a:prstGeom prst="rect">
            <a:avLst/>
          </a:prstGeom>
          <a:noFill/>
          <a:ln/>
        </p:spPr>
        <p:txBody>
          <a:bodyPr wrap="square" lIns="635" tIns="635" rIns="635" bIns="635" rtlCol="0" anchor="ctr"/>
          <a:lstStyle/>
          <a:p>
            <a:pPr indent="0" marL="0">
              <a:buNone/>
            </a:pPr>
            <a:r>
              <a:rPr lang="en-US" sz="1350" b="1" dirty="0">
                <a:solidFill>
                  <a:srgbClr val="172849"/>
                </a:solidFill>
                <a:latin typeface="Roboto" pitchFamily="34" charset="0"/>
                <a:ea typeface="Roboto" pitchFamily="34" charset="-122"/>
                <a:cs typeface="Roboto" pitchFamily="34" charset="-120"/>
              </a:rPr>
              <a:t>C</a:t>
            </a:r>
            <a:endParaRPr lang="en-US" sz="1350" dirty="0"/>
          </a:p>
        </p:txBody>
      </p:sp>
      <p:sp>
        <p:nvSpPr>
          <p:cNvPr id="23" name="Shape 21"/>
          <p:cNvSpPr/>
          <p:nvPr/>
        </p:nvSpPr>
        <p:spPr>
          <a:xfrm>
            <a:off x="1463040" y="3831336"/>
            <a:ext cx="4882896" cy="640080"/>
          </a:xfrm>
          <a:prstGeom prst="roundRect">
            <a:avLst>
              <a:gd name="adj" fmla="val 11429"/>
            </a:avLst>
          </a:prstGeom>
          <a:solidFill>
            <a:srgbClr val="22395F"/>
          </a:solidFill>
          <a:ln w="12700">
            <a:solidFill>
              <a:srgbClr val="22395F"/>
            </a:solidFill>
            <a:prstDash val="solid"/>
          </a:ln>
        </p:spPr>
      </p:sp>
      <p:sp>
        <p:nvSpPr>
          <p:cNvPr id="24" name="Text 22"/>
          <p:cNvSpPr txBox="1"/>
          <p:nvPr/>
        </p:nvSpPr>
        <p:spPr>
          <a:xfrm>
            <a:off x="1572768" y="3831336"/>
            <a:ext cx="4663440" cy="6400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C1 Value propositions</a:t>
            </a:r>
            <a:endParaRPr lang="en-US" sz="1350" dirty="0"/>
          </a:p>
        </p:txBody>
      </p:sp>
      <p:sp>
        <p:nvSpPr>
          <p:cNvPr id="25" name="Shape 23"/>
          <p:cNvSpPr/>
          <p:nvPr/>
        </p:nvSpPr>
        <p:spPr>
          <a:xfrm>
            <a:off x="6400800" y="3831336"/>
            <a:ext cx="5184648" cy="640080"/>
          </a:xfrm>
          <a:prstGeom prst="roundRect">
            <a:avLst>
              <a:gd name="adj" fmla="val 11429"/>
            </a:avLst>
          </a:prstGeom>
          <a:solidFill>
            <a:srgbClr val="22395F"/>
          </a:solidFill>
          <a:ln w="12700">
            <a:solidFill>
              <a:srgbClr val="22395F"/>
            </a:solidFill>
            <a:prstDash val="solid"/>
          </a:ln>
        </p:spPr>
      </p:sp>
      <p:sp>
        <p:nvSpPr>
          <p:cNvPr id="26" name="Text 24"/>
          <p:cNvSpPr txBox="1"/>
          <p:nvPr/>
        </p:nvSpPr>
        <p:spPr>
          <a:xfrm>
            <a:off x="6510528" y="3831336"/>
            <a:ext cx="4965192" cy="6400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CVP: Future state – Offering 7P – Value appraisal · năm nguồn giá trị · đồng kiến tạo</a:t>
            </a:r>
            <a:endParaRPr lang="en-US" sz="1350" dirty="0"/>
          </a:p>
        </p:txBody>
      </p:sp>
      <p:sp>
        <p:nvSpPr>
          <p:cNvPr id="27" name="Shape 25"/>
          <p:cNvSpPr/>
          <p:nvPr/>
        </p:nvSpPr>
        <p:spPr>
          <a:xfrm>
            <a:off x="548640" y="4544568"/>
            <a:ext cx="859536" cy="640080"/>
          </a:xfrm>
          <a:prstGeom prst="roundRect">
            <a:avLst>
              <a:gd name="adj" fmla="val 11429"/>
            </a:avLst>
          </a:prstGeom>
          <a:solidFill>
            <a:srgbClr val="FF9259"/>
          </a:solidFill>
          <a:ln w="12700">
            <a:solidFill>
              <a:srgbClr val="FF9259"/>
            </a:solidFill>
            <a:prstDash val="solid"/>
          </a:ln>
        </p:spPr>
      </p:sp>
      <p:sp>
        <p:nvSpPr>
          <p:cNvPr id="28" name="Text 26"/>
          <p:cNvSpPr txBox="1"/>
          <p:nvPr/>
        </p:nvSpPr>
        <p:spPr>
          <a:xfrm>
            <a:off x="658368" y="4544568"/>
            <a:ext cx="640080" cy="640080"/>
          </a:xfrm>
          <a:prstGeom prst="rect">
            <a:avLst/>
          </a:prstGeom>
          <a:noFill/>
          <a:ln/>
        </p:spPr>
        <p:txBody>
          <a:bodyPr wrap="square" lIns="635" tIns="635" rIns="635" bIns="635" rtlCol="0" anchor="ctr"/>
          <a:lstStyle/>
          <a:p>
            <a:pPr indent="0" marL="0">
              <a:buNone/>
            </a:pPr>
            <a:r>
              <a:rPr lang="en-US" sz="1350" b="1" dirty="0">
                <a:solidFill>
                  <a:srgbClr val="172849"/>
                </a:solidFill>
                <a:latin typeface="Roboto" pitchFamily="34" charset="0"/>
                <a:ea typeface="Roboto" pitchFamily="34" charset="-122"/>
                <a:cs typeface="Roboto" pitchFamily="34" charset="-120"/>
              </a:rPr>
              <a:t>D</a:t>
            </a:r>
            <a:endParaRPr lang="en-US" sz="1350" dirty="0"/>
          </a:p>
        </p:txBody>
      </p:sp>
      <p:sp>
        <p:nvSpPr>
          <p:cNvPr id="29" name="Shape 27"/>
          <p:cNvSpPr/>
          <p:nvPr/>
        </p:nvSpPr>
        <p:spPr>
          <a:xfrm>
            <a:off x="1463040" y="4544568"/>
            <a:ext cx="4882896" cy="640080"/>
          </a:xfrm>
          <a:prstGeom prst="roundRect">
            <a:avLst>
              <a:gd name="adj" fmla="val 11429"/>
            </a:avLst>
          </a:prstGeom>
          <a:solidFill>
            <a:srgbClr val="22395F"/>
          </a:solidFill>
          <a:ln w="12700">
            <a:solidFill>
              <a:srgbClr val="22395F"/>
            </a:solidFill>
            <a:prstDash val="solid"/>
          </a:ln>
        </p:spPr>
      </p:sp>
      <p:sp>
        <p:nvSpPr>
          <p:cNvPr id="30" name="Text 28"/>
          <p:cNvSpPr txBox="1"/>
          <p:nvPr/>
        </p:nvSpPr>
        <p:spPr>
          <a:xfrm>
            <a:off x="1572768" y="4544568"/>
            <a:ext cx="4663440" cy="6400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D1 kế hoạch hành động · D2 giao và ghi nhận giá trị · D3 tài chính</a:t>
            </a:r>
            <a:endParaRPr lang="en-US" sz="1350" dirty="0"/>
          </a:p>
        </p:txBody>
      </p:sp>
      <p:sp>
        <p:nvSpPr>
          <p:cNvPr id="31" name="Shape 29"/>
          <p:cNvSpPr/>
          <p:nvPr/>
        </p:nvSpPr>
        <p:spPr>
          <a:xfrm>
            <a:off x="6400800" y="4544568"/>
            <a:ext cx="5184648" cy="640080"/>
          </a:xfrm>
          <a:prstGeom prst="roundRect">
            <a:avLst>
              <a:gd name="adj" fmla="val 11429"/>
            </a:avLst>
          </a:prstGeom>
          <a:solidFill>
            <a:srgbClr val="22395F"/>
          </a:solidFill>
          <a:ln w="12700">
            <a:solidFill>
              <a:srgbClr val="22395F"/>
            </a:solidFill>
            <a:prstDash val="solid"/>
          </a:ln>
        </p:spPr>
      </p:sp>
      <p:sp>
        <p:nvSpPr>
          <p:cNvPr id="32" name="Text 30"/>
          <p:cNvSpPr txBox="1"/>
          <p:nvPr/>
        </p:nvSpPr>
        <p:spPr>
          <a:xfrm>
            <a:off x="6510528" y="4544568"/>
            <a:ext cx="4965192" cy="6400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Kraljic, đàm phán · Bow-tie → Diamond · chỉ số · ROI 6 cấp · đánh giá chung · bên ngoài</a:t>
            </a:r>
            <a:endParaRPr lang="en-US" sz="1350" dirty="0"/>
          </a:p>
        </p:txBody>
      </p:sp>
      <p:sp>
        <p:nvSpPr>
          <p:cNvPr id="33" name="Shape 31"/>
          <p:cNvSpPr/>
          <p:nvPr/>
        </p:nvSpPr>
        <p:spPr>
          <a:xfrm>
            <a:off x="548640" y="5257800"/>
            <a:ext cx="859536" cy="640080"/>
          </a:xfrm>
          <a:prstGeom prst="roundRect">
            <a:avLst>
              <a:gd name="adj" fmla="val 11429"/>
            </a:avLst>
          </a:prstGeom>
          <a:solidFill>
            <a:srgbClr val="FF5178"/>
          </a:solidFill>
          <a:ln w="12700">
            <a:solidFill>
              <a:srgbClr val="FF5178"/>
            </a:solidFill>
            <a:prstDash val="solid"/>
          </a:ln>
        </p:spPr>
      </p:sp>
      <p:sp>
        <p:nvSpPr>
          <p:cNvPr id="34" name="Text 32"/>
          <p:cNvSpPr txBox="1"/>
          <p:nvPr/>
        </p:nvSpPr>
        <p:spPr>
          <a:xfrm>
            <a:off x="658368" y="5257800"/>
            <a:ext cx="640080" cy="640080"/>
          </a:xfrm>
          <a:prstGeom prst="rect">
            <a:avLst/>
          </a:prstGeom>
          <a:noFill/>
          <a:ln/>
        </p:spPr>
        <p:txBody>
          <a:bodyPr wrap="square" lIns="635" tIns="635" rIns="635" bIns="635" rtlCol="0" anchor="ctr"/>
          <a:lstStyle/>
          <a:p>
            <a:pPr indent="0" marL="0">
              <a:buNone/>
            </a:pPr>
            <a:r>
              <a:rPr lang="en-US" sz="1350" b="1" dirty="0">
                <a:solidFill>
                  <a:srgbClr val="172849"/>
                </a:solidFill>
                <a:latin typeface="Roboto" pitchFamily="34" charset="0"/>
                <a:ea typeface="Roboto" pitchFamily="34" charset="-122"/>
                <a:cs typeface="Roboto" pitchFamily="34" charset="-120"/>
              </a:rPr>
              <a:t>E</a:t>
            </a:r>
            <a:endParaRPr lang="en-US" sz="1350" dirty="0"/>
          </a:p>
        </p:txBody>
      </p:sp>
      <p:sp>
        <p:nvSpPr>
          <p:cNvPr id="35" name="Shape 33"/>
          <p:cNvSpPr/>
          <p:nvPr/>
        </p:nvSpPr>
        <p:spPr>
          <a:xfrm>
            <a:off x="1463040" y="5257800"/>
            <a:ext cx="4882896" cy="640080"/>
          </a:xfrm>
          <a:prstGeom prst="roundRect">
            <a:avLst>
              <a:gd name="adj" fmla="val 11429"/>
            </a:avLst>
          </a:prstGeom>
          <a:solidFill>
            <a:srgbClr val="22395F"/>
          </a:solidFill>
          <a:ln w="12700">
            <a:solidFill>
              <a:srgbClr val="22395F"/>
            </a:solidFill>
            <a:prstDash val="solid"/>
          </a:ln>
        </p:spPr>
      </p:sp>
      <p:sp>
        <p:nvSpPr>
          <p:cNvPr id="36" name="Text 34"/>
          <p:cNvSpPr txBox="1"/>
          <p:nvPr/>
        </p:nvSpPr>
        <p:spPr>
          <a:xfrm>
            <a:off x="1572768" y="5257800"/>
            <a:ext cx="4663440" cy="6400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E1 tóm tắt — một trang</a:t>
            </a:r>
            <a:endParaRPr lang="en-US" sz="1350" dirty="0"/>
          </a:p>
        </p:txBody>
      </p:sp>
      <p:sp>
        <p:nvSpPr>
          <p:cNvPr id="37" name="Shape 35"/>
          <p:cNvSpPr/>
          <p:nvPr/>
        </p:nvSpPr>
        <p:spPr>
          <a:xfrm>
            <a:off x="6400800" y="5257800"/>
            <a:ext cx="5184648" cy="640080"/>
          </a:xfrm>
          <a:prstGeom prst="roundRect">
            <a:avLst>
              <a:gd name="adj" fmla="val 11429"/>
            </a:avLst>
          </a:prstGeom>
          <a:solidFill>
            <a:srgbClr val="22395F"/>
          </a:solidFill>
          <a:ln w="12700">
            <a:solidFill>
              <a:srgbClr val="22395F"/>
            </a:solidFill>
            <a:prstDash val="solid"/>
          </a:ln>
        </p:spPr>
      </p:sp>
      <p:sp>
        <p:nvSpPr>
          <p:cNvPr id="38" name="Text 36"/>
          <p:cNvSpPr txBox="1"/>
          <p:nvPr/>
        </p:nvSpPr>
        <p:spPr>
          <a:xfrm>
            <a:off x="6510528" y="5257800"/>
            <a:ext cx="4965192" cy="6400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Tối đa một trang, đặt đầu kế hoạch</a:t>
            </a:r>
            <a:endParaRPr lang="en-US" sz="1350" dirty="0"/>
          </a:p>
        </p:txBody>
      </p:sp>
      <p:sp>
        <p:nvSpPr>
          <p:cNvPr id="39" name="Text 37"/>
          <p:cNvSpPr txBox="1"/>
          <p:nvPr/>
        </p:nvSpPr>
        <p:spPr>
          <a:xfrm>
            <a:off x="548640" y="59893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3.5, tr. 73–82); Đề thi EVM1110E, mục 2 và Đề tài (Z10).</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Mỗi phần trả lời một câu hỏi của Customer Board</a:t>
            </a:r>
            <a:endParaRPr lang="en-US" sz="2800" dirty="0"/>
          </a:p>
        </p:txBody>
      </p:sp>
      <p:sp>
        <p:nvSpPr>
          <p:cNvPr id="3" name="Shape 1"/>
          <p:cNvSpPr/>
          <p:nvPr/>
        </p:nvSpPr>
        <p:spPr>
          <a:xfrm>
            <a:off x="548640" y="1783080"/>
            <a:ext cx="2688336" cy="548640"/>
          </a:xfrm>
          <a:prstGeom prst="roundRect">
            <a:avLst>
              <a:gd name="adj" fmla="val 13333"/>
            </a:avLst>
          </a:prstGeom>
          <a:solidFill>
            <a:srgbClr val="49B296"/>
          </a:solidFill>
          <a:ln w="12700">
            <a:solidFill>
              <a:srgbClr val="49B296"/>
            </a:solidFill>
            <a:prstDash val="solid"/>
          </a:ln>
        </p:spPr>
      </p:sp>
      <p:sp>
        <p:nvSpPr>
          <p:cNvPr id="4" name="Text 2"/>
          <p:cNvSpPr txBox="1"/>
          <p:nvPr/>
        </p:nvSpPr>
        <p:spPr>
          <a:xfrm>
            <a:off x="640080" y="1783080"/>
            <a:ext cx="2505456"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Phần</a:t>
            </a:r>
            <a:endParaRPr lang="en-US" sz="1400" dirty="0"/>
          </a:p>
        </p:txBody>
      </p:sp>
      <p:sp>
        <p:nvSpPr>
          <p:cNvPr id="5" name="Shape 3"/>
          <p:cNvSpPr/>
          <p:nvPr/>
        </p:nvSpPr>
        <p:spPr>
          <a:xfrm>
            <a:off x="3291840" y="1783080"/>
            <a:ext cx="8293608"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383280" y="1783080"/>
            <a:ext cx="8110728"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Câu hỏi trong đề thi</a:t>
            </a:r>
            <a:endParaRPr lang="en-US" sz="1400" dirty="0"/>
          </a:p>
        </p:txBody>
      </p:sp>
      <p:sp>
        <p:nvSpPr>
          <p:cNvPr id="7" name="Shape 5"/>
          <p:cNvSpPr/>
          <p:nvPr/>
        </p:nvSpPr>
        <p:spPr>
          <a:xfrm>
            <a:off x="548640" y="2404872"/>
            <a:ext cx="2688336" cy="658368"/>
          </a:xfrm>
          <a:prstGeom prst="roundRect">
            <a:avLst>
              <a:gd name="adj" fmla="val 11111"/>
            </a:avLst>
          </a:prstGeom>
          <a:solidFill>
            <a:srgbClr val="49B296"/>
          </a:solidFill>
          <a:ln w="12700">
            <a:solidFill>
              <a:srgbClr val="49B296"/>
            </a:solidFill>
            <a:prstDash val="solid"/>
          </a:ln>
        </p:spPr>
      </p:sp>
      <p:sp>
        <p:nvSpPr>
          <p:cNvPr id="8" name="Text 6"/>
          <p:cNvSpPr txBox="1"/>
          <p:nvPr/>
        </p:nvSpPr>
        <p:spPr>
          <a:xfrm>
            <a:off x="658368" y="2404872"/>
            <a:ext cx="2468880" cy="658368"/>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A · Value Insights</a:t>
            </a:r>
            <a:endParaRPr lang="en-US" sz="1400" dirty="0"/>
          </a:p>
        </p:txBody>
      </p:sp>
      <p:sp>
        <p:nvSpPr>
          <p:cNvPr id="9" name="Shape 7"/>
          <p:cNvSpPr/>
          <p:nvPr/>
        </p:nvSpPr>
        <p:spPr>
          <a:xfrm>
            <a:off x="3291840" y="2404872"/>
            <a:ext cx="8293608" cy="658368"/>
          </a:xfrm>
          <a:prstGeom prst="roundRect">
            <a:avLst>
              <a:gd name="adj" fmla="val 11111"/>
            </a:avLst>
          </a:prstGeom>
          <a:solidFill>
            <a:srgbClr val="22395F"/>
          </a:solidFill>
          <a:ln w="12700">
            <a:solidFill>
              <a:srgbClr val="22395F"/>
            </a:solidFill>
            <a:prstDash val="solid"/>
          </a:ln>
        </p:spPr>
      </p:sp>
      <p:sp>
        <p:nvSpPr>
          <p:cNvPr id="10" name="Text 8"/>
          <p:cNvSpPr txBox="1"/>
          <p:nvPr/>
        </p:nvSpPr>
        <p:spPr>
          <a:xfrm>
            <a:off x="3401568" y="2404872"/>
            <a:ext cx="8074152" cy="65836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Khách hàng là ai, ở hoàn cảnh nào? Môi trường và đối thủ tạo ra nhu cầu gì? Ai quyết định? Khách của khách hàng đi hành trình nào?</a:t>
            </a:r>
            <a:endParaRPr lang="en-US" sz="1400" dirty="0"/>
          </a:p>
        </p:txBody>
      </p:sp>
      <p:sp>
        <p:nvSpPr>
          <p:cNvPr id="11" name="Shape 9"/>
          <p:cNvSpPr/>
          <p:nvPr/>
        </p:nvSpPr>
        <p:spPr>
          <a:xfrm>
            <a:off x="548640" y="3136392"/>
            <a:ext cx="2688336" cy="658368"/>
          </a:xfrm>
          <a:prstGeom prst="roundRect">
            <a:avLst>
              <a:gd name="adj" fmla="val 11111"/>
            </a:avLst>
          </a:prstGeom>
          <a:solidFill>
            <a:srgbClr val="09A1E5"/>
          </a:solidFill>
          <a:ln w="12700">
            <a:solidFill>
              <a:srgbClr val="09A1E5"/>
            </a:solidFill>
            <a:prstDash val="solid"/>
          </a:ln>
        </p:spPr>
      </p:sp>
      <p:sp>
        <p:nvSpPr>
          <p:cNvPr id="12" name="Text 10"/>
          <p:cNvSpPr txBox="1"/>
          <p:nvPr/>
        </p:nvSpPr>
        <p:spPr>
          <a:xfrm>
            <a:off x="658368" y="3136392"/>
            <a:ext cx="2468880" cy="658368"/>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B · Value Opportunities</a:t>
            </a:r>
            <a:endParaRPr lang="en-US" sz="1400" dirty="0"/>
          </a:p>
        </p:txBody>
      </p:sp>
      <p:sp>
        <p:nvSpPr>
          <p:cNvPr id="13" name="Shape 11"/>
          <p:cNvSpPr/>
          <p:nvPr/>
        </p:nvSpPr>
        <p:spPr>
          <a:xfrm>
            <a:off x="3291840" y="3136392"/>
            <a:ext cx="8293608" cy="658368"/>
          </a:xfrm>
          <a:prstGeom prst="roundRect">
            <a:avLst>
              <a:gd name="adj" fmla="val 11111"/>
            </a:avLst>
          </a:prstGeom>
          <a:solidFill>
            <a:srgbClr val="22395F"/>
          </a:solidFill>
          <a:ln w="12700">
            <a:solidFill>
              <a:srgbClr val="22395F"/>
            </a:solidFill>
            <a:prstDash val="solid"/>
          </a:ln>
        </p:spPr>
      </p:sp>
      <p:sp>
        <p:nvSpPr>
          <p:cNvPr id="14" name="Text 12"/>
          <p:cNvSpPr txBox="1"/>
          <p:nvPr/>
        </p:nvSpPr>
        <p:spPr>
          <a:xfrm>
            <a:off x="3401568" y="3136392"/>
            <a:ext cx="8074152" cy="65836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Vì sao là Key Account? Quan hệ hiện tại ra sao? CLV, cost-to-serve bao nhiêu, giả định nào? Cơ hội và rủi ro lớn nhất?</a:t>
            </a:r>
            <a:endParaRPr lang="en-US" sz="1400" dirty="0"/>
          </a:p>
        </p:txBody>
      </p:sp>
      <p:sp>
        <p:nvSpPr>
          <p:cNvPr id="15" name="Shape 13"/>
          <p:cNvSpPr/>
          <p:nvPr/>
        </p:nvSpPr>
        <p:spPr>
          <a:xfrm>
            <a:off x="548640" y="3867912"/>
            <a:ext cx="2688336" cy="658368"/>
          </a:xfrm>
          <a:prstGeom prst="roundRect">
            <a:avLst>
              <a:gd name="adj" fmla="val 11111"/>
            </a:avLst>
          </a:prstGeom>
          <a:solidFill>
            <a:srgbClr val="FFD23B"/>
          </a:solidFill>
          <a:ln w="12700">
            <a:solidFill>
              <a:srgbClr val="FFD23B"/>
            </a:solidFill>
            <a:prstDash val="solid"/>
          </a:ln>
        </p:spPr>
      </p:sp>
      <p:sp>
        <p:nvSpPr>
          <p:cNvPr id="16" name="Text 14"/>
          <p:cNvSpPr txBox="1"/>
          <p:nvPr/>
        </p:nvSpPr>
        <p:spPr>
          <a:xfrm>
            <a:off x="658368" y="3867912"/>
            <a:ext cx="2468880" cy="658368"/>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C · Value Propositions</a:t>
            </a:r>
            <a:endParaRPr lang="en-US" sz="1400" dirty="0"/>
          </a:p>
        </p:txBody>
      </p:sp>
      <p:sp>
        <p:nvSpPr>
          <p:cNvPr id="17" name="Shape 15"/>
          <p:cNvSpPr/>
          <p:nvPr/>
        </p:nvSpPr>
        <p:spPr>
          <a:xfrm>
            <a:off x="3291840" y="3867912"/>
            <a:ext cx="8293608" cy="658368"/>
          </a:xfrm>
          <a:prstGeom prst="roundRect">
            <a:avLst>
              <a:gd name="adj" fmla="val 11111"/>
            </a:avLst>
          </a:prstGeom>
          <a:solidFill>
            <a:srgbClr val="22395F"/>
          </a:solidFill>
          <a:ln w="12700">
            <a:solidFill>
              <a:srgbClr val="22395F"/>
            </a:solidFill>
            <a:prstDash val="solid"/>
          </a:ln>
        </p:spPr>
      </p:sp>
      <p:sp>
        <p:nvSpPr>
          <p:cNvPr id="18" name="Text 16"/>
          <p:cNvSpPr txBox="1"/>
          <p:nvPr/>
        </p:nvSpPr>
        <p:spPr>
          <a:xfrm>
            <a:off x="3401568" y="3867912"/>
            <a:ext cx="8074152" cy="65836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Agency đề xuất giá trị gì, từ nguồn nào, định lượng được bao nhiêu? Đồng kiến tạo theo bước nào?</a:t>
            </a:r>
            <a:endParaRPr lang="en-US" sz="1400" dirty="0"/>
          </a:p>
        </p:txBody>
      </p:sp>
      <p:sp>
        <p:nvSpPr>
          <p:cNvPr id="19" name="Shape 17"/>
          <p:cNvSpPr/>
          <p:nvPr/>
        </p:nvSpPr>
        <p:spPr>
          <a:xfrm>
            <a:off x="548640" y="4599432"/>
            <a:ext cx="2688336" cy="658368"/>
          </a:xfrm>
          <a:prstGeom prst="roundRect">
            <a:avLst>
              <a:gd name="adj" fmla="val 11111"/>
            </a:avLst>
          </a:prstGeom>
          <a:solidFill>
            <a:srgbClr val="FF9259"/>
          </a:solidFill>
          <a:ln w="12700">
            <a:solidFill>
              <a:srgbClr val="FF9259"/>
            </a:solidFill>
            <a:prstDash val="solid"/>
          </a:ln>
        </p:spPr>
      </p:sp>
      <p:sp>
        <p:nvSpPr>
          <p:cNvPr id="20" name="Text 18"/>
          <p:cNvSpPr txBox="1"/>
          <p:nvPr/>
        </p:nvSpPr>
        <p:spPr>
          <a:xfrm>
            <a:off x="658368" y="4599432"/>
            <a:ext cx="2468880" cy="658368"/>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D · Value Delivery</a:t>
            </a:r>
            <a:endParaRPr lang="en-US" sz="1400" dirty="0"/>
          </a:p>
        </p:txBody>
      </p:sp>
      <p:sp>
        <p:nvSpPr>
          <p:cNvPr id="21" name="Shape 19"/>
          <p:cNvSpPr/>
          <p:nvPr/>
        </p:nvSpPr>
        <p:spPr>
          <a:xfrm>
            <a:off x="3291840" y="4599432"/>
            <a:ext cx="8293608" cy="658368"/>
          </a:xfrm>
          <a:prstGeom prst="roundRect">
            <a:avLst>
              <a:gd name="adj" fmla="val 11111"/>
            </a:avLst>
          </a:prstGeom>
          <a:solidFill>
            <a:srgbClr val="22395F"/>
          </a:solidFill>
          <a:ln w="12700">
            <a:solidFill>
              <a:srgbClr val="22395F"/>
            </a:solidFill>
            <a:prstDash val="solid"/>
          </a:ln>
        </p:spPr>
      </p:sp>
      <p:sp>
        <p:nvSpPr>
          <p:cNvPr id="22" name="Text 20"/>
          <p:cNvSpPr txBox="1"/>
          <p:nvPr/>
        </p:nvSpPr>
        <p:spPr>
          <a:xfrm>
            <a:off x="3401568" y="4599432"/>
            <a:ext cx="8074152" cy="65836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Quản trị quan hệ thế nào? Mỗi bên bên ngoài gắn điểm chạm nào, tạo giá trị gì, quản lý bằng gì? Xung đột nào, bảo vệ cam kết ra sao?</a:t>
            </a:r>
            <a:endParaRPr lang="en-US" sz="1400" dirty="0"/>
          </a:p>
        </p:txBody>
      </p:sp>
      <p:sp>
        <p:nvSpPr>
          <p:cNvPr id="23" name="Shape 21"/>
          <p:cNvSpPr/>
          <p:nvPr/>
        </p:nvSpPr>
        <p:spPr>
          <a:xfrm>
            <a:off x="548640" y="5330952"/>
            <a:ext cx="2688336" cy="658368"/>
          </a:xfrm>
          <a:prstGeom prst="roundRect">
            <a:avLst>
              <a:gd name="adj" fmla="val 11111"/>
            </a:avLst>
          </a:prstGeom>
          <a:solidFill>
            <a:srgbClr val="FF5178"/>
          </a:solidFill>
          <a:ln w="12700">
            <a:solidFill>
              <a:srgbClr val="FF5178"/>
            </a:solidFill>
            <a:prstDash val="solid"/>
          </a:ln>
        </p:spPr>
      </p:sp>
      <p:sp>
        <p:nvSpPr>
          <p:cNvPr id="24" name="Text 22"/>
          <p:cNvSpPr txBox="1"/>
          <p:nvPr/>
        </p:nvSpPr>
        <p:spPr>
          <a:xfrm>
            <a:off x="658368" y="5330952"/>
            <a:ext cx="2468880" cy="658368"/>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E · Executive Summary</a:t>
            </a:r>
            <a:endParaRPr lang="en-US" sz="1400" dirty="0"/>
          </a:p>
        </p:txBody>
      </p:sp>
      <p:sp>
        <p:nvSpPr>
          <p:cNvPr id="25" name="Shape 23"/>
          <p:cNvSpPr/>
          <p:nvPr/>
        </p:nvSpPr>
        <p:spPr>
          <a:xfrm>
            <a:off x="3291840" y="5330952"/>
            <a:ext cx="8293608" cy="658368"/>
          </a:xfrm>
          <a:prstGeom prst="roundRect">
            <a:avLst>
              <a:gd name="adj" fmla="val 11111"/>
            </a:avLst>
          </a:prstGeom>
          <a:solidFill>
            <a:srgbClr val="22395F"/>
          </a:solidFill>
          <a:ln w="12700">
            <a:solidFill>
              <a:srgbClr val="22395F"/>
            </a:solidFill>
            <a:prstDash val="solid"/>
          </a:ln>
        </p:spPr>
      </p:sp>
      <p:sp>
        <p:nvSpPr>
          <p:cNvPr id="26" name="Text 24"/>
          <p:cNvSpPr txBox="1"/>
          <p:nvPr/>
        </p:nvSpPr>
        <p:spPr>
          <a:xfrm>
            <a:off x="3401568" y="5330952"/>
            <a:ext cx="8074152" cy="65836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Trong một trang, Customer Board cần biết gì để đồng ý với kế hoạch?</a:t>
            </a:r>
            <a:endParaRPr lang="en-US" sz="1400" dirty="0"/>
          </a:p>
        </p:txBody>
      </p:sp>
      <p:sp>
        <p:nvSpPr>
          <p:cNvPr id="27" name="Text 25"/>
          <p:cNvSpPr txBox="1"/>
          <p:nvPr/>
        </p:nvSpPr>
        <p:spPr>
          <a:xfrm>
            <a:off x="548640" y="59893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Đề thi EVM1110E, phần Đề tài (Z10) — rút gọn.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Viết A → D rồi mới viết E — nhưng đặt E ở trang đầu</a:t>
            </a:r>
            <a:endParaRPr lang="en-US" sz="2800" dirty="0"/>
          </a:p>
        </p:txBody>
      </p:sp>
      <p:sp>
        <p:nvSpPr>
          <p:cNvPr id="3" name="Shape 1"/>
          <p:cNvSpPr/>
          <p:nvPr/>
        </p:nvSpPr>
        <p:spPr>
          <a:xfrm>
            <a:off x="548640" y="1783080"/>
            <a:ext cx="5449824" cy="3291840"/>
          </a:xfrm>
          <a:prstGeom prst="roundRect">
            <a:avLst>
              <a:gd name="adj" fmla="val 2222"/>
            </a:avLst>
          </a:prstGeom>
          <a:solidFill>
            <a:srgbClr val="22395F"/>
          </a:solidFill>
          <a:ln w="12700">
            <a:solidFill>
              <a:srgbClr val="22395F"/>
            </a:solidFill>
            <a:prstDash val="solid"/>
          </a:ln>
        </p:spPr>
      </p:sp>
      <p:sp>
        <p:nvSpPr>
          <p:cNvPr id="4" name="Text 2"/>
          <p:cNvSpPr txBox="1"/>
          <p:nvPr/>
        </p:nvSpPr>
        <p:spPr>
          <a:xfrm>
            <a:off x="777240" y="1874520"/>
            <a:ext cx="4937760" cy="548640"/>
          </a:xfrm>
          <a:prstGeom prst="rect">
            <a:avLst/>
          </a:prstGeom>
          <a:noFill/>
          <a:ln/>
        </p:spPr>
        <p:txBody>
          <a:bodyPr wrap="square" lIns="635" tIns="635" rIns="635" bIns="635" rtlCol="0" anchor="ctr"/>
          <a:lstStyle/>
          <a:p>
            <a:pPr indent="0" marL="0">
              <a:buNone/>
            </a:pPr>
            <a:r>
              <a:rPr lang="en-US" sz="1900" b="1" dirty="0">
                <a:solidFill>
                  <a:srgbClr val="49B296"/>
                </a:solidFill>
                <a:latin typeface="Roboto" pitchFamily="34" charset="0"/>
                <a:ea typeface="Roboto" pitchFamily="34" charset="-122"/>
                <a:cs typeface="Roboto" pitchFamily="34" charset="-120"/>
              </a:rPr>
              <a:t>Thứ tự viết</a:t>
            </a:r>
            <a:endParaRPr lang="en-US" sz="1900" dirty="0"/>
          </a:p>
        </p:txBody>
      </p:sp>
      <p:sp>
        <p:nvSpPr>
          <p:cNvPr id="5" name="Shape 3"/>
          <p:cNvSpPr/>
          <p:nvPr/>
        </p:nvSpPr>
        <p:spPr>
          <a:xfrm>
            <a:off x="822960" y="2606040"/>
            <a:ext cx="731520" cy="731520"/>
          </a:xfrm>
          <a:prstGeom prst="ellipse">
            <a:avLst/>
          </a:prstGeom>
          <a:solidFill>
            <a:srgbClr val="49B296"/>
          </a:solidFill>
          <a:ln w="12700">
            <a:solidFill>
              <a:srgbClr val="49B296"/>
            </a:solidFill>
            <a:prstDash val="solid"/>
          </a:ln>
        </p:spPr>
      </p:sp>
      <p:sp>
        <p:nvSpPr>
          <p:cNvPr id="6" name="Text 4"/>
          <p:cNvSpPr txBox="1"/>
          <p:nvPr/>
        </p:nvSpPr>
        <p:spPr>
          <a:xfrm>
            <a:off x="822960"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A</a:t>
            </a:r>
            <a:endParaRPr lang="en-US" sz="2000" dirty="0"/>
          </a:p>
        </p:txBody>
      </p:sp>
      <p:sp>
        <p:nvSpPr>
          <p:cNvPr id="7" name="Shape 5"/>
          <p:cNvSpPr/>
          <p:nvPr/>
        </p:nvSpPr>
        <p:spPr>
          <a:xfrm>
            <a:off x="1572768" y="2788920"/>
            <a:ext cx="237744" cy="365760"/>
          </a:xfrm>
          <a:prstGeom prst="rightArrow">
            <a:avLst/>
          </a:prstGeom>
          <a:solidFill>
            <a:srgbClr val="A9B6D3"/>
          </a:solidFill>
          <a:ln w="12700">
            <a:solidFill>
              <a:srgbClr val="A9B6D3"/>
            </a:solidFill>
            <a:prstDash val="solid"/>
          </a:ln>
        </p:spPr>
      </p:sp>
      <p:sp>
        <p:nvSpPr>
          <p:cNvPr id="8" name="Shape 6"/>
          <p:cNvSpPr/>
          <p:nvPr/>
        </p:nvSpPr>
        <p:spPr>
          <a:xfrm>
            <a:off x="1828800" y="2606040"/>
            <a:ext cx="731520" cy="731520"/>
          </a:xfrm>
          <a:prstGeom prst="ellipse">
            <a:avLst/>
          </a:prstGeom>
          <a:solidFill>
            <a:srgbClr val="09A1E5"/>
          </a:solidFill>
          <a:ln w="12700">
            <a:solidFill>
              <a:srgbClr val="09A1E5"/>
            </a:solidFill>
            <a:prstDash val="solid"/>
          </a:ln>
        </p:spPr>
      </p:sp>
      <p:sp>
        <p:nvSpPr>
          <p:cNvPr id="9" name="Text 7"/>
          <p:cNvSpPr txBox="1"/>
          <p:nvPr/>
        </p:nvSpPr>
        <p:spPr>
          <a:xfrm>
            <a:off x="1828800"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B</a:t>
            </a:r>
            <a:endParaRPr lang="en-US" sz="2000" dirty="0"/>
          </a:p>
        </p:txBody>
      </p:sp>
      <p:sp>
        <p:nvSpPr>
          <p:cNvPr id="10" name="Shape 8"/>
          <p:cNvSpPr/>
          <p:nvPr/>
        </p:nvSpPr>
        <p:spPr>
          <a:xfrm>
            <a:off x="2578608" y="2788920"/>
            <a:ext cx="237744" cy="365760"/>
          </a:xfrm>
          <a:prstGeom prst="rightArrow">
            <a:avLst/>
          </a:prstGeom>
          <a:solidFill>
            <a:srgbClr val="A9B6D3"/>
          </a:solidFill>
          <a:ln w="12700">
            <a:solidFill>
              <a:srgbClr val="A9B6D3"/>
            </a:solidFill>
            <a:prstDash val="solid"/>
          </a:ln>
        </p:spPr>
      </p:sp>
      <p:sp>
        <p:nvSpPr>
          <p:cNvPr id="11" name="Shape 9"/>
          <p:cNvSpPr/>
          <p:nvPr/>
        </p:nvSpPr>
        <p:spPr>
          <a:xfrm>
            <a:off x="2834640" y="2606040"/>
            <a:ext cx="731520" cy="731520"/>
          </a:xfrm>
          <a:prstGeom prst="ellipse">
            <a:avLst/>
          </a:prstGeom>
          <a:solidFill>
            <a:srgbClr val="FFD23B"/>
          </a:solidFill>
          <a:ln w="12700">
            <a:solidFill>
              <a:srgbClr val="FFD23B"/>
            </a:solidFill>
            <a:prstDash val="solid"/>
          </a:ln>
        </p:spPr>
      </p:sp>
      <p:sp>
        <p:nvSpPr>
          <p:cNvPr id="12" name="Text 10"/>
          <p:cNvSpPr txBox="1"/>
          <p:nvPr/>
        </p:nvSpPr>
        <p:spPr>
          <a:xfrm>
            <a:off x="2834640"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C</a:t>
            </a:r>
            <a:endParaRPr lang="en-US" sz="2000" dirty="0"/>
          </a:p>
        </p:txBody>
      </p:sp>
      <p:sp>
        <p:nvSpPr>
          <p:cNvPr id="13" name="Shape 11"/>
          <p:cNvSpPr/>
          <p:nvPr/>
        </p:nvSpPr>
        <p:spPr>
          <a:xfrm>
            <a:off x="3584448" y="2788920"/>
            <a:ext cx="237744" cy="365760"/>
          </a:xfrm>
          <a:prstGeom prst="rightArrow">
            <a:avLst/>
          </a:prstGeom>
          <a:solidFill>
            <a:srgbClr val="A9B6D3"/>
          </a:solidFill>
          <a:ln w="12700">
            <a:solidFill>
              <a:srgbClr val="A9B6D3"/>
            </a:solidFill>
            <a:prstDash val="solid"/>
          </a:ln>
        </p:spPr>
      </p:sp>
      <p:sp>
        <p:nvSpPr>
          <p:cNvPr id="14" name="Shape 12"/>
          <p:cNvSpPr/>
          <p:nvPr/>
        </p:nvSpPr>
        <p:spPr>
          <a:xfrm>
            <a:off x="3840480" y="2606040"/>
            <a:ext cx="731520" cy="731520"/>
          </a:xfrm>
          <a:prstGeom prst="ellipse">
            <a:avLst/>
          </a:prstGeom>
          <a:solidFill>
            <a:srgbClr val="FF9259"/>
          </a:solidFill>
          <a:ln w="12700">
            <a:solidFill>
              <a:srgbClr val="FF9259"/>
            </a:solidFill>
            <a:prstDash val="solid"/>
          </a:ln>
        </p:spPr>
      </p:sp>
      <p:sp>
        <p:nvSpPr>
          <p:cNvPr id="15" name="Text 13"/>
          <p:cNvSpPr txBox="1"/>
          <p:nvPr/>
        </p:nvSpPr>
        <p:spPr>
          <a:xfrm>
            <a:off x="3840480"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D</a:t>
            </a:r>
            <a:endParaRPr lang="en-US" sz="2000" dirty="0"/>
          </a:p>
        </p:txBody>
      </p:sp>
      <p:sp>
        <p:nvSpPr>
          <p:cNvPr id="16" name="Shape 14"/>
          <p:cNvSpPr/>
          <p:nvPr/>
        </p:nvSpPr>
        <p:spPr>
          <a:xfrm>
            <a:off x="4590288" y="2788920"/>
            <a:ext cx="237744" cy="365760"/>
          </a:xfrm>
          <a:prstGeom prst="rightArrow">
            <a:avLst/>
          </a:prstGeom>
          <a:solidFill>
            <a:srgbClr val="A9B6D3"/>
          </a:solidFill>
          <a:ln w="12700">
            <a:solidFill>
              <a:srgbClr val="A9B6D3"/>
            </a:solidFill>
            <a:prstDash val="solid"/>
          </a:ln>
        </p:spPr>
      </p:sp>
      <p:sp>
        <p:nvSpPr>
          <p:cNvPr id="17" name="Shape 15"/>
          <p:cNvSpPr/>
          <p:nvPr/>
        </p:nvSpPr>
        <p:spPr>
          <a:xfrm>
            <a:off x="4846320" y="2606040"/>
            <a:ext cx="731520" cy="731520"/>
          </a:xfrm>
          <a:prstGeom prst="ellipse">
            <a:avLst/>
          </a:prstGeom>
          <a:solidFill>
            <a:srgbClr val="FF5178"/>
          </a:solidFill>
          <a:ln w="12700">
            <a:solidFill>
              <a:srgbClr val="FF5178"/>
            </a:solidFill>
            <a:prstDash val="solid"/>
          </a:ln>
        </p:spPr>
      </p:sp>
      <p:sp>
        <p:nvSpPr>
          <p:cNvPr id="18" name="Text 16"/>
          <p:cNvSpPr txBox="1"/>
          <p:nvPr/>
        </p:nvSpPr>
        <p:spPr>
          <a:xfrm>
            <a:off x="4846320"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E</a:t>
            </a:r>
            <a:endParaRPr lang="en-US" sz="2000" dirty="0"/>
          </a:p>
        </p:txBody>
      </p:sp>
      <p:sp>
        <p:nvSpPr>
          <p:cNvPr id="19" name="Text 17"/>
          <p:cNvSpPr txBox="1"/>
          <p:nvPr/>
        </p:nvSpPr>
        <p:spPr>
          <a:xfrm>
            <a:off x="777240" y="3611880"/>
            <a:ext cx="4937760" cy="128016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E là bước cuối: chỉ tóm tắt được điều đã phân tích xong</a:t>
            </a:r>
            <a:endParaRPr lang="en-US" sz="1600" dirty="0"/>
          </a:p>
        </p:txBody>
      </p:sp>
      <p:sp>
        <p:nvSpPr>
          <p:cNvPr id="20" name="Shape 18"/>
          <p:cNvSpPr/>
          <p:nvPr/>
        </p:nvSpPr>
        <p:spPr>
          <a:xfrm>
            <a:off x="6190488" y="1783080"/>
            <a:ext cx="5449824" cy="3291840"/>
          </a:xfrm>
          <a:prstGeom prst="roundRect">
            <a:avLst>
              <a:gd name="adj" fmla="val 2222"/>
            </a:avLst>
          </a:prstGeom>
          <a:solidFill>
            <a:srgbClr val="22395F"/>
          </a:solidFill>
          <a:ln w="12700">
            <a:solidFill>
              <a:srgbClr val="22395F"/>
            </a:solidFill>
            <a:prstDash val="solid"/>
          </a:ln>
        </p:spPr>
      </p:sp>
      <p:sp>
        <p:nvSpPr>
          <p:cNvPr id="21" name="Text 19"/>
          <p:cNvSpPr txBox="1"/>
          <p:nvPr/>
        </p:nvSpPr>
        <p:spPr>
          <a:xfrm>
            <a:off x="6419088" y="1874520"/>
            <a:ext cx="4937760" cy="548640"/>
          </a:xfrm>
          <a:prstGeom prst="rect">
            <a:avLst/>
          </a:prstGeom>
          <a:noFill/>
          <a:ln/>
        </p:spPr>
        <p:txBody>
          <a:bodyPr wrap="square" lIns="635" tIns="635" rIns="635" bIns="635" rtlCol="0" anchor="ctr"/>
          <a:lstStyle/>
          <a:p>
            <a:pPr indent="0" marL="0">
              <a:buNone/>
            </a:pPr>
            <a:r>
              <a:rPr lang="en-US" sz="1900" b="1" dirty="0">
                <a:solidFill>
                  <a:srgbClr val="FF5178"/>
                </a:solidFill>
                <a:latin typeface="Roboto" pitchFamily="34" charset="0"/>
                <a:ea typeface="Roboto" pitchFamily="34" charset="-122"/>
                <a:cs typeface="Roboto" pitchFamily="34" charset="-120"/>
              </a:rPr>
              <a:t>Thứ tự đọc</a:t>
            </a:r>
            <a:endParaRPr lang="en-US" sz="1900" dirty="0"/>
          </a:p>
        </p:txBody>
      </p:sp>
      <p:sp>
        <p:nvSpPr>
          <p:cNvPr id="22" name="Shape 20"/>
          <p:cNvSpPr/>
          <p:nvPr/>
        </p:nvSpPr>
        <p:spPr>
          <a:xfrm>
            <a:off x="6464808" y="2606040"/>
            <a:ext cx="731520" cy="731520"/>
          </a:xfrm>
          <a:prstGeom prst="ellipse">
            <a:avLst/>
          </a:prstGeom>
          <a:solidFill>
            <a:srgbClr val="FF5178"/>
          </a:solidFill>
          <a:ln w="12700">
            <a:solidFill>
              <a:srgbClr val="FF5178"/>
            </a:solidFill>
            <a:prstDash val="solid"/>
          </a:ln>
        </p:spPr>
      </p:sp>
      <p:sp>
        <p:nvSpPr>
          <p:cNvPr id="23" name="Text 21"/>
          <p:cNvSpPr txBox="1"/>
          <p:nvPr/>
        </p:nvSpPr>
        <p:spPr>
          <a:xfrm>
            <a:off x="6464808"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E</a:t>
            </a:r>
            <a:endParaRPr lang="en-US" sz="2000" dirty="0"/>
          </a:p>
        </p:txBody>
      </p:sp>
      <p:sp>
        <p:nvSpPr>
          <p:cNvPr id="24" name="Shape 22"/>
          <p:cNvSpPr/>
          <p:nvPr/>
        </p:nvSpPr>
        <p:spPr>
          <a:xfrm>
            <a:off x="7214616" y="2788920"/>
            <a:ext cx="237744" cy="365760"/>
          </a:xfrm>
          <a:prstGeom prst="rightArrow">
            <a:avLst/>
          </a:prstGeom>
          <a:solidFill>
            <a:srgbClr val="A9B6D3"/>
          </a:solidFill>
          <a:ln w="12700">
            <a:solidFill>
              <a:srgbClr val="A9B6D3"/>
            </a:solidFill>
            <a:prstDash val="solid"/>
          </a:ln>
        </p:spPr>
      </p:sp>
      <p:sp>
        <p:nvSpPr>
          <p:cNvPr id="25" name="Shape 23"/>
          <p:cNvSpPr/>
          <p:nvPr/>
        </p:nvSpPr>
        <p:spPr>
          <a:xfrm>
            <a:off x="7470648" y="2606040"/>
            <a:ext cx="731520" cy="731520"/>
          </a:xfrm>
          <a:prstGeom prst="ellipse">
            <a:avLst/>
          </a:prstGeom>
          <a:solidFill>
            <a:srgbClr val="49B296"/>
          </a:solidFill>
          <a:ln w="12700">
            <a:solidFill>
              <a:srgbClr val="49B296"/>
            </a:solidFill>
            <a:prstDash val="solid"/>
          </a:ln>
        </p:spPr>
      </p:sp>
      <p:sp>
        <p:nvSpPr>
          <p:cNvPr id="26" name="Text 24"/>
          <p:cNvSpPr txBox="1"/>
          <p:nvPr/>
        </p:nvSpPr>
        <p:spPr>
          <a:xfrm>
            <a:off x="7470648"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A</a:t>
            </a:r>
            <a:endParaRPr lang="en-US" sz="2000" dirty="0"/>
          </a:p>
        </p:txBody>
      </p:sp>
      <p:sp>
        <p:nvSpPr>
          <p:cNvPr id="27" name="Shape 25"/>
          <p:cNvSpPr/>
          <p:nvPr/>
        </p:nvSpPr>
        <p:spPr>
          <a:xfrm>
            <a:off x="8220456" y="2788920"/>
            <a:ext cx="237744" cy="365760"/>
          </a:xfrm>
          <a:prstGeom prst="rightArrow">
            <a:avLst/>
          </a:prstGeom>
          <a:solidFill>
            <a:srgbClr val="A9B6D3"/>
          </a:solidFill>
          <a:ln w="12700">
            <a:solidFill>
              <a:srgbClr val="A9B6D3"/>
            </a:solidFill>
            <a:prstDash val="solid"/>
          </a:ln>
        </p:spPr>
      </p:sp>
      <p:sp>
        <p:nvSpPr>
          <p:cNvPr id="28" name="Shape 26"/>
          <p:cNvSpPr/>
          <p:nvPr/>
        </p:nvSpPr>
        <p:spPr>
          <a:xfrm>
            <a:off x="8476488" y="2606040"/>
            <a:ext cx="731520" cy="731520"/>
          </a:xfrm>
          <a:prstGeom prst="ellipse">
            <a:avLst/>
          </a:prstGeom>
          <a:solidFill>
            <a:srgbClr val="09A1E5"/>
          </a:solidFill>
          <a:ln w="12700">
            <a:solidFill>
              <a:srgbClr val="09A1E5"/>
            </a:solidFill>
            <a:prstDash val="solid"/>
          </a:ln>
        </p:spPr>
      </p:sp>
      <p:sp>
        <p:nvSpPr>
          <p:cNvPr id="29" name="Text 27"/>
          <p:cNvSpPr txBox="1"/>
          <p:nvPr/>
        </p:nvSpPr>
        <p:spPr>
          <a:xfrm>
            <a:off x="8476488"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B</a:t>
            </a:r>
            <a:endParaRPr lang="en-US" sz="2000" dirty="0"/>
          </a:p>
        </p:txBody>
      </p:sp>
      <p:sp>
        <p:nvSpPr>
          <p:cNvPr id="30" name="Shape 28"/>
          <p:cNvSpPr/>
          <p:nvPr/>
        </p:nvSpPr>
        <p:spPr>
          <a:xfrm>
            <a:off x="9226296" y="2788920"/>
            <a:ext cx="237744" cy="365760"/>
          </a:xfrm>
          <a:prstGeom prst="rightArrow">
            <a:avLst/>
          </a:prstGeom>
          <a:solidFill>
            <a:srgbClr val="A9B6D3"/>
          </a:solidFill>
          <a:ln w="12700">
            <a:solidFill>
              <a:srgbClr val="A9B6D3"/>
            </a:solidFill>
            <a:prstDash val="solid"/>
          </a:ln>
        </p:spPr>
      </p:sp>
      <p:sp>
        <p:nvSpPr>
          <p:cNvPr id="31" name="Shape 29"/>
          <p:cNvSpPr/>
          <p:nvPr/>
        </p:nvSpPr>
        <p:spPr>
          <a:xfrm>
            <a:off x="9482328" y="2606040"/>
            <a:ext cx="731520" cy="731520"/>
          </a:xfrm>
          <a:prstGeom prst="ellipse">
            <a:avLst/>
          </a:prstGeom>
          <a:solidFill>
            <a:srgbClr val="FFD23B"/>
          </a:solidFill>
          <a:ln w="12700">
            <a:solidFill>
              <a:srgbClr val="FFD23B"/>
            </a:solidFill>
            <a:prstDash val="solid"/>
          </a:ln>
        </p:spPr>
      </p:sp>
      <p:sp>
        <p:nvSpPr>
          <p:cNvPr id="32" name="Text 30"/>
          <p:cNvSpPr txBox="1"/>
          <p:nvPr/>
        </p:nvSpPr>
        <p:spPr>
          <a:xfrm>
            <a:off x="9482328"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C</a:t>
            </a:r>
            <a:endParaRPr lang="en-US" sz="2000" dirty="0"/>
          </a:p>
        </p:txBody>
      </p:sp>
      <p:sp>
        <p:nvSpPr>
          <p:cNvPr id="33" name="Shape 31"/>
          <p:cNvSpPr/>
          <p:nvPr/>
        </p:nvSpPr>
        <p:spPr>
          <a:xfrm>
            <a:off x="10232136" y="2788920"/>
            <a:ext cx="237744" cy="365760"/>
          </a:xfrm>
          <a:prstGeom prst="rightArrow">
            <a:avLst/>
          </a:prstGeom>
          <a:solidFill>
            <a:srgbClr val="A9B6D3"/>
          </a:solidFill>
          <a:ln w="12700">
            <a:solidFill>
              <a:srgbClr val="A9B6D3"/>
            </a:solidFill>
            <a:prstDash val="solid"/>
          </a:ln>
        </p:spPr>
      </p:sp>
      <p:sp>
        <p:nvSpPr>
          <p:cNvPr id="34" name="Shape 32"/>
          <p:cNvSpPr/>
          <p:nvPr/>
        </p:nvSpPr>
        <p:spPr>
          <a:xfrm>
            <a:off x="10488168" y="2606040"/>
            <a:ext cx="731520" cy="731520"/>
          </a:xfrm>
          <a:prstGeom prst="ellipse">
            <a:avLst/>
          </a:prstGeom>
          <a:solidFill>
            <a:srgbClr val="FF9259"/>
          </a:solidFill>
          <a:ln w="12700">
            <a:solidFill>
              <a:srgbClr val="FF9259"/>
            </a:solidFill>
            <a:prstDash val="solid"/>
          </a:ln>
        </p:spPr>
      </p:sp>
      <p:sp>
        <p:nvSpPr>
          <p:cNvPr id="35" name="Text 33"/>
          <p:cNvSpPr txBox="1"/>
          <p:nvPr/>
        </p:nvSpPr>
        <p:spPr>
          <a:xfrm>
            <a:off x="10488168"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D</a:t>
            </a:r>
            <a:endParaRPr lang="en-US" sz="2000" dirty="0"/>
          </a:p>
        </p:txBody>
      </p:sp>
      <p:sp>
        <p:nvSpPr>
          <p:cNvPr id="36" name="Text 34"/>
          <p:cNvSpPr txBox="1"/>
          <p:nvPr/>
        </p:nvSpPr>
        <p:spPr>
          <a:xfrm>
            <a:off x="6419088" y="3611880"/>
            <a:ext cx="4937760" cy="128016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Đề thi: E tối đa 1 trang, đặt đầu kế hoạch — hội đồng đọc E trước</a:t>
            </a:r>
            <a:endParaRPr lang="en-US" sz="1600" dirty="0"/>
          </a:p>
        </p:txBody>
      </p:sp>
      <p:sp>
        <p:nvSpPr>
          <p:cNvPr id="37" name="Shape 35"/>
          <p:cNvSpPr/>
          <p:nvPr/>
        </p:nvSpPr>
        <p:spPr>
          <a:xfrm>
            <a:off x="548640" y="5257800"/>
            <a:ext cx="11091672" cy="685800"/>
          </a:xfrm>
          <a:prstGeom prst="roundRect">
            <a:avLst>
              <a:gd name="adj" fmla="val 10667"/>
            </a:avLst>
          </a:prstGeom>
          <a:solidFill>
            <a:srgbClr val="FFD23B"/>
          </a:solidFill>
          <a:ln w="12700">
            <a:solidFill>
              <a:srgbClr val="FFD23B"/>
            </a:solidFill>
            <a:prstDash val="solid"/>
          </a:ln>
        </p:spPr>
      </p:sp>
      <p:sp>
        <p:nvSpPr>
          <p:cNvPr id="38" name="Text 36"/>
          <p:cNvSpPr txBox="1"/>
          <p:nvPr/>
        </p:nvSpPr>
        <p:spPr>
          <a:xfrm>
            <a:off x="731520" y="5257800"/>
            <a:ext cx="1069848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Giáo trình: tóm tắt một trang, dùng bốn tiêu đề A, B, C, D — ngắn, có trọng tâm.</a:t>
            </a:r>
            <a:endParaRPr lang="en-US" sz="1600" dirty="0"/>
          </a:p>
        </p:txBody>
      </p:sp>
      <p:sp>
        <p:nvSpPr>
          <p:cNvPr id="39" name="Text 37"/>
          <p:cNvSpPr txBox="1"/>
          <p:nvPr/>
        </p:nvSpPr>
        <p:spPr>
          <a:xfrm>
            <a:off x="548640" y="60350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72, 82); Đề thi EVM1110E, mục 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Giả định có lý do là câu trả lời hợp lệ — con số bịa thì không</a:t>
            </a:r>
            <a:endParaRPr lang="en-US" sz="2800" dirty="0"/>
          </a:p>
        </p:txBody>
      </p:sp>
      <p:sp>
        <p:nvSpPr>
          <p:cNvPr id="3" name="Shape 1"/>
          <p:cNvSpPr/>
          <p:nvPr/>
        </p:nvSpPr>
        <p:spPr>
          <a:xfrm>
            <a:off x="548640" y="1783080"/>
            <a:ext cx="5486400" cy="2011680"/>
          </a:xfrm>
          <a:prstGeom prst="roundRect">
            <a:avLst>
              <a:gd name="adj" fmla="val 3636"/>
            </a:avLst>
          </a:prstGeom>
          <a:solidFill>
            <a:srgbClr val="22395F"/>
          </a:solidFill>
          <a:ln w="12700">
            <a:solidFill>
              <a:srgbClr val="22395F"/>
            </a:solidFill>
            <a:prstDash val="solid"/>
          </a:ln>
        </p:spPr>
      </p:sp>
      <p:sp>
        <p:nvSpPr>
          <p:cNvPr id="4" name="Shape 2"/>
          <p:cNvSpPr/>
          <p:nvPr/>
        </p:nvSpPr>
        <p:spPr>
          <a:xfrm>
            <a:off x="777240" y="1965960"/>
            <a:ext cx="731520" cy="73152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38174" y="2126894"/>
            <a:ext cx="409651" cy="409651"/>
          </a:xfrm>
          <a:prstGeom prst="rect">
            <a:avLst/>
          </a:prstGeom>
        </p:spPr>
      </p:pic>
      <p:sp>
        <p:nvSpPr>
          <p:cNvPr id="6" name="Text 3"/>
          <p:cNvSpPr txBox="1"/>
          <p:nvPr/>
        </p:nvSpPr>
        <p:spPr>
          <a:xfrm>
            <a:off x="1691640" y="1920240"/>
            <a:ext cx="4160520" cy="1737360"/>
          </a:xfrm>
          <a:prstGeom prst="rect">
            <a:avLst/>
          </a:prstGeom>
          <a:noFill/>
          <a:ln/>
        </p:spPr>
        <p:txBody>
          <a:bodyPr wrap="square" lIns="635" tIns="635" rIns="635" bIns="635" rtlCol="0" anchor="ctr"/>
          <a:lstStyle/>
          <a:p>
            <a:pPr indent="0" marL="0">
              <a:buNone/>
            </a:pPr>
            <a:r>
              <a:rPr lang="en-US" sz="1600" i="1" dirty="0">
                <a:solidFill>
                  <a:srgbClr val="49B296"/>
                </a:solidFill>
                <a:latin typeface="Roboto" pitchFamily="34" charset="0"/>
                <a:ea typeface="Roboto" pitchFamily="34" charset="-122"/>
                <a:cs typeface="Roboto" pitchFamily="34" charset="-120"/>
              </a:rPr>
              <a:t>“But do make sure to make it clear in your plan that these are assumptions!”</a:t>
            </a:r>
            <a:endParaRPr lang="en-US" sz="1600" dirty="0"/>
          </a:p>
        </p:txBody>
      </p:sp>
      <p:sp>
        <p:nvSpPr>
          <p:cNvPr id="7" name="Shape 4"/>
          <p:cNvSpPr/>
          <p:nvPr/>
        </p:nvSpPr>
        <p:spPr>
          <a:xfrm>
            <a:off x="6263640" y="1783080"/>
            <a:ext cx="5376672" cy="2011680"/>
          </a:xfrm>
          <a:prstGeom prst="roundRect">
            <a:avLst>
              <a:gd name="adj" fmla="val 3636"/>
            </a:avLst>
          </a:prstGeom>
          <a:solidFill>
            <a:srgbClr val="22395F"/>
          </a:solidFill>
          <a:ln w="12700">
            <a:solidFill>
              <a:srgbClr val="22395F"/>
            </a:solidFill>
            <a:prstDash val="solid"/>
          </a:ln>
        </p:spPr>
      </p:sp>
      <p:sp>
        <p:nvSpPr>
          <p:cNvPr id="8" name="Shape 5"/>
          <p:cNvSpPr/>
          <p:nvPr/>
        </p:nvSpPr>
        <p:spPr>
          <a:xfrm>
            <a:off x="6492240" y="1965960"/>
            <a:ext cx="731520" cy="73152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6653174" y="2126894"/>
            <a:ext cx="409651" cy="409651"/>
          </a:xfrm>
          <a:prstGeom prst="rect">
            <a:avLst/>
          </a:prstGeom>
        </p:spPr>
      </p:pic>
      <p:sp>
        <p:nvSpPr>
          <p:cNvPr id="10" name="Text 6"/>
          <p:cNvSpPr txBox="1"/>
          <p:nvPr/>
        </p:nvSpPr>
        <p:spPr>
          <a:xfrm>
            <a:off x="7406640" y="1920240"/>
            <a:ext cx="4069080" cy="1737360"/>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Đề thi: mọi số liệu phải có nguồn, hoặc ghi rõ “Giả định: … vì …”. Không bịa số liệu về khách hàng.</a:t>
            </a:r>
            <a:endParaRPr lang="en-US" sz="1600" dirty="0"/>
          </a:p>
        </p:txBody>
      </p:sp>
      <p:sp>
        <p:nvSpPr>
          <p:cNvPr id="11" name="Shape 7"/>
          <p:cNvSpPr/>
          <p:nvPr/>
        </p:nvSpPr>
        <p:spPr>
          <a:xfrm>
            <a:off x="548640" y="3977640"/>
            <a:ext cx="11091672" cy="1417320"/>
          </a:xfrm>
          <a:prstGeom prst="roundRect">
            <a:avLst>
              <a:gd name="adj" fmla="val 5161"/>
            </a:avLst>
          </a:prstGeom>
          <a:solidFill>
            <a:srgbClr val="22395F"/>
          </a:solidFill>
          <a:ln w="12700">
            <a:solidFill>
              <a:srgbClr val="22395F"/>
            </a:solidFill>
            <a:prstDash val="solid"/>
          </a:ln>
        </p:spPr>
      </p:sp>
      <p:sp>
        <p:nvSpPr>
          <p:cNvPr id="12" name="Text 8"/>
          <p:cNvSpPr txBox="1"/>
          <p:nvPr/>
        </p:nvSpPr>
        <p:spPr>
          <a:xfrm>
            <a:off x="777240" y="3977640"/>
            <a:ext cx="10698480" cy="141732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Mẫu: </a:t>
            </a:r>
            <a:pPr indent="0" marL="0">
              <a:buNone/>
            </a:pPr>
            <a:r>
              <a:rPr lang="en-US" sz="1700" dirty="0">
                <a:solidFill>
                  <a:srgbClr val="FBFAF4"/>
                </a:solidFill>
                <a:latin typeface="Roboto" pitchFamily="34" charset="0"/>
                <a:ea typeface="Roboto" pitchFamily="34" charset="-122"/>
                <a:cs typeface="Roboto" pitchFamily="34" charset="-120"/>
              </a:rPr>
              <a:t>Giả định: ngân sách sự kiện năm sau của khách hàng giảm 10% </a:t>
            </a:r>
            <a:pPr indent="0" marL="0">
              <a:buNone/>
            </a:pPr>
            <a:r>
              <a:rPr lang="en-US" sz="1700" b="1" dirty="0">
                <a:solidFill>
                  <a:srgbClr val="FFD23B"/>
                </a:solidFill>
                <a:latin typeface="Roboto" pitchFamily="34" charset="0"/>
                <a:ea typeface="Roboto" pitchFamily="34" charset="-122"/>
                <a:cs typeface="Roboto" pitchFamily="34" charset="-120"/>
              </a:rPr>
              <a:t>vì </a:t>
            </a:r>
            <a:pPr indent="0" marL="0">
              <a:buNone/>
            </a:pPr>
            <a:r>
              <a:rPr lang="en-US" sz="1700" dirty="0">
                <a:solidFill>
                  <a:srgbClr val="FBFAF4"/>
                </a:solidFill>
                <a:latin typeface="Roboto" pitchFamily="34" charset="0"/>
                <a:ea typeface="Roboto" pitchFamily="34" charset="-122"/>
                <a:cs typeface="Roboto" pitchFamily="34" charset="-120"/>
              </a:rPr>
              <a:t>báo cáo thường niên ghi kế hoạch cắt giảm chi phí; </a:t>
            </a:r>
            <a:pPr indent="0" marL="0">
              <a:buNone/>
            </a:pPr>
            <a:r>
              <a:rPr lang="en-US" sz="1700" b="1" dirty="0">
                <a:solidFill>
                  <a:srgbClr val="FFD23B"/>
                </a:solidFill>
                <a:latin typeface="Roboto" pitchFamily="34" charset="0"/>
                <a:ea typeface="Roboto" pitchFamily="34" charset="-122"/>
                <a:cs typeface="Roboto" pitchFamily="34" charset="-120"/>
              </a:rPr>
              <a:t>kiểm chứng bằng </a:t>
            </a:r>
            <a:pPr indent="0" marL="0">
              <a:buNone/>
            </a:pPr>
            <a:r>
              <a:rPr lang="en-US" sz="1700" dirty="0">
                <a:solidFill>
                  <a:srgbClr val="FBFAF4"/>
                </a:solidFill>
                <a:latin typeface="Roboto" pitchFamily="34" charset="0"/>
                <a:ea typeface="Roboto" pitchFamily="34" charset="-122"/>
                <a:cs typeface="Roboto" pitchFamily="34" charset="-120"/>
              </a:rPr>
              <a:t>hỏi đầu mối Marketing trước khi chốt ngân sách.</a:t>
            </a:r>
            <a:endParaRPr lang="en-US" sz="1700" dirty="0"/>
          </a:p>
        </p:txBody>
      </p:sp>
      <p:sp>
        <p:nvSpPr>
          <p:cNvPr id="13" name="Shape 9"/>
          <p:cNvSpPr/>
          <p:nvPr/>
        </p:nvSpPr>
        <p:spPr>
          <a:xfrm>
            <a:off x="548640" y="5532120"/>
            <a:ext cx="11091672" cy="548640"/>
          </a:xfrm>
          <a:prstGeom prst="roundRect">
            <a:avLst>
              <a:gd name="adj" fmla="val 13333"/>
            </a:avLst>
          </a:prstGeom>
          <a:solidFill>
            <a:srgbClr val="FFD23B"/>
          </a:solidFill>
          <a:ln w="12700">
            <a:solidFill>
              <a:srgbClr val="FFD23B"/>
            </a:solidFill>
            <a:prstDash val="solid"/>
          </a:ln>
        </p:spPr>
      </p:sp>
      <p:sp>
        <p:nvSpPr>
          <p:cNvPr id="14" name="Text 10"/>
          <p:cNvSpPr txBox="1"/>
          <p:nvPr/>
        </p:nvSpPr>
        <p:spPr>
          <a:xfrm>
            <a:off x="731520" y="5532120"/>
            <a:ext cx="10698480" cy="548640"/>
          </a:xfrm>
          <a:prstGeom prst="rect">
            <a:avLst/>
          </a:prstGeom>
          <a:noFill/>
          <a:ln/>
        </p:spPr>
        <p:txBody>
          <a:bodyPr wrap="square" lIns="635" tIns="635" rIns="635" bIns="635" rtlCol="0" anchor="ctr"/>
          <a:lstStyle/>
          <a:p>
            <a:pPr indent="0" marL="0">
              <a:buNone/>
            </a:pPr>
            <a:r>
              <a:rPr lang="en-US" sz="1550" b="1" dirty="0">
                <a:solidFill>
                  <a:srgbClr val="172849"/>
                </a:solidFill>
                <a:latin typeface="Roboto" pitchFamily="34" charset="0"/>
                <a:ea typeface="Roboto" pitchFamily="34" charset="-122"/>
                <a:cs typeface="Roboto" pitchFamily="34" charset="-120"/>
              </a:rPr>
              <a:t>Các giả định chính → Phụ lục 3 (bắt buộc). Hội đồng sẽ hỏi: “Nếu giả định này sai thì sao?”</a:t>
            </a:r>
            <a:endParaRPr lang="en-US" sz="15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Bộ khung Nova – An Phát cho thấy cách ráp, không phải bài để chép</a:t>
            </a:r>
            <a:endParaRPr lang="en-US" sz="2800" dirty="0"/>
          </a:p>
        </p:txBody>
      </p:sp>
      <p:sp>
        <p:nvSpPr>
          <p:cNvPr id="3" name="Shape 1"/>
          <p:cNvSpPr/>
          <p:nvPr/>
        </p:nvSpPr>
        <p:spPr>
          <a:xfrm>
            <a:off x="548640" y="1783080"/>
            <a:ext cx="768096" cy="548640"/>
          </a:xfrm>
          <a:prstGeom prst="roundRect">
            <a:avLst>
              <a:gd name="adj" fmla="val 13333"/>
            </a:avLst>
          </a:prstGeom>
          <a:solidFill>
            <a:srgbClr val="49B296"/>
          </a:solidFill>
          <a:ln w="12700">
            <a:solidFill>
              <a:srgbClr val="49B296"/>
            </a:solidFill>
            <a:prstDash val="solid"/>
          </a:ln>
        </p:spPr>
      </p:sp>
      <p:sp>
        <p:nvSpPr>
          <p:cNvPr id="4" name="Text 2"/>
          <p:cNvSpPr txBox="1"/>
          <p:nvPr/>
        </p:nvSpPr>
        <p:spPr>
          <a:xfrm>
            <a:off x="640080" y="1783080"/>
            <a:ext cx="58521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Phần</a:t>
            </a:r>
            <a:endParaRPr lang="en-US" sz="1450" dirty="0"/>
          </a:p>
        </p:txBody>
      </p:sp>
      <p:sp>
        <p:nvSpPr>
          <p:cNvPr id="5" name="Shape 3"/>
          <p:cNvSpPr/>
          <p:nvPr/>
        </p:nvSpPr>
        <p:spPr>
          <a:xfrm>
            <a:off x="1371600" y="1783080"/>
            <a:ext cx="10213848"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1463040" y="1783080"/>
            <a:ext cx="10030968"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Hai, ba dòng (GIẢ ĐỊNH)</a:t>
            </a:r>
            <a:endParaRPr lang="en-US" sz="1450" dirty="0"/>
          </a:p>
        </p:txBody>
      </p:sp>
      <p:sp>
        <p:nvSpPr>
          <p:cNvPr id="7" name="Shape 5"/>
          <p:cNvSpPr/>
          <p:nvPr/>
        </p:nvSpPr>
        <p:spPr>
          <a:xfrm>
            <a:off x="548640" y="2404872"/>
            <a:ext cx="768096" cy="621792"/>
          </a:xfrm>
          <a:prstGeom prst="roundRect">
            <a:avLst>
              <a:gd name="adj" fmla="val 11765"/>
            </a:avLst>
          </a:prstGeom>
          <a:solidFill>
            <a:srgbClr val="49B296"/>
          </a:solidFill>
          <a:ln w="12700">
            <a:solidFill>
              <a:srgbClr val="49B296"/>
            </a:solidFill>
            <a:prstDash val="solid"/>
          </a:ln>
        </p:spPr>
      </p:sp>
      <p:sp>
        <p:nvSpPr>
          <p:cNvPr id="8" name="Text 6"/>
          <p:cNvSpPr txBox="1"/>
          <p:nvPr/>
        </p:nvSpPr>
        <p:spPr>
          <a:xfrm>
            <a:off x="658368" y="2404872"/>
            <a:ext cx="54864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A</a:t>
            </a:r>
            <a:endParaRPr lang="en-US" sz="1450" dirty="0"/>
          </a:p>
        </p:txBody>
      </p:sp>
      <p:sp>
        <p:nvSpPr>
          <p:cNvPr id="9" name="Shape 7"/>
          <p:cNvSpPr/>
          <p:nvPr/>
        </p:nvSpPr>
        <p:spPr>
          <a:xfrm>
            <a:off x="1371600" y="2404872"/>
            <a:ext cx="10213848" cy="621792"/>
          </a:xfrm>
          <a:prstGeom prst="roundRect">
            <a:avLst>
              <a:gd name="adj" fmla="val 11765"/>
            </a:avLst>
          </a:prstGeom>
          <a:solidFill>
            <a:srgbClr val="22395F"/>
          </a:solidFill>
          <a:ln w="12700">
            <a:solidFill>
              <a:srgbClr val="22395F"/>
            </a:solidFill>
            <a:prstDash val="solid"/>
          </a:ln>
        </p:spPr>
      </p:sp>
      <p:sp>
        <p:nvSpPr>
          <p:cNvPr id="10" name="Text 8"/>
          <p:cNvSpPr txBox="1"/>
          <p:nvPr/>
        </p:nvSpPr>
        <p:spPr>
          <a:xfrm>
            <a:off x="1481328" y="2404872"/>
            <a:ext cx="999439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Ngân hàng TMCP, mảng khách hàng doanh nghiệp VIP; GĐ Marketing mới thay người cũ; DMU 5 vai; khách của An Phát: 600 lãnh đạo doanh nghiệp</a:t>
            </a:r>
            <a:endParaRPr lang="en-US" sz="1450" dirty="0"/>
          </a:p>
        </p:txBody>
      </p:sp>
      <p:sp>
        <p:nvSpPr>
          <p:cNvPr id="11" name="Shape 9"/>
          <p:cNvSpPr/>
          <p:nvPr/>
        </p:nvSpPr>
        <p:spPr>
          <a:xfrm>
            <a:off x="548640" y="3099816"/>
            <a:ext cx="768096" cy="621792"/>
          </a:xfrm>
          <a:prstGeom prst="roundRect">
            <a:avLst>
              <a:gd name="adj" fmla="val 11765"/>
            </a:avLst>
          </a:prstGeom>
          <a:solidFill>
            <a:srgbClr val="09A1E5"/>
          </a:solidFill>
          <a:ln w="12700">
            <a:solidFill>
              <a:srgbClr val="09A1E5"/>
            </a:solidFill>
            <a:prstDash val="solid"/>
          </a:ln>
        </p:spPr>
      </p:sp>
      <p:sp>
        <p:nvSpPr>
          <p:cNvPr id="12" name="Text 10"/>
          <p:cNvSpPr txBox="1"/>
          <p:nvPr/>
        </p:nvSpPr>
        <p:spPr>
          <a:xfrm>
            <a:off x="658368" y="3099816"/>
            <a:ext cx="54864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B</a:t>
            </a:r>
            <a:endParaRPr lang="en-US" sz="1450" dirty="0"/>
          </a:p>
        </p:txBody>
      </p:sp>
      <p:sp>
        <p:nvSpPr>
          <p:cNvPr id="13" name="Shape 11"/>
          <p:cNvSpPr/>
          <p:nvPr/>
        </p:nvSpPr>
        <p:spPr>
          <a:xfrm>
            <a:off x="1371600" y="3099816"/>
            <a:ext cx="10213848" cy="621792"/>
          </a:xfrm>
          <a:prstGeom prst="roundRect">
            <a:avLst>
              <a:gd name="adj" fmla="val 11765"/>
            </a:avLst>
          </a:prstGeom>
          <a:solidFill>
            <a:srgbClr val="22395F"/>
          </a:solidFill>
          <a:ln w="12700">
            <a:solidFill>
              <a:srgbClr val="22395F"/>
            </a:solidFill>
            <a:prstDash val="solid"/>
          </a:ln>
        </p:spPr>
      </p:sp>
      <p:sp>
        <p:nvSpPr>
          <p:cNvPr id="14" name="Text 12"/>
          <p:cNvSpPr txBox="1"/>
          <p:nvPr/>
        </p:nvSpPr>
        <p:spPr>
          <a:xfrm>
            <a:off x="1481328" y="3099816"/>
            <a:ext cx="999439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Hấp dẫn và sẵn sàng đồng đầu tư; CLV 5 năm ≈ 926 triệu (Buổi 6); rủi ro: đổi đầu mối, ngân sách giảm ~10%</a:t>
            </a:r>
            <a:endParaRPr lang="en-US" sz="1450" dirty="0"/>
          </a:p>
        </p:txBody>
      </p:sp>
      <p:sp>
        <p:nvSpPr>
          <p:cNvPr id="15" name="Shape 13"/>
          <p:cNvSpPr/>
          <p:nvPr/>
        </p:nvSpPr>
        <p:spPr>
          <a:xfrm>
            <a:off x="548640" y="3794760"/>
            <a:ext cx="768096" cy="621792"/>
          </a:xfrm>
          <a:prstGeom prst="roundRect">
            <a:avLst>
              <a:gd name="adj" fmla="val 11765"/>
            </a:avLst>
          </a:prstGeom>
          <a:solidFill>
            <a:srgbClr val="FFD23B"/>
          </a:solidFill>
          <a:ln w="12700">
            <a:solidFill>
              <a:srgbClr val="FFD23B"/>
            </a:solidFill>
            <a:prstDash val="solid"/>
          </a:ln>
        </p:spPr>
      </p:sp>
      <p:sp>
        <p:nvSpPr>
          <p:cNvPr id="16" name="Text 14"/>
          <p:cNvSpPr txBox="1"/>
          <p:nvPr/>
        </p:nvSpPr>
        <p:spPr>
          <a:xfrm>
            <a:off x="658368" y="3794760"/>
            <a:ext cx="54864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C</a:t>
            </a:r>
            <a:endParaRPr lang="en-US" sz="1450" dirty="0"/>
          </a:p>
        </p:txBody>
      </p:sp>
      <p:sp>
        <p:nvSpPr>
          <p:cNvPr id="17" name="Shape 15"/>
          <p:cNvSpPr/>
          <p:nvPr/>
        </p:nvSpPr>
        <p:spPr>
          <a:xfrm>
            <a:off x="1371600" y="3794760"/>
            <a:ext cx="10213848" cy="621792"/>
          </a:xfrm>
          <a:prstGeom prst="roundRect">
            <a:avLst>
              <a:gd name="adj" fmla="val 11765"/>
            </a:avLst>
          </a:prstGeom>
          <a:solidFill>
            <a:srgbClr val="22395F"/>
          </a:solidFill>
          <a:ln w="12700">
            <a:solidFill>
              <a:srgbClr val="22395F"/>
            </a:solidFill>
            <a:prstDash val="solid"/>
          </a:ln>
        </p:spPr>
      </p:sp>
      <p:sp>
        <p:nvSpPr>
          <p:cNvPr id="18" name="Text 16"/>
          <p:cNvSpPr txBox="1"/>
          <p:nvPr/>
        </p:nvSpPr>
        <p:spPr>
          <a:xfrm>
            <a:off x="1481328" y="3794760"/>
            <a:ext cx="999439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Nova giúp An Phát giữ và mở rộng quan hệ với khách DN VIP — từ một gala/năm sang chương trình khách hàng cả năm</a:t>
            </a:r>
            <a:endParaRPr lang="en-US" sz="1450" dirty="0"/>
          </a:p>
        </p:txBody>
      </p:sp>
      <p:sp>
        <p:nvSpPr>
          <p:cNvPr id="19" name="Shape 17"/>
          <p:cNvSpPr/>
          <p:nvPr/>
        </p:nvSpPr>
        <p:spPr>
          <a:xfrm>
            <a:off x="548640" y="4489704"/>
            <a:ext cx="768096" cy="621792"/>
          </a:xfrm>
          <a:prstGeom prst="roundRect">
            <a:avLst>
              <a:gd name="adj" fmla="val 11765"/>
            </a:avLst>
          </a:prstGeom>
          <a:solidFill>
            <a:srgbClr val="FF9259"/>
          </a:solidFill>
          <a:ln w="12700">
            <a:solidFill>
              <a:srgbClr val="FF9259"/>
            </a:solidFill>
            <a:prstDash val="solid"/>
          </a:ln>
        </p:spPr>
      </p:sp>
      <p:sp>
        <p:nvSpPr>
          <p:cNvPr id="20" name="Text 18"/>
          <p:cNvSpPr txBox="1"/>
          <p:nvPr/>
        </p:nvSpPr>
        <p:spPr>
          <a:xfrm>
            <a:off x="658368" y="4489704"/>
            <a:ext cx="54864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D</a:t>
            </a:r>
            <a:endParaRPr lang="en-US" sz="1450" dirty="0"/>
          </a:p>
        </p:txBody>
      </p:sp>
      <p:sp>
        <p:nvSpPr>
          <p:cNvPr id="21" name="Shape 19"/>
          <p:cNvSpPr/>
          <p:nvPr/>
        </p:nvSpPr>
        <p:spPr>
          <a:xfrm>
            <a:off x="1371600" y="4489704"/>
            <a:ext cx="10213848" cy="621792"/>
          </a:xfrm>
          <a:prstGeom prst="roundRect">
            <a:avLst>
              <a:gd name="adj" fmla="val 11765"/>
            </a:avLst>
          </a:prstGeom>
          <a:solidFill>
            <a:srgbClr val="22395F"/>
          </a:solidFill>
          <a:ln w="12700">
            <a:solidFill>
              <a:srgbClr val="22395F"/>
            </a:solidFill>
            <a:prstDash val="solid"/>
          </a:ln>
        </p:spPr>
      </p:sp>
      <p:sp>
        <p:nvSpPr>
          <p:cNvPr id="22" name="Text 20"/>
          <p:cNvSpPr txBox="1"/>
          <p:nvPr/>
        </p:nvSpPr>
        <p:spPr>
          <a:xfrm>
            <a:off x="1481328" y="4489704"/>
            <a:ext cx="999439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Bow-tie → Diamond; ROI 6 cấp (0–3 Nova cam kết, 4–5 đo cùng An Phát); tài trợ, khách sạn, AV, báo kinh tế; 5 bước xử lý xung đột</a:t>
            </a:r>
            <a:endParaRPr lang="en-US" sz="1450" dirty="0"/>
          </a:p>
        </p:txBody>
      </p:sp>
      <p:sp>
        <p:nvSpPr>
          <p:cNvPr id="23" name="Shape 21"/>
          <p:cNvSpPr/>
          <p:nvPr/>
        </p:nvSpPr>
        <p:spPr>
          <a:xfrm>
            <a:off x="548640" y="5184648"/>
            <a:ext cx="768096" cy="621792"/>
          </a:xfrm>
          <a:prstGeom prst="roundRect">
            <a:avLst>
              <a:gd name="adj" fmla="val 11765"/>
            </a:avLst>
          </a:prstGeom>
          <a:solidFill>
            <a:srgbClr val="FF5178"/>
          </a:solidFill>
          <a:ln w="12700">
            <a:solidFill>
              <a:srgbClr val="FF5178"/>
            </a:solidFill>
            <a:prstDash val="solid"/>
          </a:ln>
        </p:spPr>
      </p:sp>
      <p:sp>
        <p:nvSpPr>
          <p:cNvPr id="24" name="Text 22"/>
          <p:cNvSpPr txBox="1"/>
          <p:nvPr/>
        </p:nvSpPr>
        <p:spPr>
          <a:xfrm>
            <a:off x="658368" y="5184648"/>
            <a:ext cx="54864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E</a:t>
            </a:r>
            <a:endParaRPr lang="en-US" sz="1450" dirty="0"/>
          </a:p>
        </p:txBody>
      </p:sp>
      <p:sp>
        <p:nvSpPr>
          <p:cNvPr id="25" name="Shape 23"/>
          <p:cNvSpPr/>
          <p:nvPr/>
        </p:nvSpPr>
        <p:spPr>
          <a:xfrm>
            <a:off x="1371600" y="5184648"/>
            <a:ext cx="10213848" cy="621792"/>
          </a:xfrm>
          <a:prstGeom prst="roundRect">
            <a:avLst>
              <a:gd name="adj" fmla="val 11765"/>
            </a:avLst>
          </a:prstGeom>
          <a:solidFill>
            <a:srgbClr val="22395F"/>
          </a:solidFill>
          <a:ln w="12700">
            <a:solidFill>
              <a:srgbClr val="22395F"/>
            </a:solidFill>
            <a:prstDash val="solid"/>
          </a:ln>
        </p:spPr>
      </p:sp>
      <p:sp>
        <p:nvSpPr>
          <p:cNvPr id="26" name="Text 24"/>
          <p:cNvSpPr txBox="1"/>
          <p:nvPr/>
        </p:nvSpPr>
        <p:spPr>
          <a:xfrm>
            <a:off x="1481328" y="5184648"/>
            <a:ext cx="999439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Năm câu (slide 22)</a:t>
            </a:r>
            <a:endParaRPr lang="en-US" sz="1450" dirty="0"/>
          </a:p>
        </p:txBody>
      </p:sp>
      <p:sp>
        <p:nvSpPr>
          <p:cNvPr id="27" name="Text 25"/>
          <p:cNvSpPr txBox="1"/>
          <p:nvPr/>
        </p:nvSpPr>
        <p:spPr>
          <a:xfrm>
            <a:off x="548640" y="59893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Mọi tên, con số là giả định của case An Phát (Buổi 2–12). Dùng chức danh, không dùng họ tên — đúng quy định của đề thi.</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1 · 30 phút: ráp khung A–E từ các trang đã làm</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Bày tất cả trang đã làm (Buổi 1–12) lên bàn; A1 kẻ 5 ô A–E</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10’</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Một câu cho mỗi ô A–D (E để trống — viết ở Thực hành 2)</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12’</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Bảng truy vết: trang đã làm → phần nào → còn thiếu gì → giả định → ai hoàn thiện. Phần không có trang nào: 🔴</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5’</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Ba giả định quan trọng nhất: “Giả định: … vì …; kiểm chứng bằng …”</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Roboto" pitchFamily="34" charset="0"/>
                <a:ea typeface="Roboto" pitchFamily="34" charset="-122"/>
                <a:cs typeface="Roboto"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Khung A–E + bảng truy vết + 3 giả định = mục lục làm việc của SMP</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Bảng truy vết và danh sách giả định là nháp của Phụ lục 2 và 3.</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Roboto" pitchFamily="34" charset="0"/>
                <a:ea typeface="Roboto" pitchFamily="34" charset="-122"/>
                <a:cs typeface="Roboto"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Value proposition là đóng góp của agency vào kết quả của khách hàng — quy ra tiền</a:t>
            </a:r>
            <a:endParaRPr lang="en-US" sz="2800" dirty="0"/>
          </a:p>
        </p:txBody>
      </p:sp>
      <p:sp>
        <p:nvSpPr>
          <p:cNvPr id="3" name="Shape 1"/>
          <p:cNvSpPr/>
          <p:nvPr/>
        </p:nvSpPr>
        <p:spPr>
          <a:xfrm>
            <a:off x="548640" y="1783080"/>
            <a:ext cx="11091672" cy="1371600"/>
          </a:xfrm>
          <a:prstGeom prst="roundRect">
            <a:avLst>
              <a:gd name="adj" fmla="val 5333"/>
            </a:avLst>
          </a:prstGeom>
          <a:solidFill>
            <a:srgbClr val="22395F"/>
          </a:solidFill>
          <a:ln w="12700">
            <a:solidFill>
              <a:srgbClr val="22395F"/>
            </a:solidFill>
            <a:prstDash val="solid"/>
          </a:ln>
        </p:spPr>
      </p:sp>
      <p:sp>
        <p:nvSpPr>
          <p:cNvPr id="4" name="Text 2"/>
          <p:cNvSpPr txBox="1"/>
          <p:nvPr/>
        </p:nvSpPr>
        <p:spPr>
          <a:xfrm>
            <a:off x="777240" y="1783080"/>
            <a:ext cx="10607040" cy="1371600"/>
          </a:xfrm>
          <a:prstGeom prst="rect">
            <a:avLst/>
          </a:prstGeom>
          <a:noFill/>
          <a:ln/>
        </p:spPr>
        <p:txBody>
          <a:bodyPr wrap="square" lIns="635" tIns="635" rIns="635" bIns="635" rtlCol="0" anchor="ctr"/>
          <a:lstStyle/>
          <a:p>
            <a:pPr indent="0" marL="0">
              <a:buNone/>
            </a:pPr>
            <a:r>
              <a:rPr lang="en-US" sz="1800" i="1" dirty="0">
                <a:solidFill>
                  <a:srgbClr val="FFD23B"/>
                </a:solidFill>
                <a:latin typeface="Roboto" pitchFamily="34" charset="0"/>
                <a:ea typeface="Roboto" pitchFamily="34" charset="-122"/>
                <a:cs typeface="Roboto" pitchFamily="34" charset="-120"/>
              </a:rPr>
              <a:t>“…the translation of the supplier’s offers into monetary terms that demonstrate their contribution to the customer’s profitability.”</a:t>
            </a:r>
            <a:endParaRPr lang="en-US" sz="1800" dirty="0"/>
          </a:p>
        </p:txBody>
      </p:sp>
      <p:sp>
        <p:nvSpPr>
          <p:cNvPr id="5" name="Shape 3"/>
          <p:cNvSpPr/>
          <p:nvPr/>
        </p:nvSpPr>
        <p:spPr>
          <a:xfrm>
            <a:off x="548640" y="3337560"/>
            <a:ext cx="3557016" cy="594360"/>
          </a:xfrm>
          <a:prstGeom prst="roundRect">
            <a:avLst>
              <a:gd name="adj" fmla="val 12308"/>
            </a:avLst>
          </a:prstGeom>
          <a:solidFill>
            <a:srgbClr val="49B296"/>
          </a:solidFill>
          <a:ln w="12700">
            <a:solidFill>
              <a:srgbClr val="49B296"/>
            </a:solidFill>
            <a:prstDash val="solid"/>
          </a:ln>
        </p:spPr>
      </p:sp>
      <p:sp>
        <p:nvSpPr>
          <p:cNvPr id="6" name="Text 4"/>
          <p:cNvSpPr txBox="1"/>
          <p:nvPr/>
        </p:nvSpPr>
        <p:spPr>
          <a:xfrm>
            <a:off x="685800" y="3337560"/>
            <a:ext cx="3291840" cy="59436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Future state</a:t>
            </a:r>
            <a:endParaRPr lang="en-US" sz="1700" dirty="0"/>
          </a:p>
        </p:txBody>
      </p:sp>
      <p:sp>
        <p:nvSpPr>
          <p:cNvPr id="7" name="Shape 5"/>
          <p:cNvSpPr/>
          <p:nvPr/>
        </p:nvSpPr>
        <p:spPr>
          <a:xfrm>
            <a:off x="548640" y="4023360"/>
            <a:ext cx="3557016" cy="1463040"/>
          </a:xfrm>
          <a:prstGeom prst="roundRect">
            <a:avLst>
              <a:gd name="adj" fmla="val 5000"/>
            </a:avLst>
          </a:prstGeom>
          <a:solidFill>
            <a:srgbClr val="22395F"/>
          </a:solidFill>
          <a:ln w="12700">
            <a:solidFill>
              <a:srgbClr val="22395F"/>
            </a:solidFill>
            <a:prstDash val="solid"/>
          </a:ln>
        </p:spPr>
      </p:sp>
      <p:sp>
        <p:nvSpPr>
          <p:cNvPr id="8" name="Text 6"/>
          <p:cNvSpPr txBox="1"/>
          <p:nvPr/>
        </p:nvSpPr>
        <p:spPr>
          <a:xfrm>
            <a:off x="731520" y="4069080"/>
            <a:ext cx="3200400" cy="1371600"/>
          </a:xfrm>
          <a:prstGeom prst="rect">
            <a:avLst/>
          </a:prstGeom>
          <a:noFill/>
          <a:ln/>
        </p:spPr>
        <p:txBody>
          <a:bodyPr wrap="square" lIns="635" tIns="635" rIns="635" bIns="635" rtlCol="0" anchor="t"/>
          <a:lstStyle/>
          <a:p>
            <a:pPr indent="0" marL="0">
              <a:buNone/>
            </a:pPr>
            <a:r>
              <a:rPr lang="en-US" sz="1550" dirty="0">
                <a:solidFill>
                  <a:srgbClr val="FBFAF4"/>
                </a:solidFill>
                <a:latin typeface="Roboto" pitchFamily="34" charset="0"/>
                <a:ea typeface="Roboto" pitchFamily="34" charset="-122"/>
                <a:cs typeface="Roboto" pitchFamily="34" charset="-120"/>
              </a:rPr>
              <a:t>Khách hàng muốn ở đâu — mục tiêu của họ, bằng ngôn ngữ của họ</a:t>
            </a:r>
            <a:endParaRPr lang="en-US" sz="1550" dirty="0"/>
          </a:p>
        </p:txBody>
      </p:sp>
      <p:sp>
        <p:nvSpPr>
          <p:cNvPr id="9" name="Shape 7"/>
          <p:cNvSpPr/>
          <p:nvPr/>
        </p:nvSpPr>
        <p:spPr>
          <a:xfrm>
            <a:off x="4114800" y="3657600"/>
            <a:ext cx="182880" cy="274320"/>
          </a:xfrm>
          <a:prstGeom prst="rightArrow">
            <a:avLst/>
          </a:prstGeom>
          <a:solidFill>
            <a:srgbClr val="A9B6D3"/>
          </a:solidFill>
          <a:ln w="12700">
            <a:solidFill>
              <a:srgbClr val="A9B6D3"/>
            </a:solidFill>
            <a:prstDash val="solid"/>
          </a:ln>
        </p:spPr>
      </p:sp>
      <p:sp>
        <p:nvSpPr>
          <p:cNvPr id="10" name="Shape 8"/>
          <p:cNvSpPr/>
          <p:nvPr/>
        </p:nvSpPr>
        <p:spPr>
          <a:xfrm>
            <a:off x="4315968" y="3337560"/>
            <a:ext cx="3557016" cy="594360"/>
          </a:xfrm>
          <a:prstGeom prst="roundRect">
            <a:avLst>
              <a:gd name="adj" fmla="val 12308"/>
            </a:avLst>
          </a:prstGeom>
          <a:solidFill>
            <a:srgbClr val="09A1E5"/>
          </a:solidFill>
          <a:ln w="12700">
            <a:solidFill>
              <a:srgbClr val="09A1E5"/>
            </a:solidFill>
            <a:prstDash val="solid"/>
          </a:ln>
        </p:spPr>
      </p:sp>
      <p:sp>
        <p:nvSpPr>
          <p:cNvPr id="11" name="Text 9"/>
          <p:cNvSpPr txBox="1"/>
          <p:nvPr/>
        </p:nvSpPr>
        <p:spPr>
          <a:xfrm>
            <a:off x="4453128" y="3337560"/>
            <a:ext cx="3291840" cy="59436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Offering (7P)</a:t>
            </a:r>
            <a:endParaRPr lang="en-US" sz="1700" dirty="0"/>
          </a:p>
        </p:txBody>
      </p:sp>
      <p:sp>
        <p:nvSpPr>
          <p:cNvPr id="12" name="Shape 10"/>
          <p:cNvSpPr/>
          <p:nvPr/>
        </p:nvSpPr>
        <p:spPr>
          <a:xfrm>
            <a:off x="4315968" y="4023360"/>
            <a:ext cx="3557016" cy="1463040"/>
          </a:xfrm>
          <a:prstGeom prst="roundRect">
            <a:avLst>
              <a:gd name="adj" fmla="val 5000"/>
            </a:avLst>
          </a:prstGeom>
          <a:solidFill>
            <a:srgbClr val="22395F"/>
          </a:solidFill>
          <a:ln w="12700">
            <a:solidFill>
              <a:srgbClr val="22395F"/>
            </a:solidFill>
            <a:prstDash val="solid"/>
          </a:ln>
        </p:spPr>
      </p:sp>
      <p:sp>
        <p:nvSpPr>
          <p:cNvPr id="13" name="Text 11"/>
          <p:cNvSpPr txBox="1"/>
          <p:nvPr/>
        </p:nvSpPr>
        <p:spPr>
          <a:xfrm>
            <a:off x="4498848" y="4069080"/>
            <a:ext cx="3200400" cy="1371600"/>
          </a:xfrm>
          <a:prstGeom prst="rect">
            <a:avLst/>
          </a:prstGeom>
          <a:noFill/>
          <a:ln/>
        </p:spPr>
        <p:txBody>
          <a:bodyPr wrap="square" lIns="635" tIns="635" rIns="635" bIns="635" rtlCol="0" anchor="t"/>
          <a:lstStyle/>
          <a:p>
            <a:pPr indent="0" marL="0">
              <a:buNone/>
            </a:pPr>
            <a:r>
              <a:rPr lang="en-US" sz="1550" dirty="0">
                <a:solidFill>
                  <a:srgbClr val="FBFAF4"/>
                </a:solidFill>
                <a:latin typeface="Roboto" pitchFamily="34" charset="0"/>
                <a:ea typeface="Roboto" pitchFamily="34" charset="-122"/>
                <a:cs typeface="Roboto" pitchFamily="34" charset="-120"/>
              </a:rPr>
              <a:t>Agency làm gì để đưa họ đến đó; bằng chứng</a:t>
            </a:r>
            <a:endParaRPr lang="en-US" sz="1550" dirty="0"/>
          </a:p>
        </p:txBody>
      </p:sp>
      <p:sp>
        <p:nvSpPr>
          <p:cNvPr id="14" name="Shape 12"/>
          <p:cNvSpPr/>
          <p:nvPr/>
        </p:nvSpPr>
        <p:spPr>
          <a:xfrm>
            <a:off x="7882128" y="3657600"/>
            <a:ext cx="182880" cy="274320"/>
          </a:xfrm>
          <a:prstGeom prst="rightArrow">
            <a:avLst/>
          </a:prstGeom>
          <a:solidFill>
            <a:srgbClr val="A9B6D3"/>
          </a:solidFill>
          <a:ln w="12700">
            <a:solidFill>
              <a:srgbClr val="A9B6D3"/>
            </a:solidFill>
            <a:prstDash val="solid"/>
          </a:ln>
        </p:spPr>
      </p:sp>
      <p:sp>
        <p:nvSpPr>
          <p:cNvPr id="15" name="Shape 13"/>
          <p:cNvSpPr/>
          <p:nvPr/>
        </p:nvSpPr>
        <p:spPr>
          <a:xfrm>
            <a:off x="8083296" y="3337560"/>
            <a:ext cx="3557016" cy="594360"/>
          </a:xfrm>
          <a:prstGeom prst="roundRect">
            <a:avLst>
              <a:gd name="adj" fmla="val 12308"/>
            </a:avLst>
          </a:prstGeom>
          <a:solidFill>
            <a:srgbClr val="FF9259"/>
          </a:solidFill>
          <a:ln w="12700">
            <a:solidFill>
              <a:srgbClr val="FF9259"/>
            </a:solidFill>
            <a:prstDash val="solid"/>
          </a:ln>
        </p:spPr>
      </p:sp>
      <p:sp>
        <p:nvSpPr>
          <p:cNvPr id="16" name="Text 14"/>
          <p:cNvSpPr txBox="1"/>
          <p:nvPr/>
        </p:nvSpPr>
        <p:spPr>
          <a:xfrm>
            <a:off x="8220456" y="3337560"/>
            <a:ext cx="3291840" cy="59436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Value appraisal</a:t>
            </a:r>
            <a:endParaRPr lang="en-US" sz="1700" dirty="0"/>
          </a:p>
        </p:txBody>
      </p:sp>
      <p:sp>
        <p:nvSpPr>
          <p:cNvPr id="17" name="Shape 15"/>
          <p:cNvSpPr/>
          <p:nvPr/>
        </p:nvSpPr>
        <p:spPr>
          <a:xfrm>
            <a:off x="8083296" y="4023360"/>
            <a:ext cx="3557016" cy="1463040"/>
          </a:xfrm>
          <a:prstGeom prst="roundRect">
            <a:avLst>
              <a:gd name="adj" fmla="val 5000"/>
            </a:avLst>
          </a:prstGeom>
          <a:solidFill>
            <a:srgbClr val="22395F"/>
          </a:solidFill>
          <a:ln w="12700">
            <a:solidFill>
              <a:srgbClr val="22395F"/>
            </a:solidFill>
            <a:prstDash val="solid"/>
          </a:ln>
        </p:spPr>
      </p:sp>
      <p:sp>
        <p:nvSpPr>
          <p:cNvPr id="18" name="Text 16"/>
          <p:cNvSpPr txBox="1"/>
          <p:nvPr/>
        </p:nvSpPr>
        <p:spPr>
          <a:xfrm>
            <a:off x="8266176" y="4069080"/>
            <a:ext cx="3200400" cy="1371600"/>
          </a:xfrm>
          <a:prstGeom prst="rect">
            <a:avLst/>
          </a:prstGeom>
          <a:noFill/>
          <a:ln/>
        </p:spPr>
        <p:txBody>
          <a:bodyPr wrap="square" lIns="635" tIns="635" rIns="635" bIns="635" rtlCol="0" anchor="t"/>
          <a:lstStyle/>
          <a:p>
            <a:pPr indent="0" marL="0">
              <a:buNone/>
            </a:pPr>
            <a:r>
              <a:rPr lang="en-US" sz="1550" dirty="0">
                <a:solidFill>
                  <a:srgbClr val="FBFAF4"/>
                </a:solidFill>
                <a:latin typeface="Roboto" pitchFamily="34" charset="0"/>
                <a:ea typeface="Roboto" pitchFamily="34" charset="-122"/>
                <a:cs typeface="Roboto" pitchFamily="34" charset="-120"/>
              </a:rPr>
              <a:t>Giá trị bao nhiêu — có số, có nguồn hoặc giả định</a:t>
            </a:r>
            <a:endParaRPr lang="en-US" sz="1550" dirty="0"/>
          </a:p>
        </p:txBody>
      </p:sp>
      <p:sp>
        <p:nvSpPr>
          <p:cNvPr id="19" name="Text 17"/>
          <p:cNvSpPr txBox="1"/>
          <p:nvPr/>
        </p:nvSpPr>
        <p:spPr>
          <a:xfrm>
            <a:off x="548640" y="56692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McDonald, SAMA (Z05); cấu trúc CVP — Buổi 5 (Marcos et al., 2018, Ch.5); Đề thi, tiêu chí 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Đề thi hỏi giá trị đến từ năm nguồn — đã học ở Buổi 5</a:t>
            </a:r>
            <a:endParaRPr lang="en-US" sz="2800" dirty="0"/>
          </a:p>
        </p:txBody>
      </p:sp>
      <p:sp>
        <p:nvSpPr>
          <p:cNvPr id="3" name="Shape 1"/>
          <p:cNvSpPr/>
          <p:nvPr/>
        </p:nvSpPr>
        <p:spPr>
          <a:xfrm>
            <a:off x="548640" y="1783080"/>
            <a:ext cx="3236976" cy="548640"/>
          </a:xfrm>
          <a:prstGeom prst="roundRect">
            <a:avLst>
              <a:gd name="adj" fmla="val 13333"/>
            </a:avLst>
          </a:prstGeom>
          <a:solidFill>
            <a:srgbClr val="49B296"/>
          </a:solidFill>
          <a:ln w="12700">
            <a:solidFill>
              <a:srgbClr val="49B296"/>
            </a:solidFill>
            <a:prstDash val="solid"/>
          </a:ln>
        </p:spPr>
      </p:sp>
      <p:sp>
        <p:nvSpPr>
          <p:cNvPr id="4" name="Text 2"/>
          <p:cNvSpPr txBox="1"/>
          <p:nvPr/>
        </p:nvSpPr>
        <p:spPr>
          <a:xfrm>
            <a:off x="640080" y="1783080"/>
            <a:ext cx="305409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Nguồn giá trị</a:t>
            </a:r>
            <a:endParaRPr lang="en-US" sz="1450" dirty="0"/>
          </a:p>
        </p:txBody>
      </p:sp>
      <p:sp>
        <p:nvSpPr>
          <p:cNvPr id="5" name="Shape 3"/>
          <p:cNvSpPr/>
          <p:nvPr/>
        </p:nvSpPr>
        <p:spPr>
          <a:xfrm>
            <a:off x="3840480" y="1783080"/>
            <a:ext cx="7744968"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931920" y="1783080"/>
            <a:ext cx="7562088"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Ví dụ với Key Account của agency sự kiện (GIẢ ĐỊNH)</a:t>
            </a:r>
            <a:endParaRPr lang="en-US" sz="1450" dirty="0"/>
          </a:p>
        </p:txBody>
      </p:sp>
      <p:sp>
        <p:nvSpPr>
          <p:cNvPr id="7" name="Shape 5"/>
          <p:cNvSpPr/>
          <p:nvPr/>
        </p:nvSpPr>
        <p:spPr>
          <a:xfrm>
            <a:off x="548640" y="2404872"/>
            <a:ext cx="3236976" cy="621792"/>
          </a:xfrm>
          <a:prstGeom prst="roundRect">
            <a:avLst>
              <a:gd name="adj" fmla="val 11765"/>
            </a:avLst>
          </a:prstGeom>
          <a:solidFill>
            <a:srgbClr val="49B296"/>
          </a:solidFill>
          <a:ln w="12700">
            <a:solidFill>
              <a:srgbClr val="49B296"/>
            </a:solidFill>
            <a:prstDash val="solid"/>
          </a:ln>
        </p:spPr>
      </p:sp>
      <p:sp>
        <p:nvSpPr>
          <p:cNvPr id="8" name="Text 6"/>
          <p:cNvSpPr txBox="1"/>
          <p:nvPr/>
        </p:nvSpPr>
        <p:spPr>
          <a:xfrm>
            <a:off x="658368" y="2404872"/>
            <a:ext cx="301752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1 · Top line</a:t>
            </a:r>
            <a:endParaRPr lang="en-US" sz="1450" dirty="0"/>
          </a:p>
        </p:txBody>
      </p:sp>
      <p:sp>
        <p:nvSpPr>
          <p:cNvPr id="9" name="Shape 7"/>
          <p:cNvSpPr/>
          <p:nvPr/>
        </p:nvSpPr>
        <p:spPr>
          <a:xfrm>
            <a:off x="3840480" y="2404872"/>
            <a:ext cx="7744968" cy="621792"/>
          </a:xfrm>
          <a:prstGeom prst="roundRect">
            <a:avLst>
              <a:gd name="adj" fmla="val 11765"/>
            </a:avLst>
          </a:prstGeom>
          <a:solidFill>
            <a:srgbClr val="22395F"/>
          </a:solidFill>
          <a:ln w="12700">
            <a:solidFill>
              <a:srgbClr val="22395F"/>
            </a:solidFill>
            <a:prstDash val="solid"/>
          </a:ln>
        </p:spPr>
      </p:sp>
      <p:sp>
        <p:nvSpPr>
          <p:cNvPr id="10" name="Text 8"/>
          <p:cNvSpPr txBox="1"/>
          <p:nvPr/>
        </p:nvSpPr>
        <p:spPr>
          <a:xfrm>
            <a:off x="3950208" y="2404872"/>
            <a:ext cx="752551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Khách DN của khách hàng gắn bó hơn → giao dịch tăng sau sự kiện (đo ở ROI cấp 4–5)</a:t>
            </a:r>
            <a:endParaRPr lang="en-US" sz="1450" dirty="0"/>
          </a:p>
        </p:txBody>
      </p:sp>
      <p:sp>
        <p:nvSpPr>
          <p:cNvPr id="11" name="Shape 9"/>
          <p:cNvSpPr/>
          <p:nvPr/>
        </p:nvSpPr>
        <p:spPr>
          <a:xfrm>
            <a:off x="548640" y="3099816"/>
            <a:ext cx="3236976" cy="621792"/>
          </a:xfrm>
          <a:prstGeom prst="roundRect">
            <a:avLst>
              <a:gd name="adj" fmla="val 11765"/>
            </a:avLst>
          </a:prstGeom>
          <a:solidFill>
            <a:srgbClr val="FFD23B"/>
          </a:solidFill>
          <a:ln w="12700">
            <a:solidFill>
              <a:srgbClr val="FFD23B"/>
            </a:solidFill>
            <a:prstDash val="solid"/>
          </a:ln>
        </p:spPr>
      </p:sp>
      <p:sp>
        <p:nvSpPr>
          <p:cNvPr id="12" name="Text 10"/>
          <p:cNvSpPr txBox="1"/>
          <p:nvPr/>
        </p:nvSpPr>
        <p:spPr>
          <a:xfrm>
            <a:off x="658368" y="3099816"/>
            <a:ext cx="301752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2 · Bottom line</a:t>
            </a:r>
            <a:endParaRPr lang="en-US" sz="1450" dirty="0"/>
          </a:p>
        </p:txBody>
      </p:sp>
      <p:sp>
        <p:nvSpPr>
          <p:cNvPr id="13" name="Shape 11"/>
          <p:cNvSpPr/>
          <p:nvPr/>
        </p:nvSpPr>
        <p:spPr>
          <a:xfrm>
            <a:off x="3840480" y="3099816"/>
            <a:ext cx="7744968" cy="621792"/>
          </a:xfrm>
          <a:prstGeom prst="roundRect">
            <a:avLst>
              <a:gd name="adj" fmla="val 11765"/>
            </a:avLst>
          </a:prstGeom>
          <a:solidFill>
            <a:srgbClr val="22395F"/>
          </a:solidFill>
          <a:ln w="12700">
            <a:solidFill>
              <a:srgbClr val="22395F"/>
            </a:solidFill>
            <a:prstDash val="solid"/>
          </a:ln>
        </p:spPr>
      </p:sp>
      <p:sp>
        <p:nvSpPr>
          <p:cNvPr id="14" name="Text 12"/>
          <p:cNvSpPr txBox="1"/>
          <p:nvPr/>
        </p:nvSpPr>
        <p:spPr>
          <a:xfrm>
            <a:off x="3950208" y="3099816"/>
            <a:ext cx="752551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Gộp sự kiện cả năm, đàm phán nhà cung cấp → giảm chi phí cho khách hàng</a:t>
            </a:r>
            <a:endParaRPr lang="en-US" sz="1450" dirty="0"/>
          </a:p>
        </p:txBody>
      </p:sp>
      <p:sp>
        <p:nvSpPr>
          <p:cNvPr id="15" name="Shape 13"/>
          <p:cNvSpPr/>
          <p:nvPr/>
        </p:nvSpPr>
        <p:spPr>
          <a:xfrm>
            <a:off x="548640" y="3794760"/>
            <a:ext cx="3236976" cy="621792"/>
          </a:xfrm>
          <a:prstGeom prst="roundRect">
            <a:avLst>
              <a:gd name="adj" fmla="val 11765"/>
            </a:avLst>
          </a:prstGeom>
          <a:solidFill>
            <a:srgbClr val="FF9259"/>
          </a:solidFill>
          <a:ln w="12700">
            <a:solidFill>
              <a:srgbClr val="FF9259"/>
            </a:solidFill>
            <a:prstDash val="solid"/>
          </a:ln>
        </p:spPr>
      </p:sp>
      <p:sp>
        <p:nvSpPr>
          <p:cNvPr id="16" name="Text 14"/>
          <p:cNvSpPr txBox="1"/>
          <p:nvPr/>
        </p:nvSpPr>
        <p:spPr>
          <a:xfrm>
            <a:off x="658368" y="3794760"/>
            <a:ext cx="301752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3 · Uy tín, liên tục (HSSEQ)</a:t>
            </a:r>
            <a:endParaRPr lang="en-US" sz="1450" dirty="0"/>
          </a:p>
        </p:txBody>
      </p:sp>
      <p:sp>
        <p:nvSpPr>
          <p:cNvPr id="17" name="Shape 15"/>
          <p:cNvSpPr/>
          <p:nvPr/>
        </p:nvSpPr>
        <p:spPr>
          <a:xfrm>
            <a:off x="3840480" y="3794760"/>
            <a:ext cx="7744968" cy="621792"/>
          </a:xfrm>
          <a:prstGeom prst="roundRect">
            <a:avLst>
              <a:gd name="adj" fmla="val 11765"/>
            </a:avLst>
          </a:prstGeom>
          <a:solidFill>
            <a:srgbClr val="22395F"/>
          </a:solidFill>
          <a:ln w="12700">
            <a:solidFill>
              <a:srgbClr val="22395F"/>
            </a:solidFill>
            <a:prstDash val="solid"/>
          </a:ln>
        </p:spPr>
      </p:sp>
      <p:sp>
        <p:nvSpPr>
          <p:cNvPr id="18" name="Text 16"/>
          <p:cNvSpPr txBox="1"/>
          <p:nvPr/>
        </p:nvSpPr>
        <p:spPr>
          <a:xfrm>
            <a:off x="3950208" y="3794760"/>
            <a:ext cx="752551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Due diligence KOL, hợp đồng chặt, xử lý xung đột sớm → tránh sự cố uy tín</a:t>
            </a:r>
            <a:endParaRPr lang="en-US" sz="1450" dirty="0"/>
          </a:p>
        </p:txBody>
      </p:sp>
      <p:sp>
        <p:nvSpPr>
          <p:cNvPr id="19" name="Shape 17"/>
          <p:cNvSpPr/>
          <p:nvPr/>
        </p:nvSpPr>
        <p:spPr>
          <a:xfrm>
            <a:off x="548640" y="4489704"/>
            <a:ext cx="3236976" cy="621792"/>
          </a:xfrm>
          <a:prstGeom prst="roundRect">
            <a:avLst>
              <a:gd name="adj" fmla="val 11765"/>
            </a:avLst>
          </a:prstGeom>
          <a:solidFill>
            <a:srgbClr val="FF5178"/>
          </a:solidFill>
          <a:ln w="12700">
            <a:solidFill>
              <a:srgbClr val="FF5178"/>
            </a:solidFill>
            <a:prstDash val="solid"/>
          </a:ln>
        </p:spPr>
      </p:sp>
      <p:sp>
        <p:nvSpPr>
          <p:cNvPr id="20" name="Text 18"/>
          <p:cNvSpPr txBox="1"/>
          <p:nvPr/>
        </p:nvSpPr>
        <p:spPr>
          <a:xfrm>
            <a:off x="658368" y="4489704"/>
            <a:ext cx="301752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4 · Advisory</a:t>
            </a:r>
            <a:endParaRPr lang="en-US" sz="1450" dirty="0"/>
          </a:p>
        </p:txBody>
      </p:sp>
      <p:sp>
        <p:nvSpPr>
          <p:cNvPr id="21" name="Shape 19"/>
          <p:cNvSpPr/>
          <p:nvPr/>
        </p:nvSpPr>
        <p:spPr>
          <a:xfrm>
            <a:off x="3840480" y="4489704"/>
            <a:ext cx="7744968" cy="621792"/>
          </a:xfrm>
          <a:prstGeom prst="roundRect">
            <a:avLst>
              <a:gd name="adj" fmla="val 11765"/>
            </a:avLst>
          </a:prstGeom>
          <a:solidFill>
            <a:srgbClr val="22395F"/>
          </a:solidFill>
          <a:ln w="12700">
            <a:solidFill>
              <a:srgbClr val="22395F"/>
            </a:solidFill>
            <a:prstDash val="solid"/>
          </a:ln>
        </p:spPr>
      </p:sp>
      <p:sp>
        <p:nvSpPr>
          <p:cNvPr id="22" name="Text 20"/>
          <p:cNvSpPr txBox="1"/>
          <p:nvPr/>
        </p:nvSpPr>
        <p:spPr>
          <a:xfrm>
            <a:off x="3950208" y="4489704"/>
            <a:ext cx="752551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Chia sẻ dữ liệu, insight từ các sự kiện → khách hàng ra quyết định tốt hơn</a:t>
            </a:r>
            <a:endParaRPr lang="en-US" sz="1450" dirty="0"/>
          </a:p>
        </p:txBody>
      </p:sp>
      <p:sp>
        <p:nvSpPr>
          <p:cNvPr id="23" name="Shape 21"/>
          <p:cNvSpPr/>
          <p:nvPr/>
        </p:nvSpPr>
        <p:spPr>
          <a:xfrm>
            <a:off x="548640" y="5184648"/>
            <a:ext cx="3236976" cy="621792"/>
          </a:xfrm>
          <a:prstGeom prst="roundRect">
            <a:avLst>
              <a:gd name="adj" fmla="val 11765"/>
            </a:avLst>
          </a:prstGeom>
          <a:solidFill>
            <a:srgbClr val="09A1E5"/>
          </a:solidFill>
          <a:ln w="12700">
            <a:solidFill>
              <a:srgbClr val="09A1E5"/>
            </a:solidFill>
            <a:prstDash val="solid"/>
          </a:ln>
        </p:spPr>
      </p:sp>
      <p:sp>
        <p:nvSpPr>
          <p:cNvPr id="24" name="Text 22"/>
          <p:cNvSpPr txBox="1"/>
          <p:nvPr/>
        </p:nvSpPr>
        <p:spPr>
          <a:xfrm>
            <a:off x="658368" y="5184648"/>
            <a:ext cx="301752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5 · Khách của khách hàng</a:t>
            </a:r>
            <a:endParaRPr lang="en-US" sz="1450" dirty="0"/>
          </a:p>
        </p:txBody>
      </p:sp>
      <p:sp>
        <p:nvSpPr>
          <p:cNvPr id="25" name="Shape 23"/>
          <p:cNvSpPr/>
          <p:nvPr/>
        </p:nvSpPr>
        <p:spPr>
          <a:xfrm>
            <a:off x="3840480" y="5184648"/>
            <a:ext cx="7744968" cy="621792"/>
          </a:xfrm>
          <a:prstGeom prst="roundRect">
            <a:avLst>
              <a:gd name="adj" fmla="val 11765"/>
            </a:avLst>
          </a:prstGeom>
          <a:solidFill>
            <a:srgbClr val="22395F"/>
          </a:solidFill>
          <a:ln w="12700">
            <a:solidFill>
              <a:srgbClr val="22395F"/>
            </a:solidFill>
            <a:prstDash val="solid"/>
          </a:ln>
        </p:spPr>
      </p:sp>
      <p:sp>
        <p:nvSpPr>
          <p:cNvPr id="26" name="Text 24"/>
          <p:cNvSpPr txBox="1"/>
          <p:nvPr/>
        </p:nvSpPr>
        <p:spPr>
          <a:xfrm>
            <a:off x="3950208" y="5184648"/>
            <a:ext cx="752551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Trải nghiệm tốt hơn cho khách mời, nhà tài trợ, người tham dự</a:t>
            </a:r>
            <a:endParaRPr lang="en-US" sz="1450" dirty="0"/>
          </a:p>
        </p:txBody>
      </p:sp>
      <p:sp>
        <p:nvSpPr>
          <p:cNvPr id="27" name="Text 25"/>
          <p:cNvSpPr txBox="1"/>
          <p:nvPr/>
        </p:nvSpPr>
        <p:spPr>
          <a:xfrm>
            <a:off x="548640" y="59893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5.4, tr. 124); Đề thi, Đề tài phần C. Không đi sâu an toàn đám đông (ngoài phạm vi đề thi).</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Mỗi con số trong giá trị phải có nguồn hoặc giả định — và chịu được câu “nếu sai thì sao?”</a:t>
            </a:r>
            <a:endParaRPr lang="en-US" sz="2800" dirty="0"/>
          </a:p>
        </p:txBody>
      </p:sp>
      <p:sp>
        <p:nvSpPr>
          <p:cNvPr id="3" name="Shape 1"/>
          <p:cNvSpPr/>
          <p:nvPr/>
        </p:nvSpPr>
        <p:spPr>
          <a:xfrm>
            <a:off x="548640" y="1783080"/>
            <a:ext cx="11091672" cy="1325880"/>
          </a:xfrm>
          <a:prstGeom prst="roundRect">
            <a:avLst>
              <a:gd name="adj" fmla="val 5517"/>
            </a:avLst>
          </a:prstGeom>
          <a:solidFill>
            <a:srgbClr val="22395F"/>
          </a:solidFill>
          <a:ln w="12700">
            <a:solidFill>
              <a:srgbClr val="22395F"/>
            </a:solidFill>
            <a:prstDash val="solid"/>
          </a:ln>
        </p:spPr>
      </p:sp>
      <p:sp>
        <p:nvSpPr>
          <p:cNvPr id="4" name="Text 2"/>
          <p:cNvSpPr txBox="1"/>
          <p:nvPr/>
        </p:nvSpPr>
        <p:spPr>
          <a:xfrm>
            <a:off x="777240" y="1783080"/>
            <a:ext cx="10698480" cy="132588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Giá trị ước tính = </a:t>
            </a:r>
            <a:pPr indent="0" marL="0">
              <a:buNone/>
            </a:pPr>
            <a:r>
              <a:rPr lang="en-US" sz="1800" dirty="0">
                <a:solidFill>
                  <a:srgbClr val="FBFAF4"/>
                </a:solidFill>
                <a:latin typeface="Roboto" pitchFamily="34" charset="0"/>
                <a:ea typeface="Roboto" pitchFamily="34" charset="-122"/>
                <a:cs typeface="Roboto" pitchFamily="34" charset="-120"/>
              </a:rPr>
              <a:t>(số khách DN giữ thêm × lợi nhuận bình quân mỗi khách/năm) + chi phí tránh được − chi phí chương trình</a:t>
            </a:r>
            <a:endParaRPr lang="en-US" sz="1800" dirty="0"/>
          </a:p>
        </p:txBody>
      </p:sp>
      <p:sp>
        <p:nvSpPr>
          <p:cNvPr id="5" name="Shape 3"/>
          <p:cNvSpPr/>
          <p:nvPr/>
        </p:nvSpPr>
        <p:spPr>
          <a:xfrm>
            <a:off x="548640" y="3291840"/>
            <a:ext cx="3557016" cy="2331720"/>
          </a:xfrm>
          <a:prstGeom prst="roundRect">
            <a:avLst>
              <a:gd name="adj" fmla="val 3137"/>
            </a:avLst>
          </a:prstGeom>
          <a:solidFill>
            <a:srgbClr val="22395F"/>
          </a:solidFill>
          <a:ln w="12700">
            <a:solidFill>
              <a:srgbClr val="22395F"/>
            </a:solidFill>
            <a:prstDash val="solid"/>
          </a:ln>
        </p:spPr>
      </p:sp>
      <p:sp>
        <p:nvSpPr>
          <p:cNvPr id="6" name="Shape 4"/>
          <p:cNvSpPr/>
          <p:nvPr/>
        </p:nvSpPr>
        <p:spPr>
          <a:xfrm>
            <a:off x="731520" y="3429000"/>
            <a:ext cx="685800" cy="685800"/>
          </a:xfrm>
          <a:prstGeom prst="ellipse">
            <a:avLst/>
          </a:prstGeom>
          <a:solidFill>
            <a:srgbClr val="49B296"/>
          </a:solidFill>
          <a:ln w="12700">
            <a:solidFill>
              <a:srgbClr val="49B296"/>
            </a:solidFill>
            <a:prstDash val="solid"/>
          </a:ln>
        </p:spPr>
      </p:sp>
      <p:pic>
        <p:nvPicPr>
          <p:cNvPr id="7" name="Image 0" descr="preencoded.png">    </p:cNvPr>
          <p:cNvPicPr>
            <a:picLocks noChangeAspect="1"/>
          </p:cNvPicPr>
          <p:nvPr/>
        </p:nvPicPr>
        <p:blipFill>
          <a:blip r:embed="rId1"/>
          <a:stretch>
            <a:fillRect/>
          </a:stretch>
        </p:blipFill>
        <p:spPr>
          <a:xfrm>
            <a:off x="882396" y="3579876"/>
            <a:ext cx="384048" cy="384048"/>
          </a:xfrm>
          <a:prstGeom prst="rect">
            <a:avLst/>
          </a:prstGeom>
        </p:spPr>
      </p:pic>
      <p:sp>
        <p:nvSpPr>
          <p:cNvPr id="8" name="Text 5"/>
          <p:cNvSpPr txBox="1"/>
          <p:nvPr/>
        </p:nvSpPr>
        <p:spPr>
          <a:xfrm>
            <a:off x="1554480" y="3429000"/>
            <a:ext cx="2377440" cy="68580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Nguồn</a:t>
            </a:r>
            <a:endParaRPr lang="en-US" sz="1800" dirty="0"/>
          </a:p>
        </p:txBody>
      </p:sp>
      <p:sp>
        <p:nvSpPr>
          <p:cNvPr id="9" name="Text 6"/>
          <p:cNvSpPr txBox="1"/>
          <p:nvPr/>
        </p:nvSpPr>
        <p:spPr>
          <a:xfrm>
            <a:off x="731520" y="4206240"/>
            <a:ext cx="3200400" cy="132588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Báo cáo thường niên, website, tin chính thức, dữ liệu dự án cũ</a:t>
            </a:r>
            <a:endParaRPr lang="en-US" sz="1500" dirty="0"/>
          </a:p>
        </p:txBody>
      </p:sp>
      <p:sp>
        <p:nvSpPr>
          <p:cNvPr id="10" name="Shape 7"/>
          <p:cNvSpPr/>
          <p:nvPr/>
        </p:nvSpPr>
        <p:spPr>
          <a:xfrm>
            <a:off x="4315968" y="3291840"/>
            <a:ext cx="3557016" cy="2331720"/>
          </a:xfrm>
          <a:prstGeom prst="roundRect">
            <a:avLst>
              <a:gd name="adj" fmla="val 3137"/>
            </a:avLst>
          </a:prstGeom>
          <a:solidFill>
            <a:srgbClr val="22395F"/>
          </a:solidFill>
          <a:ln w="12700">
            <a:solidFill>
              <a:srgbClr val="22395F"/>
            </a:solidFill>
            <a:prstDash val="solid"/>
          </a:ln>
        </p:spPr>
      </p:sp>
      <p:sp>
        <p:nvSpPr>
          <p:cNvPr id="11" name="Shape 8"/>
          <p:cNvSpPr/>
          <p:nvPr/>
        </p:nvSpPr>
        <p:spPr>
          <a:xfrm>
            <a:off x="4498848" y="3429000"/>
            <a:ext cx="685800" cy="685800"/>
          </a:xfrm>
          <a:prstGeom prst="ellipse">
            <a:avLst/>
          </a:prstGeom>
          <a:solidFill>
            <a:srgbClr val="FFD23B"/>
          </a:solidFill>
          <a:ln w="12700">
            <a:solidFill>
              <a:srgbClr val="FFD23B"/>
            </a:solidFill>
            <a:prstDash val="solid"/>
          </a:ln>
        </p:spPr>
      </p:sp>
      <p:pic>
        <p:nvPicPr>
          <p:cNvPr id="12" name="Image 1" descr="preencoded.png">    </p:cNvPr>
          <p:cNvPicPr>
            <a:picLocks noChangeAspect="1"/>
          </p:cNvPicPr>
          <p:nvPr/>
        </p:nvPicPr>
        <p:blipFill>
          <a:blip r:embed="rId2"/>
          <a:stretch>
            <a:fillRect/>
          </a:stretch>
        </p:blipFill>
        <p:spPr>
          <a:xfrm>
            <a:off x="4649724" y="3579876"/>
            <a:ext cx="384048" cy="384048"/>
          </a:xfrm>
          <a:prstGeom prst="rect">
            <a:avLst/>
          </a:prstGeom>
        </p:spPr>
      </p:pic>
      <p:sp>
        <p:nvSpPr>
          <p:cNvPr id="13" name="Text 9"/>
          <p:cNvSpPr txBox="1"/>
          <p:nvPr/>
        </p:nvSpPr>
        <p:spPr>
          <a:xfrm>
            <a:off x="5321808" y="3429000"/>
            <a:ext cx="2377440" cy="68580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Giả định</a:t>
            </a:r>
            <a:endParaRPr lang="en-US" sz="1800" dirty="0"/>
          </a:p>
        </p:txBody>
      </p:sp>
      <p:sp>
        <p:nvSpPr>
          <p:cNvPr id="14" name="Text 10"/>
          <p:cNvSpPr txBox="1"/>
          <p:nvPr/>
        </p:nvSpPr>
        <p:spPr>
          <a:xfrm>
            <a:off x="4498848" y="4206240"/>
            <a:ext cx="3200400" cy="132588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“Giả định: … vì …” — ghi vào Phụ lục 3</a:t>
            </a:r>
            <a:endParaRPr lang="en-US" sz="1500" dirty="0"/>
          </a:p>
        </p:txBody>
      </p:sp>
      <p:sp>
        <p:nvSpPr>
          <p:cNvPr id="15" name="Shape 11"/>
          <p:cNvSpPr/>
          <p:nvPr/>
        </p:nvSpPr>
        <p:spPr>
          <a:xfrm>
            <a:off x="8083296" y="3291840"/>
            <a:ext cx="3557016" cy="2331720"/>
          </a:xfrm>
          <a:prstGeom prst="roundRect">
            <a:avLst>
              <a:gd name="adj" fmla="val 3137"/>
            </a:avLst>
          </a:prstGeom>
          <a:solidFill>
            <a:srgbClr val="22395F"/>
          </a:solidFill>
          <a:ln w="12700">
            <a:solidFill>
              <a:srgbClr val="22395F"/>
            </a:solidFill>
            <a:prstDash val="solid"/>
          </a:ln>
        </p:spPr>
      </p:sp>
      <p:sp>
        <p:nvSpPr>
          <p:cNvPr id="16" name="Shape 12"/>
          <p:cNvSpPr/>
          <p:nvPr/>
        </p:nvSpPr>
        <p:spPr>
          <a:xfrm>
            <a:off x="8266176" y="3429000"/>
            <a:ext cx="685800" cy="685800"/>
          </a:xfrm>
          <a:prstGeom prst="ellipse">
            <a:avLst/>
          </a:prstGeom>
          <a:solidFill>
            <a:srgbClr val="FF5178"/>
          </a:solidFill>
          <a:ln w="12700">
            <a:solidFill>
              <a:srgbClr val="FF5178"/>
            </a:solidFill>
            <a:prstDash val="solid"/>
          </a:ln>
        </p:spPr>
      </p:sp>
      <p:pic>
        <p:nvPicPr>
          <p:cNvPr id="17" name="Image 2" descr="preencoded.png">    </p:cNvPr>
          <p:cNvPicPr>
            <a:picLocks noChangeAspect="1"/>
          </p:cNvPicPr>
          <p:nvPr/>
        </p:nvPicPr>
        <p:blipFill>
          <a:blip r:embed="rId3"/>
          <a:stretch>
            <a:fillRect/>
          </a:stretch>
        </p:blipFill>
        <p:spPr>
          <a:xfrm>
            <a:off x="8417052" y="3579876"/>
            <a:ext cx="384048" cy="384048"/>
          </a:xfrm>
          <a:prstGeom prst="rect">
            <a:avLst/>
          </a:prstGeom>
        </p:spPr>
      </p:pic>
      <p:sp>
        <p:nvSpPr>
          <p:cNvPr id="18" name="Text 13"/>
          <p:cNvSpPr txBox="1"/>
          <p:nvPr/>
        </p:nvSpPr>
        <p:spPr>
          <a:xfrm>
            <a:off x="9089136" y="3429000"/>
            <a:ext cx="2377440" cy="685800"/>
          </a:xfrm>
          <a:prstGeom prst="rect">
            <a:avLst/>
          </a:prstGeom>
          <a:noFill/>
          <a:ln/>
        </p:spPr>
        <p:txBody>
          <a:bodyPr wrap="square" lIns="635" tIns="635" rIns="635" bIns="635" rtlCol="0" anchor="ctr"/>
          <a:lstStyle/>
          <a:p>
            <a:pPr indent="0" marL="0">
              <a:buNone/>
            </a:pPr>
            <a:r>
              <a:rPr lang="en-US" sz="1800" b="1" dirty="0">
                <a:solidFill>
                  <a:srgbClr val="FF5178"/>
                </a:solidFill>
                <a:latin typeface="Roboto" pitchFamily="34" charset="0"/>
                <a:ea typeface="Roboto" pitchFamily="34" charset="-122"/>
                <a:cs typeface="Roboto" pitchFamily="34" charset="-120"/>
              </a:rPr>
              <a:t>Độ nhạy</a:t>
            </a:r>
            <a:endParaRPr lang="en-US" sz="1800" dirty="0"/>
          </a:p>
        </p:txBody>
      </p:sp>
      <p:sp>
        <p:nvSpPr>
          <p:cNvPr id="19" name="Text 14"/>
          <p:cNvSpPr txBox="1"/>
          <p:nvPr/>
        </p:nvSpPr>
        <p:spPr>
          <a:xfrm>
            <a:off x="8266176" y="4206240"/>
            <a:ext cx="3200400" cy="132588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Ví dụ Buổi 6: tỷ lệ giữ chân 85% → 70%, CLV của An Phát mất ≈ 206 triệu</a:t>
            </a:r>
            <a:endParaRPr lang="en-US" sz="1500" dirty="0"/>
          </a:p>
        </p:txBody>
      </p:sp>
      <p:sp>
        <p:nvSpPr>
          <p:cNvPr id="20" name="Text 15"/>
          <p:cNvSpPr txBox="1"/>
          <p:nvPr/>
        </p:nvSpPr>
        <p:spPr>
          <a:xfrm>
            <a:off x="548640" y="58064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Công thức minh họa (GIẢ ĐỊNH) — lecture notes §2.1. Ví dụ độ nhạy: deck Buổi 6. Tiêu chí 9: “độ nhạy giả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Mỗi lời hứa ở phần C cần một dòng đo ở phần D</a:t>
            </a:r>
            <a:endParaRPr lang="en-US" sz="2800" dirty="0"/>
          </a:p>
        </p:txBody>
      </p:sp>
      <p:sp>
        <p:nvSpPr>
          <p:cNvPr id="3" name="Shape 1"/>
          <p:cNvSpPr/>
          <p:nvPr/>
        </p:nvSpPr>
        <p:spPr>
          <a:xfrm>
            <a:off x="548640" y="1783080"/>
            <a:ext cx="11091672" cy="1280160"/>
          </a:xfrm>
          <a:prstGeom prst="roundRect">
            <a:avLst>
              <a:gd name="adj" fmla="val 5714"/>
            </a:avLst>
          </a:prstGeom>
          <a:solidFill>
            <a:srgbClr val="22395F"/>
          </a:solidFill>
          <a:ln w="12700">
            <a:solidFill>
              <a:srgbClr val="22395F"/>
            </a:solidFill>
            <a:prstDash val="solid"/>
          </a:ln>
        </p:spPr>
      </p:sp>
      <p:sp>
        <p:nvSpPr>
          <p:cNvPr id="4" name="Text 2"/>
          <p:cNvSpPr txBox="1"/>
          <p:nvPr/>
        </p:nvSpPr>
        <p:spPr>
          <a:xfrm>
            <a:off x="777240" y="1783080"/>
            <a:ext cx="10607040" cy="1280160"/>
          </a:xfrm>
          <a:prstGeom prst="rect">
            <a:avLst/>
          </a:prstGeom>
          <a:noFill/>
          <a:ln/>
        </p:spPr>
        <p:txBody>
          <a:bodyPr wrap="square" lIns="635" tIns="635" rIns="635" bIns="635" rtlCol="0" anchor="ctr"/>
          <a:lstStyle/>
          <a:p>
            <a:pPr indent="0" marL="0">
              <a:buNone/>
            </a:pPr>
            <a:r>
              <a:rPr lang="en-US" sz="1800" i="1" dirty="0">
                <a:solidFill>
                  <a:srgbClr val="FFD23B"/>
                </a:solidFill>
                <a:latin typeface="Roboto" pitchFamily="34" charset="0"/>
                <a:ea typeface="Roboto" pitchFamily="34" charset="-122"/>
                <a:cs typeface="Roboto" pitchFamily="34" charset="-120"/>
              </a:rPr>
              <a:t>“It is the supplier’s job to advise how the value that they promise within their value proposition will be captured (in ROI and KPI measures).”</a:t>
            </a:r>
            <a:endParaRPr lang="en-US" sz="1800" dirty="0"/>
          </a:p>
        </p:txBody>
      </p:sp>
      <p:sp>
        <p:nvSpPr>
          <p:cNvPr id="5" name="Shape 3"/>
          <p:cNvSpPr/>
          <p:nvPr/>
        </p:nvSpPr>
        <p:spPr>
          <a:xfrm>
            <a:off x="548640" y="3246120"/>
            <a:ext cx="3602736" cy="548640"/>
          </a:xfrm>
          <a:prstGeom prst="roundRect">
            <a:avLst>
              <a:gd name="adj" fmla="val 13333"/>
            </a:avLst>
          </a:prstGeom>
          <a:solidFill>
            <a:srgbClr val="FFD23B"/>
          </a:solidFill>
          <a:ln w="12700">
            <a:solidFill>
              <a:srgbClr val="FFD23B"/>
            </a:solidFill>
            <a:prstDash val="solid"/>
          </a:ln>
        </p:spPr>
      </p:sp>
      <p:sp>
        <p:nvSpPr>
          <p:cNvPr id="6" name="Text 4"/>
          <p:cNvSpPr txBox="1"/>
          <p:nvPr/>
        </p:nvSpPr>
        <p:spPr>
          <a:xfrm>
            <a:off x="640080" y="3246120"/>
            <a:ext cx="341985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Lời hứa ở C</a:t>
            </a:r>
            <a:endParaRPr lang="en-US" sz="1450" dirty="0"/>
          </a:p>
        </p:txBody>
      </p:sp>
      <p:sp>
        <p:nvSpPr>
          <p:cNvPr id="7" name="Shape 5"/>
          <p:cNvSpPr/>
          <p:nvPr/>
        </p:nvSpPr>
        <p:spPr>
          <a:xfrm>
            <a:off x="4206240" y="3246120"/>
            <a:ext cx="3602736" cy="548640"/>
          </a:xfrm>
          <a:prstGeom prst="roundRect">
            <a:avLst>
              <a:gd name="adj" fmla="val 13333"/>
            </a:avLst>
          </a:prstGeom>
          <a:solidFill>
            <a:srgbClr val="FF9259"/>
          </a:solidFill>
          <a:ln w="12700">
            <a:solidFill>
              <a:srgbClr val="FF9259"/>
            </a:solidFill>
            <a:prstDash val="solid"/>
          </a:ln>
        </p:spPr>
      </p:sp>
      <p:sp>
        <p:nvSpPr>
          <p:cNvPr id="8" name="Text 6"/>
          <p:cNvSpPr txBox="1"/>
          <p:nvPr/>
        </p:nvSpPr>
        <p:spPr>
          <a:xfrm>
            <a:off x="4297680" y="3246120"/>
            <a:ext cx="341985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Đo bằng gì ở D</a:t>
            </a:r>
            <a:endParaRPr lang="en-US" sz="1450" dirty="0"/>
          </a:p>
        </p:txBody>
      </p:sp>
      <p:sp>
        <p:nvSpPr>
          <p:cNvPr id="9" name="Shape 7"/>
          <p:cNvSpPr/>
          <p:nvPr/>
        </p:nvSpPr>
        <p:spPr>
          <a:xfrm>
            <a:off x="7863840" y="3246120"/>
            <a:ext cx="3721608" cy="548640"/>
          </a:xfrm>
          <a:prstGeom prst="roundRect">
            <a:avLst>
              <a:gd name="adj" fmla="val 13333"/>
            </a:avLst>
          </a:prstGeom>
          <a:solidFill>
            <a:srgbClr val="49B296"/>
          </a:solidFill>
          <a:ln w="12700">
            <a:solidFill>
              <a:srgbClr val="49B296"/>
            </a:solidFill>
            <a:prstDash val="solid"/>
          </a:ln>
        </p:spPr>
      </p:sp>
      <p:sp>
        <p:nvSpPr>
          <p:cNvPr id="10" name="Text 8"/>
          <p:cNvSpPr txBox="1"/>
          <p:nvPr/>
        </p:nvSpPr>
        <p:spPr>
          <a:xfrm>
            <a:off x="7955280" y="3246120"/>
            <a:ext cx="3538728"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Ai đo, khi nào</a:t>
            </a:r>
            <a:endParaRPr lang="en-US" sz="1450" dirty="0"/>
          </a:p>
        </p:txBody>
      </p:sp>
      <p:sp>
        <p:nvSpPr>
          <p:cNvPr id="11" name="Shape 9"/>
          <p:cNvSpPr/>
          <p:nvPr/>
        </p:nvSpPr>
        <p:spPr>
          <a:xfrm>
            <a:off x="548640" y="3867912"/>
            <a:ext cx="3602736" cy="685800"/>
          </a:xfrm>
          <a:prstGeom prst="roundRect">
            <a:avLst>
              <a:gd name="adj" fmla="val 10667"/>
            </a:avLst>
          </a:prstGeom>
          <a:solidFill>
            <a:srgbClr val="22395F"/>
          </a:solidFill>
          <a:ln w="12700">
            <a:solidFill>
              <a:srgbClr val="22395F"/>
            </a:solidFill>
            <a:prstDash val="solid"/>
          </a:ln>
        </p:spPr>
      </p:sp>
      <p:sp>
        <p:nvSpPr>
          <p:cNvPr id="12" name="Text 10"/>
          <p:cNvSpPr txBox="1"/>
          <p:nvPr/>
        </p:nvSpPr>
        <p:spPr>
          <a:xfrm>
            <a:off x="658368" y="3867912"/>
            <a:ext cx="3383280" cy="685800"/>
          </a:xfrm>
          <a:prstGeom prst="rect">
            <a:avLst/>
          </a:prstGeom>
          <a:noFill/>
          <a:ln/>
        </p:spPr>
        <p:txBody>
          <a:bodyPr wrap="square" lIns="635" tIns="635" rIns="635" bIns="635" rtlCol="0" anchor="ctr"/>
          <a:lstStyle/>
          <a:p>
            <a:pPr indent="0" marL="0">
              <a:buNone/>
            </a:pPr>
            <a:r>
              <a:rPr lang="en-US" sz="1450" b="1" dirty="0">
                <a:solidFill>
                  <a:srgbClr val="FBFAF4"/>
                </a:solidFill>
                <a:latin typeface="Roboto" pitchFamily="34" charset="0"/>
                <a:ea typeface="Roboto" pitchFamily="34" charset="-122"/>
                <a:cs typeface="Roboto" pitchFamily="34" charset="-120"/>
              </a:rPr>
              <a:t>Giữ thêm khách DN VIP</a:t>
            </a:r>
            <a:endParaRPr lang="en-US" sz="1450" dirty="0"/>
          </a:p>
        </p:txBody>
      </p:sp>
      <p:sp>
        <p:nvSpPr>
          <p:cNvPr id="13" name="Shape 11"/>
          <p:cNvSpPr/>
          <p:nvPr/>
        </p:nvSpPr>
        <p:spPr>
          <a:xfrm>
            <a:off x="4206240" y="3867912"/>
            <a:ext cx="3602736" cy="685800"/>
          </a:xfrm>
          <a:prstGeom prst="roundRect">
            <a:avLst>
              <a:gd name="adj" fmla="val 10667"/>
            </a:avLst>
          </a:prstGeom>
          <a:solidFill>
            <a:srgbClr val="22395F"/>
          </a:solidFill>
          <a:ln w="12700">
            <a:solidFill>
              <a:srgbClr val="22395F"/>
            </a:solidFill>
            <a:prstDash val="solid"/>
          </a:ln>
        </p:spPr>
      </p:sp>
      <p:sp>
        <p:nvSpPr>
          <p:cNvPr id="14" name="Text 12"/>
          <p:cNvSpPr txBox="1"/>
          <p:nvPr/>
        </p:nvSpPr>
        <p:spPr>
          <a:xfrm>
            <a:off x="4315968" y="3867912"/>
            <a:ext cx="3383280" cy="685800"/>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Tỷ lệ khách DN quay lại năm sau (ROI cấp 4)</a:t>
            </a:r>
            <a:endParaRPr lang="en-US" sz="1450" dirty="0"/>
          </a:p>
        </p:txBody>
      </p:sp>
      <p:sp>
        <p:nvSpPr>
          <p:cNvPr id="15" name="Shape 13"/>
          <p:cNvSpPr/>
          <p:nvPr/>
        </p:nvSpPr>
        <p:spPr>
          <a:xfrm>
            <a:off x="7863840" y="3867912"/>
            <a:ext cx="3721608" cy="685800"/>
          </a:xfrm>
          <a:prstGeom prst="roundRect">
            <a:avLst>
              <a:gd name="adj" fmla="val 10667"/>
            </a:avLst>
          </a:prstGeom>
          <a:solidFill>
            <a:srgbClr val="22395F"/>
          </a:solidFill>
          <a:ln w="12700">
            <a:solidFill>
              <a:srgbClr val="22395F"/>
            </a:solidFill>
            <a:prstDash val="solid"/>
          </a:ln>
        </p:spPr>
      </p:sp>
      <p:sp>
        <p:nvSpPr>
          <p:cNvPr id="16" name="Text 14"/>
          <p:cNvSpPr txBox="1"/>
          <p:nvPr/>
        </p:nvSpPr>
        <p:spPr>
          <a:xfrm>
            <a:off x="7973568" y="3867912"/>
            <a:ext cx="3502152" cy="685800"/>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Đo cùng An Phát · đánh giá chung cuối năm</a:t>
            </a:r>
            <a:endParaRPr lang="en-US" sz="1450" dirty="0"/>
          </a:p>
        </p:txBody>
      </p:sp>
      <p:sp>
        <p:nvSpPr>
          <p:cNvPr id="17" name="Shape 15"/>
          <p:cNvSpPr/>
          <p:nvPr/>
        </p:nvSpPr>
        <p:spPr>
          <a:xfrm>
            <a:off x="548640" y="4626864"/>
            <a:ext cx="3602736" cy="685800"/>
          </a:xfrm>
          <a:prstGeom prst="roundRect">
            <a:avLst>
              <a:gd name="adj" fmla="val 10667"/>
            </a:avLst>
          </a:prstGeom>
          <a:solidFill>
            <a:srgbClr val="22395F"/>
          </a:solidFill>
          <a:ln w="12700">
            <a:solidFill>
              <a:srgbClr val="22395F"/>
            </a:solidFill>
            <a:prstDash val="solid"/>
          </a:ln>
        </p:spPr>
      </p:sp>
      <p:sp>
        <p:nvSpPr>
          <p:cNvPr id="18" name="Text 16"/>
          <p:cNvSpPr txBox="1"/>
          <p:nvPr/>
        </p:nvSpPr>
        <p:spPr>
          <a:xfrm>
            <a:off x="658368" y="4626864"/>
            <a:ext cx="3383280" cy="685800"/>
          </a:xfrm>
          <a:prstGeom prst="rect">
            <a:avLst/>
          </a:prstGeom>
          <a:noFill/>
          <a:ln/>
        </p:spPr>
        <p:txBody>
          <a:bodyPr wrap="square" lIns="635" tIns="635" rIns="635" bIns="635" rtlCol="0" anchor="ctr"/>
          <a:lstStyle/>
          <a:p>
            <a:pPr indent="0" marL="0">
              <a:buNone/>
            </a:pPr>
            <a:r>
              <a:rPr lang="en-US" sz="1450" b="1" dirty="0">
                <a:solidFill>
                  <a:srgbClr val="FBFAF4"/>
                </a:solidFill>
                <a:latin typeface="Roboto" pitchFamily="34" charset="0"/>
                <a:ea typeface="Roboto" pitchFamily="34" charset="-122"/>
                <a:cs typeface="Roboto" pitchFamily="34" charset="-120"/>
              </a:rPr>
              <a:t>Giảm chi phí sự kiện</a:t>
            </a:r>
            <a:endParaRPr lang="en-US" sz="1450" dirty="0"/>
          </a:p>
        </p:txBody>
      </p:sp>
      <p:sp>
        <p:nvSpPr>
          <p:cNvPr id="19" name="Shape 17"/>
          <p:cNvSpPr/>
          <p:nvPr/>
        </p:nvSpPr>
        <p:spPr>
          <a:xfrm>
            <a:off x="4206240" y="4626864"/>
            <a:ext cx="3602736" cy="685800"/>
          </a:xfrm>
          <a:prstGeom prst="roundRect">
            <a:avLst>
              <a:gd name="adj" fmla="val 10667"/>
            </a:avLst>
          </a:prstGeom>
          <a:solidFill>
            <a:srgbClr val="22395F"/>
          </a:solidFill>
          <a:ln w="12700">
            <a:solidFill>
              <a:srgbClr val="22395F"/>
            </a:solidFill>
            <a:prstDash val="solid"/>
          </a:ln>
        </p:spPr>
      </p:sp>
      <p:sp>
        <p:nvSpPr>
          <p:cNvPr id="20" name="Text 18"/>
          <p:cNvSpPr txBox="1"/>
          <p:nvPr/>
        </p:nvSpPr>
        <p:spPr>
          <a:xfrm>
            <a:off x="4315968" y="4626864"/>
            <a:ext cx="3383280" cy="685800"/>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Chi phí/khách so với năm trước</a:t>
            </a:r>
            <a:endParaRPr lang="en-US" sz="1450" dirty="0"/>
          </a:p>
        </p:txBody>
      </p:sp>
      <p:sp>
        <p:nvSpPr>
          <p:cNvPr id="21" name="Shape 19"/>
          <p:cNvSpPr/>
          <p:nvPr/>
        </p:nvSpPr>
        <p:spPr>
          <a:xfrm>
            <a:off x="7863840" y="4626864"/>
            <a:ext cx="3721608" cy="685800"/>
          </a:xfrm>
          <a:prstGeom prst="roundRect">
            <a:avLst>
              <a:gd name="adj" fmla="val 10667"/>
            </a:avLst>
          </a:prstGeom>
          <a:solidFill>
            <a:srgbClr val="22395F"/>
          </a:solidFill>
          <a:ln w="12700">
            <a:solidFill>
              <a:srgbClr val="22395F"/>
            </a:solidFill>
            <a:prstDash val="solid"/>
          </a:ln>
        </p:spPr>
      </p:sp>
      <p:sp>
        <p:nvSpPr>
          <p:cNvPr id="22" name="Text 20"/>
          <p:cNvSpPr txBox="1"/>
          <p:nvPr/>
        </p:nvSpPr>
        <p:spPr>
          <a:xfrm>
            <a:off x="7973568" y="4626864"/>
            <a:ext cx="3502152" cy="685800"/>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Nova báo cáo · sau mỗi sự kiện</a:t>
            </a:r>
            <a:endParaRPr lang="en-US" sz="1450" dirty="0"/>
          </a:p>
        </p:txBody>
      </p:sp>
      <p:sp>
        <p:nvSpPr>
          <p:cNvPr id="23" name="Text 21"/>
          <p:cNvSpPr txBox="1"/>
          <p:nvPr/>
        </p:nvSpPr>
        <p:spPr>
          <a:xfrm>
            <a:off x="548640" y="585216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Davies, Cranfield (Z06); ROI 6 cấp, đánh giá chung — Buổi 8. Ví dụ là GIẢ ĐỊNH. Đề thi tiêu chí 5: “mỗi lời hứa ở C có cách đo”.</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Kế hoạch hành động của giáo trình: mỗi việc có chủ, nguồn lực, KPI và hạn</a:t>
            </a:r>
            <a:endParaRPr lang="en-US" sz="2800" dirty="0"/>
          </a:p>
        </p:txBody>
      </p:sp>
      <p:sp>
        <p:nvSpPr>
          <p:cNvPr id="3" name="Shape 1"/>
          <p:cNvSpPr/>
          <p:nvPr/>
        </p:nvSpPr>
        <p:spPr>
          <a:xfrm>
            <a:off x="548640" y="1783080"/>
            <a:ext cx="1316736" cy="914400"/>
          </a:xfrm>
          <a:prstGeom prst="roundRect">
            <a:avLst>
              <a:gd name="adj" fmla="val 8000"/>
            </a:avLst>
          </a:prstGeom>
          <a:solidFill>
            <a:srgbClr val="49B296"/>
          </a:solidFill>
          <a:ln w="12700">
            <a:solidFill>
              <a:srgbClr val="49B296"/>
            </a:solidFill>
            <a:prstDash val="solid"/>
          </a:ln>
        </p:spPr>
      </p:sp>
      <p:sp>
        <p:nvSpPr>
          <p:cNvPr id="4" name="Text 2"/>
          <p:cNvSpPr txBox="1"/>
          <p:nvPr/>
        </p:nvSpPr>
        <p:spPr>
          <a:xfrm>
            <a:off x="603504" y="1783080"/>
            <a:ext cx="1207008" cy="914400"/>
          </a:xfrm>
          <a:prstGeom prst="rect">
            <a:avLst/>
          </a:prstGeom>
          <a:noFill/>
          <a:ln/>
        </p:spPr>
        <p:txBody>
          <a:bodyPr wrap="square" lIns="635" tIns="635" rIns="635" bIns="635" rtlCol="0" anchor="ctr"/>
          <a:lstStyle/>
          <a:p>
            <a:pPr algn="ctr" indent="0" marL="0">
              <a:buNone/>
            </a:pPr>
            <a:r>
              <a:rPr lang="en-US" sz="1350" b="1" dirty="0">
                <a:solidFill>
                  <a:srgbClr val="172849"/>
                </a:solidFill>
                <a:latin typeface="Roboto" pitchFamily="34" charset="0"/>
                <a:ea typeface="Roboto" pitchFamily="34" charset="-122"/>
                <a:cs typeface="Roboto" pitchFamily="34" charset="-120"/>
              </a:rPr>
              <a:t>Việc chính</a:t>
            </a:r>
            <a:endParaRPr lang="en-US" sz="1350" dirty="0"/>
          </a:p>
        </p:txBody>
      </p:sp>
      <p:sp>
        <p:nvSpPr>
          <p:cNvPr id="5" name="Shape 3"/>
          <p:cNvSpPr/>
          <p:nvPr/>
        </p:nvSpPr>
        <p:spPr>
          <a:xfrm>
            <a:off x="1938528" y="1783080"/>
            <a:ext cx="1316736" cy="914400"/>
          </a:xfrm>
          <a:prstGeom prst="roundRect">
            <a:avLst>
              <a:gd name="adj" fmla="val 8000"/>
            </a:avLst>
          </a:prstGeom>
          <a:solidFill>
            <a:srgbClr val="FFD23B"/>
          </a:solidFill>
          <a:ln w="12700">
            <a:solidFill>
              <a:srgbClr val="FFD23B"/>
            </a:solidFill>
            <a:prstDash val="solid"/>
          </a:ln>
        </p:spPr>
      </p:sp>
      <p:sp>
        <p:nvSpPr>
          <p:cNvPr id="6" name="Text 4"/>
          <p:cNvSpPr txBox="1"/>
          <p:nvPr/>
        </p:nvSpPr>
        <p:spPr>
          <a:xfrm>
            <a:off x="1993392" y="1783080"/>
            <a:ext cx="1207008" cy="914400"/>
          </a:xfrm>
          <a:prstGeom prst="rect">
            <a:avLst/>
          </a:prstGeom>
          <a:noFill/>
          <a:ln/>
        </p:spPr>
        <p:txBody>
          <a:bodyPr wrap="square" lIns="635" tIns="635" rIns="635" bIns="635" rtlCol="0" anchor="ctr"/>
          <a:lstStyle/>
          <a:p>
            <a:pPr algn="ctr" indent="0" marL="0">
              <a:buNone/>
            </a:pPr>
            <a:r>
              <a:rPr lang="en-US" sz="1350" b="1" dirty="0">
                <a:solidFill>
                  <a:srgbClr val="172849"/>
                </a:solidFill>
                <a:latin typeface="Roboto" pitchFamily="34" charset="0"/>
                <a:ea typeface="Roboto" pitchFamily="34" charset="-122"/>
                <a:cs typeface="Roboto" pitchFamily="34" charset="-120"/>
              </a:rPr>
              <a:t>Người phụ trách</a:t>
            </a:r>
            <a:endParaRPr lang="en-US" sz="1350" dirty="0"/>
          </a:p>
        </p:txBody>
      </p:sp>
      <p:sp>
        <p:nvSpPr>
          <p:cNvPr id="7" name="Shape 5"/>
          <p:cNvSpPr/>
          <p:nvPr/>
        </p:nvSpPr>
        <p:spPr>
          <a:xfrm>
            <a:off x="3328416" y="1783080"/>
            <a:ext cx="1316736" cy="914400"/>
          </a:xfrm>
          <a:prstGeom prst="roundRect">
            <a:avLst>
              <a:gd name="adj" fmla="val 8000"/>
            </a:avLst>
          </a:prstGeom>
          <a:solidFill>
            <a:srgbClr val="FF9259"/>
          </a:solidFill>
          <a:ln w="12700">
            <a:solidFill>
              <a:srgbClr val="FF9259"/>
            </a:solidFill>
            <a:prstDash val="solid"/>
          </a:ln>
        </p:spPr>
      </p:sp>
      <p:sp>
        <p:nvSpPr>
          <p:cNvPr id="8" name="Text 6"/>
          <p:cNvSpPr txBox="1"/>
          <p:nvPr/>
        </p:nvSpPr>
        <p:spPr>
          <a:xfrm>
            <a:off x="3383280" y="1783080"/>
            <a:ext cx="1207008" cy="914400"/>
          </a:xfrm>
          <a:prstGeom prst="rect">
            <a:avLst/>
          </a:prstGeom>
          <a:noFill/>
          <a:ln/>
        </p:spPr>
        <p:txBody>
          <a:bodyPr wrap="square" lIns="635" tIns="635" rIns="635" bIns="635" rtlCol="0" anchor="ctr"/>
          <a:lstStyle/>
          <a:p>
            <a:pPr algn="ctr" indent="0" marL="0">
              <a:buNone/>
            </a:pPr>
            <a:r>
              <a:rPr lang="en-US" sz="1350" b="1" dirty="0">
                <a:solidFill>
                  <a:srgbClr val="172849"/>
                </a:solidFill>
                <a:latin typeface="Roboto" pitchFamily="34" charset="0"/>
                <a:ea typeface="Roboto" pitchFamily="34" charset="-122"/>
                <a:cs typeface="Roboto" pitchFamily="34" charset="-120"/>
              </a:rPr>
              <a:t>Bộ phận, bên phối hợp</a:t>
            </a:r>
            <a:endParaRPr lang="en-US" sz="1350" dirty="0"/>
          </a:p>
        </p:txBody>
      </p:sp>
      <p:sp>
        <p:nvSpPr>
          <p:cNvPr id="9" name="Shape 7"/>
          <p:cNvSpPr/>
          <p:nvPr/>
        </p:nvSpPr>
        <p:spPr>
          <a:xfrm>
            <a:off x="4718304" y="1783080"/>
            <a:ext cx="1316736" cy="914400"/>
          </a:xfrm>
          <a:prstGeom prst="roundRect">
            <a:avLst>
              <a:gd name="adj" fmla="val 8000"/>
            </a:avLst>
          </a:prstGeom>
          <a:solidFill>
            <a:srgbClr val="09A1E5"/>
          </a:solidFill>
          <a:ln w="12700">
            <a:solidFill>
              <a:srgbClr val="09A1E5"/>
            </a:solidFill>
            <a:prstDash val="solid"/>
          </a:ln>
        </p:spPr>
      </p:sp>
      <p:sp>
        <p:nvSpPr>
          <p:cNvPr id="10" name="Text 8"/>
          <p:cNvSpPr txBox="1"/>
          <p:nvPr/>
        </p:nvSpPr>
        <p:spPr>
          <a:xfrm>
            <a:off x="4773168" y="1783080"/>
            <a:ext cx="1207008" cy="914400"/>
          </a:xfrm>
          <a:prstGeom prst="rect">
            <a:avLst/>
          </a:prstGeom>
          <a:noFill/>
          <a:ln/>
        </p:spPr>
        <p:txBody>
          <a:bodyPr wrap="square" lIns="635" tIns="635" rIns="635" bIns="635" rtlCol="0" anchor="ctr"/>
          <a:lstStyle/>
          <a:p>
            <a:pPr algn="ctr" indent="0" marL="0">
              <a:buNone/>
            </a:pPr>
            <a:r>
              <a:rPr lang="en-US" sz="1350" b="1" dirty="0">
                <a:solidFill>
                  <a:srgbClr val="172849"/>
                </a:solidFill>
                <a:latin typeface="Roboto" pitchFamily="34" charset="0"/>
                <a:ea typeface="Roboto" pitchFamily="34" charset="-122"/>
                <a:cs typeface="Roboto" pitchFamily="34" charset="-120"/>
              </a:rPr>
              <a:t>Nguồn lực</a:t>
            </a:r>
            <a:endParaRPr lang="en-US" sz="1350" dirty="0"/>
          </a:p>
        </p:txBody>
      </p:sp>
      <p:sp>
        <p:nvSpPr>
          <p:cNvPr id="11" name="Shape 9"/>
          <p:cNvSpPr/>
          <p:nvPr/>
        </p:nvSpPr>
        <p:spPr>
          <a:xfrm>
            <a:off x="6108192" y="1783080"/>
            <a:ext cx="1316736" cy="914400"/>
          </a:xfrm>
          <a:prstGeom prst="roundRect">
            <a:avLst>
              <a:gd name="adj" fmla="val 8000"/>
            </a:avLst>
          </a:prstGeom>
          <a:solidFill>
            <a:srgbClr val="FF5178"/>
          </a:solidFill>
          <a:ln w="12700">
            <a:solidFill>
              <a:srgbClr val="FF5178"/>
            </a:solidFill>
            <a:prstDash val="solid"/>
          </a:ln>
        </p:spPr>
      </p:sp>
      <p:sp>
        <p:nvSpPr>
          <p:cNvPr id="12" name="Text 10"/>
          <p:cNvSpPr txBox="1"/>
          <p:nvPr/>
        </p:nvSpPr>
        <p:spPr>
          <a:xfrm>
            <a:off x="6163056" y="1783080"/>
            <a:ext cx="1207008" cy="914400"/>
          </a:xfrm>
          <a:prstGeom prst="rect">
            <a:avLst/>
          </a:prstGeom>
          <a:noFill/>
          <a:ln/>
        </p:spPr>
        <p:txBody>
          <a:bodyPr wrap="square" lIns="635" tIns="635" rIns="635" bIns="635" rtlCol="0" anchor="ctr"/>
          <a:lstStyle/>
          <a:p>
            <a:pPr algn="ctr" indent="0" marL="0">
              <a:buNone/>
            </a:pPr>
            <a:r>
              <a:rPr lang="en-US" sz="1350" b="1" dirty="0">
                <a:solidFill>
                  <a:srgbClr val="172849"/>
                </a:solidFill>
                <a:latin typeface="Roboto" pitchFamily="34" charset="0"/>
                <a:ea typeface="Roboto" pitchFamily="34" charset="-122"/>
                <a:cs typeface="Roboto" pitchFamily="34" charset="-120"/>
              </a:rPr>
              <a:t>Đo tiến độ</a:t>
            </a:r>
            <a:endParaRPr lang="en-US" sz="1350" dirty="0"/>
          </a:p>
        </p:txBody>
      </p:sp>
      <p:sp>
        <p:nvSpPr>
          <p:cNvPr id="13" name="Shape 11"/>
          <p:cNvSpPr/>
          <p:nvPr/>
        </p:nvSpPr>
        <p:spPr>
          <a:xfrm>
            <a:off x="7498080" y="1783080"/>
            <a:ext cx="1316736" cy="914400"/>
          </a:xfrm>
          <a:prstGeom prst="roundRect">
            <a:avLst>
              <a:gd name="adj" fmla="val 8000"/>
            </a:avLst>
          </a:prstGeom>
          <a:solidFill>
            <a:srgbClr val="49B296"/>
          </a:solidFill>
          <a:ln w="12700">
            <a:solidFill>
              <a:srgbClr val="49B296"/>
            </a:solidFill>
            <a:prstDash val="solid"/>
          </a:ln>
        </p:spPr>
      </p:sp>
      <p:sp>
        <p:nvSpPr>
          <p:cNvPr id="14" name="Text 12"/>
          <p:cNvSpPr txBox="1"/>
          <p:nvPr/>
        </p:nvSpPr>
        <p:spPr>
          <a:xfrm>
            <a:off x="7552944" y="1783080"/>
            <a:ext cx="1207008" cy="914400"/>
          </a:xfrm>
          <a:prstGeom prst="rect">
            <a:avLst/>
          </a:prstGeom>
          <a:noFill/>
          <a:ln/>
        </p:spPr>
        <p:txBody>
          <a:bodyPr wrap="square" lIns="635" tIns="635" rIns="635" bIns="635" rtlCol="0" anchor="ctr"/>
          <a:lstStyle/>
          <a:p>
            <a:pPr algn="ctr" indent="0" marL="0">
              <a:buNone/>
            </a:pPr>
            <a:r>
              <a:rPr lang="en-US" sz="1350" b="1" dirty="0">
                <a:solidFill>
                  <a:srgbClr val="172849"/>
                </a:solidFill>
                <a:latin typeface="Roboto" pitchFamily="34" charset="0"/>
                <a:ea typeface="Roboto" pitchFamily="34" charset="-122"/>
                <a:cs typeface="Roboto" pitchFamily="34" charset="-120"/>
              </a:rPr>
              <a:t>KPI khi xong</a:t>
            </a:r>
            <a:endParaRPr lang="en-US" sz="1350" dirty="0"/>
          </a:p>
        </p:txBody>
      </p:sp>
      <p:sp>
        <p:nvSpPr>
          <p:cNvPr id="15" name="Shape 13"/>
          <p:cNvSpPr/>
          <p:nvPr/>
        </p:nvSpPr>
        <p:spPr>
          <a:xfrm>
            <a:off x="8887968" y="1783080"/>
            <a:ext cx="1316736" cy="914400"/>
          </a:xfrm>
          <a:prstGeom prst="roundRect">
            <a:avLst>
              <a:gd name="adj" fmla="val 8000"/>
            </a:avLst>
          </a:prstGeom>
          <a:solidFill>
            <a:srgbClr val="FFD23B"/>
          </a:solidFill>
          <a:ln w="12700">
            <a:solidFill>
              <a:srgbClr val="FFD23B"/>
            </a:solidFill>
            <a:prstDash val="solid"/>
          </a:ln>
        </p:spPr>
      </p:sp>
      <p:sp>
        <p:nvSpPr>
          <p:cNvPr id="16" name="Text 14"/>
          <p:cNvSpPr txBox="1"/>
          <p:nvPr/>
        </p:nvSpPr>
        <p:spPr>
          <a:xfrm>
            <a:off x="8942832" y="1783080"/>
            <a:ext cx="1207008" cy="914400"/>
          </a:xfrm>
          <a:prstGeom prst="rect">
            <a:avLst/>
          </a:prstGeom>
          <a:noFill/>
          <a:ln/>
        </p:spPr>
        <p:txBody>
          <a:bodyPr wrap="square" lIns="635" tIns="635" rIns="635" bIns="635" rtlCol="0" anchor="ctr"/>
          <a:lstStyle/>
          <a:p>
            <a:pPr algn="ctr" indent="0" marL="0">
              <a:buNone/>
            </a:pPr>
            <a:r>
              <a:rPr lang="en-US" sz="1350" b="1" dirty="0">
                <a:solidFill>
                  <a:srgbClr val="172849"/>
                </a:solidFill>
                <a:latin typeface="Roboto" pitchFamily="34" charset="0"/>
                <a:ea typeface="Roboto" pitchFamily="34" charset="-122"/>
                <a:cs typeface="Roboto" pitchFamily="34" charset="-120"/>
              </a:rPr>
              <a:t>Hạn</a:t>
            </a:r>
            <a:endParaRPr lang="en-US" sz="1350" dirty="0"/>
          </a:p>
        </p:txBody>
      </p:sp>
      <p:sp>
        <p:nvSpPr>
          <p:cNvPr id="17" name="Shape 15"/>
          <p:cNvSpPr/>
          <p:nvPr/>
        </p:nvSpPr>
        <p:spPr>
          <a:xfrm>
            <a:off x="10277856" y="1783080"/>
            <a:ext cx="1316736" cy="914400"/>
          </a:xfrm>
          <a:prstGeom prst="roundRect">
            <a:avLst>
              <a:gd name="adj" fmla="val 8000"/>
            </a:avLst>
          </a:prstGeom>
          <a:solidFill>
            <a:srgbClr val="FF9259"/>
          </a:solidFill>
          <a:ln w="12700">
            <a:solidFill>
              <a:srgbClr val="FF9259"/>
            </a:solidFill>
            <a:prstDash val="solid"/>
          </a:ln>
        </p:spPr>
      </p:sp>
      <p:sp>
        <p:nvSpPr>
          <p:cNvPr id="18" name="Text 16"/>
          <p:cNvSpPr txBox="1"/>
          <p:nvPr/>
        </p:nvSpPr>
        <p:spPr>
          <a:xfrm>
            <a:off x="10332720" y="1783080"/>
            <a:ext cx="1207008" cy="914400"/>
          </a:xfrm>
          <a:prstGeom prst="rect">
            <a:avLst/>
          </a:prstGeom>
          <a:noFill/>
          <a:ln/>
        </p:spPr>
        <p:txBody>
          <a:bodyPr wrap="square" lIns="635" tIns="635" rIns="635" bIns="635" rtlCol="0" anchor="ctr"/>
          <a:lstStyle/>
          <a:p>
            <a:pPr algn="ctr" indent="0" marL="0">
              <a:buNone/>
            </a:pPr>
            <a:r>
              <a:rPr lang="en-US" sz="1350" b="1" dirty="0">
                <a:solidFill>
                  <a:srgbClr val="172849"/>
                </a:solidFill>
                <a:latin typeface="Roboto" pitchFamily="34" charset="0"/>
                <a:ea typeface="Roboto" pitchFamily="34" charset="-122"/>
                <a:cs typeface="Roboto" pitchFamily="34" charset="-120"/>
              </a:rPr>
              <a:t>Ngày xong</a:t>
            </a:r>
            <a:endParaRPr lang="en-US" sz="1350" dirty="0"/>
          </a:p>
        </p:txBody>
      </p:sp>
      <p:sp>
        <p:nvSpPr>
          <p:cNvPr id="19" name="Shape 17"/>
          <p:cNvSpPr/>
          <p:nvPr/>
        </p:nvSpPr>
        <p:spPr>
          <a:xfrm>
            <a:off x="548640" y="2834640"/>
            <a:ext cx="11091672" cy="1051560"/>
          </a:xfrm>
          <a:prstGeom prst="roundRect">
            <a:avLst>
              <a:gd name="adj" fmla="val 6957"/>
            </a:avLst>
          </a:prstGeom>
          <a:solidFill>
            <a:srgbClr val="22395F"/>
          </a:solidFill>
          <a:ln w="12700">
            <a:solidFill>
              <a:srgbClr val="22395F"/>
            </a:solidFill>
            <a:prstDash val="solid"/>
          </a:ln>
        </p:spPr>
      </p:sp>
      <p:sp>
        <p:nvSpPr>
          <p:cNvPr id="20" name="Text 18"/>
          <p:cNvSpPr txBox="1"/>
          <p:nvPr/>
        </p:nvSpPr>
        <p:spPr>
          <a:xfrm>
            <a:off x="777240" y="2834640"/>
            <a:ext cx="10698480" cy="105156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Ví dụ (GIẢ ĐỊNH): chốt nhà tài trợ đối tác cho chương trình khách hàng cả năm · Account Director · An Phát (Marketing) + nhà tài trợ · 2 người × 3 tuần · bản ghi nhớ ký · hợp đồng có KPI điểm chạm · [hạn] · —</a:t>
            </a:r>
            <a:endParaRPr lang="en-US" sz="1500" dirty="0"/>
          </a:p>
        </p:txBody>
      </p:sp>
      <p:sp>
        <p:nvSpPr>
          <p:cNvPr id="21" name="Shape 19"/>
          <p:cNvSpPr/>
          <p:nvPr/>
        </p:nvSpPr>
        <p:spPr>
          <a:xfrm>
            <a:off x="548640" y="4069080"/>
            <a:ext cx="3557016" cy="1188720"/>
          </a:xfrm>
          <a:prstGeom prst="roundRect">
            <a:avLst>
              <a:gd name="adj" fmla="val 6154"/>
            </a:avLst>
          </a:prstGeom>
          <a:solidFill>
            <a:srgbClr val="22395F"/>
          </a:solidFill>
          <a:ln w="12700">
            <a:solidFill>
              <a:srgbClr val="22395F"/>
            </a:solidFill>
            <a:prstDash val="solid"/>
          </a:ln>
        </p:spPr>
      </p:sp>
      <p:sp>
        <p:nvSpPr>
          <p:cNvPr id="22" name="Shape 20"/>
          <p:cNvSpPr/>
          <p:nvPr/>
        </p:nvSpPr>
        <p:spPr>
          <a:xfrm>
            <a:off x="731520" y="4297680"/>
            <a:ext cx="731520" cy="731520"/>
          </a:xfrm>
          <a:prstGeom prst="ellipse">
            <a:avLst/>
          </a:prstGeom>
          <a:solidFill>
            <a:srgbClr val="49B296"/>
          </a:solidFill>
          <a:ln w="12700">
            <a:solidFill>
              <a:srgbClr val="49B296"/>
            </a:solidFill>
            <a:prstDash val="solid"/>
          </a:ln>
        </p:spPr>
      </p:sp>
      <p:sp>
        <p:nvSpPr>
          <p:cNvPr id="23" name="Text 21"/>
          <p:cNvSpPr txBox="1"/>
          <p:nvPr/>
        </p:nvSpPr>
        <p:spPr>
          <a:xfrm>
            <a:off x="731520" y="4297680"/>
            <a:ext cx="731520" cy="731520"/>
          </a:xfrm>
          <a:prstGeom prst="rect">
            <a:avLst/>
          </a:prstGeom>
          <a:noFill/>
          <a:ln/>
        </p:spPr>
        <p:txBody>
          <a:bodyPr wrap="square" lIns="0" tIns="0" rIns="0" bIns="0"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D1</a:t>
            </a:r>
            <a:endParaRPr lang="en-US" sz="1600" dirty="0"/>
          </a:p>
        </p:txBody>
      </p:sp>
      <p:sp>
        <p:nvSpPr>
          <p:cNvPr id="24" name="Text 22"/>
          <p:cNvSpPr txBox="1"/>
          <p:nvPr/>
        </p:nvSpPr>
        <p:spPr>
          <a:xfrm>
            <a:off x="1600200" y="4069080"/>
            <a:ext cx="2377440" cy="118872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Kế hoạch hành động — các cột trên</a:t>
            </a:r>
            <a:endParaRPr lang="en-US" sz="1500" dirty="0"/>
          </a:p>
        </p:txBody>
      </p:sp>
      <p:sp>
        <p:nvSpPr>
          <p:cNvPr id="25" name="Shape 23"/>
          <p:cNvSpPr/>
          <p:nvPr/>
        </p:nvSpPr>
        <p:spPr>
          <a:xfrm>
            <a:off x="4315968" y="4069080"/>
            <a:ext cx="3557016" cy="1188720"/>
          </a:xfrm>
          <a:prstGeom prst="roundRect">
            <a:avLst>
              <a:gd name="adj" fmla="val 6154"/>
            </a:avLst>
          </a:prstGeom>
          <a:solidFill>
            <a:srgbClr val="22395F"/>
          </a:solidFill>
          <a:ln w="12700">
            <a:solidFill>
              <a:srgbClr val="22395F"/>
            </a:solidFill>
            <a:prstDash val="solid"/>
          </a:ln>
        </p:spPr>
      </p:sp>
      <p:sp>
        <p:nvSpPr>
          <p:cNvPr id="26" name="Shape 24"/>
          <p:cNvSpPr/>
          <p:nvPr/>
        </p:nvSpPr>
        <p:spPr>
          <a:xfrm>
            <a:off x="4498848" y="4297680"/>
            <a:ext cx="731520" cy="731520"/>
          </a:xfrm>
          <a:prstGeom prst="ellipse">
            <a:avLst/>
          </a:prstGeom>
          <a:solidFill>
            <a:srgbClr val="FF9259"/>
          </a:solidFill>
          <a:ln w="12700">
            <a:solidFill>
              <a:srgbClr val="FF9259"/>
            </a:solidFill>
            <a:prstDash val="solid"/>
          </a:ln>
        </p:spPr>
      </p:sp>
      <p:sp>
        <p:nvSpPr>
          <p:cNvPr id="27" name="Text 25"/>
          <p:cNvSpPr txBox="1"/>
          <p:nvPr/>
        </p:nvSpPr>
        <p:spPr>
          <a:xfrm>
            <a:off x="4498848" y="4297680"/>
            <a:ext cx="731520" cy="731520"/>
          </a:xfrm>
          <a:prstGeom prst="rect">
            <a:avLst/>
          </a:prstGeom>
          <a:noFill/>
          <a:ln/>
        </p:spPr>
        <p:txBody>
          <a:bodyPr wrap="square" lIns="0" tIns="0" rIns="0" bIns="0"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D2</a:t>
            </a:r>
            <a:endParaRPr lang="en-US" sz="1600" dirty="0"/>
          </a:p>
        </p:txBody>
      </p:sp>
      <p:sp>
        <p:nvSpPr>
          <p:cNvPr id="28" name="Text 26"/>
          <p:cNvSpPr txBox="1"/>
          <p:nvPr/>
        </p:nvSpPr>
        <p:spPr>
          <a:xfrm>
            <a:off x="5367528" y="4069080"/>
            <a:ext cx="2377440" cy="118872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Giao và ghi nhận giá trị cho cả hai bên</a:t>
            </a:r>
            <a:endParaRPr lang="en-US" sz="1500" dirty="0"/>
          </a:p>
        </p:txBody>
      </p:sp>
      <p:sp>
        <p:nvSpPr>
          <p:cNvPr id="29" name="Shape 27"/>
          <p:cNvSpPr/>
          <p:nvPr/>
        </p:nvSpPr>
        <p:spPr>
          <a:xfrm>
            <a:off x="8083296" y="4069080"/>
            <a:ext cx="3557016" cy="1188720"/>
          </a:xfrm>
          <a:prstGeom prst="roundRect">
            <a:avLst>
              <a:gd name="adj" fmla="val 6154"/>
            </a:avLst>
          </a:prstGeom>
          <a:solidFill>
            <a:srgbClr val="22395F"/>
          </a:solidFill>
          <a:ln w="12700">
            <a:solidFill>
              <a:srgbClr val="22395F"/>
            </a:solidFill>
            <a:prstDash val="solid"/>
          </a:ln>
        </p:spPr>
      </p:sp>
      <p:sp>
        <p:nvSpPr>
          <p:cNvPr id="30" name="Shape 28"/>
          <p:cNvSpPr/>
          <p:nvPr/>
        </p:nvSpPr>
        <p:spPr>
          <a:xfrm>
            <a:off x="8266176" y="4297680"/>
            <a:ext cx="731520" cy="731520"/>
          </a:xfrm>
          <a:prstGeom prst="ellipse">
            <a:avLst/>
          </a:prstGeom>
          <a:solidFill>
            <a:srgbClr val="FFD23B"/>
          </a:solidFill>
          <a:ln w="12700">
            <a:solidFill>
              <a:srgbClr val="FFD23B"/>
            </a:solidFill>
            <a:prstDash val="solid"/>
          </a:ln>
        </p:spPr>
      </p:sp>
      <p:sp>
        <p:nvSpPr>
          <p:cNvPr id="31" name="Text 29"/>
          <p:cNvSpPr txBox="1"/>
          <p:nvPr/>
        </p:nvSpPr>
        <p:spPr>
          <a:xfrm>
            <a:off x="8266176" y="4297680"/>
            <a:ext cx="731520" cy="731520"/>
          </a:xfrm>
          <a:prstGeom prst="rect">
            <a:avLst/>
          </a:prstGeom>
          <a:noFill/>
          <a:ln/>
        </p:spPr>
        <p:txBody>
          <a:bodyPr wrap="square" lIns="0" tIns="0" rIns="0" bIns="0"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D3</a:t>
            </a:r>
            <a:endParaRPr lang="en-US" sz="1600" dirty="0"/>
          </a:p>
        </p:txBody>
      </p:sp>
      <p:sp>
        <p:nvSpPr>
          <p:cNvPr id="32" name="Text 30"/>
          <p:cNvSpPr txBox="1"/>
          <p:nvPr/>
        </p:nvSpPr>
        <p:spPr>
          <a:xfrm>
            <a:off x="9134856" y="4069080"/>
            <a:ext cx="2377440" cy="118872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Tài chính — dự phóng khoảng ba năm</a:t>
            </a:r>
            <a:endParaRPr lang="en-US" sz="1500" dirty="0"/>
          </a:p>
        </p:txBody>
      </p:sp>
      <p:sp>
        <p:nvSpPr>
          <p:cNvPr id="33" name="Text 31"/>
          <p:cNvSpPr txBox="1"/>
          <p:nvPr/>
        </p:nvSpPr>
        <p:spPr>
          <a:xfrm>
            <a:off x="548640" y="54864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81–82), mục D.1–D.3. Ví dụ là GIẢ ĐỊNH; [hạn] do nhóm điền theo lịch của khách hàng.</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Phần D, mảnh 1: quản trị quan hệ với Key Account (tiêu chí 5 — 8%)</a:t>
            </a:r>
            <a:endParaRPr lang="en-US" sz="2800" dirty="0"/>
          </a:p>
        </p:txBody>
      </p:sp>
      <p:sp>
        <p:nvSpPr>
          <p:cNvPr id="3" name="Shape 1"/>
          <p:cNvSpPr/>
          <p:nvPr/>
        </p:nvSpPr>
        <p:spPr>
          <a:xfrm>
            <a:off x="548640" y="1783080"/>
            <a:ext cx="2651760" cy="3566160"/>
          </a:xfrm>
          <a:prstGeom prst="roundRect">
            <a:avLst>
              <a:gd name="adj" fmla="val 2759"/>
            </a:avLst>
          </a:prstGeom>
          <a:solidFill>
            <a:srgbClr val="22395F"/>
          </a:solidFill>
          <a:ln w="12700">
            <a:solidFill>
              <a:srgbClr val="22395F"/>
            </a:solidFill>
            <a:prstDash val="solid"/>
          </a:ln>
        </p:spPr>
      </p:sp>
      <p:sp>
        <p:nvSpPr>
          <p:cNvPr id="4" name="Shape 2"/>
          <p:cNvSpPr/>
          <p:nvPr/>
        </p:nvSpPr>
        <p:spPr>
          <a:xfrm>
            <a:off x="1417320" y="192024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618488" y="2121408"/>
            <a:ext cx="512064" cy="512064"/>
          </a:xfrm>
          <a:prstGeom prst="rect">
            <a:avLst/>
          </a:prstGeom>
        </p:spPr>
      </p:pic>
      <p:sp>
        <p:nvSpPr>
          <p:cNvPr id="6" name="Text 3"/>
          <p:cNvSpPr txBox="1"/>
          <p:nvPr/>
        </p:nvSpPr>
        <p:spPr>
          <a:xfrm>
            <a:off x="685800" y="2926080"/>
            <a:ext cx="2377440" cy="548640"/>
          </a:xfrm>
          <a:prstGeom prst="rect">
            <a:avLst/>
          </a:prstGeom>
          <a:noFill/>
          <a:ln/>
        </p:spPr>
        <p:txBody>
          <a:bodyPr wrap="square" lIns="635" tIns="635" rIns="635" bIns="635" rtlCol="0" anchor="ctr"/>
          <a:lstStyle/>
          <a:p>
            <a:pPr algn="ctr" indent="0" marL="0">
              <a:buNone/>
            </a:pPr>
            <a:r>
              <a:rPr lang="en-US" sz="1650" b="1" dirty="0">
                <a:solidFill>
                  <a:srgbClr val="49B296"/>
                </a:solidFill>
                <a:latin typeface="Roboto" pitchFamily="34" charset="0"/>
                <a:ea typeface="Roboto" pitchFamily="34" charset="-122"/>
                <a:cs typeface="Roboto" pitchFamily="34" charset="-120"/>
              </a:rPr>
              <a:t>Mua sắm, đàm phán</a:t>
            </a:r>
            <a:endParaRPr lang="en-US" sz="1650" dirty="0"/>
          </a:p>
        </p:txBody>
      </p:sp>
      <p:sp>
        <p:nvSpPr>
          <p:cNvPr id="7" name="Text 4"/>
          <p:cNvSpPr txBox="1"/>
          <p:nvPr/>
        </p:nvSpPr>
        <p:spPr>
          <a:xfrm>
            <a:off x="731520" y="3474720"/>
            <a:ext cx="2286000" cy="146304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Kraljic: khách hàng mua dịch vụ của ta thế nào; chiến lược đàm phán</a:t>
            </a:r>
            <a:endParaRPr lang="en-US" sz="1450" dirty="0"/>
          </a:p>
        </p:txBody>
      </p:sp>
      <p:sp>
        <p:nvSpPr>
          <p:cNvPr id="8" name="Text 5"/>
          <p:cNvSpPr txBox="1"/>
          <p:nvPr/>
        </p:nvSpPr>
        <p:spPr>
          <a:xfrm>
            <a:off x="548640" y="4983480"/>
            <a:ext cx="2651760" cy="3200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Buổi 7</a:t>
            </a:r>
            <a:endParaRPr lang="en-US" sz="1200" dirty="0"/>
          </a:p>
        </p:txBody>
      </p:sp>
      <p:sp>
        <p:nvSpPr>
          <p:cNvPr id="9" name="Shape 6"/>
          <p:cNvSpPr/>
          <p:nvPr/>
        </p:nvSpPr>
        <p:spPr>
          <a:xfrm>
            <a:off x="3364992" y="1783080"/>
            <a:ext cx="2651760" cy="3566160"/>
          </a:xfrm>
          <a:prstGeom prst="roundRect">
            <a:avLst>
              <a:gd name="adj" fmla="val 2759"/>
            </a:avLst>
          </a:prstGeom>
          <a:solidFill>
            <a:srgbClr val="22395F"/>
          </a:solidFill>
          <a:ln w="12700">
            <a:solidFill>
              <a:srgbClr val="22395F"/>
            </a:solidFill>
            <a:prstDash val="solid"/>
          </a:ln>
        </p:spPr>
      </p:sp>
      <p:sp>
        <p:nvSpPr>
          <p:cNvPr id="10" name="Shape 7"/>
          <p:cNvSpPr/>
          <p:nvPr/>
        </p:nvSpPr>
        <p:spPr>
          <a:xfrm>
            <a:off x="4233672" y="1920240"/>
            <a:ext cx="914400" cy="914400"/>
          </a:xfrm>
          <a:prstGeom prst="ellipse">
            <a:avLst/>
          </a:prstGeom>
          <a:solidFill>
            <a:srgbClr val="09A1E5"/>
          </a:solidFill>
          <a:ln w="12700">
            <a:solidFill>
              <a:srgbClr val="09A1E5"/>
            </a:solidFill>
            <a:prstDash val="solid"/>
          </a:ln>
        </p:spPr>
      </p:sp>
      <p:pic>
        <p:nvPicPr>
          <p:cNvPr id="11" name="Image 1" descr="preencoded.png">    </p:cNvPr>
          <p:cNvPicPr>
            <a:picLocks noChangeAspect="1"/>
          </p:cNvPicPr>
          <p:nvPr/>
        </p:nvPicPr>
        <p:blipFill>
          <a:blip r:embed="rId2"/>
          <a:stretch>
            <a:fillRect/>
          </a:stretch>
        </p:blipFill>
        <p:spPr>
          <a:xfrm>
            <a:off x="4434840" y="2121408"/>
            <a:ext cx="512064" cy="512064"/>
          </a:xfrm>
          <a:prstGeom prst="rect">
            <a:avLst/>
          </a:prstGeom>
        </p:spPr>
      </p:pic>
      <p:sp>
        <p:nvSpPr>
          <p:cNvPr id="12" name="Text 8"/>
          <p:cNvSpPr txBox="1"/>
          <p:nvPr/>
        </p:nvSpPr>
        <p:spPr>
          <a:xfrm>
            <a:off x="3502152" y="2926080"/>
            <a:ext cx="2377440" cy="548640"/>
          </a:xfrm>
          <a:prstGeom prst="rect">
            <a:avLst/>
          </a:prstGeom>
          <a:noFill/>
          <a:ln/>
        </p:spPr>
        <p:txBody>
          <a:bodyPr wrap="square" lIns="635" tIns="635" rIns="635" bIns="635" rtlCol="0" anchor="ctr"/>
          <a:lstStyle/>
          <a:p>
            <a:pPr algn="ctr" indent="0" marL="0">
              <a:buNone/>
            </a:pPr>
            <a:r>
              <a:rPr lang="en-US" sz="1650" b="1" dirty="0">
                <a:solidFill>
                  <a:srgbClr val="09A1E5"/>
                </a:solidFill>
                <a:latin typeface="Roboto" pitchFamily="34" charset="0"/>
                <a:ea typeface="Roboto" pitchFamily="34" charset="-122"/>
                <a:cs typeface="Roboto" pitchFamily="34" charset="-120"/>
              </a:rPr>
              <a:t>Tiếp xúc nhiều cấp</a:t>
            </a:r>
            <a:endParaRPr lang="en-US" sz="1650" dirty="0"/>
          </a:p>
        </p:txBody>
      </p:sp>
      <p:sp>
        <p:nvSpPr>
          <p:cNvPr id="13" name="Text 9"/>
          <p:cNvSpPr txBox="1"/>
          <p:nvPr/>
        </p:nvSpPr>
        <p:spPr>
          <a:xfrm>
            <a:off x="3547872" y="3474720"/>
            <a:ext cx="2286000" cy="146304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Bow-tie → Diamond: cặp đối ứng, nhịp gặp</a:t>
            </a:r>
            <a:endParaRPr lang="en-US" sz="1450" dirty="0"/>
          </a:p>
        </p:txBody>
      </p:sp>
      <p:sp>
        <p:nvSpPr>
          <p:cNvPr id="14" name="Text 10"/>
          <p:cNvSpPr txBox="1"/>
          <p:nvPr/>
        </p:nvSpPr>
        <p:spPr>
          <a:xfrm>
            <a:off x="3364992" y="4983480"/>
            <a:ext cx="2651760" cy="3200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Buổi 8</a:t>
            </a:r>
            <a:endParaRPr lang="en-US" sz="1200" dirty="0"/>
          </a:p>
        </p:txBody>
      </p:sp>
      <p:sp>
        <p:nvSpPr>
          <p:cNvPr id="15" name="Shape 11"/>
          <p:cNvSpPr/>
          <p:nvPr/>
        </p:nvSpPr>
        <p:spPr>
          <a:xfrm>
            <a:off x="6181344" y="1783080"/>
            <a:ext cx="2651760" cy="3566160"/>
          </a:xfrm>
          <a:prstGeom prst="roundRect">
            <a:avLst>
              <a:gd name="adj" fmla="val 2759"/>
            </a:avLst>
          </a:prstGeom>
          <a:solidFill>
            <a:srgbClr val="22395F"/>
          </a:solidFill>
          <a:ln w="12700">
            <a:solidFill>
              <a:srgbClr val="22395F"/>
            </a:solidFill>
            <a:prstDash val="solid"/>
          </a:ln>
        </p:spPr>
      </p:sp>
      <p:sp>
        <p:nvSpPr>
          <p:cNvPr id="16" name="Shape 12"/>
          <p:cNvSpPr/>
          <p:nvPr/>
        </p:nvSpPr>
        <p:spPr>
          <a:xfrm>
            <a:off x="7050024" y="1920240"/>
            <a:ext cx="914400" cy="914400"/>
          </a:xfrm>
          <a:prstGeom prst="ellipse">
            <a:avLst/>
          </a:prstGeom>
          <a:solidFill>
            <a:srgbClr val="FFD23B"/>
          </a:solidFill>
          <a:ln w="12700">
            <a:solidFill>
              <a:srgbClr val="FFD23B"/>
            </a:solidFill>
            <a:prstDash val="solid"/>
          </a:ln>
        </p:spPr>
      </p:sp>
      <p:pic>
        <p:nvPicPr>
          <p:cNvPr id="17" name="Image 2" descr="preencoded.png">    </p:cNvPr>
          <p:cNvPicPr>
            <a:picLocks noChangeAspect="1"/>
          </p:cNvPicPr>
          <p:nvPr/>
        </p:nvPicPr>
        <p:blipFill>
          <a:blip r:embed="rId3"/>
          <a:stretch>
            <a:fillRect/>
          </a:stretch>
        </p:blipFill>
        <p:spPr>
          <a:xfrm>
            <a:off x="7251192" y="2121408"/>
            <a:ext cx="512064" cy="512064"/>
          </a:xfrm>
          <a:prstGeom prst="rect">
            <a:avLst/>
          </a:prstGeom>
        </p:spPr>
      </p:pic>
      <p:sp>
        <p:nvSpPr>
          <p:cNvPr id="18" name="Text 13"/>
          <p:cNvSpPr txBox="1"/>
          <p:nvPr/>
        </p:nvSpPr>
        <p:spPr>
          <a:xfrm>
            <a:off x="6318504" y="2926080"/>
            <a:ext cx="2377440" cy="548640"/>
          </a:xfrm>
          <a:prstGeom prst="rect">
            <a:avLst/>
          </a:prstGeom>
          <a:noFill/>
          <a:ln/>
        </p:spPr>
        <p:txBody>
          <a:bodyPr wrap="square" lIns="635" tIns="635" rIns="635" bIns="635" rtlCol="0" anchor="ctr"/>
          <a:lstStyle/>
          <a:p>
            <a:pPr algn="ctr" indent="0" marL="0">
              <a:buNone/>
            </a:pPr>
            <a:r>
              <a:rPr lang="en-US" sz="1650" b="1" dirty="0">
                <a:solidFill>
                  <a:srgbClr val="FFD23B"/>
                </a:solidFill>
                <a:latin typeface="Roboto" pitchFamily="34" charset="0"/>
                <a:ea typeface="Roboto" pitchFamily="34" charset="-122"/>
                <a:cs typeface="Roboto" pitchFamily="34" charset="-120"/>
              </a:rPr>
              <a:t>Chỉ số</a:t>
            </a:r>
            <a:endParaRPr lang="en-US" sz="1650" dirty="0"/>
          </a:p>
        </p:txBody>
      </p:sp>
      <p:sp>
        <p:nvSpPr>
          <p:cNvPr id="19" name="Text 14"/>
          <p:cNvSpPr txBox="1"/>
          <p:nvPr/>
        </p:nvSpPr>
        <p:spPr>
          <a:xfrm>
            <a:off x="6364224" y="3474720"/>
            <a:ext cx="2286000" cy="146304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Kết quả + quá trình; ROI 6 cấp (0–3 agency cam kết, 4–5 đo cùng khách)</a:t>
            </a:r>
            <a:endParaRPr lang="en-US" sz="1450" dirty="0"/>
          </a:p>
        </p:txBody>
      </p:sp>
      <p:sp>
        <p:nvSpPr>
          <p:cNvPr id="20" name="Text 15"/>
          <p:cNvSpPr txBox="1"/>
          <p:nvPr/>
        </p:nvSpPr>
        <p:spPr>
          <a:xfrm>
            <a:off x="6181344" y="4983480"/>
            <a:ext cx="2651760" cy="3200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Buổi 8</a:t>
            </a:r>
            <a:endParaRPr lang="en-US" sz="1200" dirty="0"/>
          </a:p>
        </p:txBody>
      </p:sp>
      <p:sp>
        <p:nvSpPr>
          <p:cNvPr id="21" name="Shape 16"/>
          <p:cNvSpPr/>
          <p:nvPr/>
        </p:nvSpPr>
        <p:spPr>
          <a:xfrm>
            <a:off x="8997696" y="1783080"/>
            <a:ext cx="2651760" cy="3566160"/>
          </a:xfrm>
          <a:prstGeom prst="roundRect">
            <a:avLst>
              <a:gd name="adj" fmla="val 2759"/>
            </a:avLst>
          </a:prstGeom>
          <a:solidFill>
            <a:srgbClr val="22395F"/>
          </a:solidFill>
          <a:ln w="12700">
            <a:solidFill>
              <a:srgbClr val="22395F"/>
            </a:solidFill>
            <a:prstDash val="solid"/>
          </a:ln>
        </p:spPr>
      </p:sp>
      <p:sp>
        <p:nvSpPr>
          <p:cNvPr id="22" name="Shape 17"/>
          <p:cNvSpPr/>
          <p:nvPr/>
        </p:nvSpPr>
        <p:spPr>
          <a:xfrm>
            <a:off x="9866376" y="1920240"/>
            <a:ext cx="914400" cy="914400"/>
          </a:xfrm>
          <a:prstGeom prst="ellipse">
            <a:avLst/>
          </a:prstGeom>
          <a:solidFill>
            <a:srgbClr val="FF5178"/>
          </a:solidFill>
          <a:ln w="12700">
            <a:solidFill>
              <a:srgbClr val="FF5178"/>
            </a:solidFill>
            <a:prstDash val="solid"/>
          </a:ln>
        </p:spPr>
      </p:sp>
      <p:pic>
        <p:nvPicPr>
          <p:cNvPr id="23" name="Image 3" descr="preencoded.png">    </p:cNvPr>
          <p:cNvPicPr>
            <a:picLocks noChangeAspect="1"/>
          </p:cNvPicPr>
          <p:nvPr/>
        </p:nvPicPr>
        <p:blipFill>
          <a:blip r:embed="rId4"/>
          <a:stretch>
            <a:fillRect/>
          </a:stretch>
        </p:blipFill>
        <p:spPr>
          <a:xfrm>
            <a:off x="10067544" y="2121408"/>
            <a:ext cx="512064" cy="512064"/>
          </a:xfrm>
          <a:prstGeom prst="rect">
            <a:avLst/>
          </a:prstGeom>
        </p:spPr>
      </p:pic>
      <p:sp>
        <p:nvSpPr>
          <p:cNvPr id="24" name="Text 18"/>
          <p:cNvSpPr txBox="1"/>
          <p:nvPr/>
        </p:nvSpPr>
        <p:spPr>
          <a:xfrm>
            <a:off x="9134856" y="2926080"/>
            <a:ext cx="2377440" cy="548640"/>
          </a:xfrm>
          <a:prstGeom prst="rect">
            <a:avLst/>
          </a:prstGeom>
          <a:noFill/>
          <a:ln/>
        </p:spPr>
        <p:txBody>
          <a:bodyPr wrap="square" lIns="635" tIns="635" rIns="635" bIns="635" rtlCol="0" anchor="ctr"/>
          <a:lstStyle/>
          <a:p>
            <a:pPr algn="ctr" indent="0" marL="0">
              <a:buNone/>
            </a:pPr>
            <a:r>
              <a:rPr lang="en-US" sz="1650" b="1" dirty="0">
                <a:solidFill>
                  <a:srgbClr val="FF5178"/>
                </a:solidFill>
                <a:latin typeface="Roboto" pitchFamily="34" charset="0"/>
                <a:ea typeface="Roboto" pitchFamily="34" charset="-122"/>
                <a:cs typeface="Roboto" pitchFamily="34" charset="-120"/>
              </a:rPr>
              <a:t>Đánh giá chung</a:t>
            </a:r>
            <a:endParaRPr lang="en-US" sz="1650" dirty="0"/>
          </a:p>
        </p:txBody>
      </p:sp>
      <p:sp>
        <p:nvSpPr>
          <p:cNvPr id="25" name="Text 19"/>
          <p:cNvSpPr txBox="1"/>
          <p:nvPr/>
        </p:nvSpPr>
        <p:spPr>
          <a:xfrm>
            <a:off x="9180576" y="3474720"/>
            <a:ext cx="2286000" cy="146304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Họp hai bên định kỳ, hai chiều</a:t>
            </a:r>
            <a:endParaRPr lang="en-US" sz="1450" dirty="0"/>
          </a:p>
        </p:txBody>
      </p:sp>
      <p:sp>
        <p:nvSpPr>
          <p:cNvPr id="26" name="Text 20"/>
          <p:cNvSpPr txBox="1"/>
          <p:nvPr/>
        </p:nvSpPr>
        <p:spPr>
          <a:xfrm>
            <a:off x="8997696" y="4983480"/>
            <a:ext cx="2651760" cy="3200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Buổi 8</a:t>
            </a:r>
            <a:endParaRPr lang="en-US" sz="1200" dirty="0"/>
          </a:p>
        </p:txBody>
      </p:sp>
      <p:sp>
        <p:nvSpPr>
          <p:cNvPr id="27" name="Shape 21"/>
          <p:cNvSpPr/>
          <p:nvPr/>
        </p:nvSpPr>
        <p:spPr>
          <a:xfrm>
            <a:off x="548640" y="5532120"/>
            <a:ext cx="11091672" cy="640080"/>
          </a:xfrm>
          <a:prstGeom prst="roundRect">
            <a:avLst>
              <a:gd name="adj" fmla="val 11429"/>
            </a:avLst>
          </a:prstGeom>
          <a:solidFill>
            <a:srgbClr val="FFD23B"/>
          </a:solidFill>
          <a:ln w="12700">
            <a:solidFill>
              <a:srgbClr val="FFD23B"/>
            </a:solidFill>
            <a:prstDash val="solid"/>
          </a:ln>
        </p:spPr>
      </p:sp>
      <p:sp>
        <p:nvSpPr>
          <p:cNvPr id="28" name="Text 22"/>
          <p:cNvSpPr txBox="1"/>
          <p:nvPr/>
        </p:nvSpPr>
        <p:spPr>
          <a:xfrm>
            <a:off x="731520" y="5532120"/>
            <a:ext cx="10698480" cy="64008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Mức Kém của rubric: chỉ số yếu — chỉ đo “hài lòng”. Mức Xuất sắc: tiếp xúc nhiều cấp, chỉ số đo được, có lịch đánh giá chung.</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Phần D, mảnh 2: mỗi bên liên quan bên ngoài trả lời bốn câu (tiêu chí 6 — 10%)</a:t>
            </a:r>
            <a:endParaRPr lang="en-US" sz="2800" dirty="0"/>
          </a:p>
        </p:txBody>
      </p:sp>
      <p:sp>
        <p:nvSpPr>
          <p:cNvPr id="3" name="Shape 1"/>
          <p:cNvSpPr/>
          <p:nvPr/>
        </p:nvSpPr>
        <p:spPr>
          <a:xfrm>
            <a:off x="548640" y="1783080"/>
            <a:ext cx="731520" cy="731520"/>
          </a:xfrm>
          <a:prstGeom prst="ellipse">
            <a:avLst/>
          </a:prstGeom>
          <a:solidFill>
            <a:srgbClr val="49B296"/>
          </a:solidFill>
          <a:ln w="12700">
            <a:solidFill>
              <a:srgbClr val="49B296"/>
            </a:solidFill>
            <a:prstDash val="solid"/>
          </a:ln>
        </p:spPr>
      </p:sp>
      <p:sp>
        <p:nvSpPr>
          <p:cNvPr id="4" name="Text 2"/>
          <p:cNvSpPr txBox="1"/>
          <p:nvPr/>
        </p:nvSpPr>
        <p:spPr>
          <a:xfrm>
            <a:off x="548640" y="178308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1</a:t>
            </a:r>
            <a:endParaRPr lang="en-US" sz="2200" dirty="0"/>
          </a:p>
        </p:txBody>
      </p:sp>
      <p:sp>
        <p:nvSpPr>
          <p:cNvPr id="5" name="Shape 3"/>
          <p:cNvSpPr/>
          <p:nvPr/>
        </p:nvSpPr>
        <p:spPr>
          <a:xfrm>
            <a:off x="1463040" y="1783080"/>
            <a:ext cx="10177272" cy="731520"/>
          </a:xfrm>
          <a:prstGeom prst="roundRect">
            <a:avLst>
              <a:gd name="adj" fmla="val 10000"/>
            </a:avLst>
          </a:prstGeom>
          <a:solidFill>
            <a:srgbClr val="22395F"/>
          </a:solidFill>
          <a:ln w="12700">
            <a:solidFill>
              <a:srgbClr val="22395F"/>
            </a:solidFill>
            <a:prstDash val="solid"/>
          </a:ln>
        </p:spPr>
      </p:sp>
      <p:sp>
        <p:nvSpPr>
          <p:cNvPr id="6" name="Text 4"/>
          <p:cNvSpPr txBox="1"/>
          <p:nvPr/>
        </p:nvSpPr>
        <p:spPr>
          <a:xfrm>
            <a:off x="1691640" y="1783080"/>
            <a:ext cx="3657600" cy="73152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Gắn vào điểm chạm nào?</a:t>
            </a:r>
            <a:endParaRPr lang="en-US" sz="1800" dirty="0"/>
          </a:p>
        </p:txBody>
      </p:sp>
      <p:sp>
        <p:nvSpPr>
          <p:cNvPr id="7" name="Text 5"/>
          <p:cNvSpPr txBox="1"/>
          <p:nvPr/>
        </p:nvSpPr>
        <p:spPr>
          <a:xfrm>
            <a:off x="5394960" y="1783080"/>
            <a:ext cx="603504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Trước – trong – sau; đối tác sở hữu hay bên ngoài</a:t>
            </a:r>
            <a:endParaRPr lang="en-US" sz="1600" dirty="0"/>
          </a:p>
        </p:txBody>
      </p:sp>
      <p:sp>
        <p:nvSpPr>
          <p:cNvPr id="8" name="Shape 6"/>
          <p:cNvSpPr/>
          <p:nvPr/>
        </p:nvSpPr>
        <p:spPr>
          <a:xfrm>
            <a:off x="548640" y="2651760"/>
            <a:ext cx="731520" cy="731520"/>
          </a:xfrm>
          <a:prstGeom prst="ellipse">
            <a:avLst/>
          </a:prstGeom>
          <a:solidFill>
            <a:srgbClr val="FFD23B"/>
          </a:solidFill>
          <a:ln w="12700">
            <a:solidFill>
              <a:srgbClr val="FFD23B"/>
            </a:solidFill>
            <a:prstDash val="solid"/>
          </a:ln>
        </p:spPr>
      </p:sp>
      <p:sp>
        <p:nvSpPr>
          <p:cNvPr id="9" name="Text 7"/>
          <p:cNvSpPr txBox="1"/>
          <p:nvPr/>
        </p:nvSpPr>
        <p:spPr>
          <a:xfrm>
            <a:off x="548640" y="265176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2</a:t>
            </a:r>
            <a:endParaRPr lang="en-US" sz="2200" dirty="0"/>
          </a:p>
        </p:txBody>
      </p:sp>
      <p:sp>
        <p:nvSpPr>
          <p:cNvPr id="10" name="Shape 8"/>
          <p:cNvSpPr/>
          <p:nvPr/>
        </p:nvSpPr>
        <p:spPr>
          <a:xfrm>
            <a:off x="1463040" y="2651760"/>
            <a:ext cx="10177272" cy="731520"/>
          </a:xfrm>
          <a:prstGeom prst="roundRect">
            <a:avLst>
              <a:gd name="adj" fmla="val 10000"/>
            </a:avLst>
          </a:prstGeom>
          <a:solidFill>
            <a:srgbClr val="22395F"/>
          </a:solidFill>
          <a:ln w="12700">
            <a:solidFill>
              <a:srgbClr val="22395F"/>
            </a:solidFill>
            <a:prstDash val="solid"/>
          </a:ln>
        </p:spPr>
      </p:sp>
      <p:sp>
        <p:nvSpPr>
          <p:cNvPr id="11" name="Text 9"/>
          <p:cNvSpPr txBox="1"/>
          <p:nvPr/>
        </p:nvSpPr>
        <p:spPr>
          <a:xfrm>
            <a:off x="1691640" y="2651760"/>
            <a:ext cx="3657600" cy="73152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Tạo giá trị gì?</a:t>
            </a:r>
            <a:endParaRPr lang="en-US" sz="1800" dirty="0"/>
          </a:p>
        </p:txBody>
      </p:sp>
      <p:sp>
        <p:nvSpPr>
          <p:cNvPr id="12" name="Text 10"/>
          <p:cNvSpPr txBox="1"/>
          <p:nvPr/>
        </p:nvSpPr>
        <p:spPr>
          <a:xfrm>
            <a:off x="5394960" y="2651760"/>
            <a:ext cx="603504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…cho khách của Key Account</a:t>
            </a:r>
            <a:endParaRPr lang="en-US" sz="1600" dirty="0"/>
          </a:p>
        </p:txBody>
      </p:sp>
      <p:sp>
        <p:nvSpPr>
          <p:cNvPr id="13" name="Shape 11"/>
          <p:cNvSpPr/>
          <p:nvPr/>
        </p:nvSpPr>
        <p:spPr>
          <a:xfrm>
            <a:off x="548640" y="3520440"/>
            <a:ext cx="731520" cy="731520"/>
          </a:xfrm>
          <a:prstGeom prst="ellipse">
            <a:avLst/>
          </a:prstGeom>
          <a:solidFill>
            <a:srgbClr val="09A1E5"/>
          </a:solidFill>
          <a:ln w="12700">
            <a:solidFill>
              <a:srgbClr val="09A1E5"/>
            </a:solidFill>
            <a:prstDash val="solid"/>
          </a:ln>
        </p:spPr>
      </p:sp>
      <p:sp>
        <p:nvSpPr>
          <p:cNvPr id="14" name="Text 12"/>
          <p:cNvSpPr txBox="1"/>
          <p:nvPr/>
        </p:nvSpPr>
        <p:spPr>
          <a:xfrm>
            <a:off x="548640" y="352044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3</a:t>
            </a:r>
            <a:endParaRPr lang="en-US" sz="2200" dirty="0"/>
          </a:p>
        </p:txBody>
      </p:sp>
      <p:sp>
        <p:nvSpPr>
          <p:cNvPr id="15" name="Shape 13"/>
          <p:cNvSpPr/>
          <p:nvPr/>
        </p:nvSpPr>
        <p:spPr>
          <a:xfrm>
            <a:off x="1463040" y="3520440"/>
            <a:ext cx="10177272" cy="731520"/>
          </a:xfrm>
          <a:prstGeom prst="roundRect">
            <a:avLst>
              <a:gd name="adj" fmla="val 10000"/>
            </a:avLst>
          </a:prstGeom>
          <a:solidFill>
            <a:srgbClr val="22395F"/>
          </a:solidFill>
          <a:ln w="12700">
            <a:solidFill>
              <a:srgbClr val="22395F"/>
            </a:solidFill>
            <a:prstDash val="solid"/>
          </a:ln>
        </p:spPr>
      </p:sp>
      <p:sp>
        <p:nvSpPr>
          <p:cNvPr id="16" name="Text 14"/>
          <p:cNvSpPr txBox="1"/>
          <p:nvPr/>
        </p:nvSpPr>
        <p:spPr>
          <a:xfrm>
            <a:off x="1691640" y="3520440"/>
            <a:ext cx="3657600" cy="731520"/>
          </a:xfrm>
          <a:prstGeom prst="rect">
            <a:avLst/>
          </a:prstGeom>
          <a:noFill/>
          <a:ln/>
        </p:spPr>
        <p:txBody>
          <a:bodyPr wrap="square" lIns="635" tIns="635" rIns="635" bIns="635" rtlCol="0" anchor="ctr"/>
          <a:lstStyle/>
          <a:p>
            <a:pPr indent="0" marL="0">
              <a:buNone/>
            </a:pPr>
            <a:r>
              <a:rPr lang="en-US" sz="1800" b="1" dirty="0">
                <a:solidFill>
                  <a:srgbClr val="09A1E5"/>
                </a:solidFill>
                <a:latin typeface="Roboto" pitchFamily="34" charset="0"/>
                <a:ea typeface="Roboto" pitchFamily="34" charset="-122"/>
                <a:cs typeface="Roboto" pitchFamily="34" charset="-120"/>
              </a:rPr>
              <a:t>Quản lý bằng gì?</a:t>
            </a:r>
            <a:endParaRPr lang="en-US" sz="1800" dirty="0"/>
          </a:p>
        </p:txBody>
      </p:sp>
      <p:sp>
        <p:nvSpPr>
          <p:cNvPr id="17" name="Text 15"/>
          <p:cNvSpPr txBox="1"/>
          <p:nvPr/>
        </p:nvSpPr>
        <p:spPr>
          <a:xfrm>
            <a:off x="5394960" y="3520440"/>
            <a:ext cx="603504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Hợp đồng, ESG, KPI, người phụ trách</a:t>
            </a:r>
            <a:endParaRPr lang="en-US" sz="1600" dirty="0"/>
          </a:p>
        </p:txBody>
      </p:sp>
      <p:sp>
        <p:nvSpPr>
          <p:cNvPr id="18" name="Shape 16"/>
          <p:cNvSpPr/>
          <p:nvPr/>
        </p:nvSpPr>
        <p:spPr>
          <a:xfrm>
            <a:off x="548640" y="4389120"/>
            <a:ext cx="731520" cy="731520"/>
          </a:xfrm>
          <a:prstGeom prst="ellipse">
            <a:avLst/>
          </a:prstGeom>
          <a:solidFill>
            <a:srgbClr val="FF5178"/>
          </a:solidFill>
          <a:ln w="12700">
            <a:solidFill>
              <a:srgbClr val="FF5178"/>
            </a:solidFill>
            <a:prstDash val="solid"/>
          </a:ln>
        </p:spPr>
      </p:sp>
      <p:sp>
        <p:nvSpPr>
          <p:cNvPr id="19" name="Text 17"/>
          <p:cNvSpPr txBox="1"/>
          <p:nvPr/>
        </p:nvSpPr>
        <p:spPr>
          <a:xfrm>
            <a:off x="548640" y="438912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4</a:t>
            </a:r>
            <a:endParaRPr lang="en-US" sz="2200" dirty="0"/>
          </a:p>
        </p:txBody>
      </p:sp>
      <p:sp>
        <p:nvSpPr>
          <p:cNvPr id="20" name="Shape 18"/>
          <p:cNvSpPr/>
          <p:nvPr/>
        </p:nvSpPr>
        <p:spPr>
          <a:xfrm>
            <a:off x="1463040" y="4389120"/>
            <a:ext cx="10177272" cy="731520"/>
          </a:xfrm>
          <a:prstGeom prst="roundRect">
            <a:avLst>
              <a:gd name="adj" fmla="val 10000"/>
            </a:avLst>
          </a:prstGeom>
          <a:solidFill>
            <a:srgbClr val="22395F"/>
          </a:solidFill>
          <a:ln w="12700">
            <a:solidFill>
              <a:srgbClr val="22395F"/>
            </a:solidFill>
            <a:prstDash val="solid"/>
          </a:ln>
        </p:spPr>
      </p:sp>
      <p:sp>
        <p:nvSpPr>
          <p:cNvPr id="21" name="Text 19"/>
          <p:cNvSpPr txBox="1"/>
          <p:nvPr/>
        </p:nvSpPr>
        <p:spPr>
          <a:xfrm>
            <a:off x="1691640" y="4389120"/>
            <a:ext cx="3657600" cy="731520"/>
          </a:xfrm>
          <a:prstGeom prst="rect">
            <a:avLst/>
          </a:prstGeom>
          <a:noFill/>
          <a:ln/>
        </p:spPr>
        <p:txBody>
          <a:bodyPr wrap="square" lIns="635" tIns="635" rIns="635" bIns="635" rtlCol="0" anchor="ctr"/>
          <a:lstStyle/>
          <a:p>
            <a:pPr indent="0" marL="0">
              <a:buNone/>
            </a:pPr>
            <a:r>
              <a:rPr lang="en-US" sz="1800" b="1" dirty="0">
                <a:solidFill>
                  <a:srgbClr val="FF5178"/>
                </a:solidFill>
                <a:latin typeface="Roboto" pitchFamily="34" charset="0"/>
                <a:ea typeface="Roboto" pitchFamily="34" charset="-122"/>
                <a:cs typeface="Roboto" pitchFamily="34" charset="-120"/>
              </a:rPr>
              <a:t>Rủi ro, xung đột?</a:t>
            </a:r>
            <a:endParaRPr lang="en-US" sz="1800" dirty="0"/>
          </a:p>
        </p:txBody>
      </p:sp>
      <p:sp>
        <p:nvSpPr>
          <p:cNvPr id="22" name="Text 20"/>
          <p:cNvSpPr txBox="1"/>
          <p:nvPr/>
        </p:nvSpPr>
        <p:spPr>
          <a:xfrm>
            <a:off x="5394960" y="4389120"/>
            <a:ext cx="603504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…và cách bảo vệ deliverables cho khách hàng</a:t>
            </a:r>
            <a:endParaRPr lang="en-US" sz="1600" dirty="0"/>
          </a:p>
        </p:txBody>
      </p:sp>
      <p:sp>
        <p:nvSpPr>
          <p:cNvPr id="23" name="Shape 21"/>
          <p:cNvSpPr/>
          <p:nvPr/>
        </p:nvSpPr>
        <p:spPr>
          <a:xfrm>
            <a:off x="548640" y="5349240"/>
            <a:ext cx="11091672" cy="868680"/>
          </a:xfrm>
          <a:prstGeom prst="roundRect">
            <a:avLst>
              <a:gd name="adj" fmla="val 8421"/>
            </a:avLst>
          </a:prstGeom>
          <a:solidFill>
            <a:srgbClr val="FFD23B"/>
          </a:solidFill>
          <a:ln w="12700">
            <a:solidFill>
              <a:srgbClr val="FFD23B"/>
            </a:solidFill>
            <a:prstDash val="solid"/>
          </a:ln>
        </p:spPr>
      </p:sp>
      <p:sp>
        <p:nvSpPr>
          <p:cNvPr id="24" name="Text 22"/>
          <p:cNvSpPr txBox="1"/>
          <p:nvPr/>
        </p:nvSpPr>
        <p:spPr>
          <a:xfrm>
            <a:off x="731520" y="5349240"/>
            <a:ext cx="10698480" cy="868680"/>
          </a:xfrm>
          <a:prstGeom prst="rect">
            <a:avLst/>
          </a:prstGeom>
          <a:noFill/>
          <a:ln/>
        </p:spPr>
        <p:txBody>
          <a:bodyPr wrap="square" lIns="635" tIns="635" rIns="635" bIns="635" rtlCol="0" anchor="ctr"/>
          <a:lstStyle/>
          <a:p>
            <a:pPr indent="0" marL="0">
              <a:buNone/>
            </a:pPr>
            <a:r>
              <a:rPr lang="en-US" sz="1550" b="1" dirty="0">
                <a:solidFill>
                  <a:srgbClr val="172849"/>
                </a:solidFill>
                <a:latin typeface="Roboto" pitchFamily="34" charset="0"/>
                <a:ea typeface="Roboto" pitchFamily="34" charset="-122"/>
                <a:cs typeface="Roboto" pitchFamily="34" charset="-120"/>
              </a:rPr>
              <a:t>Mức Xuất sắc: đủ ba nhóm (tài trợ – đầu tư · cung cấp – địa điểm · báo chí – KOL); ≥ 2 xung đột và cách bảo vệ deliverables; có cơ chế minh bạch.</a:t>
            </a:r>
            <a:endParaRPr lang="en-US" sz="15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13.2 là một bảng trong phần D, không phải ba chương rời</a:t>
            </a:r>
            <a:endParaRPr lang="en-US" sz="2800" dirty="0"/>
          </a:p>
        </p:txBody>
      </p:sp>
      <p:sp>
        <p:nvSpPr>
          <p:cNvPr id="3" name="Shape 1"/>
          <p:cNvSpPr/>
          <p:nvPr/>
        </p:nvSpPr>
        <p:spPr>
          <a:xfrm>
            <a:off x="548640" y="1783080"/>
            <a:ext cx="2871216" cy="548640"/>
          </a:xfrm>
          <a:prstGeom prst="roundRect">
            <a:avLst>
              <a:gd name="adj" fmla="val 13333"/>
            </a:avLst>
          </a:prstGeom>
          <a:solidFill>
            <a:srgbClr val="49B296"/>
          </a:solidFill>
          <a:ln w="12700">
            <a:solidFill>
              <a:srgbClr val="49B296"/>
            </a:solidFill>
            <a:prstDash val="solid"/>
          </a:ln>
        </p:spPr>
      </p:sp>
      <p:sp>
        <p:nvSpPr>
          <p:cNvPr id="4" name="Text 2"/>
          <p:cNvSpPr txBox="1"/>
          <p:nvPr/>
        </p:nvSpPr>
        <p:spPr>
          <a:xfrm>
            <a:off x="640080" y="1783080"/>
            <a:ext cx="268833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Nhóm bên liên quan</a:t>
            </a:r>
            <a:endParaRPr lang="en-US" sz="1500" dirty="0"/>
          </a:p>
        </p:txBody>
      </p:sp>
      <p:sp>
        <p:nvSpPr>
          <p:cNvPr id="5" name="Shape 3"/>
          <p:cNvSpPr/>
          <p:nvPr/>
        </p:nvSpPr>
        <p:spPr>
          <a:xfrm>
            <a:off x="3474720" y="1783080"/>
            <a:ext cx="122529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566160" y="1783080"/>
            <a:ext cx="104241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Buổi</a:t>
            </a:r>
            <a:endParaRPr lang="en-US" sz="1500" dirty="0"/>
          </a:p>
        </p:txBody>
      </p:sp>
      <p:sp>
        <p:nvSpPr>
          <p:cNvPr id="7" name="Shape 5"/>
          <p:cNvSpPr/>
          <p:nvPr/>
        </p:nvSpPr>
        <p:spPr>
          <a:xfrm>
            <a:off x="4754880" y="1783080"/>
            <a:ext cx="6830568" cy="548640"/>
          </a:xfrm>
          <a:prstGeom prst="roundRect">
            <a:avLst>
              <a:gd name="adj" fmla="val 13333"/>
            </a:avLst>
          </a:prstGeom>
          <a:solidFill>
            <a:srgbClr val="49B296"/>
          </a:solidFill>
          <a:ln w="12700">
            <a:solidFill>
              <a:srgbClr val="49B296"/>
            </a:solidFill>
            <a:prstDash val="solid"/>
          </a:ln>
        </p:spPr>
      </p:sp>
      <p:sp>
        <p:nvSpPr>
          <p:cNvPr id="8" name="Text 6"/>
          <p:cNvSpPr txBox="1"/>
          <p:nvPr/>
        </p:nvSpPr>
        <p:spPr>
          <a:xfrm>
            <a:off x="4846320" y="1783080"/>
            <a:ext cx="6647688"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Trang SMP đã có</a:t>
            </a:r>
            <a:endParaRPr lang="en-US" sz="1500" dirty="0"/>
          </a:p>
        </p:txBody>
      </p:sp>
      <p:sp>
        <p:nvSpPr>
          <p:cNvPr id="9" name="Shape 7"/>
          <p:cNvSpPr/>
          <p:nvPr/>
        </p:nvSpPr>
        <p:spPr>
          <a:xfrm>
            <a:off x="548640" y="2404872"/>
            <a:ext cx="2871216" cy="658368"/>
          </a:xfrm>
          <a:prstGeom prst="roundRect">
            <a:avLst>
              <a:gd name="adj" fmla="val 11111"/>
            </a:avLst>
          </a:prstGeom>
          <a:solidFill>
            <a:srgbClr val="49B296"/>
          </a:solidFill>
          <a:ln w="12700">
            <a:solidFill>
              <a:srgbClr val="49B296"/>
            </a:solidFill>
            <a:prstDash val="solid"/>
          </a:ln>
        </p:spPr>
      </p:sp>
      <p:sp>
        <p:nvSpPr>
          <p:cNvPr id="10" name="Text 8"/>
          <p:cNvSpPr txBox="1"/>
          <p:nvPr/>
        </p:nvSpPr>
        <p:spPr>
          <a:xfrm>
            <a:off x="658368" y="2404872"/>
            <a:ext cx="26517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Nhà đầu tư – tài trợ</a:t>
            </a:r>
            <a:endParaRPr lang="en-US" sz="1500" dirty="0"/>
          </a:p>
        </p:txBody>
      </p:sp>
      <p:sp>
        <p:nvSpPr>
          <p:cNvPr id="11" name="Shape 9"/>
          <p:cNvSpPr/>
          <p:nvPr/>
        </p:nvSpPr>
        <p:spPr>
          <a:xfrm>
            <a:off x="3474720" y="2404872"/>
            <a:ext cx="1225296" cy="658368"/>
          </a:xfrm>
          <a:prstGeom prst="roundRect">
            <a:avLst>
              <a:gd name="adj" fmla="val 11111"/>
            </a:avLst>
          </a:prstGeom>
          <a:solidFill>
            <a:srgbClr val="22395F"/>
          </a:solidFill>
          <a:ln w="12700">
            <a:solidFill>
              <a:srgbClr val="22395F"/>
            </a:solidFill>
            <a:prstDash val="solid"/>
          </a:ln>
        </p:spPr>
      </p:sp>
      <p:sp>
        <p:nvSpPr>
          <p:cNvPr id="12" name="Text 10"/>
          <p:cNvSpPr txBox="1"/>
          <p:nvPr/>
        </p:nvSpPr>
        <p:spPr>
          <a:xfrm>
            <a:off x="3584448" y="2404872"/>
            <a:ext cx="100584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9</a:t>
            </a:r>
            <a:endParaRPr lang="en-US" sz="1500" dirty="0"/>
          </a:p>
        </p:txBody>
      </p:sp>
      <p:sp>
        <p:nvSpPr>
          <p:cNvPr id="13" name="Shape 11"/>
          <p:cNvSpPr/>
          <p:nvPr/>
        </p:nvSpPr>
        <p:spPr>
          <a:xfrm>
            <a:off x="4754880" y="2404872"/>
            <a:ext cx="6830568" cy="658368"/>
          </a:xfrm>
          <a:prstGeom prst="roundRect">
            <a:avLst>
              <a:gd name="adj" fmla="val 11111"/>
            </a:avLst>
          </a:prstGeom>
          <a:solidFill>
            <a:srgbClr val="22395F"/>
          </a:solidFill>
          <a:ln w="12700">
            <a:solidFill>
              <a:srgbClr val="22395F"/>
            </a:solidFill>
            <a:prstDash val="solid"/>
          </a:ln>
        </p:spPr>
      </p:sp>
      <p:sp>
        <p:nvSpPr>
          <p:cNvPr id="14" name="Text 12"/>
          <p:cNvSpPr txBox="1"/>
          <p:nvPr/>
        </p:nvSpPr>
        <p:spPr>
          <a:xfrm>
            <a:off x="4864608" y="2404872"/>
            <a:ext cx="661111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Bản đồ điểm chạm tài trợ; đề xuất win-win; leverage và activation</a:t>
            </a:r>
            <a:endParaRPr lang="en-US" sz="1500" dirty="0"/>
          </a:p>
        </p:txBody>
      </p:sp>
      <p:sp>
        <p:nvSpPr>
          <p:cNvPr id="15" name="Shape 13"/>
          <p:cNvSpPr/>
          <p:nvPr/>
        </p:nvSpPr>
        <p:spPr>
          <a:xfrm>
            <a:off x="548640" y="3136392"/>
            <a:ext cx="2871216" cy="658368"/>
          </a:xfrm>
          <a:prstGeom prst="roundRect">
            <a:avLst>
              <a:gd name="adj" fmla="val 11111"/>
            </a:avLst>
          </a:prstGeom>
          <a:solidFill>
            <a:srgbClr val="09A1E5"/>
          </a:solidFill>
          <a:ln w="12700">
            <a:solidFill>
              <a:srgbClr val="09A1E5"/>
            </a:solidFill>
            <a:prstDash val="solid"/>
          </a:ln>
        </p:spPr>
      </p:sp>
      <p:sp>
        <p:nvSpPr>
          <p:cNvPr id="16" name="Text 14"/>
          <p:cNvSpPr txBox="1"/>
          <p:nvPr/>
        </p:nvSpPr>
        <p:spPr>
          <a:xfrm>
            <a:off x="658368" y="3136392"/>
            <a:ext cx="26517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Nhà cung cấp – địa điểm</a:t>
            </a:r>
            <a:endParaRPr lang="en-US" sz="1500" dirty="0"/>
          </a:p>
        </p:txBody>
      </p:sp>
      <p:sp>
        <p:nvSpPr>
          <p:cNvPr id="17" name="Shape 15"/>
          <p:cNvSpPr/>
          <p:nvPr/>
        </p:nvSpPr>
        <p:spPr>
          <a:xfrm>
            <a:off x="3474720" y="3136392"/>
            <a:ext cx="1225296" cy="658368"/>
          </a:xfrm>
          <a:prstGeom prst="roundRect">
            <a:avLst>
              <a:gd name="adj" fmla="val 11111"/>
            </a:avLst>
          </a:prstGeom>
          <a:solidFill>
            <a:srgbClr val="22395F"/>
          </a:solidFill>
          <a:ln w="12700">
            <a:solidFill>
              <a:srgbClr val="22395F"/>
            </a:solidFill>
            <a:prstDash val="solid"/>
          </a:ln>
        </p:spPr>
      </p:sp>
      <p:sp>
        <p:nvSpPr>
          <p:cNvPr id="18" name="Text 16"/>
          <p:cNvSpPr txBox="1"/>
          <p:nvPr/>
        </p:nvSpPr>
        <p:spPr>
          <a:xfrm>
            <a:off x="3584448" y="3136392"/>
            <a:ext cx="100584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10</a:t>
            </a:r>
            <a:endParaRPr lang="en-US" sz="1500" dirty="0"/>
          </a:p>
        </p:txBody>
      </p:sp>
      <p:sp>
        <p:nvSpPr>
          <p:cNvPr id="19" name="Shape 17"/>
          <p:cNvSpPr/>
          <p:nvPr/>
        </p:nvSpPr>
        <p:spPr>
          <a:xfrm>
            <a:off x="4754880" y="3136392"/>
            <a:ext cx="6830568" cy="658368"/>
          </a:xfrm>
          <a:prstGeom prst="roundRect">
            <a:avLst>
              <a:gd name="adj" fmla="val 11111"/>
            </a:avLst>
          </a:prstGeom>
          <a:solidFill>
            <a:srgbClr val="22395F"/>
          </a:solidFill>
          <a:ln w="12700">
            <a:solidFill>
              <a:srgbClr val="22395F"/>
            </a:solidFill>
            <a:prstDash val="solid"/>
          </a:ln>
        </p:spPr>
      </p:sp>
      <p:sp>
        <p:nvSpPr>
          <p:cNvPr id="20" name="Text 18"/>
          <p:cNvSpPr txBox="1"/>
          <p:nvPr/>
        </p:nvSpPr>
        <p:spPr>
          <a:xfrm>
            <a:off x="4864608" y="3136392"/>
            <a:ext cx="661111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Chấm hồ sơ (ma trận trọng số); phân bổ theo giai đoạn mua – sau mua</a:t>
            </a:r>
            <a:endParaRPr lang="en-US" sz="1500" dirty="0"/>
          </a:p>
        </p:txBody>
      </p:sp>
      <p:sp>
        <p:nvSpPr>
          <p:cNvPr id="21" name="Shape 19"/>
          <p:cNvSpPr/>
          <p:nvPr/>
        </p:nvSpPr>
        <p:spPr>
          <a:xfrm>
            <a:off x="548640" y="3867912"/>
            <a:ext cx="2871216" cy="658368"/>
          </a:xfrm>
          <a:prstGeom prst="roundRect">
            <a:avLst>
              <a:gd name="adj" fmla="val 11111"/>
            </a:avLst>
          </a:prstGeom>
          <a:solidFill>
            <a:srgbClr val="FF9259"/>
          </a:solidFill>
          <a:ln w="12700">
            <a:solidFill>
              <a:srgbClr val="FF9259"/>
            </a:solidFill>
            <a:prstDash val="solid"/>
          </a:ln>
        </p:spPr>
      </p:sp>
      <p:sp>
        <p:nvSpPr>
          <p:cNvPr id="22" name="Text 20"/>
          <p:cNvSpPr txBox="1"/>
          <p:nvPr/>
        </p:nvSpPr>
        <p:spPr>
          <a:xfrm>
            <a:off x="658368" y="3867912"/>
            <a:ext cx="26517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Báo chí – KOL</a:t>
            </a:r>
            <a:endParaRPr lang="en-US" sz="1500" dirty="0"/>
          </a:p>
        </p:txBody>
      </p:sp>
      <p:sp>
        <p:nvSpPr>
          <p:cNvPr id="23" name="Shape 21"/>
          <p:cNvSpPr/>
          <p:nvPr/>
        </p:nvSpPr>
        <p:spPr>
          <a:xfrm>
            <a:off x="3474720" y="3867912"/>
            <a:ext cx="1225296" cy="658368"/>
          </a:xfrm>
          <a:prstGeom prst="roundRect">
            <a:avLst>
              <a:gd name="adj" fmla="val 11111"/>
            </a:avLst>
          </a:prstGeom>
          <a:solidFill>
            <a:srgbClr val="22395F"/>
          </a:solidFill>
          <a:ln w="12700">
            <a:solidFill>
              <a:srgbClr val="22395F"/>
            </a:solidFill>
            <a:prstDash val="solid"/>
          </a:ln>
        </p:spPr>
      </p:sp>
      <p:sp>
        <p:nvSpPr>
          <p:cNvPr id="24" name="Text 22"/>
          <p:cNvSpPr txBox="1"/>
          <p:nvPr/>
        </p:nvSpPr>
        <p:spPr>
          <a:xfrm>
            <a:off x="3584448" y="3867912"/>
            <a:ext cx="100584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11</a:t>
            </a:r>
            <a:endParaRPr lang="en-US" sz="1500" dirty="0"/>
          </a:p>
        </p:txBody>
      </p:sp>
      <p:sp>
        <p:nvSpPr>
          <p:cNvPr id="25" name="Shape 23"/>
          <p:cNvSpPr/>
          <p:nvPr/>
        </p:nvSpPr>
        <p:spPr>
          <a:xfrm>
            <a:off x="4754880" y="3867912"/>
            <a:ext cx="6830568" cy="658368"/>
          </a:xfrm>
          <a:prstGeom prst="roundRect">
            <a:avLst>
              <a:gd name="adj" fmla="val 11111"/>
            </a:avLst>
          </a:prstGeom>
          <a:solidFill>
            <a:srgbClr val="22395F"/>
          </a:solidFill>
          <a:ln w="12700">
            <a:solidFill>
              <a:srgbClr val="22395F"/>
            </a:solidFill>
            <a:prstDash val="solid"/>
          </a:ln>
        </p:spPr>
      </p:sp>
      <p:sp>
        <p:nvSpPr>
          <p:cNvPr id="26" name="Text 24"/>
          <p:cNvSpPr txBox="1"/>
          <p:nvPr/>
        </p:nvSpPr>
        <p:spPr>
          <a:xfrm>
            <a:off x="4864608" y="3867912"/>
            <a:ext cx="661111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Chọn diễn giả, KOL (due diligence); khuếch đại điểm chạm trước sự kiện</a:t>
            </a:r>
            <a:endParaRPr lang="en-US" sz="1500" dirty="0"/>
          </a:p>
        </p:txBody>
      </p:sp>
      <p:sp>
        <p:nvSpPr>
          <p:cNvPr id="27" name="Shape 25"/>
          <p:cNvSpPr/>
          <p:nvPr/>
        </p:nvSpPr>
        <p:spPr>
          <a:xfrm>
            <a:off x="548640" y="4599432"/>
            <a:ext cx="2871216" cy="658368"/>
          </a:xfrm>
          <a:prstGeom prst="roundRect">
            <a:avLst>
              <a:gd name="adj" fmla="val 11111"/>
            </a:avLst>
          </a:prstGeom>
          <a:solidFill>
            <a:srgbClr val="FF5178"/>
          </a:solidFill>
          <a:ln w="12700">
            <a:solidFill>
              <a:srgbClr val="FF5178"/>
            </a:solidFill>
            <a:prstDash val="solid"/>
          </a:ln>
        </p:spPr>
      </p:sp>
      <p:sp>
        <p:nvSpPr>
          <p:cNvPr id="28" name="Text 26"/>
          <p:cNvSpPr txBox="1"/>
          <p:nvPr/>
        </p:nvSpPr>
        <p:spPr>
          <a:xfrm>
            <a:off x="658368" y="4599432"/>
            <a:ext cx="26517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Cả mạng lưới</a:t>
            </a:r>
            <a:endParaRPr lang="en-US" sz="1500" dirty="0"/>
          </a:p>
        </p:txBody>
      </p:sp>
      <p:sp>
        <p:nvSpPr>
          <p:cNvPr id="29" name="Shape 27"/>
          <p:cNvSpPr/>
          <p:nvPr/>
        </p:nvSpPr>
        <p:spPr>
          <a:xfrm>
            <a:off x="3474720" y="4599432"/>
            <a:ext cx="1225296" cy="658368"/>
          </a:xfrm>
          <a:prstGeom prst="roundRect">
            <a:avLst>
              <a:gd name="adj" fmla="val 11111"/>
            </a:avLst>
          </a:prstGeom>
          <a:solidFill>
            <a:srgbClr val="22395F"/>
          </a:solidFill>
          <a:ln w="12700">
            <a:solidFill>
              <a:srgbClr val="22395F"/>
            </a:solidFill>
            <a:prstDash val="solid"/>
          </a:ln>
        </p:spPr>
      </p:sp>
      <p:sp>
        <p:nvSpPr>
          <p:cNvPr id="30" name="Text 28"/>
          <p:cNvSpPr txBox="1"/>
          <p:nvPr/>
        </p:nvSpPr>
        <p:spPr>
          <a:xfrm>
            <a:off x="3584448" y="4599432"/>
            <a:ext cx="100584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12</a:t>
            </a:r>
            <a:endParaRPr lang="en-US" sz="1500" dirty="0"/>
          </a:p>
        </p:txBody>
      </p:sp>
      <p:sp>
        <p:nvSpPr>
          <p:cNvPr id="31" name="Shape 29"/>
          <p:cNvSpPr/>
          <p:nvPr/>
        </p:nvSpPr>
        <p:spPr>
          <a:xfrm>
            <a:off x="4754880" y="4599432"/>
            <a:ext cx="6830568" cy="658368"/>
          </a:xfrm>
          <a:prstGeom prst="roundRect">
            <a:avLst>
              <a:gd name="adj" fmla="val 11111"/>
            </a:avLst>
          </a:prstGeom>
          <a:solidFill>
            <a:srgbClr val="22395F"/>
          </a:solidFill>
          <a:ln w="12700">
            <a:solidFill>
              <a:srgbClr val="22395F"/>
            </a:solidFill>
            <a:prstDash val="solid"/>
          </a:ln>
        </p:spPr>
      </p:sp>
      <p:sp>
        <p:nvSpPr>
          <p:cNvPr id="32" name="Text 30"/>
          <p:cNvSpPr txBox="1"/>
          <p:nvPr/>
        </p:nvSpPr>
        <p:spPr>
          <a:xfrm>
            <a:off x="4864608" y="4599432"/>
            <a:ext cx="661111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Mạng lưới, bên nhiều vai, xung đột, cơ chế minh bạch, ma trận sự cố</a:t>
            </a:r>
            <a:endParaRPr lang="en-US" sz="1500" dirty="0"/>
          </a:p>
        </p:txBody>
      </p:sp>
      <p:sp>
        <p:nvSpPr>
          <p:cNvPr id="33" name="Shape 31"/>
          <p:cNvSpPr/>
          <p:nvPr/>
        </p:nvSpPr>
        <p:spPr>
          <a:xfrm>
            <a:off x="548640" y="5394960"/>
            <a:ext cx="11091672" cy="731520"/>
          </a:xfrm>
          <a:prstGeom prst="roundRect">
            <a:avLst>
              <a:gd name="adj" fmla="val 10000"/>
            </a:avLst>
          </a:prstGeom>
          <a:solidFill>
            <a:srgbClr val="FFD23B"/>
          </a:solidFill>
          <a:ln w="12700">
            <a:solidFill>
              <a:srgbClr val="FFD23B"/>
            </a:solidFill>
            <a:prstDash val="solid"/>
          </a:ln>
        </p:spPr>
      </p:sp>
      <p:sp>
        <p:nvSpPr>
          <p:cNvPr id="34" name="Text 32"/>
          <p:cNvSpPr txBox="1"/>
          <p:nvPr/>
        </p:nvSpPr>
        <p:spPr>
          <a:xfrm>
            <a:off x="731520" y="5394960"/>
            <a:ext cx="10698480" cy="731520"/>
          </a:xfrm>
          <a:prstGeom prst="rect">
            <a:avLst/>
          </a:prstGeom>
          <a:noFill/>
          <a:ln/>
        </p:spPr>
        <p:txBody>
          <a:bodyPr wrap="square" lIns="635" tIns="635" rIns="635" bIns="635" rtlCol="0" anchor="ctr"/>
          <a:lstStyle/>
          <a:p>
            <a:pPr indent="0" marL="0">
              <a:buNone/>
            </a:pPr>
            <a:r>
              <a:rPr lang="en-US" sz="1650" b="1" dirty="0">
                <a:solidFill>
                  <a:srgbClr val="172849"/>
                </a:solidFill>
                <a:latin typeface="Roboto" pitchFamily="34" charset="0"/>
                <a:ea typeface="Roboto" pitchFamily="34" charset="-122"/>
                <a:cs typeface="Roboto" pitchFamily="34" charset="-120"/>
              </a:rPr>
              <a:t>Mọi bên cùng phục vụ một hành trình của khách hàng — đó là lý do chúng nằm chung một bảng.</a:t>
            </a:r>
            <a:endParaRPr lang="en-US" sz="16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Executive Summary: năm câu cho người quyết định — đọc riêng vẫn hiểu</a:t>
            </a:r>
            <a:endParaRPr lang="en-US" sz="2800" dirty="0"/>
          </a:p>
        </p:txBody>
      </p:sp>
      <p:sp>
        <p:nvSpPr>
          <p:cNvPr id="3" name="Shape 1"/>
          <p:cNvSpPr/>
          <p:nvPr/>
        </p:nvSpPr>
        <p:spPr>
          <a:xfrm>
            <a:off x="548640" y="1783080"/>
            <a:ext cx="658368" cy="658368"/>
          </a:xfrm>
          <a:prstGeom prst="ellipse">
            <a:avLst/>
          </a:prstGeom>
          <a:solidFill>
            <a:srgbClr val="49B296"/>
          </a:solidFill>
          <a:ln w="12700">
            <a:solidFill>
              <a:srgbClr val="49B296"/>
            </a:solidFill>
            <a:prstDash val="solid"/>
          </a:ln>
        </p:spPr>
      </p:sp>
      <p:sp>
        <p:nvSpPr>
          <p:cNvPr id="4" name="Text 2"/>
          <p:cNvSpPr txBox="1"/>
          <p:nvPr/>
        </p:nvSpPr>
        <p:spPr>
          <a:xfrm>
            <a:off x="548640" y="1783080"/>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1</a:t>
            </a:r>
            <a:endParaRPr lang="en-US" sz="2000" dirty="0"/>
          </a:p>
        </p:txBody>
      </p:sp>
      <p:sp>
        <p:nvSpPr>
          <p:cNvPr id="5" name="Shape 3"/>
          <p:cNvSpPr/>
          <p:nvPr/>
        </p:nvSpPr>
        <p:spPr>
          <a:xfrm>
            <a:off x="1371600" y="1783080"/>
            <a:ext cx="10268712" cy="658368"/>
          </a:xfrm>
          <a:prstGeom prst="roundRect">
            <a:avLst>
              <a:gd name="adj" fmla="val 11111"/>
            </a:avLst>
          </a:prstGeom>
          <a:solidFill>
            <a:srgbClr val="22395F"/>
          </a:solidFill>
          <a:ln w="12700">
            <a:solidFill>
              <a:srgbClr val="22395F"/>
            </a:solidFill>
            <a:prstDash val="solid"/>
          </a:ln>
        </p:spPr>
      </p:sp>
      <p:sp>
        <p:nvSpPr>
          <p:cNvPr id="6" name="Text 4"/>
          <p:cNvSpPr txBox="1"/>
          <p:nvPr/>
        </p:nvSpPr>
        <p:spPr>
          <a:xfrm>
            <a:off x="1600200" y="1783080"/>
            <a:ext cx="5669280" cy="658368"/>
          </a:xfrm>
          <a:prstGeom prst="rect">
            <a:avLst/>
          </a:prstGeom>
          <a:noFill/>
          <a:ln/>
        </p:spPr>
        <p:txBody>
          <a:bodyPr wrap="square" lIns="635" tIns="635" rIns="635" bIns="635" rtlCol="0" anchor="ctr"/>
          <a:lstStyle/>
          <a:p>
            <a:pPr indent="0" marL="0">
              <a:buNone/>
            </a:pPr>
            <a:r>
              <a:rPr lang="en-US" sz="1750" b="1" dirty="0">
                <a:solidFill>
                  <a:srgbClr val="FBFAF4"/>
                </a:solidFill>
                <a:latin typeface="Roboto" pitchFamily="34" charset="0"/>
                <a:ea typeface="Roboto" pitchFamily="34" charset="-122"/>
                <a:cs typeface="Roboto" pitchFamily="34" charset="-120"/>
              </a:rPr>
              <a:t>Khách hàng là ai, đang cần gì</a:t>
            </a:r>
            <a:endParaRPr lang="en-US" sz="1750" dirty="0"/>
          </a:p>
        </p:txBody>
      </p:sp>
      <p:sp>
        <p:nvSpPr>
          <p:cNvPr id="7" name="Text 5"/>
          <p:cNvSpPr txBox="1"/>
          <p:nvPr/>
        </p:nvSpPr>
        <p:spPr>
          <a:xfrm>
            <a:off x="7315200" y="1783080"/>
            <a:ext cx="4114800" cy="658368"/>
          </a:xfrm>
          <a:prstGeom prst="rect">
            <a:avLst/>
          </a:prstGeom>
          <a:noFill/>
          <a:ln/>
        </p:spPr>
        <p:txBody>
          <a:bodyPr wrap="square" lIns="635" tIns="635" rIns="635" bIns="635" rtlCol="0" anchor="ctr"/>
          <a:lstStyle/>
          <a:p>
            <a:pPr indent="0" marL="0">
              <a:buNone/>
            </a:pPr>
            <a:r>
              <a:rPr lang="en-US" sz="1500" dirty="0">
                <a:solidFill>
                  <a:srgbClr val="A9B6D3"/>
                </a:solidFill>
                <a:latin typeface="Roboto" pitchFamily="34" charset="0"/>
                <a:ea typeface="Roboto" pitchFamily="34" charset="-122"/>
                <a:cs typeface="Roboto" pitchFamily="34" charset="-120"/>
              </a:rPr>
              <a:t>từ A</a:t>
            </a:r>
            <a:endParaRPr lang="en-US" sz="1500" dirty="0"/>
          </a:p>
        </p:txBody>
      </p:sp>
      <p:sp>
        <p:nvSpPr>
          <p:cNvPr id="8" name="Shape 6"/>
          <p:cNvSpPr/>
          <p:nvPr/>
        </p:nvSpPr>
        <p:spPr>
          <a:xfrm>
            <a:off x="548640" y="2560320"/>
            <a:ext cx="658368" cy="658368"/>
          </a:xfrm>
          <a:prstGeom prst="ellipse">
            <a:avLst/>
          </a:prstGeom>
          <a:solidFill>
            <a:srgbClr val="09A1E5"/>
          </a:solidFill>
          <a:ln w="12700">
            <a:solidFill>
              <a:srgbClr val="09A1E5"/>
            </a:solidFill>
            <a:prstDash val="solid"/>
          </a:ln>
        </p:spPr>
      </p:sp>
      <p:sp>
        <p:nvSpPr>
          <p:cNvPr id="9" name="Text 7"/>
          <p:cNvSpPr txBox="1"/>
          <p:nvPr/>
        </p:nvSpPr>
        <p:spPr>
          <a:xfrm>
            <a:off x="548640" y="2560320"/>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2</a:t>
            </a:r>
            <a:endParaRPr lang="en-US" sz="2000" dirty="0"/>
          </a:p>
        </p:txBody>
      </p:sp>
      <p:sp>
        <p:nvSpPr>
          <p:cNvPr id="10" name="Shape 8"/>
          <p:cNvSpPr/>
          <p:nvPr/>
        </p:nvSpPr>
        <p:spPr>
          <a:xfrm>
            <a:off x="1371600" y="2560320"/>
            <a:ext cx="10268712" cy="658368"/>
          </a:xfrm>
          <a:prstGeom prst="roundRect">
            <a:avLst>
              <a:gd name="adj" fmla="val 11111"/>
            </a:avLst>
          </a:prstGeom>
          <a:solidFill>
            <a:srgbClr val="22395F"/>
          </a:solidFill>
          <a:ln w="12700">
            <a:solidFill>
              <a:srgbClr val="22395F"/>
            </a:solidFill>
            <a:prstDash val="solid"/>
          </a:ln>
        </p:spPr>
      </p:sp>
      <p:sp>
        <p:nvSpPr>
          <p:cNvPr id="11" name="Text 9"/>
          <p:cNvSpPr txBox="1"/>
          <p:nvPr/>
        </p:nvSpPr>
        <p:spPr>
          <a:xfrm>
            <a:off x="1600200" y="2560320"/>
            <a:ext cx="5669280" cy="658368"/>
          </a:xfrm>
          <a:prstGeom prst="rect">
            <a:avLst/>
          </a:prstGeom>
          <a:noFill/>
          <a:ln/>
        </p:spPr>
        <p:txBody>
          <a:bodyPr wrap="square" lIns="635" tIns="635" rIns="635" bIns="635" rtlCol="0" anchor="ctr"/>
          <a:lstStyle/>
          <a:p>
            <a:pPr indent="0" marL="0">
              <a:buNone/>
            </a:pPr>
            <a:r>
              <a:rPr lang="en-US" sz="1750" b="1" dirty="0">
                <a:solidFill>
                  <a:srgbClr val="FBFAF4"/>
                </a:solidFill>
                <a:latin typeface="Roboto" pitchFamily="34" charset="0"/>
                <a:ea typeface="Roboto" pitchFamily="34" charset="-122"/>
                <a:cs typeface="Roboto" pitchFamily="34" charset="-120"/>
              </a:rPr>
              <a:t>Cơ hội lớn nhất</a:t>
            </a:r>
            <a:endParaRPr lang="en-US" sz="1750" dirty="0"/>
          </a:p>
        </p:txBody>
      </p:sp>
      <p:sp>
        <p:nvSpPr>
          <p:cNvPr id="12" name="Text 10"/>
          <p:cNvSpPr txBox="1"/>
          <p:nvPr/>
        </p:nvSpPr>
        <p:spPr>
          <a:xfrm>
            <a:off x="7315200" y="2560320"/>
            <a:ext cx="4114800" cy="658368"/>
          </a:xfrm>
          <a:prstGeom prst="rect">
            <a:avLst/>
          </a:prstGeom>
          <a:noFill/>
          <a:ln/>
        </p:spPr>
        <p:txBody>
          <a:bodyPr wrap="square" lIns="635" tIns="635" rIns="635" bIns="635" rtlCol="0" anchor="ctr"/>
          <a:lstStyle/>
          <a:p>
            <a:pPr indent="0" marL="0">
              <a:buNone/>
            </a:pPr>
            <a:r>
              <a:rPr lang="en-US" sz="1500" dirty="0">
                <a:solidFill>
                  <a:srgbClr val="A9B6D3"/>
                </a:solidFill>
                <a:latin typeface="Roboto" pitchFamily="34" charset="0"/>
                <a:ea typeface="Roboto" pitchFamily="34" charset="-122"/>
                <a:cs typeface="Roboto" pitchFamily="34" charset="-120"/>
              </a:rPr>
              <a:t>từ B</a:t>
            </a:r>
            <a:endParaRPr lang="en-US" sz="1500" dirty="0"/>
          </a:p>
        </p:txBody>
      </p:sp>
      <p:sp>
        <p:nvSpPr>
          <p:cNvPr id="13" name="Shape 11"/>
          <p:cNvSpPr/>
          <p:nvPr/>
        </p:nvSpPr>
        <p:spPr>
          <a:xfrm>
            <a:off x="548640" y="3337560"/>
            <a:ext cx="658368" cy="658368"/>
          </a:xfrm>
          <a:prstGeom prst="ellipse">
            <a:avLst/>
          </a:prstGeom>
          <a:solidFill>
            <a:srgbClr val="FFD23B"/>
          </a:solidFill>
          <a:ln w="12700">
            <a:solidFill>
              <a:srgbClr val="FFD23B"/>
            </a:solidFill>
            <a:prstDash val="solid"/>
          </a:ln>
        </p:spPr>
      </p:sp>
      <p:sp>
        <p:nvSpPr>
          <p:cNvPr id="14" name="Text 12"/>
          <p:cNvSpPr txBox="1"/>
          <p:nvPr/>
        </p:nvSpPr>
        <p:spPr>
          <a:xfrm>
            <a:off x="548640" y="3337560"/>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3</a:t>
            </a:r>
            <a:endParaRPr lang="en-US" sz="2000" dirty="0"/>
          </a:p>
        </p:txBody>
      </p:sp>
      <p:sp>
        <p:nvSpPr>
          <p:cNvPr id="15" name="Shape 13"/>
          <p:cNvSpPr/>
          <p:nvPr/>
        </p:nvSpPr>
        <p:spPr>
          <a:xfrm>
            <a:off x="1371600" y="3337560"/>
            <a:ext cx="10268712" cy="658368"/>
          </a:xfrm>
          <a:prstGeom prst="roundRect">
            <a:avLst>
              <a:gd name="adj" fmla="val 11111"/>
            </a:avLst>
          </a:prstGeom>
          <a:solidFill>
            <a:srgbClr val="22395F"/>
          </a:solidFill>
          <a:ln w="12700">
            <a:solidFill>
              <a:srgbClr val="22395F"/>
            </a:solidFill>
            <a:prstDash val="solid"/>
          </a:ln>
        </p:spPr>
      </p:sp>
      <p:sp>
        <p:nvSpPr>
          <p:cNvPr id="16" name="Text 14"/>
          <p:cNvSpPr txBox="1"/>
          <p:nvPr/>
        </p:nvSpPr>
        <p:spPr>
          <a:xfrm>
            <a:off x="1600200" y="3337560"/>
            <a:ext cx="5669280" cy="658368"/>
          </a:xfrm>
          <a:prstGeom prst="rect">
            <a:avLst/>
          </a:prstGeom>
          <a:noFill/>
          <a:ln/>
        </p:spPr>
        <p:txBody>
          <a:bodyPr wrap="square" lIns="635" tIns="635" rIns="635" bIns="635" rtlCol="0" anchor="ctr"/>
          <a:lstStyle/>
          <a:p>
            <a:pPr indent="0" marL="0">
              <a:buNone/>
            </a:pPr>
            <a:r>
              <a:rPr lang="en-US" sz="1750" b="1" dirty="0">
                <a:solidFill>
                  <a:srgbClr val="FBFAF4"/>
                </a:solidFill>
                <a:latin typeface="Roboto" pitchFamily="34" charset="0"/>
                <a:ea typeface="Roboto" pitchFamily="34" charset="-122"/>
                <a:cs typeface="Roboto" pitchFamily="34" charset="-120"/>
              </a:rPr>
              <a:t>Agency đề xuất gì — một câu</a:t>
            </a:r>
            <a:endParaRPr lang="en-US" sz="1750" dirty="0"/>
          </a:p>
        </p:txBody>
      </p:sp>
      <p:sp>
        <p:nvSpPr>
          <p:cNvPr id="17" name="Text 15"/>
          <p:cNvSpPr txBox="1"/>
          <p:nvPr/>
        </p:nvSpPr>
        <p:spPr>
          <a:xfrm>
            <a:off x="7315200" y="3337560"/>
            <a:ext cx="4114800" cy="658368"/>
          </a:xfrm>
          <a:prstGeom prst="rect">
            <a:avLst/>
          </a:prstGeom>
          <a:noFill/>
          <a:ln/>
        </p:spPr>
        <p:txBody>
          <a:bodyPr wrap="square" lIns="635" tIns="635" rIns="635" bIns="635" rtlCol="0" anchor="ctr"/>
          <a:lstStyle/>
          <a:p>
            <a:pPr indent="0" marL="0">
              <a:buNone/>
            </a:pPr>
            <a:r>
              <a:rPr lang="en-US" sz="1500" dirty="0">
                <a:solidFill>
                  <a:srgbClr val="A9B6D3"/>
                </a:solidFill>
                <a:latin typeface="Roboto" pitchFamily="34" charset="0"/>
                <a:ea typeface="Roboto" pitchFamily="34" charset="-122"/>
                <a:cs typeface="Roboto" pitchFamily="34" charset="-120"/>
              </a:rPr>
              <a:t>từ C</a:t>
            </a:r>
            <a:endParaRPr lang="en-US" sz="1500" dirty="0"/>
          </a:p>
        </p:txBody>
      </p:sp>
      <p:sp>
        <p:nvSpPr>
          <p:cNvPr id="18" name="Shape 16"/>
          <p:cNvSpPr/>
          <p:nvPr/>
        </p:nvSpPr>
        <p:spPr>
          <a:xfrm>
            <a:off x="548640" y="4114800"/>
            <a:ext cx="658368" cy="658368"/>
          </a:xfrm>
          <a:prstGeom prst="ellipse">
            <a:avLst/>
          </a:prstGeom>
          <a:solidFill>
            <a:srgbClr val="FF9259"/>
          </a:solidFill>
          <a:ln w="12700">
            <a:solidFill>
              <a:srgbClr val="FF9259"/>
            </a:solidFill>
            <a:prstDash val="solid"/>
          </a:ln>
        </p:spPr>
      </p:sp>
      <p:sp>
        <p:nvSpPr>
          <p:cNvPr id="19" name="Text 17"/>
          <p:cNvSpPr txBox="1"/>
          <p:nvPr/>
        </p:nvSpPr>
        <p:spPr>
          <a:xfrm>
            <a:off x="548640" y="4114800"/>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4</a:t>
            </a:r>
            <a:endParaRPr lang="en-US" sz="2000" dirty="0"/>
          </a:p>
        </p:txBody>
      </p:sp>
      <p:sp>
        <p:nvSpPr>
          <p:cNvPr id="20" name="Shape 18"/>
          <p:cNvSpPr/>
          <p:nvPr/>
        </p:nvSpPr>
        <p:spPr>
          <a:xfrm>
            <a:off x="1371600" y="4114800"/>
            <a:ext cx="10268712" cy="658368"/>
          </a:xfrm>
          <a:prstGeom prst="roundRect">
            <a:avLst>
              <a:gd name="adj" fmla="val 11111"/>
            </a:avLst>
          </a:prstGeom>
          <a:solidFill>
            <a:srgbClr val="22395F"/>
          </a:solidFill>
          <a:ln w="12700">
            <a:solidFill>
              <a:srgbClr val="22395F"/>
            </a:solidFill>
            <a:prstDash val="solid"/>
          </a:ln>
        </p:spPr>
      </p:sp>
      <p:sp>
        <p:nvSpPr>
          <p:cNvPr id="21" name="Text 19"/>
          <p:cNvSpPr txBox="1"/>
          <p:nvPr/>
        </p:nvSpPr>
        <p:spPr>
          <a:xfrm>
            <a:off x="1600200" y="4114800"/>
            <a:ext cx="5669280" cy="658368"/>
          </a:xfrm>
          <a:prstGeom prst="rect">
            <a:avLst/>
          </a:prstGeom>
          <a:noFill/>
          <a:ln/>
        </p:spPr>
        <p:txBody>
          <a:bodyPr wrap="square" lIns="635" tIns="635" rIns="635" bIns="635" rtlCol="0" anchor="ctr"/>
          <a:lstStyle/>
          <a:p>
            <a:pPr indent="0" marL="0">
              <a:buNone/>
            </a:pPr>
            <a:r>
              <a:rPr lang="en-US" sz="1750" b="1" dirty="0">
                <a:solidFill>
                  <a:srgbClr val="FBFAF4"/>
                </a:solidFill>
                <a:latin typeface="Roboto" pitchFamily="34" charset="0"/>
                <a:ea typeface="Roboto" pitchFamily="34" charset="-122"/>
                <a:cs typeface="Roboto" pitchFamily="34" charset="-120"/>
              </a:rPr>
              <a:t>Giá trị có số, đo bằng gì</a:t>
            </a:r>
            <a:endParaRPr lang="en-US" sz="1750" dirty="0"/>
          </a:p>
        </p:txBody>
      </p:sp>
      <p:sp>
        <p:nvSpPr>
          <p:cNvPr id="22" name="Text 20"/>
          <p:cNvSpPr txBox="1"/>
          <p:nvPr/>
        </p:nvSpPr>
        <p:spPr>
          <a:xfrm>
            <a:off x="7315200" y="4114800"/>
            <a:ext cx="4114800" cy="658368"/>
          </a:xfrm>
          <a:prstGeom prst="rect">
            <a:avLst/>
          </a:prstGeom>
          <a:noFill/>
          <a:ln/>
        </p:spPr>
        <p:txBody>
          <a:bodyPr wrap="square" lIns="635" tIns="635" rIns="635" bIns="635" rtlCol="0" anchor="ctr"/>
          <a:lstStyle/>
          <a:p>
            <a:pPr indent="0" marL="0">
              <a:buNone/>
            </a:pPr>
            <a:r>
              <a:rPr lang="en-US" sz="1500" dirty="0">
                <a:solidFill>
                  <a:srgbClr val="A9B6D3"/>
                </a:solidFill>
                <a:latin typeface="Roboto" pitchFamily="34" charset="0"/>
                <a:ea typeface="Roboto" pitchFamily="34" charset="-122"/>
                <a:cs typeface="Roboto" pitchFamily="34" charset="-120"/>
              </a:rPr>
              <a:t>C + D; ghi giả định</a:t>
            </a:r>
            <a:endParaRPr lang="en-US" sz="1500" dirty="0"/>
          </a:p>
        </p:txBody>
      </p:sp>
      <p:sp>
        <p:nvSpPr>
          <p:cNvPr id="23" name="Shape 21"/>
          <p:cNvSpPr/>
          <p:nvPr/>
        </p:nvSpPr>
        <p:spPr>
          <a:xfrm>
            <a:off x="548640" y="4892040"/>
            <a:ext cx="658368" cy="658368"/>
          </a:xfrm>
          <a:prstGeom prst="ellipse">
            <a:avLst/>
          </a:prstGeom>
          <a:solidFill>
            <a:srgbClr val="FF5178"/>
          </a:solidFill>
          <a:ln w="12700">
            <a:solidFill>
              <a:srgbClr val="FF5178"/>
            </a:solidFill>
            <a:prstDash val="solid"/>
          </a:ln>
        </p:spPr>
      </p:sp>
      <p:sp>
        <p:nvSpPr>
          <p:cNvPr id="24" name="Text 22"/>
          <p:cNvSpPr txBox="1"/>
          <p:nvPr/>
        </p:nvSpPr>
        <p:spPr>
          <a:xfrm>
            <a:off x="548640" y="4892040"/>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5</a:t>
            </a:r>
            <a:endParaRPr lang="en-US" sz="2000" dirty="0"/>
          </a:p>
        </p:txBody>
      </p:sp>
      <p:sp>
        <p:nvSpPr>
          <p:cNvPr id="25" name="Shape 23"/>
          <p:cNvSpPr/>
          <p:nvPr/>
        </p:nvSpPr>
        <p:spPr>
          <a:xfrm>
            <a:off x="1371600" y="4892040"/>
            <a:ext cx="10268712" cy="658368"/>
          </a:xfrm>
          <a:prstGeom prst="roundRect">
            <a:avLst>
              <a:gd name="adj" fmla="val 11111"/>
            </a:avLst>
          </a:prstGeom>
          <a:solidFill>
            <a:srgbClr val="22395F"/>
          </a:solidFill>
          <a:ln w="12700">
            <a:solidFill>
              <a:srgbClr val="22395F"/>
            </a:solidFill>
            <a:prstDash val="solid"/>
          </a:ln>
        </p:spPr>
      </p:sp>
      <p:sp>
        <p:nvSpPr>
          <p:cNvPr id="26" name="Text 24"/>
          <p:cNvSpPr txBox="1"/>
          <p:nvPr/>
        </p:nvSpPr>
        <p:spPr>
          <a:xfrm>
            <a:off x="1600200" y="4892040"/>
            <a:ext cx="5669280" cy="658368"/>
          </a:xfrm>
          <a:prstGeom prst="rect">
            <a:avLst/>
          </a:prstGeom>
          <a:noFill/>
          <a:ln/>
        </p:spPr>
        <p:txBody>
          <a:bodyPr wrap="square" lIns="635" tIns="635" rIns="635" bIns="635" rtlCol="0" anchor="ctr"/>
          <a:lstStyle/>
          <a:p>
            <a:pPr indent="0" marL="0">
              <a:buNone/>
            </a:pPr>
            <a:r>
              <a:rPr lang="en-US" sz="1750" b="1" dirty="0">
                <a:solidFill>
                  <a:srgbClr val="FBFAF4"/>
                </a:solidFill>
                <a:latin typeface="Roboto" pitchFamily="34" charset="0"/>
                <a:ea typeface="Roboto" pitchFamily="34" charset="-122"/>
                <a:cs typeface="Roboto" pitchFamily="34" charset="-120"/>
              </a:rPr>
              <a:t>Customer Board cần quyết gì</a:t>
            </a:r>
            <a:endParaRPr lang="en-US" sz="1750" dirty="0"/>
          </a:p>
        </p:txBody>
      </p:sp>
      <p:sp>
        <p:nvSpPr>
          <p:cNvPr id="27" name="Text 25"/>
          <p:cNvSpPr txBox="1"/>
          <p:nvPr/>
        </p:nvSpPr>
        <p:spPr>
          <a:xfrm>
            <a:off x="7315200" y="4892040"/>
            <a:ext cx="4114800" cy="658368"/>
          </a:xfrm>
          <a:prstGeom prst="rect">
            <a:avLst/>
          </a:prstGeom>
          <a:noFill/>
          <a:ln/>
        </p:spPr>
        <p:txBody>
          <a:bodyPr wrap="square" lIns="635" tIns="635" rIns="635" bIns="635" rtlCol="0" anchor="ctr"/>
          <a:lstStyle/>
          <a:p>
            <a:pPr indent="0" marL="0">
              <a:buNone/>
            </a:pPr>
            <a:r>
              <a:rPr lang="en-US" sz="1500" dirty="0">
                <a:solidFill>
                  <a:srgbClr val="A9B6D3"/>
                </a:solidFill>
                <a:latin typeface="Roboto" pitchFamily="34" charset="0"/>
                <a:ea typeface="Roboto" pitchFamily="34" charset="-122"/>
                <a:cs typeface="Roboto" pitchFamily="34" charset="-120"/>
              </a:rPr>
              <a:t>ngân sách, cam kết, chia sẻ dữ liệu…</a:t>
            </a:r>
            <a:endParaRPr lang="en-US" sz="1500" dirty="0"/>
          </a:p>
        </p:txBody>
      </p:sp>
      <p:sp>
        <p:nvSpPr>
          <p:cNvPr id="28" name="Shape 26"/>
          <p:cNvSpPr/>
          <p:nvPr/>
        </p:nvSpPr>
        <p:spPr>
          <a:xfrm>
            <a:off x="548640" y="5715000"/>
            <a:ext cx="11091672" cy="548640"/>
          </a:xfrm>
          <a:prstGeom prst="roundRect">
            <a:avLst>
              <a:gd name="adj" fmla="val 13333"/>
            </a:avLst>
          </a:prstGeom>
          <a:solidFill>
            <a:srgbClr val="FF5178"/>
          </a:solidFill>
          <a:ln w="12700">
            <a:solidFill>
              <a:srgbClr val="FF5178"/>
            </a:solidFill>
            <a:prstDash val="solid"/>
          </a:ln>
        </p:spPr>
      </p:sp>
      <p:sp>
        <p:nvSpPr>
          <p:cNvPr id="29" name="Text 27"/>
          <p:cNvSpPr txBox="1"/>
          <p:nvPr/>
        </p:nvSpPr>
        <p:spPr>
          <a:xfrm>
            <a:off x="731520" y="5715000"/>
            <a:ext cx="10698480"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Rubric mức Kém: kể lại quá trình làm bài; thiếu giá trị có số hoặc việc cần quyết.</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Mười lỗi khiến key account plan thất bại — nhóm sinh viên dễ gặp ba lỗi</a:t>
            </a:r>
            <a:endParaRPr lang="en-US" sz="2800" dirty="0"/>
          </a:p>
        </p:txBody>
      </p:sp>
      <p:sp>
        <p:nvSpPr>
          <p:cNvPr id="3" name="Shape 1"/>
          <p:cNvSpPr/>
          <p:nvPr/>
        </p:nvSpPr>
        <p:spPr>
          <a:xfrm>
            <a:off x="548640" y="1783080"/>
            <a:ext cx="5449824" cy="640080"/>
          </a:xfrm>
          <a:prstGeom prst="roundRect">
            <a:avLst>
              <a:gd name="adj" fmla="val 11429"/>
            </a:avLst>
          </a:prstGeom>
          <a:solidFill>
            <a:srgbClr val="22395F"/>
          </a:solidFill>
          <a:ln w="12700">
            <a:solidFill>
              <a:srgbClr val="22395F"/>
            </a:solidFill>
            <a:prstDash val="solid"/>
          </a:ln>
        </p:spPr>
      </p:sp>
      <p:sp>
        <p:nvSpPr>
          <p:cNvPr id="4" name="Shape 2"/>
          <p:cNvSpPr/>
          <p:nvPr/>
        </p:nvSpPr>
        <p:spPr>
          <a:xfrm>
            <a:off x="640080" y="1856232"/>
            <a:ext cx="493776" cy="493776"/>
          </a:xfrm>
          <a:prstGeom prst="ellipse">
            <a:avLst/>
          </a:prstGeom>
          <a:solidFill>
            <a:srgbClr val="A9B6D3"/>
          </a:solidFill>
          <a:ln w="12700">
            <a:solidFill>
              <a:srgbClr val="A9B6D3"/>
            </a:solidFill>
            <a:prstDash val="solid"/>
          </a:ln>
        </p:spPr>
      </p:sp>
      <p:sp>
        <p:nvSpPr>
          <p:cNvPr id="5" name="Text 3"/>
          <p:cNvSpPr txBox="1"/>
          <p:nvPr/>
        </p:nvSpPr>
        <p:spPr>
          <a:xfrm>
            <a:off x="640080" y="1856232"/>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1</a:t>
            </a:r>
            <a:endParaRPr lang="en-US" sz="1400" dirty="0"/>
          </a:p>
        </p:txBody>
      </p:sp>
      <p:sp>
        <p:nvSpPr>
          <p:cNvPr id="6" name="Text 4"/>
          <p:cNvSpPr txBox="1"/>
          <p:nvPr/>
        </p:nvSpPr>
        <p:spPr>
          <a:xfrm>
            <a:off x="1280160" y="1783080"/>
            <a:ext cx="457200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Kế hoạch là của riêng KAM</a:t>
            </a:r>
            <a:endParaRPr lang="en-US" sz="1600" dirty="0"/>
          </a:p>
        </p:txBody>
      </p:sp>
      <p:sp>
        <p:nvSpPr>
          <p:cNvPr id="7" name="Shape 5"/>
          <p:cNvSpPr/>
          <p:nvPr/>
        </p:nvSpPr>
        <p:spPr>
          <a:xfrm>
            <a:off x="548640" y="2532888"/>
            <a:ext cx="5449824" cy="640080"/>
          </a:xfrm>
          <a:prstGeom prst="roundRect">
            <a:avLst>
              <a:gd name="adj" fmla="val 11429"/>
            </a:avLst>
          </a:prstGeom>
          <a:solidFill>
            <a:srgbClr val="FFD23B"/>
          </a:solidFill>
          <a:ln w="12700">
            <a:solidFill>
              <a:srgbClr val="FFD23B"/>
            </a:solidFill>
            <a:prstDash val="solid"/>
          </a:ln>
        </p:spPr>
      </p:sp>
      <p:sp>
        <p:nvSpPr>
          <p:cNvPr id="8" name="Shape 6"/>
          <p:cNvSpPr/>
          <p:nvPr/>
        </p:nvSpPr>
        <p:spPr>
          <a:xfrm>
            <a:off x="640080" y="2606040"/>
            <a:ext cx="493776" cy="493776"/>
          </a:xfrm>
          <a:prstGeom prst="ellipse">
            <a:avLst/>
          </a:prstGeom>
          <a:solidFill>
            <a:srgbClr val="FF5178"/>
          </a:solidFill>
          <a:ln w="12700">
            <a:solidFill>
              <a:srgbClr val="FF5178"/>
            </a:solidFill>
            <a:prstDash val="solid"/>
          </a:ln>
        </p:spPr>
      </p:sp>
      <p:sp>
        <p:nvSpPr>
          <p:cNvPr id="9" name="Text 7"/>
          <p:cNvSpPr txBox="1"/>
          <p:nvPr/>
        </p:nvSpPr>
        <p:spPr>
          <a:xfrm>
            <a:off x="640080" y="2606040"/>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2</a:t>
            </a:r>
            <a:endParaRPr lang="en-US" sz="1400" dirty="0"/>
          </a:p>
        </p:txBody>
      </p:sp>
      <p:sp>
        <p:nvSpPr>
          <p:cNvPr id="10" name="Text 8"/>
          <p:cNvSpPr txBox="1"/>
          <p:nvPr/>
        </p:nvSpPr>
        <p:spPr>
          <a:xfrm>
            <a:off x="1280160" y="2532888"/>
            <a:ext cx="457200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KAM làm một mình</a:t>
            </a:r>
            <a:endParaRPr lang="en-US" sz="1600" dirty="0"/>
          </a:p>
        </p:txBody>
      </p:sp>
      <p:sp>
        <p:nvSpPr>
          <p:cNvPr id="11" name="Shape 9"/>
          <p:cNvSpPr/>
          <p:nvPr/>
        </p:nvSpPr>
        <p:spPr>
          <a:xfrm>
            <a:off x="548640" y="3282696"/>
            <a:ext cx="5449824" cy="640080"/>
          </a:xfrm>
          <a:prstGeom prst="roundRect">
            <a:avLst>
              <a:gd name="adj" fmla="val 11429"/>
            </a:avLst>
          </a:prstGeom>
          <a:solidFill>
            <a:srgbClr val="22395F"/>
          </a:solidFill>
          <a:ln w="12700">
            <a:solidFill>
              <a:srgbClr val="22395F"/>
            </a:solidFill>
            <a:prstDash val="solid"/>
          </a:ln>
        </p:spPr>
      </p:sp>
      <p:sp>
        <p:nvSpPr>
          <p:cNvPr id="12" name="Shape 10"/>
          <p:cNvSpPr/>
          <p:nvPr/>
        </p:nvSpPr>
        <p:spPr>
          <a:xfrm>
            <a:off x="640080" y="3355848"/>
            <a:ext cx="493776" cy="493776"/>
          </a:xfrm>
          <a:prstGeom prst="ellipse">
            <a:avLst/>
          </a:prstGeom>
          <a:solidFill>
            <a:srgbClr val="A9B6D3"/>
          </a:solidFill>
          <a:ln w="12700">
            <a:solidFill>
              <a:srgbClr val="A9B6D3"/>
            </a:solidFill>
            <a:prstDash val="solid"/>
          </a:ln>
        </p:spPr>
      </p:sp>
      <p:sp>
        <p:nvSpPr>
          <p:cNvPr id="13" name="Text 11"/>
          <p:cNvSpPr txBox="1"/>
          <p:nvPr/>
        </p:nvSpPr>
        <p:spPr>
          <a:xfrm>
            <a:off x="640080" y="3355848"/>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3</a:t>
            </a:r>
            <a:endParaRPr lang="en-US" sz="1400" dirty="0"/>
          </a:p>
        </p:txBody>
      </p:sp>
      <p:sp>
        <p:nvSpPr>
          <p:cNvPr id="14" name="Text 12"/>
          <p:cNvSpPr txBox="1"/>
          <p:nvPr/>
        </p:nvSpPr>
        <p:spPr>
          <a:xfrm>
            <a:off x="1280160" y="3282696"/>
            <a:ext cx="457200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Lãnh đạo không quan tâm</a:t>
            </a:r>
            <a:endParaRPr lang="en-US" sz="1600" dirty="0"/>
          </a:p>
        </p:txBody>
      </p:sp>
      <p:sp>
        <p:nvSpPr>
          <p:cNvPr id="15" name="Shape 13"/>
          <p:cNvSpPr/>
          <p:nvPr/>
        </p:nvSpPr>
        <p:spPr>
          <a:xfrm>
            <a:off x="548640" y="4032504"/>
            <a:ext cx="5449824" cy="640080"/>
          </a:xfrm>
          <a:prstGeom prst="roundRect">
            <a:avLst>
              <a:gd name="adj" fmla="val 11429"/>
            </a:avLst>
          </a:prstGeom>
          <a:solidFill>
            <a:srgbClr val="22395F"/>
          </a:solidFill>
          <a:ln w="12700">
            <a:solidFill>
              <a:srgbClr val="22395F"/>
            </a:solidFill>
            <a:prstDash val="solid"/>
          </a:ln>
        </p:spPr>
      </p:sp>
      <p:sp>
        <p:nvSpPr>
          <p:cNvPr id="16" name="Shape 14"/>
          <p:cNvSpPr/>
          <p:nvPr/>
        </p:nvSpPr>
        <p:spPr>
          <a:xfrm>
            <a:off x="640080" y="4105656"/>
            <a:ext cx="493776" cy="493776"/>
          </a:xfrm>
          <a:prstGeom prst="ellipse">
            <a:avLst/>
          </a:prstGeom>
          <a:solidFill>
            <a:srgbClr val="A9B6D3"/>
          </a:solidFill>
          <a:ln w="12700">
            <a:solidFill>
              <a:srgbClr val="A9B6D3"/>
            </a:solidFill>
            <a:prstDash val="solid"/>
          </a:ln>
        </p:spPr>
      </p:sp>
      <p:sp>
        <p:nvSpPr>
          <p:cNvPr id="17" name="Text 15"/>
          <p:cNvSpPr txBox="1"/>
          <p:nvPr/>
        </p:nvSpPr>
        <p:spPr>
          <a:xfrm>
            <a:off x="640080" y="4105656"/>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4</a:t>
            </a:r>
            <a:endParaRPr lang="en-US" sz="1400" dirty="0"/>
          </a:p>
        </p:txBody>
      </p:sp>
      <p:sp>
        <p:nvSpPr>
          <p:cNvPr id="18" name="Text 16"/>
          <p:cNvSpPr txBox="1"/>
          <p:nvPr/>
        </p:nvSpPr>
        <p:spPr>
          <a:xfrm>
            <a:off x="1280160" y="4032504"/>
            <a:ext cx="457200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Làm một lần rồi bỏ</a:t>
            </a:r>
            <a:endParaRPr lang="en-US" sz="1600" dirty="0"/>
          </a:p>
        </p:txBody>
      </p:sp>
      <p:sp>
        <p:nvSpPr>
          <p:cNvPr id="19" name="Shape 17"/>
          <p:cNvSpPr/>
          <p:nvPr/>
        </p:nvSpPr>
        <p:spPr>
          <a:xfrm>
            <a:off x="548640" y="4782312"/>
            <a:ext cx="5449824" cy="640080"/>
          </a:xfrm>
          <a:prstGeom prst="roundRect">
            <a:avLst>
              <a:gd name="adj" fmla="val 11429"/>
            </a:avLst>
          </a:prstGeom>
          <a:solidFill>
            <a:srgbClr val="22395F"/>
          </a:solidFill>
          <a:ln w="12700">
            <a:solidFill>
              <a:srgbClr val="22395F"/>
            </a:solidFill>
            <a:prstDash val="solid"/>
          </a:ln>
        </p:spPr>
      </p:sp>
      <p:sp>
        <p:nvSpPr>
          <p:cNvPr id="20" name="Shape 18"/>
          <p:cNvSpPr/>
          <p:nvPr/>
        </p:nvSpPr>
        <p:spPr>
          <a:xfrm>
            <a:off x="640080" y="4855464"/>
            <a:ext cx="493776" cy="493776"/>
          </a:xfrm>
          <a:prstGeom prst="ellipse">
            <a:avLst/>
          </a:prstGeom>
          <a:solidFill>
            <a:srgbClr val="A9B6D3"/>
          </a:solidFill>
          <a:ln w="12700">
            <a:solidFill>
              <a:srgbClr val="A9B6D3"/>
            </a:solidFill>
            <a:prstDash val="solid"/>
          </a:ln>
        </p:spPr>
      </p:sp>
      <p:sp>
        <p:nvSpPr>
          <p:cNvPr id="21" name="Text 19"/>
          <p:cNvSpPr txBox="1"/>
          <p:nvPr/>
        </p:nvSpPr>
        <p:spPr>
          <a:xfrm>
            <a:off x="640080" y="4855464"/>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5</a:t>
            </a:r>
            <a:endParaRPr lang="en-US" sz="1400" dirty="0"/>
          </a:p>
        </p:txBody>
      </p:sp>
      <p:sp>
        <p:nvSpPr>
          <p:cNvPr id="22" name="Text 20"/>
          <p:cNvSpPr txBox="1"/>
          <p:nvPr/>
        </p:nvSpPr>
        <p:spPr>
          <a:xfrm>
            <a:off x="1280160" y="4782312"/>
            <a:ext cx="457200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Quá ngắn hạn, giao dịch</a:t>
            </a:r>
            <a:endParaRPr lang="en-US" sz="1600" dirty="0"/>
          </a:p>
        </p:txBody>
      </p:sp>
      <p:sp>
        <p:nvSpPr>
          <p:cNvPr id="23" name="Shape 21"/>
          <p:cNvSpPr/>
          <p:nvPr/>
        </p:nvSpPr>
        <p:spPr>
          <a:xfrm>
            <a:off x="6190488" y="1783080"/>
            <a:ext cx="5449824" cy="640080"/>
          </a:xfrm>
          <a:prstGeom prst="roundRect">
            <a:avLst>
              <a:gd name="adj" fmla="val 11429"/>
            </a:avLst>
          </a:prstGeom>
          <a:solidFill>
            <a:srgbClr val="22395F"/>
          </a:solidFill>
          <a:ln w="12700">
            <a:solidFill>
              <a:srgbClr val="22395F"/>
            </a:solidFill>
            <a:prstDash val="solid"/>
          </a:ln>
        </p:spPr>
      </p:sp>
      <p:sp>
        <p:nvSpPr>
          <p:cNvPr id="24" name="Shape 22"/>
          <p:cNvSpPr/>
          <p:nvPr/>
        </p:nvSpPr>
        <p:spPr>
          <a:xfrm>
            <a:off x="6281928" y="1856232"/>
            <a:ext cx="493776" cy="493776"/>
          </a:xfrm>
          <a:prstGeom prst="ellipse">
            <a:avLst/>
          </a:prstGeom>
          <a:solidFill>
            <a:srgbClr val="A9B6D3"/>
          </a:solidFill>
          <a:ln w="12700">
            <a:solidFill>
              <a:srgbClr val="A9B6D3"/>
            </a:solidFill>
            <a:prstDash val="solid"/>
          </a:ln>
        </p:spPr>
      </p:sp>
      <p:sp>
        <p:nvSpPr>
          <p:cNvPr id="25" name="Text 23"/>
          <p:cNvSpPr txBox="1"/>
          <p:nvPr/>
        </p:nvSpPr>
        <p:spPr>
          <a:xfrm>
            <a:off x="6281928" y="1856232"/>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6</a:t>
            </a:r>
            <a:endParaRPr lang="en-US" sz="1400" dirty="0"/>
          </a:p>
        </p:txBody>
      </p:sp>
      <p:sp>
        <p:nvSpPr>
          <p:cNvPr id="26" name="Text 24"/>
          <p:cNvSpPr txBox="1"/>
          <p:nvPr/>
        </p:nvSpPr>
        <p:spPr>
          <a:xfrm>
            <a:off x="6922008" y="1783080"/>
            <a:ext cx="457200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Không rà soát, cập nhật</a:t>
            </a:r>
            <a:endParaRPr lang="en-US" sz="1600" dirty="0"/>
          </a:p>
        </p:txBody>
      </p:sp>
      <p:sp>
        <p:nvSpPr>
          <p:cNvPr id="27" name="Shape 25"/>
          <p:cNvSpPr/>
          <p:nvPr/>
        </p:nvSpPr>
        <p:spPr>
          <a:xfrm>
            <a:off x="6190488" y="2532888"/>
            <a:ext cx="5449824" cy="640080"/>
          </a:xfrm>
          <a:prstGeom prst="roundRect">
            <a:avLst>
              <a:gd name="adj" fmla="val 11429"/>
            </a:avLst>
          </a:prstGeom>
          <a:solidFill>
            <a:srgbClr val="FFD23B"/>
          </a:solidFill>
          <a:ln w="12700">
            <a:solidFill>
              <a:srgbClr val="FFD23B"/>
            </a:solidFill>
            <a:prstDash val="solid"/>
          </a:ln>
        </p:spPr>
      </p:sp>
      <p:sp>
        <p:nvSpPr>
          <p:cNvPr id="28" name="Shape 26"/>
          <p:cNvSpPr/>
          <p:nvPr/>
        </p:nvSpPr>
        <p:spPr>
          <a:xfrm>
            <a:off x="6281928" y="2606040"/>
            <a:ext cx="493776" cy="493776"/>
          </a:xfrm>
          <a:prstGeom prst="ellipse">
            <a:avLst/>
          </a:prstGeom>
          <a:solidFill>
            <a:srgbClr val="FF5178"/>
          </a:solidFill>
          <a:ln w="12700">
            <a:solidFill>
              <a:srgbClr val="FF5178"/>
            </a:solidFill>
            <a:prstDash val="solid"/>
          </a:ln>
        </p:spPr>
      </p:sp>
      <p:sp>
        <p:nvSpPr>
          <p:cNvPr id="29" name="Text 27"/>
          <p:cNvSpPr txBox="1"/>
          <p:nvPr/>
        </p:nvSpPr>
        <p:spPr>
          <a:xfrm>
            <a:off x="6281928" y="2606040"/>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7</a:t>
            </a:r>
            <a:endParaRPr lang="en-US" sz="1400" dirty="0"/>
          </a:p>
        </p:txBody>
      </p:sp>
      <p:sp>
        <p:nvSpPr>
          <p:cNvPr id="30" name="Text 28"/>
          <p:cNvSpPr txBox="1"/>
          <p:nvPr/>
        </p:nvSpPr>
        <p:spPr>
          <a:xfrm>
            <a:off x="6922008" y="2532888"/>
            <a:ext cx="457200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Toàn nói về nhà cung cấp, ít hiểu khách hàng</a:t>
            </a:r>
            <a:endParaRPr lang="en-US" sz="1600" dirty="0"/>
          </a:p>
        </p:txBody>
      </p:sp>
      <p:sp>
        <p:nvSpPr>
          <p:cNvPr id="31" name="Shape 29"/>
          <p:cNvSpPr/>
          <p:nvPr/>
        </p:nvSpPr>
        <p:spPr>
          <a:xfrm>
            <a:off x="6190488" y="3282696"/>
            <a:ext cx="5449824" cy="640080"/>
          </a:xfrm>
          <a:prstGeom prst="roundRect">
            <a:avLst>
              <a:gd name="adj" fmla="val 11429"/>
            </a:avLst>
          </a:prstGeom>
          <a:solidFill>
            <a:srgbClr val="22395F"/>
          </a:solidFill>
          <a:ln w="12700">
            <a:solidFill>
              <a:srgbClr val="22395F"/>
            </a:solidFill>
            <a:prstDash val="solid"/>
          </a:ln>
        </p:spPr>
      </p:sp>
      <p:sp>
        <p:nvSpPr>
          <p:cNvPr id="32" name="Shape 30"/>
          <p:cNvSpPr/>
          <p:nvPr/>
        </p:nvSpPr>
        <p:spPr>
          <a:xfrm>
            <a:off x="6281928" y="3355848"/>
            <a:ext cx="493776" cy="493776"/>
          </a:xfrm>
          <a:prstGeom prst="ellipse">
            <a:avLst/>
          </a:prstGeom>
          <a:solidFill>
            <a:srgbClr val="A9B6D3"/>
          </a:solidFill>
          <a:ln w="12700">
            <a:solidFill>
              <a:srgbClr val="A9B6D3"/>
            </a:solidFill>
            <a:prstDash val="solid"/>
          </a:ln>
        </p:spPr>
      </p:sp>
      <p:sp>
        <p:nvSpPr>
          <p:cNvPr id="33" name="Text 31"/>
          <p:cNvSpPr txBox="1"/>
          <p:nvPr/>
        </p:nvSpPr>
        <p:spPr>
          <a:xfrm>
            <a:off x="6281928" y="3355848"/>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8</a:t>
            </a:r>
            <a:endParaRPr lang="en-US" sz="1400" dirty="0"/>
          </a:p>
        </p:txBody>
      </p:sp>
      <p:sp>
        <p:nvSpPr>
          <p:cNvPr id="34" name="Text 32"/>
          <p:cNvSpPr txBox="1"/>
          <p:nvPr/>
        </p:nvSpPr>
        <p:spPr>
          <a:xfrm>
            <a:off x="6922008" y="3282696"/>
            <a:ext cx="457200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Giữ kế hoạch cho riêng mình</a:t>
            </a:r>
            <a:endParaRPr lang="en-US" sz="1600" dirty="0"/>
          </a:p>
        </p:txBody>
      </p:sp>
      <p:sp>
        <p:nvSpPr>
          <p:cNvPr id="35" name="Shape 33"/>
          <p:cNvSpPr/>
          <p:nvPr/>
        </p:nvSpPr>
        <p:spPr>
          <a:xfrm>
            <a:off x="6190488" y="4032504"/>
            <a:ext cx="5449824" cy="640080"/>
          </a:xfrm>
          <a:prstGeom prst="roundRect">
            <a:avLst>
              <a:gd name="adj" fmla="val 11429"/>
            </a:avLst>
          </a:prstGeom>
          <a:solidFill>
            <a:srgbClr val="FFD23B"/>
          </a:solidFill>
          <a:ln w="12700">
            <a:solidFill>
              <a:srgbClr val="FFD23B"/>
            </a:solidFill>
            <a:prstDash val="solid"/>
          </a:ln>
        </p:spPr>
      </p:sp>
      <p:sp>
        <p:nvSpPr>
          <p:cNvPr id="36" name="Shape 34"/>
          <p:cNvSpPr/>
          <p:nvPr/>
        </p:nvSpPr>
        <p:spPr>
          <a:xfrm>
            <a:off x="6281928" y="4105656"/>
            <a:ext cx="493776" cy="493776"/>
          </a:xfrm>
          <a:prstGeom prst="ellipse">
            <a:avLst/>
          </a:prstGeom>
          <a:solidFill>
            <a:srgbClr val="FF5178"/>
          </a:solidFill>
          <a:ln w="12700">
            <a:solidFill>
              <a:srgbClr val="FF5178"/>
            </a:solidFill>
            <a:prstDash val="solid"/>
          </a:ln>
        </p:spPr>
      </p:sp>
      <p:sp>
        <p:nvSpPr>
          <p:cNvPr id="37" name="Text 35"/>
          <p:cNvSpPr txBox="1"/>
          <p:nvPr/>
        </p:nvSpPr>
        <p:spPr>
          <a:xfrm>
            <a:off x="6281928" y="4105656"/>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9</a:t>
            </a:r>
            <a:endParaRPr lang="en-US" sz="1400" dirty="0"/>
          </a:p>
        </p:txBody>
      </p:sp>
      <p:sp>
        <p:nvSpPr>
          <p:cNvPr id="38" name="Text 36"/>
          <p:cNvSpPr txBox="1"/>
          <p:nvPr/>
        </p:nvSpPr>
        <p:spPr>
          <a:xfrm>
            <a:off x="6922008" y="4032504"/>
            <a:ext cx="457200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Coi là điền ô</a:t>
            </a:r>
            <a:endParaRPr lang="en-US" sz="1600" dirty="0"/>
          </a:p>
        </p:txBody>
      </p:sp>
      <p:sp>
        <p:nvSpPr>
          <p:cNvPr id="39" name="Shape 37"/>
          <p:cNvSpPr/>
          <p:nvPr/>
        </p:nvSpPr>
        <p:spPr>
          <a:xfrm>
            <a:off x="6190488" y="4782312"/>
            <a:ext cx="5449824" cy="640080"/>
          </a:xfrm>
          <a:prstGeom prst="roundRect">
            <a:avLst>
              <a:gd name="adj" fmla="val 11429"/>
            </a:avLst>
          </a:prstGeom>
          <a:solidFill>
            <a:srgbClr val="22395F"/>
          </a:solidFill>
          <a:ln w="12700">
            <a:solidFill>
              <a:srgbClr val="22395F"/>
            </a:solidFill>
            <a:prstDash val="solid"/>
          </a:ln>
        </p:spPr>
      </p:sp>
      <p:sp>
        <p:nvSpPr>
          <p:cNvPr id="40" name="Shape 38"/>
          <p:cNvSpPr/>
          <p:nvPr/>
        </p:nvSpPr>
        <p:spPr>
          <a:xfrm>
            <a:off x="6281928" y="4855464"/>
            <a:ext cx="493776" cy="493776"/>
          </a:xfrm>
          <a:prstGeom prst="ellipse">
            <a:avLst/>
          </a:prstGeom>
          <a:solidFill>
            <a:srgbClr val="A9B6D3"/>
          </a:solidFill>
          <a:ln w="12700">
            <a:solidFill>
              <a:srgbClr val="A9B6D3"/>
            </a:solidFill>
            <a:prstDash val="solid"/>
          </a:ln>
        </p:spPr>
      </p:sp>
      <p:sp>
        <p:nvSpPr>
          <p:cNvPr id="41" name="Text 39"/>
          <p:cNvSpPr txBox="1"/>
          <p:nvPr/>
        </p:nvSpPr>
        <p:spPr>
          <a:xfrm>
            <a:off x="6281928" y="4855464"/>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10</a:t>
            </a:r>
            <a:endParaRPr lang="en-US" sz="1400" dirty="0"/>
          </a:p>
        </p:txBody>
      </p:sp>
      <p:sp>
        <p:nvSpPr>
          <p:cNvPr id="42" name="Text 40"/>
          <p:cNvSpPr txBox="1"/>
          <p:nvPr/>
        </p:nvSpPr>
        <p:spPr>
          <a:xfrm>
            <a:off x="6922008" y="4782312"/>
            <a:ext cx="457200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Không ai sở hữu</a:t>
            </a:r>
            <a:endParaRPr lang="en-US" sz="1600" dirty="0"/>
          </a:p>
        </p:txBody>
      </p:sp>
      <p:sp>
        <p:nvSpPr>
          <p:cNvPr id="43" name="Text 41"/>
          <p:cNvSpPr txBox="1"/>
          <p:nvPr/>
        </p:nvSpPr>
        <p:spPr>
          <a:xfrm>
            <a:off x="548640" y="56692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Holt, Cranfield (Z02). Ô vàng: ba lỗi dễ gặp với nhóm sinh viên (nhận định) — gắn với tiêu chí 2 (“điền ô”, “nói về agency”) và tiêu chí 11.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Rubric: 60% bản kế hoạch, 40% thuyết trình và bảo vệ — 30% là điểm cá nhân</a:t>
            </a:r>
            <a:endParaRPr lang="en-US" sz="2800" dirty="0"/>
          </a:p>
        </p:txBody>
      </p:sp>
      <p:sp>
        <p:nvSpPr>
          <p:cNvPr id="3" name="Shape 1"/>
          <p:cNvSpPr/>
          <p:nvPr/>
        </p:nvSpPr>
        <p:spPr>
          <a:xfrm>
            <a:off x="548640" y="1783080"/>
            <a:ext cx="493776" cy="457200"/>
          </a:xfrm>
          <a:prstGeom prst="roundRect">
            <a:avLst>
              <a:gd name="adj" fmla="val 16000"/>
            </a:avLst>
          </a:prstGeom>
          <a:solidFill>
            <a:srgbClr val="49B296"/>
          </a:solidFill>
          <a:ln w="12700">
            <a:solidFill>
              <a:srgbClr val="49B296"/>
            </a:solidFill>
            <a:prstDash val="solid"/>
          </a:ln>
        </p:spPr>
      </p:sp>
      <p:sp>
        <p:nvSpPr>
          <p:cNvPr id="4" name="Text 2"/>
          <p:cNvSpPr txBox="1"/>
          <p:nvPr/>
        </p:nvSpPr>
        <p:spPr>
          <a:xfrm>
            <a:off x="640080" y="1783080"/>
            <a:ext cx="310896" cy="457200"/>
          </a:xfrm>
          <a:prstGeom prst="rect">
            <a:avLst/>
          </a:prstGeom>
          <a:noFill/>
          <a:ln/>
        </p:spPr>
        <p:txBody>
          <a:bodyPr wrap="square" lIns="635" tIns="635" rIns="635" bIns="635" rtlCol="0" anchor="ctr"/>
          <a:lstStyle/>
          <a:p>
            <a:pPr indent="0" marL="0">
              <a:buNone/>
            </a:pPr>
            <a:r>
              <a:rPr lang="en-US" sz="1350" b="1" dirty="0">
                <a:solidFill>
                  <a:srgbClr val="172849"/>
                </a:solidFill>
                <a:latin typeface="Roboto" pitchFamily="34" charset="0"/>
                <a:ea typeface="Roboto" pitchFamily="34" charset="-122"/>
                <a:cs typeface="Roboto" pitchFamily="34" charset="-120"/>
              </a:rPr>
              <a:t>#</a:t>
            </a:r>
            <a:endParaRPr lang="en-US" sz="1350" dirty="0"/>
          </a:p>
        </p:txBody>
      </p:sp>
      <p:sp>
        <p:nvSpPr>
          <p:cNvPr id="5" name="Shape 3"/>
          <p:cNvSpPr/>
          <p:nvPr/>
        </p:nvSpPr>
        <p:spPr>
          <a:xfrm>
            <a:off x="1097280" y="1783080"/>
            <a:ext cx="4151376" cy="457200"/>
          </a:xfrm>
          <a:prstGeom prst="roundRect">
            <a:avLst>
              <a:gd name="adj" fmla="val 16000"/>
            </a:avLst>
          </a:prstGeom>
          <a:solidFill>
            <a:srgbClr val="49B296"/>
          </a:solidFill>
          <a:ln w="12700">
            <a:solidFill>
              <a:srgbClr val="49B296"/>
            </a:solidFill>
            <a:prstDash val="solid"/>
          </a:ln>
        </p:spPr>
      </p:sp>
      <p:sp>
        <p:nvSpPr>
          <p:cNvPr id="6" name="Text 4"/>
          <p:cNvSpPr txBox="1"/>
          <p:nvPr/>
        </p:nvSpPr>
        <p:spPr>
          <a:xfrm>
            <a:off x="1188720" y="1783080"/>
            <a:ext cx="3968496" cy="457200"/>
          </a:xfrm>
          <a:prstGeom prst="rect">
            <a:avLst/>
          </a:prstGeom>
          <a:noFill/>
          <a:ln/>
        </p:spPr>
        <p:txBody>
          <a:bodyPr wrap="square" lIns="635" tIns="635" rIns="635" bIns="635" rtlCol="0" anchor="ctr"/>
          <a:lstStyle/>
          <a:p>
            <a:pPr indent="0" marL="0">
              <a:buNone/>
            </a:pPr>
            <a:r>
              <a:rPr lang="en-US" sz="1350" b="1" dirty="0">
                <a:solidFill>
                  <a:srgbClr val="172849"/>
                </a:solidFill>
                <a:latin typeface="Roboto" pitchFamily="34" charset="0"/>
                <a:ea typeface="Roboto" pitchFamily="34" charset="-122"/>
                <a:cs typeface="Roboto" pitchFamily="34" charset="-120"/>
              </a:rPr>
              <a:t>Phần I — Bản kế hoạch (điểm nhóm)</a:t>
            </a:r>
            <a:endParaRPr lang="en-US" sz="1350" dirty="0"/>
          </a:p>
        </p:txBody>
      </p:sp>
      <p:sp>
        <p:nvSpPr>
          <p:cNvPr id="7" name="Shape 5"/>
          <p:cNvSpPr/>
          <p:nvPr/>
        </p:nvSpPr>
        <p:spPr>
          <a:xfrm>
            <a:off x="5303520" y="1783080"/>
            <a:ext cx="722376" cy="457200"/>
          </a:xfrm>
          <a:prstGeom prst="roundRect">
            <a:avLst>
              <a:gd name="adj" fmla="val 16000"/>
            </a:avLst>
          </a:prstGeom>
          <a:solidFill>
            <a:srgbClr val="49B296"/>
          </a:solidFill>
          <a:ln w="12700">
            <a:solidFill>
              <a:srgbClr val="49B296"/>
            </a:solidFill>
            <a:prstDash val="solid"/>
          </a:ln>
        </p:spPr>
      </p:sp>
      <p:sp>
        <p:nvSpPr>
          <p:cNvPr id="8" name="Text 6"/>
          <p:cNvSpPr txBox="1"/>
          <p:nvPr/>
        </p:nvSpPr>
        <p:spPr>
          <a:xfrm>
            <a:off x="5394960" y="1783080"/>
            <a:ext cx="539496" cy="457200"/>
          </a:xfrm>
          <a:prstGeom prst="rect">
            <a:avLst/>
          </a:prstGeom>
          <a:noFill/>
          <a:ln/>
        </p:spPr>
        <p:txBody>
          <a:bodyPr wrap="square" lIns="635" tIns="635" rIns="635" bIns="635" rtlCol="0" anchor="ctr"/>
          <a:lstStyle/>
          <a:p>
            <a:pPr indent="0" marL="0">
              <a:buNone/>
            </a:pPr>
            <a:r>
              <a:rPr lang="en-US" sz="1350" b="1" dirty="0">
                <a:solidFill>
                  <a:srgbClr val="172849"/>
                </a:solidFill>
                <a:latin typeface="Roboto" pitchFamily="34" charset="0"/>
                <a:ea typeface="Roboto" pitchFamily="34" charset="-122"/>
                <a:cs typeface="Roboto" pitchFamily="34" charset="-120"/>
              </a:rPr>
              <a:t>%</a:t>
            </a:r>
            <a:endParaRPr lang="en-US" sz="1350" dirty="0"/>
          </a:p>
        </p:txBody>
      </p:sp>
      <p:sp>
        <p:nvSpPr>
          <p:cNvPr id="9" name="Shape 7"/>
          <p:cNvSpPr/>
          <p:nvPr/>
        </p:nvSpPr>
        <p:spPr>
          <a:xfrm>
            <a:off x="548640" y="2313432"/>
            <a:ext cx="493776" cy="411480"/>
          </a:xfrm>
          <a:prstGeom prst="roundRect">
            <a:avLst>
              <a:gd name="adj" fmla="val 17778"/>
            </a:avLst>
          </a:prstGeom>
          <a:solidFill>
            <a:srgbClr val="22395F"/>
          </a:solidFill>
          <a:ln w="12700">
            <a:solidFill>
              <a:srgbClr val="22395F"/>
            </a:solidFill>
            <a:prstDash val="solid"/>
          </a:ln>
        </p:spPr>
      </p:sp>
      <p:sp>
        <p:nvSpPr>
          <p:cNvPr id="10" name="Text 8"/>
          <p:cNvSpPr txBox="1"/>
          <p:nvPr/>
        </p:nvSpPr>
        <p:spPr>
          <a:xfrm>
            <a:off x="658368" y="2313432"/>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Roboto" pitchFamily="34" charset="0"/>
                <a:ea typeface="Roboto" pitchFamily="34" charset="-122"/>
                <a:cs typeface="Roboto" pitchFamily="34" charset="-120"/>
              </a:rPr>
              <a:t>1</a:t>
            </a:r>
            <a:endParaRPr lang="en-US" sz="1350" dirty="0"/>
          </a:p>
        </p:txBody>
      </p:sp>
      <p:sp>
        <p:nvSpPr>
          <p:cNvPr id="11" name="Shape 9"/>
          <p:cNvSpPr/>
          <p:nvPr/>
        </p:nvSpPr>
        <p:spPr>
          <a:xfrm>
            <a:off x="1097280" y="2313432"/>
            <a:ext cx="4151376" cy="411480"/>
          </a:xfrm>
          <a:prstGeom prst="roundRect">
            <a:avLst>
              <a:gd name="adj" fmla="val 17778"/>
            </a:avLst>
          </a:prstGeom>
          <a:solidFill>
            <a:srgbClr val="22395F"/>
          </a:solidFill>
          <a:ln w="12700">
            <a:solidFill>
              <a:srgbClr val="22395F"/>
            </a:solidFill>
            <a:prstDash val="solid"/>
          </a:ln>
        </p:spPr>
      </p:sp>
      <p:sp>
        <p:nvSpPr>
          <p:cNvPr id="12" name="Text 10"/>
          <p:cNvSpPr txBox="1"/>
          <p:nvPr/>
        </p:nvSpPr>
        <p:spPr>
          <a:xfrm>
            <a:off x="1207008" y="2313432"/>
            <a:ext cx="3931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Executive Summary (E)</a:t>
            </a:r>
            <a:endParaRPr lang="en-US" sz="1350" dirty="0"/>
          </a:p>
        </p:txBody>
      </p:sp>
      <p:sp>
        <p:nvSpPr>
          <p:cNvPr id="13" name="Shape 11"/>
          <p:cNvSpPr/>
          <p:nvPr/>
        </p:nvSpPr>
        <p:spPr>
          <a:xfrm>
            <a:off x="5303520" y="2313432"/>
            <a:ext cx="722376" cy="411480"/>
          </a:xfrm>
          <a:prstGeom prst="roundRect">
            <a:avLst>
              <a:gd name="adj" fmla="val 17778"/>
            </a:avLst>
          </a:prstGeom>
          <a:solidFill>
            <a:srgbClr val="22395F"/>
          </a:solidFill>
          <a:ln w="12700">
            <a:solidFill>
              <a:srgbClr val="22395F"/>
            </a:solidFill>
            <a:prstDash val="solid"/>
          </a:ln>
        </p:spPr>
      </p:sp>
      <p:sp>
        <p:nvSpPr>
          <p:cNvPr id="14" name="Text 12"/>
          <p:cNvSpPr txBox="1"/>
          <p:nvPr/>
        </p:nvSpPr>
        <p:spPr>
          <a:xfrm>
            <a:off x="5413248" y="2313432"/>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5</a:t>
            </a:r>
            <a:endParaRPr lang="en-US" sz="1350" dirty="0"/>
          </a:p>
        </p:txBody>
      </p:sp>
      <p:sp>
        <p:nvSpPr>
          <p:cNvPr id="15" name="Shape 13"/>
          <p:cNvSpPr/>
          <p:nvPr/>
        </p:nvSpPr>
        <p:spPr>
          <a:xfrm>
            <a:off x="548640" y="2798064"/>
            <a:ext cx="493776" cy="411480"/>
          </a:xfrm>
          <a:prstGeom prst="roundRect">
            <a:avLst>
              <a:gd name="adj" fmla="val 17778"/>
            </a:avLst>
          </a:prstGeom>
          <a:solidFill>
            <a:srgbClr val="22395F"/>
          </a:solidFill>
          <a:ln w="12700">
            <a:solidFill>
              <a:srgbClr val="22395F"/>
            </a:solidFill>
            <a:prstDash val="solid"/>
          </a:ln>
        </p:spPr>
      </p:sp>
      <p:sp>
        <p:nvSpPr>
          <p:cNvPr id="16" name="Text 14"/>
          <p:cNvSpPr txBox="1"/>
          <p:nvPr/>
        </p:nvSpPr>
        <p:spPr>
          <a:xfrm>
            <a:off x="658368" y="2798064"/>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Roboto" pitchFamily="34" charset="0"/>
                <a:ea typeface="Roboto" pitchFamily="34" charset="-122"/>
                <a:cs typeface="Roboto" pitchFamily="34" charset="-120"/>
              </a:rPr>
              <a:t>2</a:t>
            </a:r>
            <a:endParaRPr lang="en-US" sz="1350" dirty="0"/>
          </a:p>
        </p:txBody>
      </p:sp>
      <p:sp>
        <p:nvSpPr>
          <p:cNvPr id="17" name="Shape 15"/>
          <p:cNvSpPr/>
          <p:nvPr/>
        </p:nvSpPr>
        <p:spPr>
          <a:xfrm>
            <a:off x="1097280" y="2798064"/>
            <a:ext cx="4151376" cy="411480"/>
          </a:xfrm>
          <a:prstGeom prst="roundRect">
            <a:avLst>
              <a:gd name="adj" fmla="val 17778"/>
            </a:avLst>
          </a:prstGeom>
          <a:solidFill>
            <a:srgbClr val="22395F"/>
          </a:solidFill>
          <a:ln w="12700">
            <a:solidFill>
              <a:srgbClr val="22395F"/>
            </a:solidFill>
            <a:prstDash val="solid"/>
          </a:ln>
        </p:spPr>
      </p:sp>
      <p:sp>
        <p:nvSpPr>
          <p:cNvPr id="18" name="Text 16"/>
          <p:cNvSpPr txBox="1"/>
          <p:nvPr/>
        </p:nvSpPr>
        <p:spPr>
          <a:xfrm>
            <a:off x="1207008" y="2798064"/>
            <a:ext cx="3931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Value Insights (A)</a:t>
            </a:r>
            <a:endParaRPr lang="en-US" sz="1350" dirty="0"/>
          </a:p>
        </p:txBody>
      </p:sp>
      <p:sp>
        <p:nvSpPr>
          <p:cNvPr id="19" name="Shape 17"/>
          <p:cNvSpPr/>
          <p:nvPr/>
        </p:nvSpPr>
        <p:spPr>
          <a:xfrm>
            <a:off x="5303520" y="2798064"/>
            <a:ext cx="722376" cy="411480"/>
          </a:xfrm>
          <a:prstGeom prst="roundRect">
            <a:avLst>
              <a:gd name="adj" fmla="val 17778"/>
            </a:avLst>
          </a:prstGeom>
          <a:solidFill>
            <a:srgbClr val="22395F"/>
          </a:solidFill>
          <a:ln w="12700">
            <a:solidFill>
              <a:srgbClr val="22395F"/>
            </a:solidFill>
            <a:prstDash val="solid"/>
          </a:ln>
        </p:spPr>
      </p:sp>
      <p:sp>
        <p:nvSpPr>
          <p:cNvPr id="20" name="Text 18"/>
          <p:cNvSpPr txBox="1"/>
          <p:nvPr/>
        </p:nvSpPr>
        <p:spPr>
          <a:xfrm>
            <a:off x="5413248" y="2798064"/>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12</a:t>
            </a:r>
            <a:endParaRPr lang="en-US" sz="1350" dirty="0"/>
          </a:p>
        </p:txBody>
      </p:sp>
      <p:sp>
        <p:nvSpPr>
          <p:cNvPr id="21" name="Shape 19"/>
          <p:cNvSpPr/>
          <p:nvPr/>
        </p:nvSpPr>
        <p:spPr>
          <a:xfrm>
            <a:off x="548640" y="3282696"/>
            <a:ext cx="493776" cy="411480"/>
          </a:xfrm>
          <a:prstGeom prst="roundRect">
            <a:avLst>
              <a:gd name="adj" fmla="val 17778"/>
            </a:avLst>
          </a:prstGeom>
          <a:solidFill>
            <a:srgbClr val="22395F"/>
          </a:solidFill>
          <a:ln w="12700">
            <a:solidFill>
              <a:srgbClr val="22395F"/>
            </a:solidFill>
            <a:prstDash val="solid"/>
          </a:ln>
        </p:spPr>
      </p:sp>
      <p:sp>
        <p:nvSpPr>
          <p:cNvPr id="22" name="Text 20"/>
          <p:cNvSpPr txBox="1"/>
          <p:nvPr/>
        </p:nvSpPr>
        <p:spPr>
          <a:xfrm>
            <a:off x="658368" y="3282696"/>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Roboto" pitchFamily="34" charset="0"/>
                <a:ea typeface="Roboto" pitchFamily="34" charset="-122"/>
                <a:cs typeface="Roboto" pitchFamily="34" charset="-120"/>
              </a:rPr>
              <a:t>3</a:t>
            </a:r>
            <a:endParaRPr lang="en-US" sz="1350" dirty="0"/>
          </a:p>
        </p:txBody>
      </p:sp>
      <p:sp>
        <p:nvSpPr>
          <p:cNvPr id="23" name="Shape 21"/>
          <p:cNvSpPr/>
          <p:nvPr/>
        </p:nvSpPr>
        <p:spPr>
          <a:xfrm>
            <a:off x="1097280" y="3282696"/>
            <a:ext cx="4151376" cy="411480"/>
          </a:xfrm>
          <a:prstGeom prst="roundRect">
            <a:avLst>
              <a:gd name="adj" fmla="val 17778"/>
            </a:avLst>
          </a:prstGeom>
          <a:solidFill>
            <a:srgbClr val="22395F"/>
          </a:solidFill>
          <a:ln w="12700">
            <a:solidFill>
              <a:srgbClr val="22395F"/>
            </a:solidFill>
            <a:prstDash val="solid"/>
          </a:ln>
        </p:spPr>
      </p:sp>
      <p:sp>
        <p:nvSpPr>
          <p:cNvPr id="24" name="Text 22"/>
          <p:cNvSpPr txBox="1"/>
          <p:nvPr/>
        </p:nvSpPr>
        <p:spPr>
          <a:xfrm>
            <a:off x="1207008" y="3282696"/>
            <a:ext cx="3931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Value Opportunities (B)</a:t>
            </a:r>
            <a:endParaRPr lang="en-US" sz="1350" dirty="0"/>
          </a:p>
        </p:txBody>
      </p:sp>
      <p:sp>
        <p:nvSpPr>
          <p:cNvPr id="25" name="Shape 23"/>
          <p:cNvSpPr/>
          <p:nvPr/>
        </p:nvSpPr>
        <p:spPr>
          <a:xfrm>
            <a:off x="5303520" y="3282696"/>
            <a:ext cx="722376" cy="411480"/>
          </a:xfrm>
          <a:prstGeom prst="roundRect">
            <a:avLst>
              <a:gd name="adj" fmla="val 17778"/>
            </a:avLst>
          </a:prstGeom>
          <a:solidFill>
            <a:srgbClr val="22395F"/>
          </a:solidFill>
          <a:ln w="12700">
            <a:solidFill>
              <a:srgbClr val="22395F"/>
            </a:solidFill>
            <a:prstDash val="solid"/>
          </a:ln>
        </p:spPr>
      </p:sp>
      <p:sp>
        <p:nvSpPr>
          <p:cNvPr id="26" name="Text 24"/>
          <p:cNvSpPr txBox="1"/>
          <p:nvPr/>
        </p:nvSpPr>
        <p:spPr>
          <a:xfrm>
            <a:off x="5413248" y="3282696"/>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10</a:t>
            </a:r>
            <a:endParaRPr lang="en-US" sz="1350" dirty="0"/>
          </a:p>
        </p:txBody>
      </p:sp>
      <p:sp>
        <p:nvSpPr>
          <p:cNvPr id="27" name="Shape 25"/>
          <p:cNvSpPr/>
          <p:nvPr/>
        </p:nvSpPr>
        <p:spPr>
          <a:xfrm>
            <a:off x="548640" y="3767328"/>
            <a:ext cx="493776" cy="411480"/>
          </a:xfrm>
          <a:prstGeom prst="roundRect">
            <a:avLst>
              <a:gd name="adj" fmla="val 17778"/>
            </a:avLst>
          </a:prstGeom>
          <a:solidFill>
            <a:srgbClr val="22395F"/>
          </a:solidFill>
          <a:ln w="12700">
            <a:solidFill>
              <a:srgbClr val="22395F"/>
            </a:solidFill>
            <a:prstDash val="solid"/>
          </a:ln>
        </p:spPr>
      </p:sp>
      <p:sp>
        <p:nvSpPr>
          <p:cNvPr id="28" name="Text 26"/>
          <p:cNvSpPr txBox="1"/>
          <p:nvPr/>
        </p:nvSpPr>
        <p:spPr>
          <a:xfrm>
            <a:off x="658368" y="3767328"/>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Roboto" pitchFamily="34" charset="0"/>
                <a:ea typeface="Roboto" pitchFamily="34" charset="-122"/>
                <a:cs typeface="Roboto" pitchFamily="34" charset="-120"/>
              </a:rPr>
              <a:t>4</a:t>
            </a:r>
            <a:endParaRPr lang="en-US" sz="1350" dirty="0"/>
          </a:p>
        </p:txBody>
      </p:sp>
      <p:sp>
        <p:nvSpPr>
          <p:cNvPr id="29" name="Shape 27"/>
          <p:cNvSpPr/>
          <p:nvPr/>
        </p:nvSpPr>
        <p:spPr>
          <a:xfrm>
            <a:off x="1097280" y="3767328"/>
            <a:ext cx="4151376" cy="411480"/>
          </a:xfrm>
          <a:prstGeom prst="roundRect">
            <a:avLst>
              <a:gd name="adj" fmla="val 17778"/>
            </a:avLst>
          </a:prstGeom>
          <a:solidFill>
            <a:srgbClr val="22395F"/>
          </a:solidFill>
          <a:ln w="12700">
            <a:solidFill>
              <a:srgbClr val="22395F"/>
            </a:solidFill>
            <a:prstDash val="solid"/>
          </a:ln>
        </p:spPr>
      </p:sp>
      <p:sp>
        <p:nvSpPr>
          <p:cNvPr id="30" name="Text 28"/>
          <p:cNvSpPr txBox="1"/>
          <p:nvPr/>
        </p:nvSpPr>
        <p:spPr>
          <a:xfrm>
            <a:off x="1207008" y="3767328"/>
            <a:ext cx="3931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Value Propositions (C)</a:t>
            </a:r>
            <a:endParaRPr lang="en-US" sz="1350" dirty="0"/>
          </a:p>
        </p:txBody>
      </p:sp>
      <p:sp>
        <p:nvSpPr>
          <p:cNvPr id="31" name="Shape 29"/>
          <p:cNvSpPr/>
          <p:nvPr/>
        </p:nvSpPr>
        <p:spPr>
          <a:xfrm>
            <a:off x="5303520" y="3767328"/>
            <a:ext cx="722376" cy="411480"/>
          </a:xfrm>
          <a:prstGeom prst="roundRect">
            <a:avLst>
              <a:gd name="adj" fmla="val 17778"/>
            </a:avLst>
          </a:prstGeom>
          <a:solidFill>
            <a:srgbClr val="22395F"/>
          </a:solidFill>
          <a:ln w="12700">
            <a:solidFill>
              <a:srgbClr val="22395F"/>
            </a:solidFill>
            <a:prstDash val="solid"/>
          </a:ln>
        </p:spPr>
      </p:sp>
      <p:sp>
        <p:nvSpPr>
          <p:cNvPr id="32" name="Text 30"/>
          <p:cNvSpPr txBox="1"/>
          <p:nvPr/>
        </p:nvSpPr>
        <p:spPr>
          <a:xfrm>
            <a:off x="5413248" y="3767328"/>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10</a:t>
            </a:r>
            <a:endParaRPr lang="en-US" sz="1350" dirty="0"/>
          </a:p>
        </p:txBody>
      </p:sp>
      <p:sp>
        <p:nvSpPr>
          <p:cNvPr id="33" name="Shape 31"/>
          <p:cNvSpPr/>
          <p:nvPr/>
        </p:nvSpPr>
        <p:spPr>
          <a:xfrm>
            <a:off x="548640" y="4251960"/>
            <a:ext cx="493776" cy="411480"/>
          </a:xfrm>
          <a:prstGeom prst="roundRect">
            <a:avLst>
              <a:gd name="adj" fmla="val 17778"/>
            </a:avLst>
          </a:prstGeom>
          <a:solidFill>
            <a:srgbClr val="22395F"/>
          </a:solidFill>
          <a:ln w="12700">
            <a:solidFill>
              <a:srgbClr val="22395F"/>
            </a:solidFill>
            <a:prstDash val="solid"/>
          </a:ln>
        </p:spPr>
      </p:sp>
      <p:sp>
        <p:nvSpPr>
          <p:cNvPr id="34" name="Text 32"/>
          <p:cNvSpPr txBox="1"/>
          <p:nvPr/>
        </p:nvSpPr>
        <p:spPr>
          <a:xfrm>
            <a:off x="658368" y="4251960"/>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Roboto" pitchFamily="34" charset="0"/>
                <a:ea typeface="Roboto" pitchFamily="34" charset="-122"/>
                <a:cs typeface="Roboto" pitchFamily="34" charset="-120"/>
              </a:rPr>
              <a:t>5</a:t>
            </a:r>
            <a:endParaRPr lang="en-US" sz="1350" dirty="0"/>
          </a:p>
        </p:txBody>
      </p:sp>
      <p:sp>
        <p:nvSpPr>
          <p:cNvPr id="35" name="Shape 33"/>
          <p:cNvSpPr/>
          <p:nvPr/>
        </p:nvSpPr>
        <p:spPr>
          <a:xfrm>
            <a:off x="1097280" y="4251960"/>
            <a:ext cx="4151376" cy="411480"/>
          </a:xfrm>
          <a:prstGeom prst="roundRect">
            <a:avLst>
              <a:gd name="adj" fmla="val 17778"/>
            </a:avLst>
          </a:prstGeom>
          <a:solidFill>
            <a:srgbClr val="22395F"/>
          </a:solidFill>
          <a:ln w="12700">
            <a:solidFill>
              <a:srgbClr val="22395F"/>
            </a:solidFill>
            <a:prstDash val="solid"/>
          </a:ln>
        </p:spPr>
      </p:sp>
      <p:sp>
        <p:nvSpPr>
          <p:cNvPr id="36" name="Text 34"/>
          <p:cNvSpPr txBox="1"/>
          <p:nvPr/>
        </p:nvSpPr>
        <p:spPr>
          <a:xfrm>
            <a:off x="1207008" y="4251960"/>
            <a:ext cx="3931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Value Delivery — quan hệ Key Account</a:t>
            </a:r>
            <a:endParaRPr lang="en-US" sz="1350" dirty="0"/>
          </a:p>
        </p:txBody>
      </p:sp>
      <p:sp>
        <p:nvSpPr>
          <p:cNvPr id="37" name="Shape 35"/>
          <p:cNvSpPr/>
          <p:nvPr/>
        </p:nvSpPr>
        <p:spPr>
          <a:xfrm>
            <a:off x="5303520" y="4251960"/>
            <a:ext cx="722376" cy="411480"/>
          </a:xfrm>
          <a:prstGeom prst="roundRect">
            <a:avLst>
              <a:gd name="adj" fmla="val 17778"/>
            </a:avLst>
          </a:prstGeom>
          <a:solidFill>
            <a:srgbClr val="22395F"/>
          </a:solidFill>
          <a:ln w="12700">
            <a:solidFill>
              <a:srgbClr val="22395F"/>
            </a:solidFill>
            <a:prstDash val="solid"/>
          </a:ln>
        </p:spPr>
      </p:sp>
      <p:sp>
        <p:nvSpPr>
          <p:cNvPr id="38" name="Text 36"/>
          <p:cNvSpPr txBox="1"/>
          <p:nvPr/>
        </p:nvSpPr>
        <p:spPr>
          <a:xfrm>
            <a:off x="5413248" y="4251960"/>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8</a:t>
            </a:r>
            <a:endParaRPr lang="en-US" sz="1350" dirty="0"/>
          </a:p>
        </p:txBody>
      </p:sp>
      <p:sp>
        <p:nvSpPr>
          <p:cNvPr id="39" name="Shape 37"/>
          <p:cNvSpPr/>
          <p:nvPr/>
        </p:nvSpPr>
        <p:spPr>
          <a:xfrm>
            <a:off x="548640" y="4736592"/>
            <a:ext cx="493776" cy="411480"/>
          </a:xfrm>
          <a:prstGeom prst="roundRect">
            <a:avLst>
              <a:gd name="adj" fmla="val 17778"/>
            </a:avLst>
          </a:prstGeom>
          <a:solidFill>
            <a:srgbClr val="22395F"/>
          </a:solidFill>
          <a:ln w="12700">
            <a:solidFill>
              <a:srgbClr val="22395F"/>
            </a:solidFill>
            <a:prstDash val="solid"/>
          </a:ln>
        </p:spPr>
      </p:sp>
      <p:sp>
        <p:nvSpPr>
          <p:cNvPr id="40" name="Text 38"/>
          <p:cNvSpPr txBox="1"/>
          <p:nvPr/>
        </p:nvSpPr>
        <p:spPr>
          <a:xfrm>
            <a:off x="658368" y="4736592"/>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Roboto" pitchFamily="34" charset="0"/>
                <a:ea typeface="Roboto" pitchFamily="34" charset="-122"/>
                <a:cs typeface="Roboto" pitchFamily="34" charset="-120"/>
              </a:rPr>
              <a:t>6</a:t>
            </a:r>
            <a:endParaRPr lang="en-US" sz="1350" dirty="0"/>
          </a:p>
        </p:txBody>
      </p:sp>
      <p:sp>
        <p:nvSpPr>
          <p:cNvPr id="41" name="Shape 39"/>
          <p:cNvSpPr/>
          <p:nvPr/>
        </p:nvSpPr>
        <p:spPr>
          <a:xfrm>
            <a:off x="1097280" y="4736592"/>
            <a:ext cx="4151376" cy="411480"/>
          </a:xfrm>
          <a:prstGeom prst="roundRect">
            <a:avLst>
              <a:gd name="adj" fmla="val 17778"/>
            </a:avLst>
          </a:prstGeom>
          <a:solidFill>
            <a:srgbClr val="22395F"/>
          </a:solidFill>
          <a:ln w="12700">
            <a:solidFill>
              <a:srgbClr val="22395F"/>
            </a:solidFill>
            <a:prstDash val="solid"/>
          </a:ln>
        </p:spPr>
      </p:sp>
      <p:sp>
        <p:nvSpPr>
          <p:cNvPr id="42" name="Text 40"/>
          <p:cNvSpPr txBox="1"/>
          <p:nvPr/>
        </p:nvSpPr>
        <p:spPr>
          <a:xfrm>
            <a:off x="1207008" y="4736592"/>
            <a:ext cx="3931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Value Delivery — bên ngoài (13.2)</a:t>
            </a:r>
            <a:endParaRPr lang="en-US" sz="1350" dirty="0"/>
          </a:p>
        </p:txBody>
      </p:sp>
      <p:sp>
        <p:nvSpPr>
          <p:cNvPr id="43" name="Shape 41"/>
          <p:cNvSpPr/>
          <p:nvPr/>
        </p:nvSpPr>
        <p:spPr>
          <a:xfrm>
            <a:off x="5303520" y="4736592"/>
            <a:ext cx="722376" cy="411480"/>
          </a:xfrm>
          <a:prstGeom prst="roundRect">
            <a:avLst>
              <a:gd name="adj" fmla="val 17778"/>
            </a:avLst>
          </a:prstGeom>
          <a:solidFill>
            <a:srgbClr val="22395F"/>
          </a:solidFill>
          <a:ln w="12700">
            <a:solidFill>
              <a:srgbClr val="22395F"/>
            </a:solidFill>
            <a:prstDash val="solid"/>
          </a:ln>
        </p:spPr>
      </p:sp>
      <p:sp>
        <p:nvSpPr>
          <p:cNvPr id="44" name="Text 42"/>
          <p:cNvSpPr txBox="1"/>
          <p:nvPr/>
        </p:nvSpPr>
        <p:spPr>
          <a:xfrm>
            <a:off x="5413248" y="4736592"/>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10</a:t>
            </a:r>
            <a:endParaRPr lang="en-US" sz="1350" dirty="0"/>
          </a:p>
        </p:txBody>
      </p:sp>
      <p:sp>
        <p:nvSpPr>
          <p:cNvPr id="45" name="Shape 43"/>
          <p:cNvSpPr/>
          <p:nvPr/>
        </p:nvSpPr>
        <p:spPr>
          <a:xfrm>
            <a:off x="548640" y="5221224"/>
            <a:ext cx="493776" cy="411480"/>
          </a:xfrm>
          <a:prstGeom prst="roundRect">
            <a:avLst>
              <a:gd name="adj" fmla="val 17778"/>
            </a:avLst>
          </a:prstGeom>
          <a:solidFill>
            <a:srgbClr val="22395F"/>
          </a:solidFill>
          <a:ln w="12700">
            <a:solidFill>
              <a:srgbClr val="22395F"/>
            </a:solidFill>
            <a:prstDash val="solid"/>
          </a:ln>
        </p:spPr>
      </p:sp>
      <p:sp>
        <p:nvSpPr>
          <p:cNvPr id="46" name="Text 44"/>
          <p:cNvSpPr txBox="1"/>
          <p:nvPr/>
        </p:nvSpPr>
        <p:spPr>
          <a:xfrm>
            <a:off x="658368" y="5221224"/>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Roboto" pitchFamily="34" charset="0"/>
                <a:ea typeface="Roboto" pitchFamily="34" charset="-122"/>
                <a:cs typeface="Roboto" pitchFamily="34" charset="-120"/>
              </a:rPr>
              <a:t>7</a:t>
            </a:r>
            <a:endParaRPr lang="en-US" sz="1350" dirty="0"/>
          </a:p>
        </p:txBody>
      </p:sp>
      <p:sp>
        <p:nvSpPr>
          <p:cNvPr id="47" name="Shape 45"/>
          <p:cNvSpPr/>
          <p:nvPr/>
        </p:nvSpPr>
        <p:spPr>
          <a:xfrm>
            <a:off x="1097280" y="5221224"/>
            <a:ext cx="4151376" cy="411480"/>
          </a:xfrm>
          <a:prstGeom prst="roundRect">
            <a:avLst>
              <a:gd name="adj" fmla="val 17778"/>
            </a:avLst>
          </a:prstGeom>
          <a:solidFill>
            <a:srgbClr val="22395F"/>
          </a:solidFill>
          <a:ln w="12700">
            <a:solidFill>
              <a:srgbClr val="22395F"/>
            </a:solidFill>
            <a:prstDash val="solid"/>
          </a:ln>
        </p:spPr>
      </p:sp>
      <p:sp>
        <p:nvSpPr>
          <p:cNvPr id="48" name="Text 46"/>
          <p:cNvSpPr txBox="1"/>
          <p:nvPr/>
        </p:nvSpPr>
        <p:spPr>
          <a:xfrm>
            <a:off x="1207008" y="5221224"/>
            <a:ext cx="3931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Trình bày, nguồn, liêm chính</a:t>
            </a:r>
            <a:endParaRPr lang="en-US" sz="1350" dirty="0"/>
          </a:p>
        </p:txBody>
      </p:sp>
      <p:sp>
        <p:nvSpPr>
          <p:cNvPr id="49" name="Shape 47"/>
          <p:cNvSpPr/>
          <p:nvPr/>
        </p:nvSpPr>
        <p:spPr>
          <a:xfrm>
            <a:off x="5303520" y="5221224"/>
            <a:ext cx="722376" cy="411480"/>
          </a:xfrm>
          <a:prstGeom prst="roundRect">
            <a:avLst>
              <a:gd name="adj" fmla="val 17778"/>
            </a:avLst>
          </a:prstGeom>
          <a:solidFill>
            <a:srgbClr val="22395F"/>
          </a:solidFill>
          <a:ln w="12700">
            <a:solidFill>
              <a:srgbClr val="22395F"/>
            </a:solidFill>
            <a:prstDash val="solid"/>
          </a:ln>
        </p:spPr>
      </p:sp>
      <p:sp>
        <p:nvSpPr>
          <p:cNvPr id="50" name="Text 48"/>
          <p:cNvSpPr txBox="1"/>
          <p:nvPr/>
        </p:nvSpPr>
        <p:spPr>
          <a:xfrm>
            <a:off x="5413248" y="5221224"/>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5</a:t>
            </a:r>
            <a:endParaRPr lang="en-US" sz="1350" dirty="0"/>
          </a:p>
        </p:txBody>
      </p:sp>
      <p:sp>
        <p:nvSpPr>
          <p:cNvPr id="51" name="Shape 49"/>
          <p:cNvSpPr/>
          <p:nvPr/>
        </p:nvSpPr>
        <p:spPr>
          <a:xfrm>
            <a:off x="6217920" y="1783080"/>
            <a:ext cx="493776" cy="457200"/>
          </a:xfrm>
          <a:prstGeom prst="roundRect">
            <a:avLst>
              <a:gd name="adj" fmla="val 16000"/>
            </a:avLst>
          </a:prstGeom>
          <a:solidFill>
            <a:srgbClr val="FF5178"/>
          </a:solidFill>
          <a:ln w="12700">
            <a:solidFill>
              <a:srgbClr val="FF5178"/>
            </a:solidFill>
            <a:prstDash val="solid"/>
          </a:ln>
        </p:spPr>
      </p:sp>
      <p:sp>
        <p:nvSpPr>
          <p:cNvPr id="52" name="Text 50"/>
          <p:cNvSpPr txBox="1"/>
          <p:nvPr/>
        </p:nvSpPr>
        <p:spPr>
          <a:xfrm>
            <a:off x="6309360" y="1783080"/>
            <a:ext cx="310896" cy="457200"/>
          </a:xfrm>
          <a:prstGeom prst="rect">
            <a:avLst/>
          </a:prstGeom>
          <a:noFill/>
          <a:ln/>
        </p:spPr>
        <p:txBody>
          <a:bodyPr wrap="square" lIns="635" tIns="635" rIns="635" bIns="635" rtlCol="0" anchor="ctr"/>
          <a:lstStyle/>
          <a:p>
            <a:pPr indent="0" marL="0">
              <a:buNone/>
            </a:pPr>
            <a:r>
              <a:rPr lang="en-US" sz="1350" b="1" dirty="0">
                <a:solidFill>
                  <a:srgbClr val="172849"/>
                </a:solidFill>
                <a:latin typeface="Roboto" pitchFamily="34" charset="0"/>
                <a:ea typeface="Roboto" pitchFamily="34" charset="-122"/>
                <a:cs typeface="Roboto" pitchFamily="34" charset="-120"/>
              </a:rPr>
              <a:t>#</a:t>
            </a:r>
            <a:endParaRPr lang="en-US" sz="1350" dirty="0"/>
          </a:p>
        </p:txBody>
      </p:sp>
      <p:sp>
        <p:nvSpPr>
          <p:cNvPr id="53" name="Shape 51"/>
          <p:cNvSpPr/>
          <p:nvPr/>
        </p:nvSpPr>
        <p:spPr>
          <a:xfrm>
            <a:off x="6766560" y="1783080"/>
            <a:ext cx="4224528" cy="457200"/>
          </a:xfrm>
          <a:prstGeom prst="roundRect">
            <a:avLst>
              <a:gd name="adj" fmla="val 16000"/>
            </a:avLst>
          </a:prstGeom>
          <a:solidFill>
            <a:srgbClr val="FF5178"/>
          </a:solidFill>
          <a:ln w="12700">
            <a:solidFill>
              <a:srgbClr val="FF5178"/>
            </a:solidFill>
            <a:prstDash val="solid"/>
          </a:ln>
        </p:spPr>
      </p:sp>
      <p:sp>
        <p:nvSpPr>
          <p:cNvPr id="54" name="Text 52"/>
          <p:cNvSpPr txBox="1"/>
          <p:nvPr/>
        </p:nvSpPr>
        <p:spPr>
          <a:xfrm>
            <a:off x="6858000" y="1783080"/>
            <a:ext cx="4041648" cy="457200"/>
          </a:xfrm>
          <a:prstGeom prst="rect">
            <a:avLst/>
          </a:prstGeom>
          <a:noFill/>
          <a:ln/>
        </p:spPr>
        <p:txBody>
          <a:bodyPr wrap="square" lIns="635" tIns="635" rIns="635" bIns="635" rtlCol="0" anchor="ctr"/>
          <a:lstStyle/>
          <a:p>
            <a:pPr indent="0" marL="0">
              <a:buNone/>
            </a:pPr>
            <a:r>
              <a:rPr lang="en-US" sz="1350" b="1" dirty="0">
                <a:solidFill>
                  <a:srgbClr val="172849"/>
                </a:solidFill>
                <a:latin typeface="Roboto" pitchFamily="34" charset="0"/>
                <a:ea typeface="Roboto" pitchFamily="34" charset="-122"/>
                <a:cs typeface="Roboto" pitchFamily="34" charset="-120"/>
              </a:rPr>
              <a:t>Phần II — Thuyết trình, bảo vệ</a:t>
            </a:r>
            <a:endParaRPr lang="en-US" sz="1350" dirty="0"/>
          </a:p>
        </p:txBody>
      </p:sp>
      <p:sp>
        <p:nvSpPr>
          <p:cNvPr id="55" name="Shape 53"/>
          <p:cNvSpPr/>
          <p:nvPr/>
        </p:nvSpPr>
        <p:spPr>
          <a:xfrm>
            <a:off x="11045952" y="1783080"/>
            <a:ext cx="722376" cy="457200"/>
          </a:xfrm>
          <a:prstGeom prst="roundRect">
            <a:avLst>
              <a:gd name="adj" fmla="val 16000"/>
            </a:avLst>
          </a:prstGeom>
          <a:solidFill>
            <a:srgbClr val="FF5178"/>
          </a:solidFill>
          <a:ln w="12700">
            <a:solidFill>
              <a:srgbClr val="FF5178"/>
            </a:solidFill>
            <a:prstDash val="solid"/>
          </a:ln>
        </p:spPr>
      </p:sp>
      <p:sp>
        <p:nvSpPr>
          <p:cNvPr id="56" name="Text 54"/>
          <p:cNvSpPr txBox="1"/>
          <p:nvPr/>
        </p:nvSpPr>
        <p:spPr>
          <a:xfrm>
            <a:off x="11137392" y="1783080"/>
            <a:ext cx="539496" cy="457200"/>
          </a:xfrm>
          <a:prstGeom prst="rect">
            <a:avLst/>
          </a:prstGeom>
          <a:noFill/>
          <a:ln/>
        </p:spPr>
        <p:txBody>
          <a:bodyPr wrap="square" lIns="635" tIns="635" rIns="635" bIns="635" rtlCol="0" anchor="ctr"/>
          <a:lstStyle/>
          <a:p>
            <a:pPr indent="0" marL="0">
              <a:buNone/>
            </a:pPr>
            <a:r>
              <a:rPr lang="en-US" sz="1350" b="1" dirty="0">
                <a:solidFill>
                  <a:srgbClr val="172849"/>
                </a:solidFill>
                <a:latin typeface="Roboto" pitchFamily="34" charset="0"/>
                <a:ea typeface="Roboto" pitchFamily="34" charset="-122"/>
                <a:cs typeface="Roboto" pitchFamily="34" charset="-120"/>
              </a:rPr>
              <a:t>%</a:t>
            </a:r>
            <a:endParaRPr lang="en-US" sz="1350" dirty="0"/>
          </a:p>
        </p:txBody>
      </p:sp>
      <p:sp>
        <p:nvSpPr>
          <p:cNvPr id="57" name="Shape 55"/>
          <p:cNvSpPr/>
          <p:nvPr/>
        </p:nvSpPr>
        <p:spPr>
          <a:xfrm>
            <a:off x="6217920" y="2313432"/>
            <a:ext cx="493776" cy="411480"/>
          </a:xfrm>
          <a:prstGeom prst="roundRect">
            <a:avLst>
              <a:gd name="adj" fmla="val 17778"/>
            </a:avLst>
          </a:prstGeom>
          <a:solidFill>
            <a:srgbClr val="22395F"/>
          </a:solidFill>
          <a:ln w="12700">
            <a:solidFill>
              <a:srgbClr val="22395F"/>
            </a:solidFill>
            <a:prstDash val="solid"/>
          </a:ln>
        </p:spPr>
      </p:sp>
      <p:sp>
        <p:nvSpPr>
          <p:cNvPr id="58" name="Text 56"/>
          <p:cNvSpPr txBox="1"/>
          <p:nvPr/>
        </p:nvSpPr>
        <p:spPr>
          <a:xfrm>
            <a:off x="6327648" y="2313432"/>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Roboto" pitchFamily="34" charset="0"/>
                <a:ea typeface="Roboto" pitchFamily="34" charset="-122"/>
                <a:cs typeface="Roboto" pitchFamily="34" charset="-120"/>
              </a:rPr>
              <a:t>8</a:t>
            </a:r>
            <a:endParaRPr lang="en-US" sz="1350" dirty="0"/>
          </a:p>
        </p:txBody>
      </p:sp>
      <p:sp>
        <p:nvSpPr>
          <p:cNvPr id="59" name="Shape 57"/>
          <p:cNvSpPr/>
          <p:nvPr/>
        </p:nvSpPr>
        <p:spPr>
          <a:xfrm>
            <a:off x="6766560" y="2313432"/>
            <a:ext cx="4224528" cy="411480"/>
          </a:xfrm>
          <a:prstGeom prst="roundRect">
            <a:avLst>
              <a:gd name="adj" fmla="val 17778"/>
            </a:avLst>
          </a:prstGeom>
          <a:solidFill>
            <a:srgbClr val="22395F"/>
          </a:solidFill>
          <a:ln w="12700">
            <a:solidFill>
              <a:srgbClr val="22395F"/>
            </a:solidFill>
            <a:prstDash val="solid"/>
          </a:ln>
        </p:spPr>
      </p:sp>
      <p:sp>
        <p:nvSpPr>
          <p:cNvPr id="60" name="Text 58"/>
          <p:cNvSpPr txBox="1"/>
          <p:nvPr/>
        </p:nvSpPr>
        <p:spPr>
          <a:xfrm>
            <a:off x="6876288" y="2313432"/>
            <a:ext cx="4005072"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Trình bày — vai KAM Director (nhóm)</a:t>
            </a:r>
            <a:endParaRPr lang="en-US" sz="1350" dirty="0"/>
          </a:p>
        </p:txBody>
      </p:sp>
      <p:sp>
        <p:nvSpPr>
          <p:cNvPr id="61" name="Shape 59"/>
          <p:cNvSpPr/>
          <p:nvPr/>
        </p:nvSpPr>
        <p:spPr>
          <a:xfrm>
            <a:off x="11045952" y="2313432"/>
            <a:ext cx="722376" cy="411480"/>
          </a:xfrm>
          <a:prstGeom prst="roundRect">
            <a:avLst>
              <a:gd name="adj" fmla="val 17778"/>
            </a:avLst>
          </a:prstGeom>
          <a:solidFill>
            <a:srgbClr val="22395F"/>
          </a:solidFill>
          <a:ln w="12700">
            <a:solidFill>
              <a:srgbClr val="22395F"/>
            </a:solidFill>
            <a:prstDash val="solid"/>
          </a:ln>
        </p:spPr>
      </p:sp>
      <p:sp>
        <p:nvSpPr>
          <p:cNvPr id="62" name="Text 60"/>
          <p:cNvSpPr txBox="1"/>
          <p:nvPr/>
        </p:nvSpPr>
        <p:spPr>
          <a:xfrm>
            <a:off x="11155680" y="2313432"/>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10</a:t>
            </a:r>
            <a:endParaRPr lang="en-US" sz="1350" dirty="0"/>
          </a:p>
        </p:txBody>
      </p:sp>
      <p:sp>
        <p:nvSpPr>
          <p:cNvPr id="63" name="Shape 61"/>
          <p:cNvSpPr/>
          <p:nvPr/>
        </p:nvSpPr>
        <p:spPr>
          <a:xfrm>
            <a:off x="6217920" y="2798064"/>
            <a:ext cx="493776" cy="411480"/>
          </a:xfrm>
          <a:prstGeom prst="roundRect">
            <a:avLst>
              <a:gd name="adj" fmla="val 17778"/>
            </a:avLst>
          </a:prstGeom>
          <a:solidFill>
            <a:srgbClr val="22395F"/>
          </a:solidFill>
          <a:ln w="12700">
            <a:solidFill>
              <a:srgbClr val="22395F"/>
            </a:solidFill>
            <a:prstDash val="solid"/>
          </a:ln>
        </p:spPr>
      </p:sp>
      <p:sp>
        <p:nvSpPr>
          <p:cNvPr id="64" name="Text 62"/>
          <p:cNvSpPr txBox="1"/>
          <p:nvPr/>
        </p:nvSpPr>
        <p:spPr>
          <a:xfrm>
            <a:off x="6327648" y="2798064"/>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Roboto" pitchFamily="34" charset="0"/>
                <a:ea typeface="Roboto" pitchFamily="34" charset="-122"/>
                <a:cs typeface="Roboto" pitchFamily="34" charset="-120"/>
              </a:rPr>
              <a:t>9</a:t>
            </a:r>
            <a:endParaRPr lang="en-US" sz="1350" dirty="0"/>
          </a:p>
        </p:txBody>
      </p:sp>
      <p:sp>
        <p:nvSpPr>
          <p:cNvPr id="65" name="Shape 63"/>
          <p:cNvSpPr/>
          <p:nvPr/>
        </p:nvSpPr>
        <p:spPr>
          <a:xfrm>
            <a:off x="6766560" y="2798064"/>
            <a:ext cx="4224528" cy="411480"/>
          </a:xfrm>
          <a:prstGeom prst="roundRect">
            <a:avLst>
              <a:gd name="adj" fmla="val 17778"/>
            </a:avLst>
          </a:prstGeom>
          <a:solidFill>
            <a:srgbClr val="22395F"/>
          </a:solidFill>
          <a:ln w="12700">
            <a:solidFill>
              <a:srgbClr val="22395F"/>
            </a:solidFill>
            <a:prstDash val="solid"/>
          </a:ln>
        </p:spPr>
      </p:sp>
      <p:sp>
        <p:nvSpPr>
          <p:cNvPr id="66" name="Text 64"/>
          <p:cNvSpPr txBox="1"/>
          <p:nvPr/>
        </p:nvSpPr>
        <p:spPr>
          <a:xfrm>
            <a:off x="6876288" y="2798064"/>
            <a:ext cx="4005072"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Bảo vệ logic tài chính (cá nhân)</a:t>
            </a:r>
            <a:endParaRPr lang="en-US" sz="1350" dirty="0"/>
          </a:p>
        </p:txBody>
      </p:sp>
      <p:sp>
        <p:nvSpPr>
          <p:cNvPr id="67" name="Shape 65"/>
          <p:cNvSpPr/>
          <p:nvPr/>
        </p:nvSpPr>
        <p:spPr>
          <a:xfrm>
            <a:off x="11045952" y="2798064"/>
            <a:ext cx="722376" cy="411480"/>
          </a:xfrm>
          <a:prstGeom prst="roundRect">
            <a:avLst>
              <a:gd name="adj" fmla="val 17778"/>
            </a:avLst>
          </a:prstGeom>
          <a:solidFill>
            <a:srgbClr val="22395F"/>
          </a:solidFill>
          <a:ln w="12700">
            <a:solidFill>
              <a:srgbClr val="22395F"/>
            </a:solidFill>
            <a:prstDash val="solid"/>
          </a:ln>
        </p:spPr>
      </p:sp>
      <p:sp>
        <p:nvSpPr>
          <p:cNvPr id="68" name="Text 66"/>
          <p:cNvSpPr txBox="1"/>
          <p:nvPr/>
        </p:nvSpPr>
        <p:spPr>
          <a:xfrm>
            <a:off x="11155680" y="2798064"/>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10</a:t>
            </a:r>
            <a:endParaRPr lang="en-US" sz="1350" dirty="0"/>
          </a:p>
        </p:txBody>
      </p:sp>
      <p:sp>
        <p:nvSpPr>
          <p:cNvPr id="69" name="Shape 67"/>
          <p:cNvSpPr/>
          <p:nvPr/>
        </p:nvSpPr>
        <p:spPr>
          <a:xfrm>
            <a:off x="6217920" y="3282696"/>
            <a:ext cx="493776" cy="411480"/>
          </a:xfrm>
          <a:prstGeom prst="roundRect">
            <a:avLst>
              <a:gd name="adj" fmla="val 17778"/>
            </a:avLst>
          </a:prstGeom>
          <a:solidFill>
            <a:srgbClr val="22395F"/>
          </a:solidFill>
          <a:ln w="12700">
            <a:solidFill>
              <a:srgbClr val="22395F"/>
            </a:solidFill>
            <a:prstDash val="solid"/>
          </a:ln>
        </p:spPr>
      </p:sp>
      <p:sp>
        <p:nvSpPr>
          <p:cNvPr id="70" name="Text 68"/>
          <p:cNvSpPr txBox="1"/>
          <p:nvPr/>
        </p:nvSpPr>
        <p:spPr>
          <a:xfrm>
            <a:off x="6327648" y="3282696"/>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Roboto" pitchFamily="34" charset="0"/>
                <a:ea typeface="Roboto" pitchFamily="34" charset="-122"/>
                <a:cs typeface="Roboto" pitchFamily="34" charset="-120"/>
              </a:rPr>
              <a:t>10</a:t>
            </a:r>
            <a:endParaRPr lang="en-US" sz="1350" dirty="0"/>
          </a:p>
        </p:txBody>
      </p:sp>
      <p:sp>
        <p:nvSpPr>
          <p:cNvPr id="71" name="Shape 69"/>
          <p:cNvSpPr/>
          <p:nvPr/>
        </p:nvSpPr>
        <p:spPr>
          <a:xfrm>
            <a:off x="6766560" y="3282696"/>
            <a:ext cx="4224528" cy="411480"/>
          </a:xfrm>
          <a:prstGeom prst="roundRect">
            <a:avLst>
              <a:gd name="adj" fmla="val 17778"/>
            </a:avLst>
          </a:prstGeom>
          <a:solidFill>
            <a:srgbClr val="22395F"/>
          </a:solidFill>
          <a:ln w="12700">
            <a:solidFill>
              <a:srgbClr val="22395F"/>
            </a:solidFill>
            <a:prstDash val="solid"/>
          </a:ln>
        </p:spPr>
      </p:sp>
      <p:sp>
        <p:nvSpPr>
          <p:cNvPr id="72" name="Text 70"/>
          <p:cNvSpPr txBox="1"/>
          <p:nvPr/>
        </p:nvSpPr>
        <p:spPr>
          <a:xfrm>
            <a:off x="6876288" y="3282696"/>
            <a:ext cx="4005072"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Bảo vệ chiến lược điểm chạm (cá nhân)</a:t>
            </a:r>
            <a:endParaRPr lang="en-US" sz="1350" dirty="0"/>
          </a:p>
        </p:txBody>
      </p:sp>
      <p:sp>
        <p:nvSpPr>
          <p:cNvPr id="73" name="Shape 71"/>
          <p:cNvSpPr/>
          <p:nvPr/>
        </p:nvSpPr>
        <p:spPr>
          <a:xfrm>
            <a:off x="11045952" y="3282696"/>
            <a:ext cx="722376" cy="411480"/>
          </a:xfrm>
          <a:prstGeom prst="roundRect">
            <a:avLst>
              <a:gd name="adj" fmla="val 17778"/>
            </a:avLst>
          </a:prstGeom>
          <a:solidFill>
            <a:srgbClr val="22395F"/>
          </a:solidFill>
          <a:ln w="12700">
            <a:solidFill>
              <a:srgbClr val="22395F"/>
            </a:solidFill>
            <a:prstDash val="solid"/>
          </a:ln>
        </p:spPr>
      </p:sp>
      <p:sp>
        <p:nvSpPr>
          <p:cNvPr id="74" name="Text 72"/>
          <p:cNvSpPr txBox="1"/>
          <p:nvPr/>
        </p:nvSpPr>
        <p:spPr>
          <a:xfrm>
            <a:off x="11155680" y="3282696"/>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10</a:t>
            </a:r>
            <a:endParaRPr lang="en-US" sz="1350" dirty="0"/>
          </a:p>
        </p:txBody>
      </p:sp>
      <p:sp>
        <p:nvSpPr>
          <p:cNvPr id="75" name="Shape 73"/>
          <p:cNvSpPr/>
          <p:nvPr/>
        </p:nvSpPr>
        <p:spPr>
          <a:xfrm>
            <a:off x="6217920" y="3767328"/>
            <a:ext cx="493776" cy="411480"/>
          </a:xfrm>
          <a:prstGeom prst="roundRect">
            <a:avLst>
              <a:gd name="adj" fmla="val 17778"/>
            </a:avLst>
          </a:prstGeom>
          <a:solidFill>
            <a:srgbClr val="22395F"/>
          </a:solidFill>
          <a:ln w="12700">
            <a:solidFill>
              <a:srgbClr val="22395F"/>
            </a:solidFill>
            <a:prstDash val="solid"/>
          </a:ln>
        </p:spPr>
      </p:sp>
      <p:sp>
        <p:nvSpPr>
          <p:cNvPr id="76" name="Text 74"/>
          <p:cNvSpPr txBox="1"/>
          <p:nvPr/>
        </p:nvSpPr>
        <p:spPr>
          <a:xfrm>
            <a:off x="6327648" y="3767328"/>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Roboto" pitchFamily="34" charset="0"/>
                <a:ea typeface="Roboto" pitchFamily="34" charset="-122"/>
                <a:cs typeface="Roboto" pitchFamily="34" charset="-120"/>
              </a:rPr>
              <a:t>11</a:t>
            </a:r>
            <a:endParaRPr lang="en-US" sz="1350" dirty="0"/>
          </a:p>
        </p:txBody>
      </p:sp>
      <p:sp>
        <p:nvSpPr>
          <p:cNvPr id="77" name="Shape 75"/>
          <p:cNvSpPr/>
          <p:nvPr/>
        </p:nvSpPr>
        <p:spPr>
          <a:xfrm>
            <a:off x="6766560" y="3767328"/>
            <a:ext cx="4224528" cy="411480"/>
          </a:xfrm>
          <a:prstGeom prst="roundRect">
            <a:avLst>
              <a:gd name="adj" fmla="val 17778"/>
            </a:avLst>
          </a:prstGeom>
          <a:solidFill>
            <a:srgbClr val="22395F"/>
          </a:solidFill>
          <a:ln w="12700">
            <a:solidFill>
              <a:srgbClr val="22395F"/>
            </a:solidFill>
            <a:prstDash val="solid"/>
          </a:ln>
        </p:spPr>
      </p:sp>
      <p:sp>
        <p:nvSpPr>
          <p:cNvPr id="78" name="Text 76"/>
          <p:cNvSpPr txBox="1"/>
          <p:nvPr/>
        </p:nvSpPr>
        <p:spPr>
          <a:xfrm>
            <a:off x="6876288" y="3767328"/>
            <a:ext cx="4005072"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Phản biện, làm việc nhóm (cá nhân)</a:t>
            </a:r>
            <a:endParaRPr lang="en-US" sz="1350" dirty="0"/>
          </a:p>
        </p:txBody>
      </p:sp>
      <p:sp>
        <p:nvSpPr>
          <p:cNvPr id="79" name="Shape 77"/>
          <p:cNvSpPr/>
          <p:nvPr/>
        </p:nvSpPr>
        <p:spPr>
          <a:xfrm>
            <a:off x="11045952" y="3767328"/>
            <a:ext cx="722376" cy="411480"/>
          </a:xfrm>
          <a:prstGeom prst="roundRect">
            <a:avLst>
              <a:gd name="adj" fmla="val 17778"/>
            </a:avLst>
          </a:prstGeom>
          <a:solidFill>
            <a:srgbClr val="22395F"/>
          </a:solidFill>
          <a:ln w="12700">
            <a:solidFill>
              <a:srgbClr val="22395F"/>
            </a:solidFill>
            <a:prstDash val="solid"/>
          </a:ln>
        </p:spPr>
      </p:sp>
      <p:sp>
        <p:nvSpPr>
          <p:cNvPr id="80" name="Text 78"/>
          <p:cNvSpPr txBox="1"/>
          <p:nvPr/>
        </p:nvSpPr>
        <p:spPr>
          <a:xfrm>
            <a:off x="11155680" y="3767328"/>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Roboto" pitchFamily="34" charset="0"/>
                <a:ea typeface="Roboto" pitchFamily="34" charset="-122"/>
                <a:cs typeface="Roboto" pitchFamily="34" charset="-120"/>
              </a:rPr>
              <a:t>10</a:t>
            </a:r>
            <a:endParaRPr lang="en-US" sz="1350" dirty="0"/>
          </a:p>
        </p:txBody>
      </p:sp>
      <p:sp>
        <p:nvSpPr>
          <p:cNvPr id="81" name="Shape 79"/>
          <p:cNvSpPr/>
          <p:nvPr/>
        </p:nvSpPr>
        <p:spPr>
          <a:xfrm>
            <a:off x="6217920" y="4251960"/>
            <a:ext cx="5422392" cy="1371600"/>
          </a:xfrm>
          <a:prstGeom prst="roundRect">
            <a:avLst>
              <a:gd name="adj" fmla="val 5333"/>
            </a:avLst>
          </a:prstGeom>
          <a:solidFill>
            <a:srgbClr val="FFD23B"/>
          </a:solidFill>
          <a:ln w="12700">
            <a:solidFill>
              <a:srgbClr val="FFD23B"/>
            </a:solidFill>
            <a:prstDash val="solid"/>
          </a:ln>
        </p:spPr>
      </p:sp>
      <p:sp>
        <p:nvSpPr>
          <p:cNvPr id="82" name="Text 80"/>
          <p:cNvSpPr txBox="1"/>
          <p:nvPr/>
        </p:nvSpPr>
        <p:spPr>
          <a:xfrm>
            <a:off x="6400800" y="4251960"/>
            <a:ext cx="5074920" cy="13716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Tiêu chí 9–11: mỗi người một điểm. Đánh giá làm việc nhóm (AM9) dựa vào phụ lục đóng góp của từng thành viên.</a:t>
            </a:r>
            <a:endParaRPr lang="en-US" sz="1500" dirty="0"/>
          </a:p>
        </p:txBody>
      </p:sp>
      <p:sp>
        <p:nvSpPr>
          <p:cNvPr id="83" name="Text 81"/>
          <p:cNvSpPr txBox="1"/>
          <p:nvPr/>
        </p:nvSpPr>
        <p:spPr>
          <a:xfrm>
            <a:off x="548640" y="59893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Đề thi EVM1110E, mục 6 và Tiêu chí đánh giá (Z10). Mô tả các mức Xuất sắc – Kém: xem đề thi.</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Hình thức và nộp bài: đúng định dạng là điểm dễ lấy nhất</a:t>
            </a:r>
            <a:endParaRPr lang="en-US" sz="2800" dirty="0"/>
          </a:p>
        </p:txBody>
      </p:sp>
      <p:sp>
        <p:nvSpPr>
          <p:cNvPr id="3" name="Shape 1"/>
          <p:cNvSpPr/>
          <p:nvPr/>
        </p:nvSpPr>
        <p:spPr>
          <a:xfrm>
            <a:off x="548640" y="1783080"/>
            <a:ext cx="2615184"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2249424"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Định dạng</a:t>
            </a:r>
            <a:endParaRPr lang="en-US" sz="1600" dirty="0"/>
          </a:p>
        </p:txBody>
      </p:sp>
      <p:sp>
        <p:nvSpPr>
          <p:cNvPr id="5" name="Shape 3"/>
          <p:cNvSpPr/>
          <p:nvPr/>
        </p:nvSpPr>
        <p:spPr>
          <a:xfrm>
            <a:off x="548640" y="2514600"/>
            <a:ext cx="2615184" cy="2697480"/>
          </a:xfrm>
          <a:prstGeom prst="roundRect">
            <a:avLst>
              <a:gd name="adj" fmla="val 2797"/>
            </a:avLst>
          </a:prstGeom>
          <a:solidFill>
            <a:srgbClr val="22395F"/>
          </a:solidFill>
          <a:ln w="12700">
            <a:solidFill>
              <a:srgbClr val="22395F"/>
            </a:solidFill>
            <a:prstDash val="solid"/>
          </a:ln>
        </p:spPr>
      </p:sp>
      <p:sp>
        <p:nvSpPr>
          <p:cNvPr id="6" name="Text 4"/>
          <p:cNvSpPr txBox="1"/>
          <p:nvPr/>
        </p:nvSpPr>
        <p:spPr>
          <a:xfrm>
            <a:off x="731520" y="2651760"/>
            <a:ext cx="2249424" cy="2468880"/>
          </a:xfrm>
          <a:prstGeom prst="rect">
            <a:avLst/>
          </a:prstGeom>
          <a:noFill/>
          <a:ln/>
        </p:spPr>
        <p:txBody>
          <a:bodyPr wrap="square" lIns="635" tIns="635" rIns="635" bIns="635" rtlCol="0" anchor="t"/>
          <a:lstStyle/>
          <a:p>
            <a:pPr indent="0" marL="0">
              <a:buNone/>
            </a:pPr>
            <a:r>
              <a:rPr lang="en-US" sz="1450" dirty="0">
                <a:solidFill>
                  <a:srgbClr val="FBFAF4"/>
                </a:solidFill>
                <a:latin typeface="Roboto" pitchFamily="34" charset="0"/>
                <a:ea typeface="Roboto" pitchFamily="34" charset="-122"/>
                <a:cs typeface="Roboto" pitchFamily="34" charset="-120"/>
              </a:rPr>
              <a:t>A4 · Times New Roman 13 · giãn dòng 1,3 · lề trên, dưới 2 cm; trái 3 cm; phải 2 cm · đánh số trang</a:t>
            </a:r>
            <a:endParaRPr lang="en-US" sz="1450" dirty="0"/>
          </a:p>
        </p:txBody>
      </p:sp>
      <p:sp>
        <p:nvSpPr>
          <p:cNvPr id="7" name="Text 5"/>
          <p:cNvSpPr txBox="1"/>
          <p:nvPr/>
        </p:nvSpPr>
        <p:spPr>
          <a:xfrm>
            <a:off x="548640" y="5257800"/>
            <a:ext cx="2615184"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Đề thi mục 2</a:t>
            </a:r>
            <a:endParaRPr lang="en-US" sz="1200" dirty="0"/>
          </a:p>
        </p:txBody>
      </p:sp>
      <p:sp>
        <p:nvSpPr>
          <p:cNvPr id="8" name="Shape 6"/>
          <p:cNvSpPr/>
          <p:nvPr/>
        </p:nvSpPr>
        <p:spPr>
          <a:xfrm>
            <a:off x="3374136" y="1783080"/>
            <a:ext cx="2615184" cy="594360"/>
          </a:xfrm>
          <a:prstGeom prst="roundRect">
            <a:avLst>
              <a:gd name="adj" fmla="val 12308"/>
            </a:avLst>
          </a:prstGeom>
          <a:solidFill>
            <a:srgbClr val="09A1E5"/>
          </a:solidFill>
          <a:ln w="12700">
            <a:solidFill>
              <a:srgbClr val="09A1E5"/>
            </a:solidFill>
            <a:prstDash val="solid"/>
          </a:ln>
        </p:spPr>
      </p:sp>
      <p:sp>
        <p:nvSpPr>
          <p:cNvPr id="9" name="Text 7"/>
          <p:cNvSpPr txBox="1"/>
          <p:nvPr/>
        </p:nvSpPr>
        <p:spPr>
          <a:xfrm>
            <a:off x="3557016" y="1783080"/>
            <a:ext cx="2249424"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Độ dài</a:t>
            </a:r>
            <a:endParaRPr lang="en-US" sz="1600" dirty="0"/>
          </a:p>
        </p:txBody>
      </p:sp>
      <p:sp>
        <p:nvSpPr>
          <p:cNvPr id="10" name="Shape 8"/>
          <p:cNvSpPr/>
          <p:nvPr/>
        </p:nvSpPr>
        <p:spPr>
          <a:xfrm>
            <a:off x="3374136" y="2514600"/>
            <a:ext cx="2615184" cy="2697480"/>
          </a:xfrm>
          <a:prstGeom prst="roundRect">
            <a:avLst>
              <a:gd name="adj" fmla="val 2797"/>
            </a:avLst>
          </a:prstGeom>
          <a:solidFill>
            <a:srgbClr val="22395F"/>
          </a:solidFill>
          <a:ln w="12700">
            <a:solidFill>
              <a:srgbClr val="22395F"/>
            </a:solidFill>
            <a:prstDash val="solid"/>
          </a:ln>
        </p:spPr>
      </p:sp>
      <p:sp>
        <p:nvSpPr>
          <p:cNvPr id="11" name="Text 9"/>
          <p:cNvSpPr txBox="1"/>
          <p:nvPr/>
        </p:nvSpPr>
        <p:spPr>
          <a:xfrm>
            <a:off x="3557016" y="2651760"/>
            <a:ext cx="2249424" cy="2468880"/>
          </a:xfrm>
          <a:prstGeom prst="rect">
            <a:avLst/>
          </a:prstGeom>
          <a:noFill/>
          <a:ln/>
        </p:spPr>
        <p:txBody>
          <a:bodyPr wrap="square" lIns="635" tIns="635" rIns="635" bIns="635" rtlCol="0" anchor="t"/>
          <a:lstStyle/>
          <a:p>
            <a:pPr indent="0" marL="0">
              <a:buNone/>
            </a:pPr>
            <a:r>
              <a:rPr lang="en-US" sz="1450" dirty="0">
                <a:solidFill>
                  <a:srgbClr val="FBFAF4"/>
                </a:solidFill>
                <a:latin typeface="Roboto" pitchFamily="34" charset="0"/>
                <a:ea typeface="Roboto" pitchFamily="34" charset="-122"/>
                <a:cs typeface="Roboto" pitchFamily="34" charset="-120"/>
              </a:rPr>
              <a:t>Nội dung chính 20–30 trang — không kể bìa, mục lục, tài liệu tham khảo, phụ lục</a:t>
            </a:r>
            <a:endParaRPr lang="en-US" sz="1450" dirty="0"/>
          </a:p>
        </p:txBody>
      </p:sp>
      <p:sp>
        <p:nvSpPr>
          <p:cNvPr id="12" name="Text 10"/>
          <p:cNvSpPr txBox="1"/>
          <p:nvPr/>
        </p:nvSpPr>
        <p:spPr>
          <a:xfrm>
            <a:off x="3374136" y="5257800"/>
            <a:ext cx="2615184"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Đề thi mục 2</a:t>
            </a:r>
            <a:endParaRPr lang="en-US" sz="1200" dirty="0"/>
          </a:p>
        </p:txBody>
      </p:sp>
      <p:sp>
        <p:nvSpPr>
          <p:cNvPr id="13" name="Shape 11"/>
          <p:cNvSpPr/>
          <p:nvPr/>
        </p:nvSpPr>
        <p:spPr>
          <a:xfrm>
            <a:off x="6199632" y="1783080"/>
            <a:ext cx="2615184" cy="594360"/>
          </a:xfrm>
          <a:prstGeom prst="roundRect">
            <a:avLst>
              <a:gd name="adj" fmla="val 12308"/>
            </a:avLst>
          </a:prstGeom>
          <a:solidFill>
            <a:srgbClr val="FFD23B"/>
          </a:solidFill>
          <a:ln w="12700">
            <a:solidFill>
              <a:srgbClr val="FFD23B"/>
            </a:solidFill>
            <a:prstDash val="solid"/>
          </a:ln>
        </p:spPr>
      </p:sp>
      <p:sp>
        <p:nvSpPr>
          <p:cNvPr id="14" name="Text 12"/>
          <p:cNvSpPr txBox="1"/>
          <p:nvPr/>
        </p:nvSpPr>
        <p:spPr>
          <a:xfrm>
            <a:off x="6382512" y="1783080"/>
            <a:ext cx="2249424"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Nộp</a:t>
            </a:r>
            <a:endParaRPr lang="en-US" sz="1600" dirty="0"/>
          </a:p>
        </p:txBody>
      </p:sp>
      <p:sp>
        <p:nvSpPr>
          <p:cNvPr id="15" name="Shape 13"/>
          <p:cNvSpPr/>
          <p:nvPr/>
        </p:nvSpPr>
        <p:spPr>
          <a:xfrm>
            <a:off x="6199632" y="2514600"/>
            <a:ext cx="2615184" cy="2697480"/>
          </a:xfrm>
          <a:prstGeom prst="roundRect">
            <a:avLst>
              <a:gd name="adj" fmla="val 2797"/>
            </a:avLst>
          </a:prstGeom>
          <a:solidFill>
            <a:srgbClr val="22395F"/>
          </a:solidFill>
          <a:ln w="12700">
            <a:solidFill>
              <a:srgbClr val="22395F"/>
            </a:solidFill>
            <a:prstDash val="solid"/>
          </a:ln>
        </p:spPr>
      </p:sp>
      <p:sp>
        <p:nvSpPr>
          <p:cNvPr id="16" name="Text 14"/>
          <p:cNvSpPr txBox="1"/>
          <p:nvPr/>
        </p:nvSpPr>
        <p:spPr>
          <a:xfrm>
            <a:off x="6382512" y="2651760"/>
            <a:ext cx="2249424" cy="2468880"/>
          </a:xfrm>
          <a:prstGeom prst="rect">
            <a:avLst/>
          </a:prstGeom>
          <a:noFill/>
          <a:ln/>
        </p:spPr>
        <p:txBody>
          <a:bodyPr wrap="square" lIns="635" tIns="635" rIns="635" bIns="635" rtlCol="0" anchor="t"/>
          <a:lstStyle/>
          <a:p>
            <a:pPr indent="0" marL="0">
              <a:buNone/>
            </a:pPr>
            <a:r>
              <a:rPr lang="en-US" sz="1450" dirty="0">
                <a:solidFill>
                  <a:srgbClr val="FBFAF4"/>
                </a:solidFill>
                <a:latin typeface="Roboto" pitchFamily="34" charset="0"/>
                <a:ea typeface="Roboto" pitchFamily="34" charset="-122"/>
                <a:cs typeface="Roboto" pitchFamily="34" charset="-120"/>
              </a:rPr>
              <a:t>LMS, trước 23:59 ngày 14/10/2026: 1 PDF kế hoạch + 1 file slide (.pdf hoặc .pptx)</a:t>
            </a:r>
            <a:endParaRPr lang="en-US" sz="1450" dirty="0"/>
          </a:p>
          <a:p>
            <a:pPr indent="0" marL="0">
              <a:buNone/>
            </a:pPr>
            <a:r>
              <a:rPr lang="en-US" sz="1450" dirty="0">
                <a:solidFill>
                  <a:srgbClr val="FBFAF4"/>
                </a:solidFill>
                <a:latin typeface="Roboto" pitchFamily="34" charset="0"/>
                <a:ea typeface="Roboto" pitchFamily="34" charset="-122"/>
                <a:cs typeface="Roboto" pitchFamily="34" charset="-120"/>
              </a:rPr>
              <a:t>Tên file: EVM1110E_ Nhom[số]_SMP / _Slide</a:t>
            </a:r>
            <a:endParaRPr lang="en-US" sz="1450" dirty="0"/>
          </a:p>
        </p:txBody>
      </p:sp>
      <p:sp>
        <p:nvSpPr>
          <p:cNvPr id="17" name="Text 15"/>
          <p:cNvSpPr txBox="1"/>
          <p:nvPr/>
        </p:nvSpPr>
        <p:spPr>
          <a:xfrm>
            <a:off x="6199632" y="5257800"/>
            <a:ext cx="2615184"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Đề thi mục 4</a:t>
            </a:r>
            <a:endParaRPr lang="en-US" sz="1200" dirty="0"/>
          </a:p>
        </p:txBody>
      </p:sp>
      <p:sp>
        <p:nvSpPr>
          <p:cNvPr id="18" name="Shape 16"/>
          <p:cNvSpPr/>
          <p:nvPr/>
        </p:nvSpPr>
        <p:spPr>
          <a:xfrm>
            <a:off x="9025128" y="1783080"/>
            <a:ext cx="2615184" cy="594360"/>
          </a:xfrm>
          <a:prstGeom prst="roundRect">
            <a:avLst>
              <a:gd name="adj" fmla="val 12308"/>
            </a:avLst>
          </a:prstGeom>
          <a:solidFill>
            <a:srgbClr val="FF5178"/>
          </a:solidFill>
          <a:ln w="12700">
            <a:solidFill>
              <a:srgbClr val="FF5178"/>
            </a:solidFill>
            <a:prstDash val="solid"/>
          </a:ln>
        </p:spPr>
      </p:sp>
      <p:sp>
        <p:nvSpPr>
          <p:cNvPr id="19" name="Text 17"/>
          <p:cNvSpPr txBox="1"/>
          <p:nvPr/>
        </p:nvSpPr>
        <p:spPr>
          <a:xfrm>
            <a:off x="9208008" y="1783080"/>
            <a:ext cx="2249424"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Nộp trễ</a:t>
            </a:r>
            <a:endParaRPr lang="en-US" sz="1600" dirty="0"/>
          </a:p>
        </p:txBody>
      </p:sp>
      <p:sp>
        <p:nvSpPr>
          <p:cNvPr id="20" name="Shape 18"/>
          <p:cNvSpPr/>
          <p:nvPr/>
        </p:nvSpPr>
        <p:spPr>
          <a:xfrm>
            <a:off x="9025128" y="2514600"/>
            <a:ext cx="2615184" cy="2697480"/>
          </a:xfrm>
          <a:prstGeom prst="roundRect">
            <a:avLst>
              <a:gd name="adj" fmla="val 2797"/>
            </a:avLst>
          </a:prstGeom>
          <a:solidFill>
            <a:srgbClr val="22395F"/>
          </a:solidFill>
          <a:ln w="12700">
            <a:solidFill>
              <a:srgbClr val="22395F"/>
            </a:solidFill>
            <a:prstDash val="solid"/>
          </a:ln>
        </p:spPr>
      </p:sp>
      <p:sp>
        <p:nvSpPr>
          <p:cNvPr id="21" name="Text 19"/>
          <p:cNvSpPr txBox="1"/>
          <p:nvPr/>
        </p:nvSpPr>
        <p:spPr>
          <a:xfrm>
            <a:off x="9208008" y="2651760"/>
            <a:ext cx="2249424" cy="2468880"/>
          </a:xfrm>
          <a:prstGeom prst="rect">
            <a:avLst/>
          </a:prstGeom>
          <a:noFill/>
          <a:ln/>
        </p:spPr>
        <p:txBody>
          <a:bodyPr wrap="square" lIns="635" tIns="635" rIns="635" bIns="635" rtlCol="0" anchor="t"/>
          <a:lstStyle/>
          <a:p>
            <a:pPr indent="0" marL="0">
              <a:buNone/>
            </a:pPr>
            <a:r>
              <a:rPr lang="en-US" sz="1450" dirty="0">
                <a:solidFill>
                  <a:srgbClr val="FBFAF4"/>
                </a:solidFill>
                <a:latin typeface="Roboto" pitchFamily="34" charset="0"/>
                <a:ea typeface="Roboto" pitchFamily="34" charset="-122"/>
                <a:cs typeface="Roboto" pitchFamily="34" charset="-120"/>
              </a:rPr>
              <a:t>Trễ 1 ngày trừ 20% số điểm. Không được nộp trễ quá 3 ngày.</a:t>
            </a:r>
            <a:endParaRPr lang="en-US" sz="1450" dirty="0"/>
          </a:p>
        </p:txBody>
      </p:sp>
      <p:sp>
        <p:nvSpPr>
          <p:cNvPr id="22" name="Text 20"/>
          <p:cNvSpPr txBox="1"/>
          <p:nvPr/>
        </p:nvSpPr>
        <p:spPr>
          <a:xfrm>
            <a:off x="9025128" y="5257800"/>
            <a:ext cx="2615184"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Đề thi mục 4</a:t>
            </a:r>
            <a:endParaRPr lang="en-US" sz="1200" dirty="0"/>
          </a:p>
        </p:txBody>
      </p:sp>
      <p:sp>
        <p:nvSpPr>
          <p:cNvPr id="23" name="Shape 21"/>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24" name="Text 22"/>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Bìa: trường, khoa; tên, mã môn; lớp; tên nhóm; họ tên, MSSV; tên khách hàng (được viết tắt); giảng viên; ngày nộp.</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Bốn phụ lục bắt buộc — ba phụ lục bắt đầu ngay trên lớp hôm nay</a:t>
            </a:r>
            <a:endParaRPr lang="en-US" sz="2800" dirty="0"/>
          </a:p>
        </p:txBody>
      </p:sp>
      <p:sp>
        <p:nvSpPr>
          <p:cNvPr id="3" name="Shape 1"/>
          <p:cNvSpPr/>
          <p:nvPr/>
        </p:nvSpPr>
        <p:spPr>
          <a:xfrm>
            <a:off x="548640" y="1783080"/>
            <a:ext cx="2651760" cy="3611880"/>
          </a:xfrm>
          <a:prstGeom prst="roundRect">
            <a:avLst>
              <a:gd name="adj" fmla="val 2759"/>
            </a:avLst>
          </a:prstGeom>
          <a:solidFill>
            <a:srgbClr val="22395F"/>
          </a:solidFill>
          <a:ln w="12700">
            <a:solidFill>
              <a:srgbClr val="22395F"/>
            </a:solidFill>
            <a:prstDash val="solid"/>
          </a:ln>
        </p:spPr>
      </p:sp>
      <p:sp>
        <p:nvSpPr>
          <p:cNvPr id="4" name="Shape 2"/>
          <p:cNvSpPr/>
          <p:nvPr/>
        </p:nvSpPr>
        <p:spPr>
          <a:xfrm>
            <a:off x="731520" y="1920240"/>
            <a:ext cx="640080" cy="640080"/>
          </a:xfrm>
          <a:prstGeom prst="ellipse">
            <a:avLst/>
          </a:prstGeom>
          <a:solidFill>
            <a:srgbClr val="49B296"/>
          </a:solidFill>
          <a:ln w="12700">
            <a:solidFill>
              <a:srgbClr val="49B296"/>
            </a:solidFill>
            <a:prstDash val="solid"/>
          </a:ln>
        </p:spPr>
      </p:sp>
      <p:sp>
        <p:nvSpPr>
          <p:cNvPr id="5" name="Text 3"/>
          <p:cNvSpPr txBox="1"/>
          <p:nvPr/>
        </p:nvSpPr>
        <p:spPr>
          <a:xfrm>
            <a:off x="731520" y="1920240"/>
            <a:ext cx="640080" cy="64008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1</a:t>
            </a:r>
            <a:endParaRPr lang="en-US" sz="2000" dirty="0"/>
          </a:p>
        </p:txBody>
      </p:sp>
      <p:sp>
        <p:nvSpPr>
          <p:cNvPr id="6" name="Shape 4"/>
          <p:cNvSpPr/>
          <p:nvPr/>
        </p:nvSpPr>
        <p:spPr>
          <a:xfrm>
            <a:off x="2331720" y="1920240"/>
            <a:ext cx="685800" cy="685800"/>
          </a:xfrm>
          <a:prstGeom prst="ellipse">
            <a:avLst/>
          </a:prstGeom>
          <a:solidFill>
            <a:srgbClr val="49B296"/>
          </a:solidFill>
          <a:ln w="12700">
            <a:solidFill>
              <a:srgbClr val="49B296"/>
            </a:solidFill>
            <a:prstDash val="solid"/>
          </a:ln>
        </p:spPr>
      </p:sp>
      <p:pic>
        <p:nvPicPr>
          <p:cNvPr id="7" name="Image 0" descr="preencoded.png">    </p:cNvPr>
          <p:cNvPicPr>
            <a:picLocks noChangeAspect="1"/>
          </p:cNvPicPr>
          <p:nvPr/>
        </p:nvPicPr>
        <p:blipFill>
          <a:blip r:embed="rId1"/>
          <a:stretch>
            <a:fillRect/>
          </a:stretch>
        </p:blipFill>
        <p:spPr>
          <a:xfrm>
            <a:off x="2482596" y="2071116"/>
            <a:ext cx="384048" cy="384048"/>
          </a:xfrm>
          <a:prstGeom prst="rect">
            <a:avLst/>
          </a:prstGeom>
        </p:spPr>
      </p:pic>
      <p:sp>
        <p:nvSpPr>
          <p:cNvPr id="8" name="Text 5"/>
          <p:cNvSpPr txBox="1"/>
          <p:nvPr/>
        </p:nvSpPr>
        <p:spPr>
          <a:xfrm>
            <a:off x="731520" y="2743200"/>
            <a:ext cx="2286000" cy="1828800"/>
          </a:xfrm>
          <a:prstGeom prst="rect">
            <a:avLst/>
          </a:prstGeom>
          <a:noFill/>
          <a:ln/>
        </p:spPr>
        <p:txBody>
          <a:bodyPr wrap="square" lIns="635" tIns="635" rIns="635" bIns="635" rtlCol="0" anchor="t"/>
          <a:lstStyle/>
          <a:p>
            <a:pPr indent="0" marL="0">
              <a:buNone/>
            </a:pPr>
            <a:r>
              <a:rPr lang="en-US" sz="1550" b="1" dirty="0">
                <a:solidFill>
                  <a:srgbClr val="FBFAF4"/>
                </a:solidFill>
                <a:latin typeface="Roboto" pitchFamily="34" charset="0"/>
                <a:ea typeface="Roboto" pitchFamily="34" charset="-122"/>
                <a:cs typeface="Roboto" pitchFamily="34" charset="-120"/>
              </a:rPr>
              <a:t>Phân công và tự đánh giá đóng góp của từng thành viên</a:t>
            </a:r>
            <a:endParaRPr lang="en-US" sz="1550" dirty="0"/>
          </a:p>
        </p:txBody>
      </p:sp>
      <p:sp>
        <p:nvSpPr>
          <p:cNvPr id="9" name="Text 6"/>
          <p:cNvSpPr txBox="1"/>
          <p:nvPr/>
        </p:nvSpPr>
        <p:spPr>
          <a:xfrm>
            <a:off x="731520" y="4754880"/>
            <a:ext cx="2286000" cy="502920"/>
          </a:xfrm>
          <a:prstGeom prst="rect">
            <a:avLst/>
          </a:prstGeom>
          <a:noFill/>
          <a:ln/>
        </p:spPr>
        <p:txBody>
          <a:bodyPr wrap="square" lIns="635" tIns="635" rIns="635" bIns="635" rtlCol="0" anchor="ctr"/>
          <a:lstStyle/>
          <a:p>
            <a:pPr indent="0" marL="0">
              <a:buNone/>
            </a:pPr>
            <a:r>
              <a:rPr lang="en-US" sz="1350" dirty="0">
                <a:solidFill>
                  <a:srgbClr val="49B296"/>
                </a:solidFill>
                <a:latin typeface="Roboto" pitchFamily="34" charset="0"/>
                <a:ea typeface="Roboto" pitchFamily="34" charset="-122"/>
                <a:cs typeface="Roboto" pitchFamily="34" charset="-120"/>
              </a:rPr>
              <a:t>Căn cứ chấm AM9</a:t>
            </a:r>
            <a:endParaRPr lang="en-US" sz="1350" dirty="0"/>
          </a:p>
        </p:txBody>
      </p:sp>
      <p:sp>
        <p:nvSpPr>
          <p:cNvPr id="10" name="Shape 7"/>
          <p:cNvSpPr/>
          <p:nvPr/>
        </p:nvSpPr>
        <p:spPr>
          <a:xfrm>
            <a:off x="3364992" y="1783080"/>
            <a:ext cx="2651760" cy="3611880"/>
          </a:xfrm>
          <a:prstGeom prst="roundRect">
            <a:avLst>
              <a:gd name="adj" fmla="val 2759"/>
            </a:avLst>
          </a:prstGeom>
          <a:solidFill>
            <a:srgbClr val="22395F"/>
          </a:solidFill>
          <a:ln w="12700">
            <a:solidFill>
              <a:srgbClr val="22395F"/>
            </a:solidFill>
            <a:prstDash val="solid"/>
          </a:ln>
        </p:spPr>
      </p:sp>
      <p:sp>
        <p:nvSpPr>
          <p:cNvPr id="11" name="Shape 8"/>
          <p:cNvSpPr/>
          <p:nvPr/>
        </p:nvSpPr>
        <p:spPr>
          <a:xfrm>
            <a:off x="3547872" y="1920240"/>
            <a:ext cx="640080" cy="640080"/>
          </a:xfrm>
          <a:prstGeom prst="ellipse">
            <a:avLst/>
          </a:prstGeom>
          <a:solidFill>
            <a:srgbClr val="FFD23B"/>
          </a:solidFill>
          <a:ln w="12700">
            <a:solidFill>
              <a:srgbClr val="FFD23B"/>
            </a:solidFill>
            <a:prstDash val="solid"/>
          </a:ln>
        </p:spPr>
      </p:sp>
      <p:sp>
        <p:nvSpPr>
          <p:cNvPr id="12" name="Text 9"/>
          <p:cNvSpPr txBox="1"/>
          <p:nvPr/>
        </p:nvSpPr>
        <p:spPr>
          <a:xfrm>
            <a:off x="3547872" y="1920240"/>
            <a:ext cx="640080" cy="64008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2</a:t>
            </a:r>
            <a:endParaRPr lang="en-US" sz="2000" dirty="0"/>
          </a:p>
        </p:txBody>
      </p:sp>
      <p:sp>
        <p:nvSpPr>
          <p:cNvPr id="13" name="Shape 10"/>
          <p:cNvSpPr/>
          <p:nvPr/>
        </p:nvSpPr>
        <p:spPr>
          <a:xfrm>
            <a:off x="5148072" y="1920240"/>
            <a:ext cx="685800" cy="685800"/>
          </a:xfrm>
          <a:prstGeom prst="ellipse">
            <a:avLst/>
          </a:prstGeom>
          <a:solidFill>
            <a:srgbClr val="FFD23B"/>
          </a:solidFill>
          <a:ln w="12700">
            <a:solidFill>
              <a:srgbClr val="FFD23B"/>
            </a:solidFill>
            <a:prstDash val="solid"/>
          </a:ln>
        </p:spPr>
      </p:sp>
      <p:pic>
        <p:nvPicPr>
          <p:cNvPr id="14" name="Image 1" descr="preencoded.png">    </p:cNvPr>
          <p:cNvPicPr>
            <a:picLocks noChangeAspect="1"/>
          </p:cNvPicPr>
          <p:nvPr/>
        </p:nvPicPr>
        <p:blipFill>
          <a:blip r:embed="rId2"/>
          <a:stretch>
            <a:fillRect/>
          </a:stretch>
        </p:blipFill>
        <p:spPr>
          <a:xfrm>
            <a:off x="5298948" y="2071116"/>
            <a:ext cx="384048" cy="384048"/>
          </a:xfrm>
          <a:prstGeom prst="rect">
            <a:avLst/>
          </a:prstGeom>
        </p:spPr>
      </p:pic>
      <p:sp>
        <p:nvSpPr>
          <p:cNvPr id="15" name="Text 11"/>
          <p:cNvSpPr txBox="1"/>
          <p:nvPr/>
        </p:nvSpPr>
        <p:spPr>
          <a:xfrm>
            <a:off x="3547872" y="2743200"/>
            <a:ext cx="2286000" cy="1828800"/>
          </a:xfrm>
          <a:prstGeom prst="rect">
            <a:avLst/>
          </a:prstGeom>
          <a:noFill/>
          <a:ln/>
        </p:spPr>
        <p:txBody>
          <a:bodyPr wrap="square" lIns="635" tIns="635" rIns="635" bIns="635" rtlCol="0" anchor="t"/>
          <a:lstStyle/>
          <a:p>
            <a:pPr indent="0" marL="0">
              <a:buNone/>
            </a:pPr>
            <a:r>
              <a:rPr lang="en-US" sz="1550" b="1" dirty="0">
                <a:solidFill>
                  <a:srgbClr val="FBFAF4"/>
                </a:solidFill>
                <a:latin typeface="Roboto" pitchFamily="34" charset="0"/>
                <a:ea typeface="Roboto" pitchFamily="34" charset="-122"/>
                <a:cs typeface="Roboto" pitchFamily="34" charset="-120"/>
              </a:rPr>
              <a:t>Bảng truy vết các trang đã làm trên lớp (Buổi 1–13), kèm ảnh chụp</a:t>
            </a:r>
            <a:endParaRPr lang="en-US" sz="1550" dirty="0"/>
          </a:p>
        </p:txBody>
      </p:sp>
      <p:sp>
        <p:nvSpPr>
          <p:cNvPr id="16" name="Text 12"/>
          <p:cNvSpPr txBox="1"/>
          <p:nvPr/>
        </p:nvSpPr>
        <p:spPr>
          <a:xfrm>
            <a:off x="3547872" y="4754880"/>
            <a:ext cx="2286000" cy="502920"/>
          </a:xfrm>
          <a:prstGeom prst="rect">
            <a:avLst/>
          </a:prstGeom>
          <a:noFill/>
          <a:ln/>
        </p:spPr>
        <p:txBody>
          <a:bodyPr wrap="square" lIns="635" tIns="635" rIns="635" bIns="635" rtlCol="0" anchor="ctr"/>
          <a:lstStyle/>
          <a:p>
            <a:pPr indent="0" marL="0">
              <a:buNone/>
            </a:pPr>
            <a:r>
              <a:rPr lang="en-US" sz="1350" dirty="0">
                <a:solidFill>
                  <a:srgbClr val="FFD23B"/>
                </a:solidFill>
                <a:latin typeface="Roboto" pitchFamily="34" charset="0"/>
                <a:ea typeface="Roboto" pitchFamily="34" charset="-122"/>
                <a:cs typeface="Roboto" pitchFamily="34" charset="-120"/>
              </a:rPr>
              <a:t>Nháp: Thực hành 1</a:t>
            </a:r>
            <a:endParaRPr lang="en-US" sz="1350" dirty="0"/>
          </a:p>
        </p:txBody>
      </p:sp>
      <p:sp>
        <p:nvSpPr>
          <p:cNvPr id="17" name="Shape 13"/>
          <p:cNvSpPr/>
          <p:nvPr/>
        </p:nvSpPr>
        <p:spPr>
          <a:xfrm>
            <a:off x="6181344" y="1783080"/>
            <a:ext cx="2651760" cy="3611880"/>
          </a:xfrm>
          <a:prstGeom prst="roundRect">
            <a:avLst>
              <a:gd name="adj" fmla="val 2759"/>
            </a:avLst>
          </a:prstGeom>
          <a:solidFill>
            <a:srgbClr val="22395F"/>
          </a:solidFill>
          <a:ln w="12700">
            <a:solidFill>
              <a:srgbClr val="22395F"/>
            </a:solidFill>
            <a:prstDash val="solid"/>
          </a:ln>
        </p:spPr>
      </p:sp>
      <p:sp>
        <p:nvSpPr>
          <p:cNvPr id="18" name="Shape 14"/>
          <p:cNvSpPr/>
          <p:nvPr/>
        </p:nvSpPr>
        <p:spPr>
          <a:xfrm>
            <a:off x="6364224" y="1920240"/>
            <a:ext cx="640080" cy="640080"/>
          </a:xfrm>
          <a:prstGeom prst="ellipse">
            <a:avLst/>
          </a:prstGeom>
          <a:solidFill>
            <a:srgbClr val="09A1E5"/>
          </a:solidFill>
          <a:ln w="12700">
            <a:solidFill>
              <a:srgbClr val="09A1E5"/>
            </a:solidFill>
            <a:prstDash val="solid"/>
          </a:ln>
        </p:spPr>
      </p:sp>
      <p:sp>
        <p:nvSpPr>
          <p:cNvPr id="19" name="Text 15"/>
          <p:cNvSpPr txBox="1"/>
          <p:nvPr/>
        </p:nvSpPr>
        <p:spPr>
          <a:xfrm>
            <a:off x="6364224" y="1920240"/>
            <a:ext cx="640080" cy="64008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3</a:t>
            </a:r>
            <a:endParaRPr lang="en-US" sz="2000" dirty="0"/>
          </a:p>
        </p:txBody>
      </p:sp>
      <p:sp>
        <p:nvSpPr>
          <p:cNvPr id="20" name="Shape 16"/>
          <p:cNvSpPr/>
          <p:nvPr/>
        </p:nvSpPr>
        <p:spPr>
          <a:xfrm>
            <a:off x="7964424" y="1920240"/>
            <a:ext cx="685800" cy="685800"/>
          </a:xfrm>
          <a:prstGeom prst="ellipse">
            <a:avLst/>
          </a:prstGeom>
          <a:solidFill>
            <a:srgbClr val="09A1E5"/>
          </a:solidFill>
          <a:ln w="12700">
            <a:solidFill>
              <a:srgbClr val="09A1E5"/>
            </a:solidFill>
            <a:prstDash val="solid"/>
          </a:ln>
        </p:spPr>
      </p:sp>
      <p:pic>
        <p:nvPicPr>
          <p:cNvPr id="21" name="Image 2" descr="preencoded.png">    </p:cNvPr>
          <p:cNvPicPr>
            <a:picLocks noChangeAspect="1"/>
          </p:cNvPicPr>
          <p:nvPr/>
        </p:nvPicPr>
        <p:blipFill>
          <a:blip r:embed="rId3"/>
          <a:stretch>
            <a:fillRect/>
          </a:stretch>
        </p:blipFill>
        <p:spPr>
          <a:xfrm>
            <a:off x="8115300" y="2071116"/>
            <a:ext cx="384048" cy="384048"/>
          </a:xfrm>
          <a:prstGeom prst="rect">
            <a:avLst/>
          </a:prstGeom>
        </p:spPr>
      </p:pic>
      <p:sp>
        <p:nvSpPr>
          <p:cNvPr id="22" name="Text 17"/>
          <p:cNvSpPr txBox="1"/>
          <p:nvPr/>
        </p:nvSpPr>
        <p:spPr>
          <a:xfrm>
            <a:off x="6364224" y="2743200"/>
            <a:ext cx="2286000" cy="1828800"/>
          </a:xfrm>
          <a:prstGeom prst="rect">
            <a:avLst/>
          </a:prstGeom>
          <a:noFill/>
          <a:ln/>
        </p:spPr>
        <p:txBody>
          <a:bodyPr wrap="square" lIns="635" tIns="635" rIns="635" bIns="635" rtlCol="0" anchor="t"/>
          <a:lstStyle/>
          <a:p>
            <a:pPr indent="0" marL="0">
              <a:buNone/>
            </a:pPr>
            <a:r>
              <a:rPr lang="en-US" sz="1550" b="1" dirty="0">
                <a:solidFill>
                  <a:srgbClr val="FBFAF4"/>
                </a:solidFill>
                <a:latin typeface="Roboto" pitchFamily="34" charset="0"/>
                <a:ea typeface="Roboto" pitchFamily="34" charset="-122"/>
                <a:cs typeface="Roboto" pitchFamily="34" charset="-120"/>
              </a:rPr>
              <a:t>Danh sách các giả định chính</a:t>
            </a:r>
            <a:endParaRPr lang="en-US" sz="1550" dirty="0"/>
          </a:p>
        </p:txBody>
      </p:sp>
      <p:sp>
        <p:nvSpPr>
          <p:cNvPr id="23" name="Text 18"/>
          <p:cNvSpPr txBox="1"/>
          <p:nvPr/>
        </p:nvSpPr>
        <p:spPr>
          <a:xfrm>
            <a:off x="6364224" y="4754880"/>
            <a:ext cx="2286000" cy="502920"/>
          </a:xfrm>
          <a:prstGeom prst="rect">
            <a:avLst/>
          </a:prstGeom>
          <a:noFill/>
          <a:ln/>
        </p:spPr>
        <p:txBody>
          <a:bodyPr wrap="square" lIns="635" tIns="635" rIns="635" bIns="635" rtlCol="0" anchor="ctr"/>
          <a:lstStyle/>
          <a:p>
            <a:pPr indent="0" marL="0">
              <a:buNone/>
            </a:pPr>
            <a:r>
              <a:rPr lang="en-US" sz="1350" dirty="0">
                <a:solidFill>
                  <a:srgbClr val="09A1E5"/>
                </a:solidFill>
                <a:latin typeface="Roboto" pitchFamily="34" charset="0"/>
                <a:ea typeface="Roboto" pitchFamily="34" charset="-122"/>
                <a:cs typeface="Roboto" pitchFamily="34" charset="-120"/>
              </a:rPr>
              <a:t>Nháp: Thực hành 1</a:t>
            </a:r>
            <a:endParaRPr lang="en-US" sz="1350" dirty="0"/>
          </a:p>
        </p:txBody>
      </p:sp>
      <p:sp>
        <p:nvSpPr>
          <p:cNvPr id="24" name="Shape 19"/>
          <p:cNvSpPr/>
          <p:nvPr/>
        </p:nvSpPr>
        <p:spPr>
          <a:xfrm>
            <a:off x="8997696" y="1783080"/>
            <a:ext cx="2651760" cy="3611880"/>
          </a:xfrm>
          <a:prstGeom prst="roundRect">
            <a:avLst>
              <a:gd name="adj" fmla="val 2759"/>
            </a:avLst>
          </a:prstGeom>
          <a:solidFill>
            <a:srgbClr val="22395F"/>
          </a:solidFill>
          <a:ln w="12700">
            <a:solidFill>
              <a:srgbClr val="22395F"/>
            </a:solidFill>
            <a:prstDash val="solid"/>
          </a:ln>
        </p:spPr>
      </p:sp>
      <p:sp>
        <p:nvSpPr>
          <p:cNvPr id="25" name="Shape 20"/>
          <p:cNvSpPr/>
          <p:nvPr/>
        </p:nvSpPr>
        <p:spPr>
          <a:xfrm>
            <a:off x="9180576" y="1920240"/>
            <a:ext cx="640080" cy="640080"/>
          </a:xfrm>
          <a:prstGeom prst="ellipse">
            <a:avLst/>
          </a:prstGeom>
          <a:solidFill>
            <a:srgbClr val="FF5178"/>
          </a:solidFill>
          <a:ln w="12700">
            <a:solidFill>
              <a:srgbClr val="FF5178"/>
            </a:solidFill>
            <a:prstDash val="solid"/>
          </a:ln>
        </p:spPr>
      </p:sp>
      <p:sp>
        <p:nvSpPr>
          <p:cNvPr id="26" name="Text 21"/>
          <p:cNvSpPr txBox="1"/>
          <p:nvPr/>
        </p:nvSpPr>
        <p:spPr>
          <a:xfrm>
            <a:off x="9180576" y="1920240"/>
            <a:ext cx="640080" cy="64008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4</a:t>
            </a:r>
            <a:endParaRPr lang="en-US" sz="2000" dirty="0"/>
          </a:p>
        </p:txBody>
      </p:sp>
      <p:sp>
        <p:nvSpPr>
          <p:cNvPr id="27" name="Shape 22"/>
          <p:cNvSpPr/>
          <p:nvPr/>
        </p:nvSpPr>
        <p:spPr>
          <a:xfrm>
            <a:off x="10780776" y="1920240"/>
            <a:ext cx="685800" cy="685800"/>
          </a:xfrm>
          <a:prstGeom prst="ellipse">
            <a:avLst/>
          </a:prstGeom>
          <a:solidFill>
            <a:srgbClr val="FF5178"/>
          </a:solidFill>
          <a:ln w="12700">
            <a:solidFill>
              <a:srgbClr val="FF5178"/>
            </a:solidFill>
            <a:prstDash val="solid"/>
          </a:ln>
        </p:spPr>
      </p:sp>
      <p:pic>
        <p:nvPicPr>
          <p:cNvPr id="28" name="Image 3" descr="preencoded.png">    </p:cNvPr>
          <p:cNvPicPr>
            <a:picLocks noChangeAspect="1"/>
          </p:cNvPicPr>
          <p:nvPr/>
        </p:nvPicPr>
        <p:blipFill>
          <a:blip r:embed="rId4"/>
          <a:stretch>
            <a:fillRect/>
          </a:stretch>
        </p:blipFill>
        <p:spPr>
          <a:xfrm>
            <a:off x="10931652" y="2071116"/>
            <a:ext cx="384048" cy="384048"/>
          </a:xfrm>
          <a:prstGeom prst="rect">
            <a:avLst/>
          </a:prstGeom>
        </p:spPr>
      </p:pic>
      <p:sp>
        <p:nvSpPr>
          <p:cNvPr id="29" name="Text 23"/>
          <p:cNvSpPr txBox="1"/>
          <p:nvPr/>
        </p:nvSpPr>
        <p:spPr>
          <a:xfrm>
            <a:off x="9180576" y="2743200"/>
            <a:ext cx="2286000" cy="1828800"/>
          </a:xfrm>
          <a:prstGeom prst="rect">
            <a:avLst/>
          </a:prstGeom>
          <a:noFill/>
          <a:ln/>
        </p:spPr>
        <p:txBody>
          <a:bodyPr wrap="square" lIns="635" tIns="635" rIns="635" bIns="635" rtlCol="0" anchor="t"/>
          <a:lstStyle/>
          <a:p>
            <a:pPr indent="0" marL="0">
              <a:buNone/>
            </a:pPr>
            <a:r>
              <a:rPr lang="en-US" sz="1550" b="1" dirty="0">
                <a:solidFill>
                  <a:srgbClr val="FBFAF4"/>
                </a:solidFill>
                <a:latin typeface="Roboto" pitchFamily="34" charset="0"/>
                <a:ea typeface="Roboto" pitchFamily="34" charset="-122"/>
                <a:cs typeface="Roboto" pitchFamily="34" charset="-120"/>
              </a:rPr>
              <a:t>Công bố sử dụng công cụ AI (nếu có)</a:t>
            </a:r>
            <a:endParaRPr lang="en-US" sz="1550" dirty="0"/>
          </a:p>
        </p:txBody>
      </p:sp>
      <p:sp>
        <p:nvSpPr>
          <p:cNvPr id="30" name="Text 24"/>
          <p:cNvSpPr txBox="1"/>
          <p:nvPr/>
        </p:nvSpPr>
        <p:spPr>
          <a:xfrm>
            <a:off x="9180576" y="4754880"/>
            <a:ext cx="2286000" cy="502920"/>
          </a:xfrm>
          <a:prstGeom prst="rect">
            <a:avLst/>
          </a:prstGeom>
          <a:noFill/>
          <a:ln/>
        </p:spPr>
        <p:txBody>
          <a:bodyPr wrap="square" lIns="635" tIns="635" rIns="635" bIns="635" rtlCol="0" anchor="ctr"/>
          <a:lstStyle/>
          <a:p>
            <a:pPr indent="0" marL="0">
              <a:buNone/>
            </a:pPr>
            <a:r>
              <a:rPr lang="en-US" sz="1350" dirty="0">
                <a:solidFill>
                  <a:srgbClr val="FF5178"/>
                </a:solidFill>
                <a:latin typeface="Roboto" pitchFamily="34" charset="0"/>
                <a:ea typeface="Roboto" pitchFamily="34" charset="-122"/>
                <a:cs typeface="Roboto" pitchFamily="34" charset="-120"/>
              </a:rPr>
              <a:t>Slide tiếp theo</a:t>
            </a:r>
            <a:endParaRPr lang="en-US" sz="1350" dirty="0"/>
          </a:p>
        </p:txBody>
      </p:sp>
      <p:sp>
        <p:nvSpPr>
          <p:cNvPr id="31" name="Shape 25"/>
          <p:cNvSpPr/>
          <p:nvPr/>
        </p:nvSpPr>
        <p:spPr>
          <a:xfrm>
            <a:off x="548640" y="5577840"/>
            <a:ext cx="11091672" cy="640080"/>
          </a:xfrm>
          <a:prstGeom prst="roundRect">
            <a:avLst>
              <a:gd name="adj" fmla="val 11429"/>
            </a:avLst>
          </a:prstGeom>
          <a:solidFill>
            <a:srgbClr val="FFD23B"/>
          </a:solidFill>
          <a:ln w="12700">
            <a:solidFill>
              <a:srgbClr val="FFD23B"/>
            </a:solidFill>
            <a:prstDash val="solid"/>
          </a:ln>
        </p:spPr>
      </p:sp>
      <p:sp>
        <p:nvSpPr>
          <p:cNvPr id="32" name="Text 26"/>
          <p:cNvSpPr txBox="1"/>
          <p:nvPr/>
        </p:nvSpPr>
        <p:spPr>
          <a:xfrm>
            <a:off x="731520" y="5577840"/>
            <a:ext cx="1069848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Thiếu phụ lục bắt buộc → tiêu chí 7 rơi xuống mức Kém.</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Được dùng AI — chỉ cần khai báo, và phải tự trả lời được khi bị hỏi</a:t>
            </a:r>
            <a:endParaRPr lang="en-US" sz="2800" dirty="0"/>
          </a:p>
        </p:txBody>
      </p:sp>
      <p:sp>
        <p:nvSpPr>
          <p:cNvPr id="3" name="Shape 1"/>
          <p:cNvSpPr/>
          <p:nvPr/>
        </p:nvSpPr>
        <p:spPr>
          <a:xfrm>
            <a:off x="548640" y="1783080"/>
            <a:ext cx="11091672" cy="868680"/>
          </a:xfrm>
          <a:prstGeom prst="roundRect">
            <a:avLst>
              <a:gd name="adj" fmla="val 8421"/>
            </a:avLst>
          </a:prstGeom>
          <a:solidFill>
            <a:srgbClr val="FFD23B"/>
          </a:solidFill>
          <a:ln w="12700">
            <a:solidFill>
              <a:srgbClr val="FFD23B"/>
            </a:solidFill>
            <a:prstDash val="solid"/>
          </a:ln>
        </p:spPr>
      </p:sp>
      <p:sp>
        <p:nvSpPr>
          <p:cNvPr id="4" name="Text 2"/>
          <p:cNvSpPr txBox="1"/>
          <p:nvPr/>
        </p:nvSpPr>
        <p:spPr>
          <a:xfrm>
            <a:off x="731520" y="1783080"/>
            <a:ext cx="10698480" cy="868680"/>
          </a:xfrm>
          <a:prstGeom prst="rect">
            <a:avLst/>
          </a:prstGeom>
          <a:noFill/>
          <a:ln/>
        </p:spPr>
        <p:txBody>
          <a:bodyPr wrap="square" lIns="635" tIns="635" rIns="635" bIns="635" rtlCol="0" anchor="ctr"/>
          <a:lstStyle/>
          <a:p>
            <a:pPr indent="0" marL="0">
              <a:buNone/>
            </a:pPr>
            <a:r>
              <a:rPr lang="en-US" sz="1650" b="1" dirty="0">
                <a:solidFill>
                  <a:srgbClr val="172849"/>
                </a:solidFill>
                <a:latin typeface="Roboto" pitchFamily="34" charset="0"/>
                <a:ea typeface="Roboto" pitchFamily="34" charset="-122"/>
                <a:cs typeface="Roboto" pitchFamily="34" charset="-120"/>
              </a:rPr>
              <a:t>“Cho phép, chỉ cần khai báo và phải hiểu bài thông qua việc trả lời được các câu hỏi vấn đáp.” — Giảng viên học phần</a:t>
            </a:r>
            <a:endParaRPr lang="en-US" sz="1650" dirty="0"/>
          </a:p>
        </p:txBody>
      </p:sp>
      <p:sp>
        <p:nvSpPr>
          <p:cNvPr id="5" name="Shape 3"/>
          <p:cNvSpPr/>
          <p:nvPr/>
        </p:nvSpPr>
        <p:spPr>
          <a:xfrm>
            <a:off x="548640" y="2834640"/>
            <a:ext cx="305409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640080" y="2834640"/>
            <a:ext cx="287121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Công cụ</a:t>
            </a:r>
            <a:endParaRPr lang="en-US" sz="1450" dirty="0"/>
          </a:p>
        </p:txBody>
      </p:sp>
      <p:sp>
        <p:nvSpPr>
          <p:cNvPr id="7" name="Shape 5"/>
          <p:cNvSpPr/>
          <p:nvPr/>
        </p:nvSpPr>
        <p:spPr>
          <a:xfrm>
            <a:off x="3657600" y="2834640"/>
            <a:ext cx="3785616"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3749040" y="2834640"/>
            <a:ext cx="360273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Dùng cho phần nào, việc gì</a:t>
            </a:r>
            <a:endParaRPr lang="en-US" sz="1450" dirty="0"/>
          </a:p>
        </p:txBody>
      </p:sp>
      <p:sp>
        <p:nvSpPr>
          <p:cNvPr id="9" name="Shape 7"/>
          <p:cNvSpPr/>
          <p:nvPr/>
        </p:nvSpPr>
        <p:spPr>
          <a:xfrm>
            <a:off x="7498080" y="2834640"/>
            <a:ext cx="4087368" cy="548640"/>
          </a:xfrm>
          <a:prstGeom prst="roundRect">
            <a:avLst>
              <a:gd name="adj" fmla="val 13333"/>
            </a:avLst>
          </a:prstGeom>
          <a:solidFill>
            <a:srgbClr val="FF5178"/>
          </a:solidFill>
          <a:ln w="12700">
            <a:solidFill>
              <a:srgbClr val="FF5178"/>
            </a:solidFill>
            <a:prstDash val="solid"/>
          </a:ln>
        </p:spPr>
      </p:sp>
      <p:sp>
        <p:nvSpPr>
          <p:cNvPr id="10" name="Text 8"/>
          <p:cNvSpPr txBox="1"/>
          <p:nvPr/>
        </p:nvSpPr>
        <p:spPr>
          <a:xfrm>
            <a:off x="7589520" y="2834640"/>
            <a:ext cx="3904488"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Nhóm đã kiểm tra và sửa gì</a:t>
            </a:r>
            <a:endParaRPr lang="en-US" sz="1450" dirty="0"/>
          </a:p>
        </p:txBody>
      </p:sp>
      <p:sp>
        <p:nvSpPr>
          <p:cNvPr id="11" name="Shape 9"/>
          <p:cNvSpPr/>
          <p:nvPr/>
        </p:nvSpPr>
        <p:spPr>
          <a:xfrm>
            <a:off x="548640" y="3456432"/>
            <a:ext cx="3054096" cy="868680"/>
          </a:xfrm>
          <a:prstGeom prst="roundRect">
            <a:avLst>
              <a:gd name="adj" fmla="val 8421"/>
            </a:avLst>
          </a:prstGeom>
          <a:solidFill>
            <a:srgbClr val="22395F"/>
          </a:solidFill>
          <a:ln w="12700">
            <a:solidFill>
              <a:srgbClr val="22395F"/>
            </a:solidFill>
            <a:prstDash val="solid"/>
          </a:ln>
        </p:spPr>
      </p:sp>
      <p:sp>
        <p:nvSpPr>
          <p:cNvPr id="12" name="Text 10"/>
          <p:cNvSpPr txBox="1"/>
          <p:nvPr/>
        </p:nvSpPr>
        <p:spPr>
          <a:xfrm>
            <a:off x="658368" y="3456432"/>
            <a:ext cx="2834640" cy="868680"/>
          </a:xfrm>
          <a:prstGeom prst="rect">
            <a:avLst/>
          </a:prstGeom>
          <a:noFill/>
          <a:ln/>
        </p:spPr>
        <p:txBody>
          <a:bodyPr wrap="square" lIns="635" tIns="635" rIns="635" bIns="635" rtlCol="0" anchor="ctr"/>
          <a:lstStyle/>
          <a:p>
            <a:pPr indent="0" marL="0">
              <a:buNone/>
            </a:pPr>
            <a:r>
              <a:rPr lang="en-US" sz="1450" b="1" dirty="0">
                <a:solidFill>
                  <a:srgbClr val="FBFAF4"/>
                </a:solidFill>
                <a:latin typeface="Roboto" pitchFamily="34" charset="0"/>
                <a:ea typeface="Roboto" pitchFamily="34" charset="-122"/>
                <a:cs typeface="Roboto" pitchFamily="34" charset="-120"/>
              </a:rPr>
              <a:t>(tên công cụ)</a:t>
            </a:r>
            <a:endParaRPr lang="en-US" sz="1450" dirty="0"/>
          </a:p>
        </p:txBody>
      </p:sp>
      <p:sp>
        <p:nvSpPr>
          <p:cNvPr id="13" name="Shape 11"/>
          <p:cNvSpPr/>
          <p:nvPr/>
        </p:nvSpPr>
        <p:spPr>
          <a:xfrm>
            <a:off x="3657600" y="3456432"/>
            <a:ext cx="3785616"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3767328" y="3456432"/>
            <a:ext cx="3566160" cy="868680"/>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VD: phần A — gợi ý dàn ý PESTEL</a:t>
            </a:r>
            <a:endParaRPr lang="en-US" sz="1450" dirty="0"/>
          </a:p>
        </p:txBody>
      </p:sp>
      <p:sp>
        <p:nvSpPr>
          <p:cNvPr id="15" name="Shape 13"/>
          <p:cNvSpPr/>
          <p:nvPr/>
        </p:nvSpPr>
        <p:spPr>
          <a:xfrm>
            <a:off x="7498080" y="3456432"/>
            <a:ext cx="4087368" cy="868680"/>
          </a:xfrm>
          <a:prstGeom prst="roundRect">
            <a:avLst>
              <a:gd name="adj" fmla="val 8421"/>
            </a:avLst>
          </a:prstGeom>
          <a:solidFill>
            <a:srgbClr val="22395F"/>
          </a:solidFill>
          <a:ln w="12700">
            <a:solidFill>
              <a:srgbClr val="22395F"/>
            </a:solidFill>
            <a:prstDash val="solid"/>
          </a:ln>
        </p:spPr>
      </p:sp>
      <p:sp>
        <p:nvSpPr>
          <p:cNvPr id="16" name="Text 14"/>
          <p:cNvSpPr txBox="1"/>
          <p:nvPr/>
        </p:nvSpPr>
        <p:spPr>
          <a:xfrm>
            <a:off x="7607808" y="3456432"/>
            <a:ext cx="3867912" cy="868680"/>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VD: thay 3 xu hướng không có nguồn bằng số liệu từ báo cáo thường niên</a:t>
            </a:r>
            <a:endParaRPr lang="en-US" sz="1450" dirty="0"/>
          </a:p>
        </p:txBody>
      </p:sp>
      <p:sp>
        <p:nvSpPr>
          <p:cNvPr id="17" name="Shape 15"/>
          <p:cNvSpPr/>
          <p:nvPr/>
        </p:nvSpPr>
        <p:spPr>
          <a:xfrm>
            <a:off x="548640" y="4526280"/>
            <a:ext cx="5449824" cy="914400"/>
          </a:xfrm>
          <a:prstGeom prst="roundRect">
            <a:avLst>
              <a:gd name="adj" fmla="val 8000"/>
            </a:avLst>
          </a:prstGeom>
          <a:solidFill>
            <a:srgbClr val="22395F"/>
          </a:solidFill>
          <a:ln w="12700">
            <a:solidFill>
              <a:srgbClr val="22395F"/>
            </a:solidFill>
            <a:prstDash val="solid"/>
          </a:ln>
        </p:spPr>
      </p:sp>
      <p:sp>
        <p:nvSpPr>
          <p:cNvPr id="18" name="Shape 16"/>
          <p:cNvSpPr/>
          <p:nvPr/>
        </p:nvSpPr>
        <p:spPr>
          <a:xfrm>
            <a:off x="731520" y="4754880"/>
            <a:ext cx="457200" cy="457200"/>
          </a:xfrm>
          <a:prstGeom prst="ellipse">
            <a:avLst/>
          </a:prstGeom>
          <a:solidFill>
            <a:srgbClr val="49B296"/>
          </a:solidFill>
          <a:ln w="12700">
            <a:solidFill>
              <a:srgbClr val="49B296"/>
            </a:solidFill>
            <a:prstDash val="solid"/>
          </a:ln>
        </p:spPr>
      </p:sp>
      <p:sp>
        <p:nvSpPr>
          <p:cNvPr id="19" name="Text 17"/>
          <p:cNvSpPr txBox="1"/>
          <p:nvPr/>
        </p:nvSpPr>
        <p:spPr>
          <a:xfrm>
            <a:off x="1371600" y="4526280"/>
            <a:ext cx="4480560" cy="914400"/>
          </a:xfrm>
          <a:prstGeom prst="rect">
            <a:avLst/>
          </a:prstGeom>
          <a:noFill/>
          <a:ln/>
        </p:spPr>
        <p:txBody>
          <a:bodyPr wrap="square" lIns="635" tIns="635" rIns="635" bIns="635" rtlCol="0" anchor="ctr"/>
          <a:lstStyle/>
          <a:p>
            <a:pPr indent="0" marL="0">
              <a:buNone/>
            </a:pPr>
            <a:r>
              <a:rPr lang="en-US" sz="1550" b="1" dirty="0">
                <a:solidFill>
                  <a:srgbClr val="FBFAF4"/>
                </a:solidFill>
                <a:latin typeface="Roboto" pitchFamily="34" charset="0"/>
                <a:ea typeface="Roboto" pitchFamily="34" charset="-122"/>
                <a:cs typeface="Roboto" pitchFamily="34" charset="-120"/>
              </a:rPr>
              <a:t>Mọi thành viên tự giải thích được mọi phần của kế hoạch</a:t>
            </a:r>
            <a:endParaRPr lang="en-US" sz="1550" dirty="0"/>
          </a:p>
        </p:txBody>
      </p:sp>
      <p:sp>
        <p:nvSpPr>
          <p:cNvPr id="20" name="Shape 18"/>
          <p:cNvSpPr/>
          <p:nvPr/>
        </p:nvSpPr>
        <p:spPr>
          <a:xfrm>
            <a:off x="6190488" y="4526280"/>
            <a:ext cx="5449824" cy="914400"/>
          </a:xfrm>
          <a:prstGeom prst="roundRect">
            <a:avLst>
              <a:gd name="adj" fmla="val 8000"/>
            </a:avLst>
          </a:prstGeom>
          <a:solidFill>
            <a:srgbClr val="22395F"/>
          </a:solidFill>
          <a:ln w="12700">
            <a:solidFill>
              <a:srgbClr val="22395F"/>
            </a:solidFill>
            <a:prstDash val="solid"/>
          </a:ln>
        </p:spPr>
      </p:sp>
      <p:sp>
        <p:nvSpPr>
          <p:cNvPr id="21" name="Shape 19"/>
          <p:cNvSpPr/>
          <p:nvPr/>
        </p:nvSpPr>
        <p:spPr>
          <a:xfrm>
            <a:off x="6373368" y="4754880"/>
            <a:ext cx="457200" cy="457200"/>
          </a:xfrm>
          <a:prstGeom prst="ellipse">
            <a:avLst/>
          </a:prstGeom>
          <a:solidFill>
            <a:srgbClr val="FF5178"/>
          </a:solidFill>
          <a:ln w="12700">
            <a:solidFill>
              <a:srgbClr val="FF5178"/>
            </a:solidFill>
            <a:prstDash val="solid"/>
          </a:ln>
        </p:spPr>
      </p:sp>
      <p:sp>
        <p:nvSpPr>
          <p:cNvPr id="22" name="Text 20"/>
          <p:cNvSpPr txBox="1"/>
          <p:nvPr/>
        </p:nvSpPr>
        <p:spPr>
          <a:xfrm>
            <a:off x="7013448" y="4526280"/>
            <a:ext cx="4480560" cy="914400"/>
          </a:xfrm>
          <a:prstGeom prst="rect">
            <a:avLst/>
          </a:prstGeom>
          <a:noFill/>
          <a:ln/>
        </p:spPr>
        <p:txBody>
          <a:bodyPr wrap="square" lIns="635" tIns="635" rIns="635" bIns="635" rtlCol="0" anchor="ctr"/>
          <a:lstStyle/>
          <a:p>
            <a:pPr indent="0" marL="0">
              <a:buNone/>
            </a:pPr>
            <a:r>
              <a:rPr lang="en-US" sz="1550" b="1" dirty="0">
                <a:solidFill>
                  <a:srgbClr val="FBFAF4"/>
                </a:solidFill>
                <a:latin typeface="Roboto" pitchFamily="34" charset="0"/>
                <a:ea typeface="Roboto" pitchFamily="34" charset="-122"/>
                <a:cs typeface="Roboto" pitchFamily="34" charset="-120"/>
              </a:rPr>
              <a:t>Customer Board có thể chỉ định người trả lời</a:t>
            </a:r>
            <a:endParaRPr lang="en-US" sz="1550" dirty="0"/>
          </a:p>
        </p:txBody>
      </p:sp>
      <p:sp>
        <p:nvSpPr>
          <p:cNvPr id="23" name="Text 21"/>
          <p:cNvSpPr txBox="1"/>
          <p:nvPr/>
        </p:nvSpPr>
        <p:spPr>
          <a:xfrm>
            <a:off x="548640" y="56692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Giảng viên (4/10/2026); Đề thi mục 3 và 5; tiêu chí 11. Ví dụ trong bảng là minh họa.</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Buổi bảo vệ: 15 phút trình bày, 15 phút hỏi đáp — ai cũng phải trả lời</a:t>
            </a:r>
            <a:endParaRPr lang="en-US" sz="2800" dirty="0"/>
          </a:p>
        </p:txBody>
      </p:sp>
      <p:sp>
        <p:nvSpPr>
          <p:cNvPr id="3" name="Shape 1"/>
          <p:cNvSpPr/>
          <p:nvPr/>
        </p:nvSpPr>
        <p:spPr>
          <a:xfrm>
            <a:off x="548640" y="1783080"/>
            <a:ext cx="1280160" cy="1051560"/>
          </a:xfrm>
          <a:prstGeom prst="roundRect">
            <a:avLst>
              <a:gd name="adj" fmla="val 6957"/>
            </a:avLst>
          </a:prstGeom>
          <a:solidFill>
            <a:srgbClr val="49B296"/>
          </a:solidFill>
          <a:ln w="12700">
            <a:solidFill>
              <a:srgbClr val="49B296"/>
            </a:solidFill>
            <a:prstDash val="solid"/>
          </a:ln>
        </p:spPr>
      </p:sp>
      <p:sp>
        <p:nvSpPr>
          <p:cNvPr id="4" name="Text 2"/>
          <p:cNvSpPr txBox="1"/>
          <p:nvPr/>
        </p:nvSpPr>
        <p:spPr>
          <a:xfrm>
            <a:off x="548640" y="1783080"/>
            <a:ext cx="1280160" cy="105156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15’</a:t>
            </a:r>
            <a:endParaRPr lang="en-US" sz="2400" dirty="0"/>
          </a:p>
        </p:txBody>
      </p:sp>
      <p:sp>
        <p:nvSpPr>
          <p:cNvPr id="5" name="Shape 3"/>
          <p:cNvSpPr/>
          <p:nvPr/>
        </p:nvSpPr>
        <p:spPr>
          <a:xfrm>
            <a:off x="2011680" y="1783080"/>
            <a:ext cx="9628632" cy="1051560"/>
          </a:xfrm>
          <a:prstGeom prst="roundRect">
            <a:avLst>
              <a:gd name="adj" fmla="val 6957"/>
            </a:avLst>
          </a:prstGeom>
          <a:solidFill>
            <a:srgbClr val="22395F"/>
          </a:solidFill>
          <a:ln w="12700">
            <a:solidFill>
              <a:srgbClr val="22395F"/>
            </a:solidFill>
            <a:prstDash val="solid"/>
          </a:ln>
        </p:spPr>
      </p:sp>
      <p:sp>
        <p:nvSpPr>
          <p:cNvPr id="6" name="Text 4"/>
          <p:cNvSpPr txBox="1"/>
          <p:nvPr/>
        </p:nvSpPr>
        <p:spPr>
          <a:xfrm>
            <a:off x="2240280" y="1783080"/>
            <a:ext cx="2286000" cy="1051560"/>
          </a:xfrm>
          <a:prstGeom prst="rect">
            <a:avLst/>
          </a:prstGeom>
          <a:noFill/>
          <a:ln/>
        </p:spPr>
        <p:txBody>
          <a:bodyPr wrap="square" lIns="635" tIns="635" rIns="635" bIns="635" rtlCol="0" anchor="ctr"/>
          <a:lstStyle/>
          <a:p>
            <a:pPr indent="0" marL="0">
              <a:buNone/>
            </a:pPr>
            <a:r>
              <a:rPr lang="en-US" sz="1700" b="1" dirty="0">
                <a:solidFill>
                  <a:srgbClr val="49B296"/>
                </a:solidFill>
                <a:latin typeface="Roboto" pitchFamily="34" charset="0"/>
                <a:ea typeface="Roboto" pitchFamily="34" charset="-122"/>
                <a:cs typeface="Roboto" pitchFamily="34" charset="-120"/>
              </a:rPr>
              <a:t>Trình bày</a:t>
            </a:r>
            <a:endParaRPr lang="en-US" sz="1700" dirty="0"/>
          </a:p>
        </p:txBody>
      </p:sp>
      <p:sp>
        <p:nvSpPr>
          <p:cNvPr id="7" name="Text 5"/>
          <p:cNvSpPr txBox="1"/>
          <p:nvPr/>
        </p:nvSpPr>
        <p:spPr>
          <a:xfrm>
            <a:off x="4572000" y="1783080"/>
            <a:ext cx="6858000" cy="105156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Vai KAM Director; cấu trúc E → A → D; đúng giờ; tập trung vào giá trị cho khách hàng (tiêu chí 8)</a:t>
            </a:r>
            <a:endParaRPr lang="en-US" sz="1500" dirty="0"/>
          </a:p>
        </p:txBody>
      </p:sp>
      <p:sp>
        <p:nvSpPr>
          <p:cNvPr id="8" name="Shape 6"/>
          <p:cNvSpPr/>
          <p:nvPr/>
        </p:nvSpPr>
        <p:spPr>
          <a:xfrm>
            <a:off x="548640" y="2971800"/>
            <a:ext cx="1280160" cy="1051560"/>
          </a:xfrm>
          <a:prstGeom prst="roundRect">
            <a:avLst>
              <a:gd name="adj" fmla="val 6957"/>
            </a:avLst>
          </a:prstGeom>
          <a:solidFill>
            <a:srgbClr val="FF5178"/>
          </a:solidFill>
          <a:ln w="12700">
            <a:solidFill>
              <a:srgbClr val="FF5178"/>
            </a:solidFill>
            <a:prstDash val="solid"/>
          </a:ln>
        </p:spPr>
      </p:sp>
      <p:sp>
        <p:nvSpPr>
          <p:cNvPr id="9" name="Text 7"/>
          <p:cNvSpPr txBox="1"/>
          <p:nvPr/>
        </p:nvSpPr>
        <p:spPr>
          <a:xfrm>
            <a:off x="548640" y="2971800"/>
            <a:ext cx="1280160" cy="105156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15’</a:t>
            </a:r>
            <a:endParaRPr lang="en-US" sz="2400" dirty="0"/>
          </a:p>
        </p:txBody>
      </p:sp>
      <p:sp>
        <p:nvSpPr>
          <p:cNvPr id="10" name="Shape 8"/>
          <p:cNvSpPr/>
          <p:nvPr/>
        </p:nvSpPr>
        <p:spPr>
          <a:xfrm>
            <a:off x="2011680" y="2971800"/>
            <a:ext cx="9628632" cy="1051560"/>
          </a:xfrm>
          <a:prstGeom prst="roundRect">
            <a:avLst>
              <a:gd name="adj" fmla="val 6957"/>
            </a:avLst>
          </a:prstGeom>
          <a:solidFill>
            <a:srgbClr val="22395F"/>
          </a:solidFill>
          <a:ln w="12700">
            <a:solidFill>
              <a:srgbClr val="22395F"/>
            </a:solidFill>
            <a:prstDash val="solid"/>
          </a:ln>
        </p:spPr>
      </p:sp>
      <p:sp>
        <p:nvSpPr>
          <p:cNvPr id="11" name="Text 9"/>
          <p:cNvSpPr txBox="1"/>
          <p:nvPr/>
        </p:nvSpPr>
        <p:spPr>
          <a:xfrm>
            <a:off x="2240280" y="2971800"/>
            <a:ext cx="2286000" cy="105156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Hỏi đáp</a:t>
            </a:r>
            <a:endParaRPr lang="en-US" sz="1700" dirty="0"/>
          </a:p>
        </p:txBody>
      </p:sp>
      <p:sp>
        <p:nvSpPr>
          <p:cNvPr id="12" name="Text 10"/>
          <p:cNvSpPr txBox="1"/>
          <p:nvPr/>
        </p:nvSpPr>
        <p:spPr>
          <a:xfrm>
            <a:off x="4572000" y="2971800"/>
            <a:ext cx="6858000" cy="105156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Logic tài chính: giá trị, CLV, cost-to-serve, giả định (tiêu chí 9) · Điểm chạm trước – trong – sau, vai trò bên ngoài (tiêu chí 10)</a:t>
            </a:r>
            <a:endParaRPr lang="en-US" sz="1500" dirty="0"/>
          </a:p>
        </p:txBody>
      </p:sp>
      <p:sp>
        <p:nvSpPr>
          <p:cNvPr id="13" name="Shape 11"/>
          <p:cNvSpPr/>
          <p:nvPr/>
        </p:nvSpPr>
        <p:spPr>
          <a:xfrm>
            <a:off x="548640" y="4160520"/>
            <a:ext cx="1280160" cy="1051560"/>
          </a:xfrm>
          <a:prstGeom prst="roundRect">
            <a:avLst>
              <a:gd name="adj" fmla="val 6957"/>
            </a:avLst>
          </a:prstGeom>
          <a:solidFill>
            <a:srgbClr val="FFD23B"/>
          </a:solidFill>
          <a:ln w="12700">
            <a:solidFill>
              <a:srgbClr val="FFD23B"/>
            </a:solidFill>
            <a:prstDash val="solid"/>
          </a:ln>
        </p:spPr>
      </p:sp>
      <p:sp>
        <p:nvSpPr>
          <p:cNvPr id="14" name="Text 12"/>
          <p:cNvSpPr txBox="1"/>
          <p:nvPr/>
        </p:nvSpPr>
        <p:spPr>
          <a:xfrm>
            <a:off x="548640" y="4160520"/>
            <a:ext cx="1280160" cy="105156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 1</a:t>
            </a:r>
            <a:endParaRPr lang="en-US" sz="2400" dirty="0"/>
          </a:p>
        </p:txBody>
      </p:sp>
      <p:sp>
        <p:nvSpPr>
          <p:cNvPr id="15" name="Shape 13"/>
          <p:cNvSpPr/>
          <p:nvPr/>
        </p:nvSpPr>
        <p:spPr>
          <a:xfrm>
            <a:off x="2011680" y="4160520"/>
            <a:ext cx="9628632" cy="1051560"/>
          </a:xfrm>
          <a:prstGeom prst="roundRect">
            <a:avLst>
              <a:gd name="adj" fmla="val 6957"/>
            </a:avLst>
          </a:prstGeom>
          <a:solidFill>
            <a:srgbClr val="22395F"/>
          </a:solidFill>
          <a:ln w="12700">
            <a:solidFill>
              <a:srgbClr val="22395F"/>
            </a:solidFill>
            <a:prstDash val="solid"/>
          </a:ln>
        </p:spPr>
      </p:sp>
      <p:sp>
        <p:nvSpPr>
          <p:cNvPr id="16" name="Text 14"/>
          <p:cNvSpPr txBox="1"/>
          <p:nvPr/>
        </p:nvSpPr>
        <p:spPr>
          <a:xfrm>
            <a:off x="2240280" y="4160520"/>
            <a:ext cx="2286000" cy="105156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Mỗi thành viên</a:t>
            </a:r>
            <a:endParaRPr lang="en-US" sz="1700" dirty="0"/>
          </a:p>
        </p:txBody>
      </p:sp>
      <p:sp>
        <p:nvSpPr>
          <p:cNvPr id="17" name="Text 15"/>
          <p:cNvSpPr txBox="1"/>
          <p:nvPr/>
        </p:nvSpPr>
        <p:spPr>
          <a:xfrm>
            <a:off x="4572000" y="4160520"/>
            <a:ext cx="6858000" cy="105156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Trả lời ít nhất 1 câu; hội đồng có thể chỉ định người; hiểu cả phần không do mình viết (tiêu chí 11)</a:t>
            </a:r>
            <a:endParaRPr lang="en-US" sz="1500" dirty="0"/>
          </a:p>
        </p:txBody>
      </p:sp>
      <p:sp>
        <p:nvSpPr>
          <p:cNvPr id="18" name="Shape 16"/>
          <p:cNvSpPr/>
          <p:nvPr/>
        </p:nvSpPr>
        <p:spPr>
          <a:xfrm>
            <a:off x="548640" y="5440680"/>
            <a:ext cx="11091672" cy="640080"/>
          </a:xfrm>
          <a:prstGeom prst="roundRect">
            <a:avLst>
              <a:gd name="adj" fmla="val 11429"/>
            </a:avLst>
          </a:prstGeom>
          <a:solidFill>
            <a:srgbClr val="22395F"/>
          </a:solidFill>
          <a:ln w="12700">
            <a:solidFill>
              <a:srgbClr val="22395F"/>
            </a:solidFill>
            <a:prstDash val="solid"/>
          </a:ln>
        </p:spPr>
      </p:sp>
      <p:sp>
        <p:nvSpPr>
          <p:cNvPr id="19" name="Text 17"/>
          <p:cNvSpPr txBox="1"/>
          <p:nvPr/>
        </p:nvSpPr>
        <p:spPr>
          <a:xfrm>
            <a:off x="731520" y="5440680"/>
            <a:ext cx="10698480" cy="640080"/>
          </a:xfrm>
          <a:prstGeom prst="rect">
            <a:avLst/>
          </a:prstGeom>
          <a:noFill/>
          <a:ln/>
        </p:spPr>
        <p:txBody>
          <a:bodyPr wrap="square" lIns="635" tIns="635" rIns="635" bIns="635" rtlCol="0" anchor="ctr"/>
          <a:lstStyle/>
          <a:p>
            <a:pPr indent="0" marL="0">
              <a:buNone/>
            </a:pPr>
            <a:r>
              <a:rPr lang="en-US" sz="1500" dirty="0">
                <a:solidFill>
                  <a:srgbClr val="A9B6D3"/>
                </a:solidFill>
                <a:latin typeface="Roboto" pitchFamily="34" charset="0"/>
                <a:ea typeface="Roboto" pitchFamily="34" charset="-122"/>
                <a:cs typeface="Roboto" pitchFamily="34" charset="-120"/>
              </a:rPr>
              <a:t>Slide và trình bày bằng tiếng Việt. Không đưa thông tin cá nhân của người thật tại khách hàng — dùng chức danh.</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2 · 35 phút: viết phần D, phần E — và chạy thử Customer Board</a:t>
            </a:r>
            <a:endParaRPr lang="en-US" sz="2800" dirty="0"/>
          </a:p>
        </p:txBody>
      </p:sp>
      <p:sp>
        <p:nvSpPr>
          <p:cNvPr id="3" name="Shape 1"/>
          <p:cNvSpPr/>
          <p:nvPr/>
        </p:nvSpPr>
        <p:spPr>
          <a:xfrm>
            <a:off x="548640" y="1783080"/>
            <a:ext cx="1097280" cy="868680"/>
          </a:xfrm>
          <a:prstGeom prst="roundRect">
            <a:avLst>
              <a:gd name="adj" fmla="val 8421"/>
            </a:avLst>
          </a:prstGeom>
          <a:solidFill>
            <a:srgbClr val="FF9259"/>
          </a:solidFill>
          <a:ln w="12700">
            <a:solidFill>
              <a:srgbClr val="FF9259"/>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12’</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Bảng phần D: ≥ 1 bên mỗi nhóm × 4 câu (slide 20); 2 xung đột + cách bảo vệ deliverables</a:t>
            </a:r>
            <a:endParaRPr lang="en-US" sz="1500" dirty="0"/>
          </a:p>
        </p:txBody>
      </p:sp>
      <p:sp>
        <p:nvSpPr>
          <p:cNvPr id="7" name="Shape 5"/>
          <p:cNvSpPr/>
          <p:nvPr/>
        </p:nvSpPr>
        <p:spPr>
          <a:xfrm>
            <a:off x="548640" y="2770632"/>
            <a:ext cx="1097280" cy="868680"/>
          </a:xfrm>
          <a:prstGeom prst="roundRect">
            <a:avLst>
              <a:gd name="adj" fmla="val 8421"/>
            </a:avLst>
          </a:prstGeom>
          <a:solidFill>
            <a:srgbClr val="FF5178"/>
          </a:solidFill>
          <a:ln w="12700">
            <a:solidFill>
              <a:srgbClr val="FF5178"/>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5’</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Executive Summary 5 câu trên A3 (slide 22) — có số, có việc cần quyết</a:t>
            </a:r>
            <a:endParaRPr lang="en-US" sz="1500" dirty="0"/>
          </a:p>
        </p:txBody>
      </p:sp>
      <p:sp>
        <p:nvSpPr>
          <p:cNvPr id="11" name="Shape 9"/>
          <p:cNvSpPr/>
          <p:nvPr/>
        </p:nvSpPr>
        <p:spPr>
          <a:xfrm>
            <a:off x="548640" y="3758184"/>
            <a:ext cx="1097280" cy="868680"/>
          </a:xfrm>
          <a:prstGeom prst="roundRect">
            <a:avLst>
              <a:gd name="adj" fmla="val 8421"/>
            </a:avLst>
          </a:prstGeom>
          <a:solidFill>
            <a:srgbClr val="FFD23B"/>
          </a:solidFill>
          <a:ln w="12700">
            <a:solidFill>
              <a:srgbClr val="FFD23B"/>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10’</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Xoay trạm 2 vòng × 5’: vai Customer Board — 1 câu hỏi tài chính (vàng) + 1 câu hỏi điểm chạm (hồng); người trả lời do trạm chỉ định</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5’</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Về bàn, sửa; ghi câu hỏi khó nhất vào danh sách ôn bảo vệ</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5178"/>
          </a:solidFill>
          <a:ln w="12700">
            <a:solidFill>
              <a:srgbClr val="FF5178"/>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5178"/>
                </a:solidFill>
                <a:latin typeface="Roboto" pitchFamily="34" charset="0"/>
                <a:ea typeface="Roboto" pitchFamily="34" charset="-122"/>
                <a:cs typeface="Roboto"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Bảng Value Delivery + Executive Summary nháp + danh sách câu hỏi bảo vệ</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Người trả lời do trạm chỉ định — tập đúng luật của buổi bảo vệ.</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ý của Buổi 13</a:t>
            </a:r>
            <a:endParaRPr lang="en-US" sz="2800" dirty="0"/>
          </a:p>
        </p:txBody>
      </p:sp>
      <p:sp>
        <p:nvSpPr>
          <p:cNvPr id="3" name="Shape 1"/>
          <p:cNvSpPr/>
          <p:nvPr/>
        </p:nvSpPr>
        <p:spPr>
          <a:xfrm>
            <a:off x="548640" y="1783080"/>
            <a:ext cx="128016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280160" cy="100584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13.1</a:t>
            </a:r>
            <a:endParaRPr lang="en-US" sz="2000" dirty="0"/>
          </a:p>
        </p:txBody>
      </p:sp>
      <p:sp>
        <p:nvSpPr>
          <p:cNvPr id="5" name="Shape 3"/>
          <p:cNvSpPr/>
          <p:nvPr/>
        </p:nvSpPr>
        <p:spPr>
          <a:xfrm>
            <a:off x="2011680" y="1783080"/>
            <a:ext cx="9628632"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240280" y="1783080"/>
            <a:ext cx="923544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SMP = Key Account Plan + điều phối bên ngoài, theo Value Planning Framework: bắt đầu từ thế giới của khách hàng; mọi con số có nguồn hoặc “Giả định: … vì …”</a:t>
            </a:r>
            <a:endParaRPr lang="en-US" sz="1500" dirty="0"/>
          </a:p>
        </p:txBody>
      </p:sp>
      <p:sp>
        <p:nvSpPr>
          <p:cNvPr id="7" name="Shape 5"/>
          <p:cNvSpPr/>
          <p:nvPr/>
        </p:nvSpPr>
        <p:spPr>
          <a:xfrm>
            <a:off x="548640" y="2971800"/>
            <a:ext cx="128016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280160" cy="100584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C → D</a:t>
            </a:r>
            <a:endParaRPr lang="en-US" sz="2000" dirty="0"/>
          </a:p>
        </p:txBody>
      </p:sp>
      <p:sp>
        <p:nvSpPr>
          <p:cNvPr id="9" name="Shape 7"/>
          <p:cNvSpPr/>
          <p:nvPr/>
        </p:nvSpPr>
        <p:spPr>
          <a:xfrm>
            <a:off x="2011680" y="2971800"/>
            <a:ext cx="9628632"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240280" y="2971800"/>
            <a:ext cx="923544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Phần C có số, từ năm nguồn giá trị; mỗi lời hứa có một dòng đo ở D. 13.2 là một bảng: mỗi bên bên ngoài gắn điểm chạm, giá trị, cách quản lý, rủi ro</a:t>
            </a:r>
            <a:endParaRPr lang="en-US" sz="1500" dirty="0"/>
          </a:p>
        </p:txBody>
      </p:sp>
      <p:sp>
        <p:nvSpPr>
          <p:cNvPr id="11" name="Shape 9"/>
          <p:cNvSpPr/>
          <p:nvPr/>
        </p:nvSpPr>
        <p:spPr>
          <a:xfrm>
            <a:off x="548640" y="4160520"/>
            <a:ext cx="128016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280160" cy="100584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E</a:t>
            </a:r>
            <a:endParaRPr lang="en-US" sz="2000" dirty="0"/>
          </a:p>
        </p:txBody>
      </p:sp>
      <p:sp>
        <p:nvSpPr>
          <p:cNvPr id="13" name="Shape 11"/>
          <p:cNvSpPr/>
          <p:nvPr/>
        </p:nvSpPr>
        <p:spPr>
          <a:xfrm>
            <a:off x="2011680" y="4160520"/>
            <a:ext cx="9628632"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240280" y="4160520"/>
            <a:ext cx="923544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Viết cuối, đặt đầu, một trang. Bốn phụ lục bắt buộc; khai báo AI; mỗi người tự bảo vệ được mọi phần</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Phần nào trong A–E của SMP nhóm bạn đang yếu nhất? Nhóm cần thông tin gì, từ đâu để hoàn thiện?</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Viết 1 câu value proposition cho khách hàng của nhóm, có con số — ghi rõ đâu là giả định.</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Buổi 14–15: các bạn là KAM Director trước Customer Board</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Roboto" pitchFamily="34" charset="0"/>
                <a:ea typeface="Roboto" pitchFamily="34" charset="-122"/>
                <a:cs typeface="Roboto" pitchFamily="34" charset="-120"/>
              </a:rPr>
              <a:t>Hạn nộp: 23:59 · 14/10/2026</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Buổi sau các bạn không còn là sinh viên trình bày bài tập. Hội đồng sẽ hỏi hai điều: giá trị này bao nhiêu tiền — và các bạn chạm vào khách hàng của họ ở đâu, bằng ai.</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Checklist tự rà soát SMP</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Bảng truy vết + ảnh chụp các trang</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Danh sách câu hỏi bảo vệ hôm nay</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Roboto" pitchFamily="34" charset="0"/>
                <a:ea typeface="Roboto" pitchFamily="34" charset="-122"/>
                <a:cs typeface="Roboto" pitchFamily="34" charset="-120"/>
              </a:rPr>
              <a:t>Davies, M. (n.d.).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Creating compelling customer value propositions</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Cranfield School of Management Executive Development Blog.</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Holt, S. (n.d.).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World class key account planning</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Cranfield School of Management Executive Development Blog.</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Lemon, K. N., &amp; Verhoef, P. C. (2016). Understanding customer experience throughout the customer journey.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Marketing, 80</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(6), 69–96.</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Marcos, J., Davies, M., Guesalaga, R., &amp; Holt, S. (2018).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Implementing key account management: Designing customer-centric processes for mutual growth</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Kogan Page.</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McDonald, M. (n.d.).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How to create financially quantified value propositions in six (actionable!) steps</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Strategic Account Management Association.</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Ryals, L. J., &amp; Rogers, B. (2007). Key account planning: Benefits, barriers and best practice.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Strategic Marketing, 15</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209–222.</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Ryals, L., &amp; McDonald, M. (2010).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Key account plans</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Routledge.</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Trường Đại học Kinh tế – Tài chính TP.HCM. (2026).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Đề thi học kỳ 1A năm học 2026–2027: EVM1110E</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[Tài liệu nội bộ].</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13: Xây dựng SMP quanh Key Account Plan</dc:title>
  <dc:subject>PptxGenJS Presentation</dc:subject>
  <dc:creator>Đoàn Nguyễn Bảo Quyên</dc:creator>
  <cp:lastModifiedBy>Đoàn Nguyễn Bảo Quyên</cp:lastModifiedBy>
  <cp:revision>1</cp:revision>
  <dcterms:created xsi:type="dcterms:W3CDTF">2026-10-04T14:30:28Z</dcterms:created>
  <dcterms:modified xsi:type="dcterms:W3CDTF">2026-10-04T14:30:28Z</dcterms:modified>
</cp:coreProperties>
</file>