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Chào các bạn. Buổi 10 — Bài 10: Chọn và quản lý nhà cung cấp, địa điểm. Buổi 9 ta đưa đối tác của Key Account vào sự kiện. Hôm nay Nova quay về vị trí bên mua: chọn khách sạn, chọn nhà cung cấp — để giữ lời hứa với An Phát.
(GV: Phần 3, buổi 2/4. Mở đầu bằng 2–3 “điều còn mơ hồ” từ phiếu cuối giờ Buổi 9 (≤3 phút). Ranh giới (quyết định GV 3): Buổi 7 = chiến lược; Buổi 10 = tác nghiệp; PCCC, an toàn đám đông → môn Quản trị rủi ro sự kiện.)
Hỏi lớp: —
Chuyển ý: Nhớ lại Buổi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Nhớ Buổi 7: ba tuần trước gala 12/12, khách sạn báo AV nội bộ tăng giá 30% và không cho mang AV ngoài vào. Ta đã kết luận: tình huống đó được quyết định từ lúc chọn và ký với khách sạn. Hôm nay ta quay lại đúng lúc đó. Tháng 7. Anh Minh vừa duyệt concept gala 600 khách. Nova có ba tuần để chọn khách sạn và các nhà cung cấp. Giơ tay: bạn sẽ gọi ba khách sạn quen hỏi giá, hay gửi một bộ yêu cầu bằng văn bản giống nhau cho cả ba?
(GV: Giáo án S1 (phút 0–5). Chốt: “Gọi điện nhanh hơn. Nhưng khi anh Minh hỏi ‘vì sao chọn khách sạn này’, Nova cần trả lời bằng tiêu chí và hồ sơ, không phải bằng cảm giác.” Mọi tên, con số là giả định.)
Hỏi lớp: “(A) gọi điện hay (B) gửi yêu cầu bằng văn bản?”
Chuyển ý: Ba câu hỏi của hôm nay.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câu hỏi. Mục 10.1 — mua thế nào: quy trình RFP, RFQ và chọn nhà cung cấp từ góc nhìn đơn vị tổ chức. Mục 10.2 — chọn địa điểm ra sao: site check, tiêu chí, sơ đồ không gian. Mục 10.3 — nhà cung cấp chạm Key Account ở đâu: phân bổ họ vào giai đoạn mua và sau mua của An Phát.
(GV: Đề cương Session 10: 10.1 procurement process (RFP/RFQ) and vendor selection from the organizer's perspective; 10.2 site check, venue selection criteria, space mapping; 10.3 allocating vendors to the purchase/post-purchase stages of the Key Account.)
Hỏi lớp: —
Chuyển ý: Vì sao agency phải mua ngoài?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Vì sao agency phải mua ngoài? Dowson và cộng sự nêu năm lý do. Chi phí: thuê theo sự kiện rẻ hơn tự sở hữu. Thời gian: cao điểm sự kiện cần nhiều người hơn bình thường. Chuyên môn và thiết bị không cần dùng quanh năm. Rủi ro: mỗi nhà cung cấp tự đánh giá rủi ro trong mảng của mình. Và chất lượng. Nhưng câu quan trọng nhất cho môn này: thuê ngoài không làm vấn đề chi phí biến mất, vì phải tốn nhiều thời gian quản lý quan hệ với bên được thuê. Đó là lý do hôm nay là một buổi của môn quản trị quan hệ.
(GV: V15 Dowson ch.9, định nghĩa: “Outsourcing is the transfer of an organizational function to a third party.” Silvers (2008, tr. 176) gọi nhà tổ chức là “general contractor” — tổng thầu quản lý mọi nhà cung cấp.)
Hỏi lớp: —
Chuyển ý: Từ Buổi 7 sang Buổi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Buổi 7 là tầng chiến lược: hạng mục này quan trọng và rủi ro đến đâu, quan hệ với nhà cung cấp nên thế nào — công cụ là Kraljic, Procurement và Buying, customer of choice. Buổi 10 là tầng tác nghiệp: mời ai, hỏi gì, chấm thế nào, kiểm tra tại chỗ ra sao. Đầu ra hôm nay là nhà cung cấp được chọn, kèm hồ sơ giải thích được. Ô Kraljic quyết định cách mua: hạng mục không quan trọng thì hỏi giá nhanh; hạng mục chiến lược như ballroom tháng 12 thì cần RFP, site check và đàm phán quan hệ.
(GV: Lecture notes §1.1. Dowson (2023, tr. 228) định nghĩa purchasing = mua đứt bằng tiền; procurement = có được bằng mọi cách (thuê, mượn, trao đổi) — khác cách CIPS ở Buổi 7; nếu SV hỏi, nói rõ có nhiều cách định nghĩa.)
Hỏi lớp: —
Chuyển ý: Ba loại yêu cầu.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loại yêu cầu. RFI — request for information: hỏi nhà cung cấp là ai, làm được gì; dùng khi chưa biết thị trường. Ví dụ: tìm đơn vị livestream về 80 chi nhánh. RFP — request for proposal: hỏi giải pháp kèm giá, chấm theo nhiều tiêu chí; dùng cho hạng mục phức tạp — ballroom kèm F&amp;B, AV và livestream. RFQ — request for quotation: hỏi giá cho thông số đã rõ; dùng cho hạng mục chuẩn — in backdrop, thuê xe 45 chỗ.
(GV: Lecture notes §1.2. Nếu trễ giờ: rút ví dụ RFI (giáo án).)
Hỏi lớp: —
Chuyển ý: Ba cách mua.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Dowson và cộng sự nêu ba cách mua. Ba báo giá: mời ít nhất ba bên báo giá cho thông số rõ — CIPS cũng nói “at least three suppliers”. Đấu thầu: hồ sơ mời thầu chính thức, tiêu chí công khai, chấm điểm. Nhà cung cấp ưu tiên: bên đã qua đấu thầu hoặc đánh giá, rồi được giữ quan hệ dài hạn. Giáo trình cảnh báo vui: ở công ty nhỏ, “ưu tiên” đôi khi chỉ vì anh rể tôi làm chủ. Ưu tiên phải có lý do ghi lại được. Và còn trường hợp một nguồn — khi chỉ một bên đủ năng lực.
(GV: V15 tr. 230: “such as using a supplier because your brother-in-law owns it”. CIPS (V01) còn liệt kê đấu thầu rộng rãi, hai giai đoạn, hạn chế — [VERIFY: tiêu đề từng phương thức trên trang CIPS]. Một câu về Key Account (quyết định GV 7): quy trình mua của An Phát có thể chịu quy định nội bộ hoặc pháp luật — hỏi anh Khoa ngay từ đầu.)
Hỏi lớp: —
Chuyển ý: Một nguồn đến từ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Câu hỏi: lúc nào Nova mất quyền chọn AV? Lúc ký với khách sạn. Nếu khách sạn có AV độc quyền, AV trở thành một nguồn — không còn so giá được. Silvers viết: địa điểm có nhà cung cấp ưu tiên hoặc độc quyền có thể giới hạn lựa chọn hoặc làm tăng chi phí của nhà tổ chức, và phải được phân tích ngay khi đánh giá hồ sơ. Vậy câu hỏi về nhà cung cấp độc quyền phải nằm trong RFP gửi khách sạn — trước khi ký.
(GV: Hỏi lớp trước khi hiện hộp vàng. Alt-text: ba ô nối bằng mũi tên.)
Hỏi lớp: “Lúc nào Nova mất quyền chọn AV?”
Chuyển ý: RFP tốt trông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RFP tốt mang Key Account và khách của Key Account vào. Mẫu RFP APEX của Events Industry Council có các phần mục tiêu sự kiện, hồ sơ người tham dự, lịch sử sự kiện — và đề nghị đính kèm báo cáo sau sự kiện kỳ trước. Nghĩa là nhà cung cấp chỉ đề xuất đúng khi hiểu An Phát và khách của An Phát. Khung tám phần cho RFP gửi khách sạn: về An Phát và mục tiêu gala; hồ sơ khách; ngày giờ và giờ dựng – tháo; bố trí và xin sơ đồ mặt bằng; F&amp;B; chính sách nhà cung cấp độc quyền; điều khoản cọc, hủy, thay đổi số khách; và tiêu chí chấm, hạn trả lời. Lưu ý bảo mật thông tin khách.
(GV: Lecture notes §1.4. Dowson (2023, Hình 5.3, tr. 105–106) có mẫu “venue search brief” đầy đủ (ngân sách, số khách mỗi phiên, phòng chính/phụ, F&amp;B, yêu cầu khác) — có thể chiếu thêm nếu muốn.)
Hỏi lớp: —
Chuyển ý: Đặc tả thế nào cho đủ?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Dowson và cộng sự chia đặc tả thành ba lớp. Theo chức năng: dịch vụ để làm gì — livestream gala tới 80 chi nhánh để nhân viên cùng xem phần vinh danh. Kỹ thuật: nhân sự, thiết bị, số lượng — ba máy quay, một đường truyền dự phòng. Theo kết quả: chuẩn an toàn, chất lượng, KPI kiểm chứng được — đứt tín hiệu không quá 30 giây, có biên bản thử trước một ngày. Đặc tả càng rõ, báo giá càng sát, và hồ sơ các bên mới so được với nhau.
(GV: V15 tr. 234: “The more detailed this document is … the more accurate a costing will be provided in return.” Ví dụ KPI là giả định.)
Hỏi lớp: —
Chuyển ý: Tốc độ trả lời cũng là thông 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Khảo sát của Cvent: 80% người tổ chức muốn địa điểm trả lời RFP trong vòng 4 ngày. Câu hỏi: tốc độ trả lời RFP nói gì về cách nhà cung cấp sẽ phục vụ ta sau này? Hai nguyên tắc từ giáo trình. Hồ sơ dự thầu phải được giữ bảo mật để đối xử công bằng với mọi bên. Và không gửi brief tìm địa điểm cho nhiều đơn vị trung gian cùng lúc — địa điểm sẽ rối và khó chịu.
(GV: V06 chưa KCC, Cvent bán phần mềm gửi RFP. V14 tr. 111: “What you should not do is to brief more than one agency at the same time…”.)
Hỏi lớp: “Tốc độ trả lời RFP nói gì về nhà cung cấp?”
Chuyển ý: Chấm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Cách làm phổ biến là bảng chấm điểm có trọng số. Ví dụ giả định: chất lượng – năng lực 60, tổng chi phí 40. Không gian phù hợp khách của An Phát 20; kỹ thuật, AV, livestream 15; lịch và điều khoản 15; dịch vụ, F&amp;B 10; tổng chi phí 40 — không chỉ giá thuê mà cả AV và phụ thu. Trước khi chấm, kiểm tra điều kiện bắt buộc: còn trống ngày 12/12 không, đủ diện tích dùng được không. Trượt điều kiện bắt buộc thì điểm cao cũng không cứu được. Điểm bằng tổng điểm nhân trọng số, chia 5. Silvers viết: trọng số làm giảm ảnh hưởng của sở thích cá nhân trong quyết định. Silvers còn có ví dụ chấm bốn khách sạn, trong đó có tiêu chí an ninh và kế hoạch khẩn cấp.
(GV: V16 tr. 176: “It is widely recommended that selection criteria be assigned numerical importance ratings that will result in a quantitative score that eliminates (or at least lessens) personal influence or preference…” (decision matrix, MAUT). Dowson Bảng 9.6: chất lượng, đáp ứng đặc tả, chi phí so ngân sách, khả năng đáp ứng lịch, kinh nghiệm. Học thuật kinh điển (Dickson 1966; Weber et al. 1991; Ho et al. 2010 — V04) chỉ nêu tên.)
Hỏi lớp: —
Chuyển ý: Bốn nguyên tắc.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Bốn nguyên tắc đánh giá hồ sơ của CIPS. Value for money — không phải giá thấp nhất. Đối xử công bằng — cùng yêu cầu, cùng hạn, cùng tiêu chí; Dowson thêm: người chấm phải khai báo thiên vị và quan hệ trước đó với nhà cung cấp. Có dấu vết — ai chấm, chấm gì, vì sao; anh Minh và anh Khoa đều có thể hỏi lại. Và phản hồi cho bên trượt — nối Buổi 7: bên trượt hôm nay là đối tác ngày mai. Dowson còn nói thẳng: bên được chọn phải là bên điểm cao nhất. Nếu kết quả không như ý, sửa tiêu chí từ đầu, không sửa điểm ở cuối.
(GV: V15 tr. 231: “ensure that professional relationships are maintained, and any bias or prior relationship is acknowledged.” Hiểu lầm: “chấm điểm là thủ tục” → bảng chấm là lời giải thích Nova đưa cho Key Account.)
Hỏi lớp: —
Chuyển ý: Thực hành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1, 20 phút. Nova đã gửi cùng một RFP cho ba khách sạn 5 sao ở Quận 1. Ngân sách An Phát duyệt cho địa điểm, F&amp;B và AV: tối đa 1,5 tỷ. Bốn phút: đặt trọng số — được chuyển tối đa 10 điểm giữa các tiêu chí, ghi một câu lý do. Tám phút: kiểm tra điều kiện bắt buộc trước, rồi chấm A, B, C từ 1 đến 5 và tính điểm. Năm phút: chọn một khách sạn — có thể có điều kiện — và viết một câu báo anh Minh, một câu phản hồi cho một khách sạn trượt.
(GV: Phiếu W10_activity_S3_cham_ho_so_khach_san.md (A: 1.200 m² brochure ~950 dùng được, 4 cột, AV độc quyền, 1,45 tỷ; B: 1.000 m² không cột, Nova là lựa chọn thứ hai đến 15/8, 1,52 tỷ — vượt ngân sách; C: ~700 + 200 m², chỉ dựng từ 14h ngày 12/12, 1,44 tỷ). Mốc phút 30–50. Khách sạn B “khách khác giữ chỗ tạm” = Nova đang ở “second option” (Dowson tr. 111). Ghi lựa chọn của 6 nhóm lên bảng.)
Hỏi lớp: —
Chuyển ý: Giải lao.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Giải lao 8 phút.
(GV: [NEEDS PROFESSOR INPUT: giờ quay lại.] Giáo án: phút 50–58.)
Hỏi lớp: —
Chuyển ý: Sau giải lao: một sân vận động.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Mục 10.2. Cuối 2024, sân vận động quốc gia Mỹ Đình tổ chức concert tối 7/12, một tuần trước trận ASEAN Cup của đội tuyển Việt Nam gặp Indonesia. VFF xin đổi sân nhà về Việt Trì. Hỏi: nếu Nova là agency của concert đó, ta cần hỏi địa điểm điều gì? Nếu Nova làm cho bên thuê sau, ta cần hỏi gì? Một địa điểm phục vụ nhiều bên thuê. Luôn hỏi: trước và sau ngày của tôi có sự kiện gì, giờ dựng – tháo thế nào, ai chịu trách nhiệm trả lại mặt bằng. Nhớ khách sạn C ở Thực hành 1: tiệc cưới tối 11/12, chỉ dựng được từ 14 giờ ngày 12/12.
(GV: V10 đã KCC. Ảnh sân Mỹ Đình chỉ dùng khi GV chấp nhận — slide dùng chữ.)
Hỏi lớp: “Agency của bên thuê sau cần hỏi gì?”
Chuyển ý: Vì sao chọn địa điểm trước.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Vì sao chọn địa điểm trước? Dowson và cộng sự: địa điểm là cầu thủ xuất sắc nhất của sự kiện — mọi kế hoạch tỉ mỉ cũng không bù được một địa điểm kém. BizBash dẫn một chuyên gia: địa điểm thường là bước đầu tiên vì nó quyết định nhà cung cấp nào được dùng. Khảo sát Cvent: thông số phòng, hình ảnh và sơ đồ mặt bằng là những thứ ảnh hưởng nhiều nhất đến quyết định gửi RFP. Ví dụ: khách sạn có AV độc quyền thì Nova mất quyền chọn AV.
(GV: V14 tr. 104 (Selina Arnall, Events Manager Hack). V06 chưa KCC. Nếu trễ giờ: bỏ cặp số 97%/94% ở slide sau.)
Hỏi lớp: —
Chuyển ý: Giá và quan hệ.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nghịch lý từ khảo sát Cvent: 97% người tổ chức sẵn sàng đổi sang địa điểm thứ hai nếu tiết kiệm từ 20% trở xuống; nhưng 94% sẵn sàng trả thêm để giữ địa điểm ưu tiên. Hai con số này mâu thuẫn không? Không hẳn: giá quan trọng — nhưng quan hệ với địa điểm cũng có giá trị. Đúng tinh thần customer of choice ở Buổi 7.
(GV: Nếu trễ giờ: bỏ slide này (giáo án).)
Hỏi lớp: “Hai con số này mâu thuẫn không?”
Chuyển ý: Hình ảnh của địa điểm.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tiêu chí hay bị quên: hình ảnh. Dowson kể “AIG effect” năm 2008: vài ngày sau khi nhận gói cứu trợ khổng lồ, một công ty con của tập đoàn bảo hiểm AIG tổ chức sự kiện ở khách sạn sang trọng tại California. Báo chí chỉ trích dữ dội; sau đó nhiều doanh nghiệp hủy đặt chỗ vì sợ bị đưa tin. Giáo trình đề nghị phép thử: sự kiện này có qua được nếu lên trang báo quốc gia không? Với gala An Phát: một ngân hàng tri ân khách VIP ở khách sạn 5 sao — trên báo sẽ trông thế nào? Chọn địa điểm cũng là quản trị hình ảnh của Key Account.
(GV: V15 tr. 245 (Godwin, 2009): chi phí sự kiện 443.000 USD; AIG nhận 85 tỷ USD từ Fed — có thể nêu nếu lớp hỏi. Dowson tr. 99 hỏi: “What would this look like as a story in the Daily Mail?” Không suy diễn tình hình An Phát — chỉ đặt câu hỏi.)
Hỏi lớp: —
Chuyển ý: Vậy tiêu chí chọn địa điểm là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Sáu nhóm tiêu chí cho sự kiện của Key Account. Một: phù hợp với khách và hình ảnh — Dowson nhấn mạnh phong cách địa điểm phải hợp văn hóa doanh nghiệp của khách. Hai: sức chứa và bố trí — diện tích dùng được, cột, trần, tầm nhìn. Ba: kỹ thuật — điện, treo thiết bị, Wi‑Fi, livestream cho chị Lan. Bốn: dịch vụ và nhà cung cấp độc quyền. Năm: lịch và điều khoản. Sáu: tổng chi phí — anh Khoa duyệt.
(GV: Lecture notes §2.3; nay có thêm căn cứ Dowson (2023, tr. 102–103): danh sách “must-haves” gồm vị trí, giao thông, hình ảnh – phong cách – fit with corporate culture, loại địa điểm, không khí, quy mô tương đối, sức chứa và bố trí, tiện ích và công nghệ, tiếp cận, chi phí/value for money, chỗ ở.)
Hỏi lớp: —
Chuyển ý: Một câu chuyện đạo đức.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câu chuyện trong giáo trình. Người phụ trách phía khách muốn tổ chức sự kiện ở một lâu đài. Agency tìm hiểu và thấy lâu đài không hợp với sự kiện — và nhận ra người đó chỉ muốn được ở lâu đài. Agency đặt cho người đó một chuyến nghỉ ở lâu đài, và đặt sự kiện ở địa điểm phù hợp hơn. Tác giả viết: hãy cân nhắc khía cạnh đạo đức của hành động này! Thảo luận hai phút: tổ chức của khách có biết không? Ai trả tiền chuyến nghỉ? Nova có đang tiếp tay cho “agency effects” — người ra quyết định đặt lợi ích riêng lên trên tổ chức — mà ta đã gặp ở Buổi 9?
(GV: V14 tr. 105. Không có đáp án duy nhất; hướng chốt: minh bạch với tổ chức của khách; quà, lợi ích cá nhân cho người ra quyết định phải theo quy định của cả hai bên. Nối CLO8 (đạo đức nghề nghiệp) nếu đề cương có. Có thể bỏ nếu trễ giờ.)
Hỏi lớp: “Tổ chức của khách có biết không? Ai trả tiền chuyến nghỉ?”
Chuyển ý: Đơn vị tìm địa điểm kiếm tiền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Nhiều agency nhờ đơn vị tìm địa điểm. Dịch vụ trông như miễn phí, vì địa điểm trả hoa hồng — theo Dowson, từ 8 đến 15%. Nhưng có đơn vị đặt mức hoa hồng khác nhau theo hạng Vàng, Đồng — và địa điểm trả mức cao lại hay xuất hiện trong danh sách ngắn hơn. Vậy hãy hỏi: có địa điểm hay chuỗi khách sạn nào họ không làm việc cùng? Địa điểm được giữ chỗ theo lựa chọn thứ nhất hoặc thứ hai — như khách sạn B ở Thực hành 1: Nova đang là lựa chọn thứ hai. Và lưu cả danh sách địa điểm bị loại, kèm lý do — để minh bạch với Key Account.
(GV: V14 tr. 110–111. Không có số liệu thị trường Việt Nam — [NEEDS PROFESSOR INPUT: kinh nghiệm thực tế về hoa hồng địa điểm ở Việt Nam nếu GV muốn bổ sung].)
Hỏi lớp: —
Chuyển ý: Site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Site check là đi để hỏi. BizBash có 11 câu không bao giờ được quên; mẫu site visit của Dowson có thêm vài câu thú vị. Sức chứa tối đa và giấy phép. Nhà cung cấp độc quyền và phụ thu. AV, treo thiết bị, máy phát dự phòng, Wi‑Fi cho kỹ thuật. Khu hậu cần, khu chuẩn bị F&amp;B, giờ tập kết, thang hàng. Bãi đỗ xe, quy định gắn thương hiệu. Và hai câu của Dowson: ngày nào thử chuông báo cháy — câu này được thêm vào sau một lần chuông kêu giữa đêm vì nồi hơi hỏng. Và: luôn kiểm tra nhà vệ sinh!
(GV: V14 tr. 116: “There’s no substitute for a physical inspection of the venue … always inspect [the toilets]!” Phạm vi: PCCC, lối thoát nạn → môn Quản trị rủi ro. Site check cùng anh Minh, chị Lan là điểm chạm trước mua (10.3).)
Hỏi lớp: —
Chuyển ý: Một bài học từ mưa.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ví dụ Việt Nam. Concert Những thành phố mơ màng Summer 2026 ở Hà Nội, 12/7: mưa lớn làm khu vực không đảm bảo vệ sinh, khán giả lội bùn; sân khấu thấp, màn LED nhỏ, tầm nhìn hạn chế. Ban tổ chức xin lỗi và cam kết rà soát từ khâu đánh giá điều kiện mặt bằng đến phương án ứng phó thời tiết. Hỏi: site check trước đó thiếu câu hỏi nào? Và phương án B nằm trong hợp đồng với ai — địa điểm hay nhà cung cấp?
(GV: V11 một báo — chưa KCC; không nêu tên đơn vị tổ chức. Dowson ch.5 nhấn ba yếu tố bố trí: không gian, di chuyển, không khí — trong đó có tầm nhìn tới sân khấu (tr. 122).)
Hỏi lớp: “Site check trước đó thiếu câu hỏi nào?”
Chuyển ý: Bố trí không gian.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Dowson nêu ba điều khi bố trí mặt bằng. Không gian: đủ chỗ cho mọi hoạt động — kể cả khu hậu cần như văn phòng ban tổ chức, kho, phòng chờ nghệ sĩ, khu báo chí. Di chuyển — viết tắt ICE: vào, đi lại, ra; lối vào phải đủ chỗ xếp hàng và đón khách. Không khí: khu ồn không đặt cạnh khu yên, và mọi khách phải nhìn, nghe được sân khấu. Với gala An Phát: khu nhà tài trợ không nên đặt sát sân khấu lúc ông Tuấn phát biểu; khách VIP có lối vào riêng.
(GV: V14. Quản lý đám đông chi tiết (Dowson ch.6, Purple Guide) → môn Quản trị rủi ro.)
Hỏi lớp: —
Chuyển ý: Cần bao nhiêu mét vuông?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Cần bao nhiêu mét vuông? Quy tắc: sức chứa xấp xỉ diện tích dùng được chia diện tích mỗi người theo kiểu bố trí. Nhưng các quy tắc vênh nhau rất nhiều. Theo blog Social Tables, bàn tròn tiệc khoảng 1,0 đến 1,1 mét vuông mỗi khách. Theo Price, 2004, được giáo trình Dowson dẫn: cabaret hoặc bàn tiệc 4 mét vuông mỗi khách. Với 600 khách: khoảng 610–670 mét vuông chỉ cho khu bàn — hay khoảng 2.400 mét vuông? Chênh nhau gần bốn lần. Bài học: không tin một con số. Xin bảng sức chứa và sơ đồ chính thức của địa điểm, hỏi “diện tích này là gì”, và đo khi site check. Ví dụ: cùng một trung tâm hội nghị ở TP.HCM, các trang ghi từ hơn 4.000 đến khoảng 10.000 mét vuông.
(GV: Tính trên bảng cùng lớp (giáo án). Phiếu Thực hành 1 dùng 860–920 m² theo V08 (610–670 m² khu bàn + ~250 m² sân khấu, lối đi, buffet, nhà tài trợ). Chưa xác định Price (2004) và Social Tables có dùng cùng định nghĩa “diện tích mỗi người” không — [NEEDS PROFESSOR INPUT: giữ số V08 cho phiếu, hay đổi theo giáo trình]. Không nêu tên địa điểm thật (quyết định GV 4). Sức chứa chính thức theo giấy phép → môn Quản trị rủi ro.)
Hỏi lớp: “Ballroom 1.200 m² có chắc chứa thoải mái 600 khách?”
Chuyển ý: Sơ đồ mặt bằng làm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Dowson nêu ba bước dựng sơ đồ. Một: xin sơ đồ chi tiết của địa điểm — kích thước, lối vào ra, điểm cố định như cột, ổ điện. Hai: xếp bố trí — đặt hoạt động chính trước; khu bổ trợ cạnh nhau; khu VIP và báo chí ở vị trí tốt; hậu cần khuất tầm mắt. Ba: xin góp ý của quản lý địa điểm, nhà cung cấp từng làm ở đây, và khách hàng. Bước ba chính là quản trị quan hệ: gửi sơ đồ cho anh Minh, chị Lan duyệt trước khi chốt với khách sạn.
(GV: V14 tr. 124: “It’s always a sensible idea to share the proposed layout with your client to ensure it meets their expectations.” Dowson còn khuyên làm nhiều loại bản đồ: cho khách và cho nhân sự, nhà cung cấp (Bảng 5.2).)
Hỏi lớp: —
Chuyển ý: Sau khi chọn: làm việc với địa điểm.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Chọn xong mới là lúc làm việc thật với địa điểm. Dowson viết: lúc đầu bạn làm việc với nhân viên kinh doanh — họ có thể hứa cả thế giới; nhân viên vận hành mới cho bạn biết không đơn giản vậy. Nên: gặp nhân viên vận hành trước khi ký; gửi function sheet — lịch, phòng, bố trí, AV, ăn kiêng, người được ký duyệt; góp ý ngay trong ngày để xử lý tại chỗ, không để thành khiếu nại sau khi về. Nối Buổi 8: với khách sạn cũng cần mô hình kim cương — nhiều cặp đối ứng, không chỉ một sợi dây giữa KAMer và sales.
(GV: V14 tr. 117: “make sure you give feedback to staff during and after the event, so problems that arise can be easily and immediately addressed”. Mẫu function sheet: Hình 5.7.)
Hỏi lớp: —
Chuyển ý: Và hợp đồng.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Hợp đồng với địa điểm và nhà cung cấp. Silvers liệt kê các điều khoản quan trọng; Dowson thêm việc cần làm. Hủy và attrition — phạt khi số khách thấp hơn cam kết; nhớ khách sạn A chỉ cho giảm 5%, khách sạn B cho giảm 10%. Thay đổi dịch vụ: thỏa thuận trước cách đổi phạm vi và giá. Cọc và thanh toán, người có thẩm quyền ký duyệt — cả phía khách. Bất khả kháng và chấm dứt. Bồi hoàn và bảo hiểm. Và phí phát sinh trong ngày. Một câu đáng nhớ của Dowson: khi hợp đồng đã được đồng ý — chưa chắc đã ký, vì thỏa thuận miệng cũng có thể ràng buộc — bạn có thể phải chịu đến toàn bộ số tiền.
(GV: V16 tr. 62 (Hilliard): hợp đồng chỉ gồm những gì trong “bốn góc tờ giấy” — điều đã nói miệng phải ghi lại; tham khảo pháp chế trước khi ký. Các nguồn theo bối cảnh Anh/Mỹ — với luật Việt Nam (ví dụ hiệu lực thỏa thuận miệng) [VERIFY: pháp chế]. Nối Buổi 7 (đàm phán) và Buổi 9 (hợp đồng tài trợ 70/30).)
Hỏi lớp: —
Chuyển ý: 10.3: nhà cung cấp chạm Key Account ở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Mục 10.3. Lemon và Verhoef, 2016: hành trình khách hàng có ba giai đoạn — trước mua, mua, sau mua. Điểm chạm có bốn loại: do doanh nghiệp sở hữu, do đối tác sở hữu, do khách tự làm, và bên ngoài. Các tác giả viết: đối tác có thể gồm cả agency. Vậy khách sạn, AV, nhà in là điểm chạm do đối tác sở hữu — trên hành trình của An Phát.
(GV: V09 đã đọc toàn văn; đã dùng ở Buổi 3/8.)
Hỏi lớp: —
Chuyển ý: Hôm nay đổi vai.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Đổi vai. Ở Buổi 3 và Buổi 9 ta vẽ hành trình của khách của An Phát — 600 lãnh đạo doanh nghiệp; Nova và An Phát cùng thiết kế điểm chạm cho họ. Hôm nay: An Phát là khách hàng của Nova. Khách sạn, AV, nhà in là điểm chạm do đối tác sở hữu trên hành trình mua của An Phát — mà anh Minh, chị Lan, anh Khoa nhìn thấy.
(GV: Quyết định GV 2 (phương án A). Alt-text: hai hành trình lồng nhau.)
Hỏi lớp: —
Chuyển ý: Hành trình mua của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Hành trình mua của An Phát với Nova. Trước mua: brief, đề xuất, báo giá, site check cùng Nova — khách sạn đón đoàn. Mua: ký hợp đồng, tổng duyệt, ngày 12/12 — khách sạn, AV, livestream, backdrop, xe, nhiếp ảnh, lễ tân, quà. Sau mua: nghiệm thu, báo cáo sau sự kiện, hóa đơn, thanh toán, khiếu nại, đề xuất năm sau — album ảnh, bản ghi livestream, đối soát số khách thực tế với khách sạn, hồ sơ thanh toán gửi anh Khoa. Giai đoạn sau mua hay bị quên — nhưng hồ sơ thanh toán chậm, ảnh gửi muộn cũng là trải nghiệm của An Phát, và là thứ anh Minh nhớ khi quyết định có tái ký.
(GV: Lecture notes §3.2.)
Hỏi lớp: —
Chuyển ý: Lỗi của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An Phát ký với Nova, không ký với nhà in hay khách sạn. Backdrop in sai logo — chị Vy hỏi Nova. Hóa đơn khách sạn tính dư 30 khách — anh Khoa hỏi Nova. Livestream đứt giữa phần vinh danh — chị Lan hỏi Nova. Vì vậy quản lý nhà cung cấp là quản lý trải nghiệm của Key Account.
(GV: Lecture notes §3.3 — nhận định của người soạn. Silvers (2008, tr. 176): nhà tổ chức như “general contractor” quản lý mọi nhà cung cấp; tr. 175: có thể có trách nhiệm pháp lý khi giới thiệu nhà cung cấp kém năng lực.)
Hỏi lớp: —
Chuyển ý: Bốn câu hỏi phân bổ.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Bốn câu hỏi phân bổ. Một: nhà cung cấp này chạm An Phát ở giai đoạn nào — mua hay sau mua? Hai: ai của An Phát nhìn thấy họ? Ba: nếu họ làm hỏng, quan hệ Nova – An Phát bị ảnh hưởng thế nào? Bốn: Nova quản lý bằng gì — điều khoản hợp đồng, checklist, người phụ trách, chỉ số, đánh giá sau sự kiện?
(GV: Lecture notes §3.4. Dowson (2023, tr. 247): “Agree feedback processes as part of the contract, from your organization to the supplier, and from the supplier to you.” Để slide này trên màn hình suốt S6.)
Hỏi lớp: —
Chuyển ý: Thực hành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2, 30 phút. Nova đã chọn khách sạn — mặc định là B. Ngoài khách sạn còn AV – livestream, in ấn – backdrop, xe đưa đón khách VIP, nhiếp ảnh – quay phim, lễ tân thời vụ, quà tặng. Mười lăm phút: trên A1, lập bảng ít nhất 5 nhà cung cấp, bắt buộc có khách sạn và AV, ít nhất 2 dòng ở giai đoạn sau mua; đủ 6 cột; đánh dấu một dòng rủi ro nhất. Tám phút: xoay trạm 2 vòng; tại mỗi bàn các bạn đóng vai anh Khoa — ngân sách, mua sắm của An Phát — để lại một câu hỏi và một lo ngại về chi phí, hồ sơ, thanh toán hoặc trách nhiệm khi có sự cố. Bốn phút cuối: về bàn, sửa một dòng.
(GV: Phiếu W10_activity_S6_phan_bo_nha_cung_cap.md. Mốc phút 93–123. Chiếu slide 34 trong lúc làm. Nếu trễ giờ: xoay trạm 1 vòng. Ghi các câu hỏi “anh Khoa” lặp lại nhiều nhất lên bảng khi chốt.)
Hỏi lớp: —
Chuyển ý: Tổng hợp.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ý của Buổi 10. Mục 10.1: chọn cách mua theo hạng mục; RFP tốt mang Key Account và khách của Key Account vào; chấm có trọng số theo bốn nguyên tắc. Mục 10.2: chọn địa điểm trước vì địa điểm quyết định nhà cung cấp — và cả hình ảnh của Key Account; site check là đi để hỏi; không tin một con số diện tích; đọc kỹ điều khoản chuyển rủi ro. Mục 10.3: nhà cung cấp là điểm chạm do đối tác sở hữu trên hành trình mua của Key Account — quản lý họ ở cả giai đoạn mua và sau mua. Kế hoạch cuối kỳ thêm một trang: nhà cung cấp và địa điểm, với khách hàng dự án cũ. Làm dần trên lớp, không giao về nhà.
Hỏi lớp: —
Chuyển ý: Ba câu kiểm tra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câu kiểm tra nhanh. Một: RFP và RFQ khác nhau thế nào — cho mỗi loại một hạng mục ở gala. Hai: vì sao câu hỏi về nhà cung cấp độc quyền phải nằm trong RFP gửi khách sạn? Ba: kể một nhà cung cấp chạm An Phát ở giai đoạn sau mua — ai của An Phát nhìn thấy?
(GV: Gợi ý: (1) RFP = giải pháp + giá, nhiều tiêu chí (ballroom, AV); RFQ = giá cho thông số rõ (backdrop, xe); (2) ký xong thì AV thành một nguồn, mất quyền so giá; (3) khách sạn đối soát số khách → anh Khoa; nhiếp ảnh gửi album → chị Vy, anh Minh.)
Hỏi lớp: Gọi ngẫu nhiên 1 bạn cho mỗi câu.
Chuyển ý: Phiếu cuối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Phiếu cuối giờ, cá nhân. Một: với sự kiện trong dự án cũ của nhóm, nêu một hạng mục bạn sẽ mua bằng RFQ và một hạng mục bằng RFP — vì sao khác nhau? Hai: một câu hỏi site check bạn sẽ không bao giờ quên hỏi — câu đó bảo vệ Key Account thế nào?
(GV: Xem: (a) RFQ cho thông số rõ, RFP cho giải pháp; (b) câu hỏi site check cụ thể (độc quyền, giờ dựng, diện tích dùng được, lịch trước – sau), không chung chung; (c) nối được với Key Account, không chỉ với Nova.)
Hỏi lớp: —
Chuyển ý: Buổi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Không có bài về nhà. Hôm nay ta chọn và quản lý những đối tác làm ra sự kiện. Buổi sau là những đối tác kể lại sự kiện: báo chí, KOL, influencer — và cách để họ kể đúng câu chuyện của Key Account. Mang theo ảnh bảng chấm khách sạn, bảng phân bổ nhà cung cấp, và hồ sơ dự án cũ — phần truyền thông.
(GV: Câu nối theo giáo án. [NEEDS PROFESSOR INPUT: nếu AM2 có bài cho Buổi 10 thì thêm vào đây.])
Hỏi lớp: —
Chuyển ý: Tài liệu tham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Tài liệu tham khảo của Buổi 10, theo APA 7. Chương 5 và 9 của Dowson và cộng sự là phần đọc thêm.
(GV: Trang hiệp hội, khảo sát và báo chí (V01, V03, V06–V08, V10–V12): danh mục APA đầy đủ trong buoi-10_tu-lieu-tong-hop.md, mục 6 và 8. [VERIFY: phụ đề sách Dowson theo trang bìa.])
Hỏi lớp: —
Chuyển ý: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172849"/>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17284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2.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2.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2.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2.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2.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645920"/>
            <a:ext cx="7863840" cy="2286000"/>
          </a:xfrm>
          <a:prstGeom prst="rect">
            <a:avLst/>
          </a:prstGeom>
          <a:noFill/>
          <a:ln/>
        </p:spPr>
        <p:txBody>
          <a:bodyPr wrap="square" lIns="635" tIns="635" rIns="635" bIns="635" rtlCol="0" anchor="b"/>
          <a:lstStyle/>
          <a:p>
            <a:pPr indent="0" marL="0">
              <a:buNone/>
            </a:pPr>
            <a:r>
              <a:rPr lang="en-US" sz="4000" b="1" dirty="0">
                <a:solidFill>
                  <a:srgbClr val="FBFAF4"/>
                </a:solidFill>
                <a:latin typeface="Roboto" pitchFamily="34" charset="0"/>
                <a:ea typeface="Roboto" pitchFamily="34" charset="-122"/>
                <a:cs typeface="Roboto" pitchFamily="34" charset="-120"/>
              </a:rPr>
              <a:t>Bài 10: Chọn và quản lý nhà cung cấp, địa điểm</a:t>
            </a:r>
            <a:endParaRPr lang="en-US" sz="4000" dirty="0"/>
          </a:p>
        </p:txBody>
      </p:sp>
      <p:sp>
        <p:nvSpPr>
          <p:cNvPr id="3" name="Text 1"/>
          <p:cNvSpPr txBox="1"/>
          <p:nvPr/>
        </p:nvSpPr>
        <p:spPr>
          <a:xfrm>
            <a:off x="548640" y="4160520"/>
            <a:ext cx="8138160" cy="1097280"/>
          </a:xfrm>
          <a:prstGeom prst="rect">
            <a:avLst/>
          </a:prstGeom>
          <a:noFill/>
          <a:ln/>
        </p:spPr>
        <p:txBody>
          <a:bodyPr wrap="square" lIns="635" tIns="635" rIns="635" bIns="635" rtlCol="0" anchor="t"/>
          <a:lstStyle/>
          <a:p>
            <a:pPr indent="0" marL="0">
              <a:buNone/>
            </a:pPr>
            <a:r>
              <a:rPr lang="en-US" sz="1800" dirty="0">
                <a:solidFill>
                  <a:srgbClr val="A9B6D3"/>
                </a:solidFill>
                <a:latin typeface="Roboto" pitchFamily="34" charset="0"/>
                <a:ea typeface="Roboto" pitchFamily="34" charset="-122"/>
                <a:cs typeface="Roboto" pitchFamily="34" charset="-120"/>
              </a:rPr>
              <a:t>EVM1110E Quản trị mối quan hệ trong tổ chức sự kiện · Buổi 10</a:t>
            </a:r>
            <a:endParaRPr lang="en-US" sz="1800" dirty="0"/>
          </a:p>
          <a:p>
            <a:pPr indent="0" marL="0">
              <a:buNone/>
            </a:pPr>
            <a:r>
              <a:rPr lang="en-US" sz="1800" dirty="0">
                <a:solidFill>
                  <a:srgbClr val="A9B6D3"/>
                </a:solidFill>
                <a:latin typeface="Roboto" pitchFamily="34" charset="0"/>
                <a:ea typeface="Roboto" pitchFamily="34" charset="-122"/>
                <a:cs typeface="Roboto" pitchFamily="34" charset="-120"/>
              </a:rPr>
              <a:t>Building Solutions: Supplier &amp; Venue Management</a:t>
            </a:r>
            <a:endParaRPr lang="en-US" sz="1800" dirty="0"/>
          </a:p>
          <a:p>
            <a:pPr indent="0" marL="0">
              <a:buNone/>
            </a:pPr>
            <a:r>
              <a:rPr lang="en-US" sz="1800" dirty="0">
                <a:solidFill>
                  <a:srgbClr val="A9B6D3"/>
                </a:solidFill>
                <a:latin typeface="Roboto" pitchFamily="34" charset="0"/>
                <a:ea typeface="Roboto" pitchFamily="34" charset="-122"/>
                <a:cs typeface="Roboto" pitchFamily="34" charset="-120"/>
              </a:rPr>
              <a:t>Giảng viên: Đoàn Nguyễn Bảo Quyên</a:t>
            </a:r>
            <a:endParaRPr lang="en-US" sz="1800" dirty="0"/>
          </a:p>
        </p:txBody>
      </p:sp>
      <p:sp>
        <p:nvSpPr>
          <p:cNvPr id="4" name="Shape 2"/>
          <p:cNvSpPr/>
          <p:nvPr/>
        </p:nvSpPr>
        <p:spPr>
          <a:xfrm>
            <a:off x="9052560" y="1188720"/>
            <a:ext cx="1371600" cy="1371600"/>
          </a:xfrm>
          <a:prstGeom prst="ellipse">
            <a:avLst/>
          </a:prstGeom>
          <a:solidFill>
            <a:srgbClr val="49B296"/>
          </a:solidFill>
          <a:ln w="12700">
            <a:solidFill>
              <a:srgbClr val="49B296"/>
            </a:solidFill>
            <a:prstDash val="solid"/>
          </a:ln>
        </p:spPr>
      </p:sp>
      <p:sp>
        <p:nvSpPr>
          <p:cNvPr id="5" name="Shape 3"/>
          <p:cNvSpPr/>
          <p:nvPr/>
        </p:nvSpPr>
        <p:spPr>
          <a:xfrm>
            <a:off x="10332720" y="2011680"/>
            <a:ext cx="914400" cy="914400"/>
          </a:xfrm>
          <a:prstGeom prst="ellipse">
            <a:avLst/>
          </a:prstGeom>
          <a:solidFill>
            <a:srgbClr val="FFD23B"/>
          </a:solidFill>
          <a:ln w="12700">
            <a:solidFill>
              <a:srgbClr val="FFD23B"/>
            </a:solidFill>
            <a:prstDash val="solid"/>
          </a:ln>
        </p:spPr>
      </p:sp>
      <p:sp>
        <p:nvSpPr>
          <p:cNvPr id="6" name="Shape 4"/>
          <p:cNvSpPr/>
          <p:nvPr/>
        </p:nvSpPr>
        <p:spPr>
          <a:xfrm>
            <a:off x="9326880" y="2834640"/>
            <a:ext cx="1828800" cy="1828800"/>
          </a:xfrm>
          <a:prstGeom prst="ellipse">
            <a:avLst/>
          </a:prstGeom>
          <a:solidFill>
            <a:srgbClr val="FF5178"/>
          </a:solidFill>
          <a:ln w="12700">
            <a:solidFill>
              <a:srgbClr val="FF5178"/>
            </a:solidFill>
            <a:prstDash val="solid"/>
          </a:ln>
        </p:spPr>
      </p:sp>
      <p:sp>
        <p:nvSpPr>
          <p:cNvPr id="7" name="Shape 5"/>
          <p:cNvSpPr/>
          <p:nvPr/>
        </p:nvSpPr>
        <p:spPr>
          <a:xfrm>
            <a:off x="10972800" y="3291840"/>
            <a:ext cx="640080" cy="640080"/>
          </a:xfrm>
          <a:prstGeom prst="ellipse">
            <a:avLst/>
          </a:prstGeom>
          <a:solidFill>
            <a:srgbClr val="962B7C"/>
          </a:solidFill>
          <a:ln w="12700">
            <a:solidFill>
              <a:srgbClr val="962B7C"/>
            </a:solidFill>
            <a:prstDash val="solid"/>
          </a:ln>
        </p:spPr>
      </p:sp>
      <p:sp>
        <p:nvSpPr>
          <p:cNvPr id="8" name="Shape 6"/>
          <p:cNvSpPr/>
          <p:nvPr/>
        </p:nvSpPr>
        <p:spPr>
          <a:xfrm>
            <a:off x="8961120" y="4846320"/>
            <a:ext cx="822960" cy="822960"/>
          </a:xfrm>
          <a:prstGeom prst="ellipse">
            <a:avLst/>
          </a:prstGeom>
          <a:solidFill>
            <a:srgbClr val="09A1E5"/>
          </a:solidFill>
          <a:ln w="12700">
            <a:solidFill>
              <a:srgbClr val="09A1E5"/>
            </a:solidFill>
            <a:prstDash val="solid"/>
          </a:ln>
        </p:spPr>
      </p:sp>
      <p:sp>
        <p:nvSpPr>
          <p:cNvPr id="9" name="Shape 7"/>
          <p:cNvSpPr/>
          <p:nvPr/>
        </p:nvSpPr>
        <p:spPr>
          <a:xfrm>
            <a:off x="10149840" y="4572000"/>
            <a:ext cx="1188720" cy="1188720"/>
          </a:xfrm>
          <a:prstGeom prst="ellipse">
            <a:avLst/>
          </a:prstGeom>
          <a:solidFill>
            <a:srgbClr val="FF9259"/>
          </a:solidFill>
          <a:ln w="12700">
            <a:solidFill>
              <a:srgbClr val="FF9259"/>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Tình huống AV ở Buổi 7 đã được quyết định từ lúc chọn và ký</a:t>
            </a:r>
            <a:endParaRPr lang="en-US" sz="2800" dirty="0"/>
          </a:p>
        </p:txBody>
      </p:sp>
      <p:sp>
        <p:nvSpPr>
          <p:cNvPr id="3" name="Shape 1"/>
          <p:cNvSpPr/>
          <p:nvPr/>
        </p:nvSpPr>
        <p:spPr>
          <a:xfrm>
            <a:off x="548640" y="1783080"/>
            <a:ext cx="539496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822960" y="2011680"/>
            <a:ext cx="868680" cy="86868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1014070" y="2202790"/>
            <a:ext cx="486461" cy="486461"/>
          </a:xfrm>
          <a:prstGeom prst="rect">
            <a:avLst/>
          </a:prstGeom>
        </p:spPr>
      </p:pic>
      <p:sp>
        <p:nvSpPr>
          <p:cNvPr id="6" name="Text 3"/>
          <p:cNvSpPr txBox="1"/>
          <p:nvPr/>
        </p:nvSpPr>
        <p:spPr>
          <a:xfrm>
            <a:off x="1874520" y="2011680"/>
            <a:ext cx="3931920" cy="868680"/>
          </a:xfrm>
          <a:prstGeom prst="rect">
            <a:avLst/>
          </a:prstGeom>
          <a:noFill/>
          <a:ln/>
        </p:spPr>
        <p:txBody>
          <a:bodyPr wrap="square" lIns="635" tIns="635" rIns="635" bIns="635" rtlCol="0" anchor="ctr"/>
          <a:lstStyle/>
          <a:p>
            <a:pPr indent="0" marL="0">
              <a:buNone/>
            </a:pPr>
            <a:r>
              <a:rPr lang="en-US" sz="1800" b="1" dirty="0">
                <a:solidFill>
                  <a:srgbClr val="FF5178"/>
                </a:solidFill>
                <a:latin typeface="Roboto" pitchFamily="34" charset="0"/>
                <a:ea typeface="Roboto" pitchFamily="34" charset="-122"/>
                <a:cs typeface="Roboto" pitchFamily="34" charset="-120"/>
              </a:rPr>
              <a:t>Buổi 7 · 3 tuần trước gala</a:t>
            </a:r>
            <a:endParaRPr lang="en-US" sz="1800" dirty="0"/>
          </a:p>
        </p:txBody>
      </p:sp>
      <p:sp>
        <p:nvSpPr>
          <p:cNvPr id="7" name="Text 4"/>
          <p:cNvSpPr txBox="1"/>
          <p:nvPr/>
        </p:nvSpPr>
        <p:spPr>
          <a:xfrm>
            <a:off x="822960" y="3063240"/>
            <a:ext cx="4846320" cy="2560320"/>
          </a:xfrm>
          <a:prstGeom prst="rect">
            <a:avLst/>
          </a:prstGeom>
          <a:noFill/>
          <a:ln/>
        </p:spPr>
        <p:txBody>
          <a:bodyPr wrap="square" lIns="635" tIns="635" rIns="635" bIns="635" rtlCol="0" anchor="t"/>
          <a:lstStyle/>
          <a:p>
            <a:pPr indent="0" marL="0">
              <a:buNone/>
            </a:pPr>
            <a:r>
              <a:rPr lang="en-US" sz="1700" dirty="0">
                <a:solidFill>
                  <a:srgbClr val="FBFAF4"/>
                </a:solidFill>
                <a:latin typeface="Roboto" pitchFamily="34" charset="0"/>
                <a:ea typeface="Roboto" pitchFamily="34" charset="-122"/>
                <a:cs typeface="Roboto" pitchFamily="34" charset="-120"/>
              </a:rPr>
              <a:t>Khách sạn báo AV nội bộ tăng giá 30% và không cho mang AV ngoài vào.</a:t>
            </a:r>
            <a:endParaRPr lang="en-US" sz="1700" dirty="0"/>
          </a:p>
          <a:p>
            <a:pPr indent="0" marL="0">
              <a:buNone/>
            </a:pPr>
            <a:endParaRPr lang="en-US" sz="1700" dirty="0"/>
          </a:p>
          <a:p>
            <a:pPr indent="0" marL="0">
              <a:buNone/>
            </a:pPr>
            <a:r>
              <a:rPr lang="en-US" sz="1700" dirty="0">
                <a:solidFill>
                  <a:srgbClr val="FBFAF4"/>
                </a:solidFill>
                <a:latin typeface="Roboto" pitchFamily="34" charset="0"/>
                <a:ea typeface="Roboto" pitchFamily="34" charset="-122"/>
                <a:cs typeface="Roboto" pitchFamily="34" charset="-120"/>
              </a:rPr>
              <a:t>Kết luận: tình huống này được quyết định từ lúc chọn và ký với khách sạn.</a:t>
            </a:r>
            <a:endParaRPr lang="en-US" sz="1700" dirty="0"/>
          </a:p>
        </p:txBody>
      </p:sp>
      <p:sp>
        <p:nvSpPr>
          <p:cNvPr id="8" name="Shape 5"/>
          <p:cNvSpPr/>
          <p:nvPr/>
        </p:nvSpPr>
        <p:spPr>
          <a:xfrm>
            <a:off x="6245352" y="1783080"/>
            <a:ext cx="5394960" cy="3931920"/>
          </a:xfrm>
          <a:prstGeom prst="roundRect">
            <a:avLst>
              <a:gd name="adj" fmla="val 1860"/>
            </a:avLst>
          </a:prstGeom>
          <a:solidFill>
            <a:srgbClr val="FBFAF4"/>
          </a:solidFill>
          <a:ln w="12700">
            <a:solidFill>
              <a:srgbClr val="FBFAF4"/>
            </a:solidFill>
            <a:prstDash val="solid"/>
          </a:ln>
        </p:spPr>
      </p:sp>
      <p:sp>
        <p:nvSpPr>
          <p:cNvPr id="9" name="Shape 6"/>
          <p:cNvSpPr/>
          <p:nvPr/>
        </p:nvSpPr>
        <p:spPr>
          <a:xfrm>
            <a:off x="6519672" y="2011680"/>
            <a:ext cx="868680" cy="868680"/>
          </a:xfrm>
          <a:prstGeom prst="ellipse">
            <a:avLst/>
          </a:prstGeom>
          <a:solidFill>
            <a:srgbClr val="49B296"/>
          </a:solidFill>
          <a:ln w="12700">
            <a:solidFill>
              <a:srgbClr val="49B296"/>
            </a:solidFill>
            <a:prstDash val="solid"/>
          </a:ln>
        </p:spPr>
      </p:sp>
      <p:pic>
        <p:nvPicPr>
          <p:cNvPr id="10" name="Image 1" descr="preencoded.png">    </p:cNvPr>
          <p:cNvPicPr>
            <a:picLocks noChangeAspect="1"/>
          </p:cNvPicPr>
          <p:nvPr/>
        </p:nvPicPr>
        <p:blipFill>
          <a:blip r:embed="rId2"/>
          <a:stretch>
            <a:fillRect/>
          </a:stretch>
        </p:blipFill>
        <p:spPr>
          <a:xfrm>
            <a:off x="6710782" y="2202790"/>
            <a:ext cx="486461" cy="486461"/>
          </a:xfrm>
          <a:prstGeom prst="rect">
            <a:avLst/>
          </a:prstGeom>
        </p:spPr>
      </p:pic>
      <p:sp>
        <p:nvSpPr>
          <p:cNvPr id="11" name="Text 7"/>
          <p:cNvSpPr txBox="1"/>
          <p:nvPr/>
        </p:nvSpPr>
        <p:spPr>
          <a:xfrm>
            <a:off x="7571232" y="2011680"/>
            <a:ext cx="3931920" cy="86868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Hôm nay · tháng 7</a:t>
            </a:r>
            <a:endParaRPr lang="en-US" sz="1800" dirty="0"/>
          </a:p>
        </p:txBody>
      </p:sp>
      <p:sp>
        <p:nvSpPr>
          <p:cNvPr id="12" name="Text 8"/>
          <p:cNvSpPr txBox="1"/>
          <p:nvPr/>
        </p:nvSpPr>
        <p:spPr>
          <a:xfrm>
            <a:off x="6519672" y="3063240"/>
            <a:ext cx="4846320" cy="2560320"/>
          </a:xfrm>
          <a:prstGeom prst="rect">
            <a:avLst/>
          </a:prstGeom>
          <a:noFill/>
          <a:ln/>
        </p:spPr>
        <p:txBody>
          <a:bodyPr wrap="square" lIns="635" tIns="635" rIns="635" bIns="635" rtlCol="0" anchor="t"/>
          <a:lstStyle/>
          <a:p>
            <a:pPr indent="0" marL="0">
              <a:buNone/>
            </a:pPr>
            <a:r>
              <a:rPr lang="en-US" sz="1700" dirty="0">
                <a:solidFill>
                  <a:srgbClr val="172849"/>
                </a:solidFill>
                <a:latin typeface="Roboto" pitchFamily="34" charset="0"/>
                <a:ea typeface="Roboto" pitchFamily="34" charset="-122"/>
                <a:cs typeface="Roboto" pitchFamily="34" charset="-120"/>
              </a:rPr>
              <a:t>Anh Minh vừa duyệt concept gala 600 khách. Nova có 3 tuần để chọn khách sạn và nhà cung cấp.</a:t>
            </a:r>
            <a:endParaRPr lang="en-US" sz="1700" dirty="0"/>
          </a:p>
          <a:p>
            <a:pPr indent="0" marL="0">
              <a:buNone/>
            </a:pPr>
            <a:endParaRPr lang="en-US" sz="1700" dirty="0"/>
          </a:p>
          <a:p>
            <a:pPr indent="0" marL="0">
              <a:buNone/>
            </a:pPr>
            <a:r>
              <a:rPr lang="en-US" sz="1700" dirty="0">
                <a:solidFill>
                  <a:srgbClr val="172849"/>
                </a:solidFill>
                <a:latin typeface="Roboto" pitchFamily="34" charset="0"/>
                <a:ea typeface="Roboto" pitchFamily="34" charset="-122"/>
                <a:cs typeface="Roboto" pitchFamily="34" charset="-120"/>
              </a:rPr>
              <a:t>Giơ tay: (A) gọi 3 khách sạn quen hỏi giá, hay (B) gửi một bộ yêu cầu bằng văn bản giống nhau cho cả ba?</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Buổi 10 trả lời ba câu hỏi: mua thế nào, chọn địa điểm ra sao, nhà cung cấp chạm Key Account ở đâu</a:t>
            </a:r>
            <a:endParaRPr lang="en-US" sz="2800" dirty="0"/>
          </a:p>
        </p:txBody>
      </p:sp>
      <p:sp>
        <p:nvSpPr>
          <p:cNvPr id="3" name="Shape 1"/>
          <p:cNvSpPr/>
          <p:nvPr/>
        </p:nvSpPr>
        <p:spPr>
          <a:xfrm>
            <a:off x="548640" y="1783080"/>
            <a:ext cx="3566160" cy="3931920"/>
          </a:xfrm>
          <a:prstGeom prst="roundRect">
            <a:avLst>
              <a:gd name="adj" fmla="val 2051"/>
            </a:avLst>
          </a:prstGeom>
          <a:solidFill>
            <a:srgbClr val="22395F"/>
          </a:solidFill>
          <a:ln w="12700">
            <a:solidFill>
              <a:srgbClr val="22395F"/>
            </a:solidFill>
            <a:prstDash val="solid"/>
          </a:ln>
        </p:spPr>
      </p:sp>
      <p:sp>
        <p:nvSpPr>
          <p:cNvPr id="4" name="Shape 2"/>
          <p:cNvSpPr/>
          <p:nvPr/>
        </p:nvSpPr>
        <p:spPr>
          <a:xfrm>
            <a:off x="1828800" y="1965960"/>
            <a:ext cx="1005840" cy="10058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050085" y="2187245"/>
            <a:ext cx="563270" cy="563270"/>
          </a:xfrm>
          <a:prstGeom prst="rect">
            <a:avLst/>
          </a:prstGeom>
        </p:spPr>
      </p:pic>
      <p:sp>
        <p:nvSpPr>
          <p:cNvPr id="6" name="Text 3"/>
          <p:cNvSpPr txBox="1"/>
          <p:nvPr/>
        </p:nvSpPr>
        <p:spPr>
          <a:xfrm>
            <a:off x="731520" y="3063240"/>
            <a:ext cx="3200400" cy="457200"/>
          </a:xfrm>
          <a:prstGeom prst="rect">
            <a:avLst/>
          </a:prstGeom>
          <a:noFill/>
          <a:ln/>
        </p:spPr>
        <p:txBody>
          <a:bodyPr wrap="square" lIns="635" tIns="635" rIns="635" bIns="635" rtlCol="0" anchor="ctr"/>
          <a:lstStyle/>
          <a:p>
            <a:pPr algn="ctr" indent="0" marL="0">
              <a:buNone/>
            </a:pPr>
            <a:r>
              <a:rPr lang="en-US" sz="1600" dirty="0">
                <a:solidFill>
                  <a:srgbClr val="A9B6D3"/>
                </a:solidFill>
                <a:latin typeface="Roboto" pitchFamily="34" charset="0"/>
                <a:ea typeface="Roboto" pitchFamily="34" charset="-122"/>
                <a:cs typeface="Roboto" pitchFamily="34" charset="-120"/>
              </a:rPr>
              <a:t>10.1</a:t>
            </a:r>
            <a:endParaRPr lang="en-US" sz="1600" dirty="0"/>
          </a:p>
        </p:txBody>
      </p:sp>
      <p:sp>
        <p:nvSpPr>
          <p:cNvPr id="7" name="Text 4"/>
          <p:cNvSpPr txBox="1"/>
          <p:nvPr/>
        </p:nvSpPr>
        <p:spPr>
          <a:xfrm>
            <a:off x="731520" y="3474720"/>
            <a:ext cx="3200400" cy="548640"/>
          </a:xfrm>
          <a:prstGeom prst="rect">
            <a:avLst/>
          </a:prstGeom>
          <a:noFill/>
          <a:ln/>
        </p:spPr>
        <p:txBody>
          <a:bodyPr wrap="square" lIns="635" tIns="635" rIns="635" bIns="635" rtlCol="0" anchor="ctr"/>
          <a:lstStyle/>
          <a:p>
            <a:pPr algn="ctr" indent="0" marL="0">
              <a:buNone/>
            </a:pPr>
            <a:r>
              <a:rPr lang="en-US" sz="2100" b="1" dirty="0">
                <a:solidFill>
                  <a:srgbClr val="49B296"/>
                </a:solidFill>
                <a:latin typeface="Roboto" pitchFamily="34" charset="0"/>
                <a:ea typeface="Roboto" pitchFamily="34" charset="-122"/>
                <a:cs typeface="Roboto" pitchFamily="34" charset="-120"/>
              </a:rPr>
              <a:t>Mua thế nào?</a:t>
            </a:r>
            <a:endParaRPr lang="en-US" sz="2100" dirty="0"/>
          </a:p>
        </p:txBody>
      </p:sp>
      <p:sp>
        <p:nvSpPr>
          <p:cNvPr id="8" name="Text 5"/>
          <p:cNvSpPr txBox="1"/>
          <p:nvPr/>
        </p:nvSpPr>
        <p:spPr>
          <a:xfrm>
            <a:off x="777240" y="4069080"/>
            <a:ext cx="3108960" cy="155448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Quy trình RFP/RFQ và chọn nhà cung cấp từ góc nhìn đơn vị tổ chức</a:t>
            </a:r>
            <a:endParaRPr lang="en-US" sz="1600" dirty="0"/>
          </a:p>
        </p:txBody>
      </p:sp>
      <p:sp>
        <p:nvSpPr>
          <p:cNvPr id="9" name="Shape 6"/>
          <p:cNvSpPr/>
          <p:nvPr/>
        </p:nvSpPr>
        <p:spPr>
          <a:xfrm>
            <a:off x="4325112" y="1783080"/>
            <a:ext cx="3566160" cy="3931920"/>
          </a:xfrm>
          <a:prstGeom prst="roundRect">
            <a:avLst>
              <a:gd name="adj" fmla="val 2051"/>
            </a:avLst>
          </a:prstGeom>
          <a:solidFill>
            <a:srgbClr val="22395F"/>
          </a:solidFill>
          <a:ln w="12700">
            <a:solidFill>
              <a:srgbClr val="22395F"/>
            </a:solidFill>
            <a:prstDash val="solid"/>
          </a:ln>
        </p:spPr>
      </p:sp>
      <p:sp>
        <p:nvSpPr>
          <p:cNvPr id="10" name="Shape 7"/>
          <p:cNvSpPr/>
          <p:nvPr/>
        </p:nvSpPr>
        <p:spPr>
          <a:xfrm>
            <a:off x="5605272" y="1965960"/>
            <a:ext cx="1005840" cy="1005840"/>
          </a:xfrm>
          <a:prstGeom prst="ellipse">
            <a:avLst/>
          </a:prstGeom>
          <a:solidFill>
            <a:srgbClr val="FFD23B"/>
          </a:solidFill>
          <a:ln w="12700">
            <a:solidFill>
              <a:srgbClr val="FFD23B"/>
            </a:solidFill>
            <a:prstDash val="solid"/>
          </a:ln>
        </p:spPr>
      </p:sp>
      <p:pic>
        <p:nvPicPr>
          <p:cNvPr id="11" name="Image 1" descr="preencoded.png">    </p:cNvPr>
          <p:cNvPicPr>
            <a:picLocks noChangeAspect="1"/>
          </p:cNvPicPr>
          <p:nvPr/>
        </p:nvPicPr>
        <p:blipFill>
          <a:blip r:embed="rId2"/>
          <a:stretch>
            <a:fillRect/>
          </a:stretch>
        </p:blipFill>
        <p:spPr>
          <a:xfrm>
            <a:off x="5826557" y="2187245"/>
            <a:ext cx="563270" cy="563270"/>
          </a:xfrm>
          <a:prstGeom prst="rect">
            <a:avLst/>
          </a:prstGeom>
        </p:spPr>
      </p:pic>
      <p:sp>
        <p:nvSpPr>
          <p:cNvPr id="12" name="Text 8"/>
          <p:cNvSpPr txBox="1"/>
          <p:nvPr/>
        </p:nvSpPr>
        <p:spPr>
          <a:xfrm>
            <a:off x="4507992" y="3063240"/>
            <a:ext cx="3200400" cy="457200"/>
          </a:xfrm>
          <a:prstGeom prst="rect">
            <a:avLst/>
          </a:prstGeom>
          <a:noFill/>
          <a:ln/>
        </p:spPr>
        <p:txBody>
          <a:bodyPr wrap="square" lIns="635" tIns="635" rIns="635" bIns="635" rtlCol="0" anchor="ctr"/>
          <a:lstStyle/>
          <a:p>
            <a:pPr algn="ctr" indent="0" marL="0">
              <a:buNone/>
            </a:pPr>
            <a:r>
              <a:rPr lang="en-US" sz="1600" dirty="0">
                <a:solidFill>
                  <a:srgbClr val="A9B6D3"/>
                </a:solidFill>
                <a:latin typeface="Roboto" pitchFamily="34" charset="0"/>
                <a:ea typeface="Roboto" pitchFamily="34" charset="-122"/>
                <a:cs typeface="Roboto" pitchFamily="34" charset="-120"/>
              </a:rPr>
              <a:t>10.2</a:t>
            </a:r>
            <a:endParaRPr lang="en-US" sz="1600" dirty="0"/>
          </a:p>
        </p:txBody>
      </p:sp>
      <p:sp>
        <p:nvSpPr>
          <p:cNvPr id="13" name="Text 9"/>
          <p:cNvSpPr txBox="1"/>
          <p:nvPr/>
        </p:nvSpPr>
        <p:spPr>
          <a:xfrm>
            <a:off x="4507992" y="3474720"/>
            <a:ext cx="3200400" cy="548640"/>
          </a:xfrm>
          <a:prstGeom prst="rect">
            <a:avLst/>
          </a:prstGeom>
          <a:noFill/>
          <a:ln/>
        </p:spPr>
        <p:txBody>
          <a:bodyPr wrap="square" lIns="635" tIns="635" rIns="635" bIns="635" rtlCol="0" anchor="ctr"/>
          <a:lstStyle/>
          <a:p>
            <a:pPr algn="ctr" indent="0" marL="0">
              <a:buNone/>
            </a:pPr>
            <a:r>
              <a:rPr lang="en-US" sz="2100" b="1" dirty="0">
                <a:solidFill>
                  <a:srgbClr val="FFD23B"/>
                </a:solidFill>
                <a:latin typeface="Roboto" pitchFamily="34" charset="0"/>
                <a:ea typeface="Roboto" pitchFamily="34" charset="-122"/>
                <a:cs typeface="Roboto" pitchFamily="34" charset="-120"/>
              </a:rPr>
              <a:t>Chọn địa điểm ra sao?</a:t>
            </a:r>
            <a:endParaRPr lang="en-US" sz="2100" dirty="0"/>
          </a:p>
        </p:txBody>
      </p:sp>
      <p:sp>
        <p:nvSpPr>
          <p:cNvPr id="14" name="Text 10"/>
          <p:cNvSpPr txBox="1"/>
          <p:nvPr/>
        </p:nvSpPr>
        <p:spPr>
          <a:xfrm>
            <a:off x="4553712" y="4069080"/>
            <a:ext cx="3108960" cy="155448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Site check, tiêu chí chọn địa điểm, sơ đồ không gian</a:t>
            </a:r>
            <a:endParaRPr lang="en-US" sz="1600" dirty="0"/>
          </a:p>
        </p:txBody>
      </p:sp>
      <p:sp>
        <p:nvSpPr>
          <p:cNvPr id="15" name="Shape 11"/>
          <p:cNvSpPr/>
          <p:nvPr/>
        </p:nvSpPr>
        <p:spPr>
          <a:xfrm>
            <a:off x="8101584" y="1783080"/>
            <a:ext cx="3566160" cy="3931920"/>
          </a:xfrm>
          <a:prstGeom prst="roundRect">
            <a:avLst>
              <a:gd name="adj" fmla="val 2051"/>
            </a:avLst>
          </a:prstGeom>
          <a:solidFill>
            <a:srgbClr val="22395F"/>
          </a:solidFill>
          <a:ln w="12700">
            <a:solidFill>
              <a:srgbClr val="22395F"/>
            </a:solidFill>
            <a:prstDash val="solid"/>
          </a:ln>
        </p:spPr>
      </p:sp>
      <p:sp>
        <p:nvSpPr>
          <p:cNvPr id="16" name="Shape 12"/>
          <p:cNvSpPr/>
          <p:nvPr/>
        </p:nvSpPr>
        <p:spPr>
          <a:xfrm>
            <a:off x="9381744" y="1965960"/>
            <a:ext cx="1005840" cy="1005840"/>
          </a:xfrm>
          <a:prstGeom prst="ellipse">
            <a:avLst/>
          </a:prstGeom>
          <a:solidFill>
            <a:srgbClr val="FF5178"/>
          </a:solidFill>
          <a:ln w="12700">
            <a:solidFill>
              <a:srgbClr val="FF5178"/>
            </a:solidFill>
            <a:prstDash val="solid"/>
          </a:ln>
        </p:spPr>
      </p:sp>
      <p:pic>
        <p:nvPicPr>
          <p:cNvPr id="17" name="Image 2" descr="preencoded.png">    </p:cNvPr>
          <p:cNvPicPr>
            <a:picLocks noChangeAspect="1"/>
          </p:cNvPicPr>
          <p:nvPr/>
        </p:nvPicPr>
        <p:blipFill>
          <a:blip r:embed="rId3"/>
          <a:stretch>
            <a:fillRect/>
          </a:stretch>
        </p:blipFill>
        <p:spPr>
          <a:xfrm>
            <a:off x="9603029" y="2187245"/>
            <a:ext cx="563270" cy="563270"/>
          </a:xfrm>
          <a:prstGeom prst="rect">
            <a:avLst/>
          </a:prstGeom>
        </p:spPr>
      </p:pic>
      <p:sp>
        <p:nvSpPr>
          <p:cNvPr id="18" name="Text 13"/>
          <p:cNvSpPr txBox="1"/>
          <p:nvPr/>
        </p:nvSpPr>
        <p:spPr>
          <a:xfrm>
            <a:off x="8284464" y="3063240"/>
            <a:ext cx="3200400" cy="457200"/>
          </a:xfrm>
          <a:prstGeom prst="rect">
            <a:avLst/>
          </a:prstGeom>
          <a:noFill/>
          <a:ln/>
        </p:spPr>
        <p:txBody>
          <a:bodyPr wrap="square" lIns="635" tIns="635" rIns="635" bIns="635" rtlCol="0" anchor="ctr"/>
          <a:lstStyle/>
          <a:p>
            <a:pPr algn="ctr" indent="0" marL="0">
              <a:buNone/>
            </a:pPr>
            <a:r>
              <a:rPr lang="en-US" sz="1600" dirty="0">
                <a:solidFill>
                  <a:srgbClr val="A9B6D3"/>
                </a:solidFill>
                <a:latin typeface="Roboto" pitchFamily="34" charset="0"/>
                <a:ea typeface="Roboto" pitchFamily="34" charset="-122"/>
                <a:cs typeface="Roboto" pitchFamily="34" charset="-120"/>
              </a:rPr>
              <a:t>10.3</a:t>
            </a:r>
            <a:endParaRPr lang="en-US" sz="1600" dirty="0"/>
          </a:p>
        </p:txBody>
      </p:sp>
      <p:sp>
        <p:nvSpPr>
          <p:cNvPr id="19" name="Text 14"/>
          <p:cNvSpPr txBox="1"/>
          <p:nvPr/>
        </p:nvSpPr>
        <p:spPr>
          <a:xfrm>
            <a:off x="8284464" y="3474720"/>
            <a:ext cx="3200400" cy="548640"/>
          </a:xfrm>
          <a:prstGeom prst="rect">
            <a:avLst/>
          </a:prstGeom>
          <a:noFill/>
          <a:ln/>
        </p:spPr>
        <p:txBody>
          <a:bodyPr wrap="square" lIns="635" tIns="635" rIns="635" bIns="635" rtlCol="0" anchor="ctr"/>
          <a:lstStyle/>
          <a:p>
            <a:pPr algn="ctr" indent="0" marL="0">
              <a:buNone/>
            </a:pPr>
            <a:r>
              <a:rPr lang="en-US" sz="2100" b="1" dirty="0">
                <a:solidFill>
                  <a:srgbClr val="FF5178"/>
                </a:solidFill>
                <a:latin typeface="Roboto" pitchFamily="34" charset="0"/>
                <a:ea typeface="Roboto" pitchFamily="34" charset="-122"/>
                <a:cs typeface="Roboto" pitchFamily="34" charset="-120"/>
              </a:rPr>
              <a:t>Chạm Key Account ở đâu?</a:t>
            </a:r>
            <a:endParaRPr lang="en-US" sz="2100" dirty="0"/>
          </a:p>
        </p:txBody>
      </p:sp>
      <p:sp>
        <p:nvSpPr>
          <p:cNvPr id="20" name="Text 15"/>
          <p:cNvSpPr txBox="1"/>
          <p:nvPr/>
        </p:nvSpPr>
        <p:spPr>
          <a:xfrm>
            <a:off x="8330184" y="4069080"/>
            <a:ext cx="3108960" cy="155448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Phân bổ nhà cung cấp vào giai đoạn mua và sau mua của Key Account</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Agency thuê ngoài vì chi phí, thời gian, chuyên môn — nhưng quan hệ với nhà cung cấp vẫn phải quản lý</a:t>
            </a:r>
            <a:endParaRPr lang="en-US" sz="2800" dirty="0"/>
          </a:p>
        </p:txBody>
      </p:sp>
      <p:sp>
        <p:nvSpPr>
          <p:cNvPr id="3" name="Shape 1"/>
          <p:cNvSpPr/>
          <p:nvPr/>
        </p:nvSpPr>
        <p:spPr>
          <a:xfrm>
            <a:off x="548640" y="1783080"/>
            <a:ext cx="2057400" cy="2606040"/>
          </a:xfrm>
          <a:prstGeom prst="roundRect">
            <a:avLst>
              <a:gd name="adj" fmla="val 3556"/>
            </a:avLst>
          </a:prstGeom>
          <a:solidFill>
            <a:srgbClr val="22395F"/>
          </a:solidFill>
          <a:ln w="12700">
            <a:solidFill>
              <a:srgbClr val="22395F"/>
            </a:solidFill>
            <a:prstDash val="solid"/>
          </a:ln>
        </p:spPr>
      </p:sp>
      <p:sp>
        <p:nvSpPr>
          <p:cNvPr id="4" name="Shape 2"/>
          <p:cNvSpPr/>
          <p:nvPr/>
        </p:nvSpPr>
        <p:spPr>
          <a:xfrm>
            <a:off x="1115568" y="1920240"/>
            <a:ext cx="914400" cy="9144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1316736" y="2121408"/>
            <a:ext cx="512064" cy="512064"/>
          </a:xfrm>
          <a:prstGeom prst="rect">
            <a:avLst/>
          </a:prstGeom>
        </p:spPr>
      </p:pic>
      <p:sp>
        <p:nvSpPr>
          <p:cNvPr id="6" name="Text 3"/>
          <p:cNvSpPr txBox="1"/>
          <p:nvPr/>
        </p:nvSpPr>
        <p:spPr>
          <a:xfrm>
            <a:off x="640080" y="2926080"/>
            <a:ext cx="1874520" cy="457200"/>
          </a:xfrm>
          <a:prstGeom prst="rect">
            <a:avLst/>
          </a:prstGeom>
          <a:noFill/>
          <a:ln/>
        </p:spPr>
        <p:txBody>
          <a:bodyPr wrap="square" lIns="635" tIns="635" rIns="635" bIns="635" rtlCol="0" anchor="ctr"/>
          <a:lstStyle/>
          <a:p>
            <a:pPr algn="ctr" indent="0" marL="0">
              <a:buNone/>
            </a:pPr>
            <a:r>
              <a:rPr lang="en-US" sz="1600" b="1" dirty="0">
                <a:solidFill>
                  <a:srgbClr val="49B296"/>
                </a:solidFill>
                <a:latin typeface="Roboto" pitchFamily="34" charset="0"/>
                <a:ea typeface="Roboto" pitchFamily="34" charset="-122"/>
                <a:cs typeface="Roboto" pitchFamily="34" charset="-120"/>
              </a:rPr>
              <a:t>Chi phí</a:t>
            </a:r>
            <a:endParaRPr lang="en-US" sz="1600" dirty="0"/>
          </a:p>
        </p:txBody>
      </p:sp>
      <p:sp>
        <p:nvSpPr>
          <p:cNvPr id="7" name="Text 4"/>
          <p:cNvSpPr txBox="1"/>
          <p:nvPr/>
        </p:nvSpPr>
        <p:spPr>
          <a:xfrm>
            <a:off x="658368" y="3383280"/>
            <a:ext cx="1828800" cy="914400"/>
          </a:xfrm>
          <a:prstGeom prst="rect">
            <a:avLst/>
          </a:prstGeom>
          <a:noFill/>
          <a:ln/>
        </p:spPr>
        <p:txBody>
          <a:bodyPr wrap="square" lIns="635" tIns="635" rIns="635" bIns="635" rtlCol="0" anchor="t"/>
          <a:lstStyle/>
          <a:p>
            <a:pPr algn="ctr" indent="0" marL="0">
              <a:buNone/>
            </a:pPr>
            <a:r>
              <a:rPr lang="en-US" sz="1350" dirty="0">
                <a:solidFill>
                  <a:srgbClr val="FBFAF4"/>
                </a:solidFill>
                <a:latin typeface="Roboto" pitchFamily="34" charset="0"/>
                <a:ea typeface="Roboto" pitchFamily="34" charset="-122"/>
                <a:cs typeface="Roboto" pitchFamily="34" charset="-120"/>
              </a:rPr>
              <a:t>Thuê theo sự kiện rẻ hơn tự sở hữu</a:t>
            </a:r>
            <a:endParaRPr lang="en-US" sz="1350" dirty="0"/>
          </a:p>
        </p:txBody>
      </p:sp>
      <p:sp>
        <p:nvSpPr>
          <p:cNvPr id="8" name="Shape 5"/>
          <p:cNvSpPr/>
          <p:nvPr/>
        </p:nvSpPr>
        <p:spPr>
          <a:xfrm>
            <a:off x="2807208" y="1783080"/>
            <a:ext cx="2057400" cy="2606040"/>
          </a:xfrm>
          <a:prstGeom prst="roundRect">
            <a:avLst>
              <a:gd name="adj" fmla="val 3556"/>
            </a:avLst>
          </a:prstGeom>
          <a:solidFill>
            <a:srgbClr val="22395F"/>
          </a:solidFill>
          <a:ln w="12700">
            <a:solidFill>
              <a:srgbClr val="22395F"/>
            </a:solidFill>
            <a:prstDash val="solid"/>
          </a:ln>
        </p:spPr>
      </p:sp>
      <p:sp>
        <p:nvSpPr>
          <p:cNvPr id="9" name="Shape 6"/>
          <p:cNvSpPr/>
          <p:nvPr/>
        </p:nvSpPr>
        <p:spPr>
          <a:xfrm>
            <a:off x="3374136" y="1920240"/>
            <a:ext cx="914400" cy="914400"/>
          </a:xfrm>
          <a:prstGeom prst="ellipse">
            <a:avLst/>
          </a:prstGeom>
          <a:solidFill>
            <a:srgbClr val="FFD23B"/>
          </a:solidFill>
          <a:ln w="12700">
            <a:solidFill>
              <a:srgbClr val="FFD23B"/>
            </a:solidFill>
            <a:prstDash val="solid"/>
          </a:ln>
        </p:spPr>
      </p:sp>
      <p:pic>
        <p:nvPicPr>
          <p:cNvPr id="10" name="Image 1" descr="preencoded.png">    </p:cNvPr>
          <p:cNvPicPr>
            <a:picLocks noChangeAspect="1"/>
          </p:cNvPicPr>
          <p:nvPr/>
        </p:nvPicPr>
        <p:blipFill>
          <a:blip r:embed="rId2"/>
          <a:stretch>
            <a:fillRect/>
          </a:stretch>
        </p:blipFill>
        <p:spPr>
          <a:xfrm>
            <a:off x="3575304" y="2121408"/>
            <a:ext cx="512064" cy="512064"/>
          </a:xfrm>
          <a:prstGeom prst="rect">
            <a:avLst/>
          </a:prstGeom>
        </p:spPr>
      </p:pic>
      <p:sp>
        <p:nvSpPr>
          <p:cNvPr id="11" name="Text 7"/>
          <p:cNvSpPr txBox="1"/>
          <p:nvPr/>
        </p:nvSpPr>
        <p:spPr>
          <a:xfrm>
            <a:off x="2898648" y="2926080"/>
            <a:ext cx="1874520" cy="457200"/>
          </a:xfrm>
          <a:prstGeom prst="rect">
            <a:avLst/>
          </a:prstGeom>
          <a:noFill/>
          <a:ln/>
        </p:spPr>
        <p:txBody>
          <a:bodyPr wrap="square" lIns="635" tIns="635" rIns="635" bIns="635" rtlCol="0" anchor="ctr"/>
          <a:lstStyle/>
          <a:p>
            <a:pPr algn="ctr" indent="0" marL="0">
              <a:buNone/>
            </a:pPr>
            <a:r>
              <a:rPr lang="en-US" sz="1600" b="1" dirty="0">
                <a:solidFill>
                  <a:srgbClr val="FFD23B"/>
                </a:solidFill>
                <a:latin typeface="Roboto" pitchFamily="34" charset="0"/>
                <a:ea typeface="Roboto" pitchFamily="34" charset="-122"/>
                <a:cs typeface="Roboto" pitchFamily="34" charset="-120"/>
              </a:rPr>
              <a:t>Thời gian</a:t>
            </a:r>
            <a:endParaRPr lang="en-US" sz="1600" dirty="0"/>
          </a:p>
        </p:txBody>
      </p:sp>
      <p:sp>
        <p:nvSpPr>
          <p:cNvPr id="12" name="Text 8"/>
          <p:cNvSpPr txBox="1"/>
          <p:nvPr/>
        </p:nvSpPr>
        <p:spPr>
          <a:xfrm>
            <a:off x="2916936" y="3383280"/>
            <a:ext cx="1828800" cy="914400"/>
          </a:xfrm>
          <a:prstGeom prst="rect">
            <a:avLst/>
          </a:prstGeom>
          <a:noFill/>
          <a:ln/>
        </p:spPr>
        <p:txBody>
          <a:bodyPr wrap="square" lIns="635" tIns="635" rIns="635" bIns="635" rtlCol="0" anchor="t"/>
          <a:lstStyle/>
          <a:p>
            <a:pPr algn="ctr" indent="0" marL="0">
              <a:buNone/>
            </a:pPr>
            <a:r>
              <a:rPr lang="en-US" sz="1350" dirty="0">
                <a:solidFill>
                  <a:srgbClr val="FBFAF4"/>
                </a:solidFill>
                <a:latin typeface="Roboto" pitchFamily="34" charset="0"/>
                <a:ea typeface="Roboto" pitchFamily="34" charset="-122"/>
                <a:cs typeface="Roboto" pitchFamily="34" charset="-120"/>
              </a:rPr>
              <a:t>Cao điểm sự kiện cần nhiều người hơn bình thường</a:t>
            </a:r>
            <a:endParaRPr lang="en-US" sz="1350" dirty="0"/>
          </a:p>
        </p:txBody>
      </p:sp>
      <p:sp>
        <p:nvSpPr>
          <p:cNvPr id="13" name="Shape 9"/>
          <p:cNvSpPr/>
          <p:nvPr/>
        </p:nvSpPr>
        <p:spPr>
          <a:xfrm>
            <a:off x="5065776" y="1783080"/>
            <a:ext cx="2057400" cy="2606040"/>
          </a:xfrm>
          <a:prstGeom prst="roundRect">
            <a:avLst>
              <a:gd name="adj" fmla="val 3556"/>
            </a:avLst>
          </a:prstGeom>
          <a:solidFill>
            <a:srgbClr val="22395F"/>
          </a:solidFill>
          <a:ln w="12700">
            <a:solidFill>
              <a:srgbClr val="22395F"/>
            </a:solidFill>
            <a:prstDash val="solid"/>
          </a:ln>
        </p:spPr>
      </p:sp>
      <p:sp>
        <p:nvSpPr>
          <p:cNvPr id="14" name="Shape 10"/>
          <p:cNvSpPr/>
          <p:nvPr/>
        </p:nvSpPr>
        <p:spPr>
          <a:xfrm>
            <a:off x="5632704" y="1920240"/>
            <a:ext cx="914400" cy="914400"/>
          </a:xfrm>
          <a:prstGeom prst="ellipse">
            <a:avLst/>
          </a:prstGeom>
          <a:solidFill>
            <a:srgbClr val="09A1E5"/>
          </a:solidFill>
          <a:ln w="12700">
            <a:solidFill>
              <a:srgbClr val="09A1E5"/>
            </a:solidFill>
            <a:prstDash val="solid"/>
          </a:ln>
        </p:spPr>
      </p:sp>
      <p:pic>
        <p:nvPicPr>
          <p:cNvPr id="15" name="Image 2" descr="preencoded.png">    </p:cNvPr>
          <p:cNvPicPr>
            <a:picLocks noChangeAspect="1"/>
          </p:cNvPicPr>
          <p:nvPr/>
        </p:nvPicPr>
        <p:blipFill>
          <a:blip r:embed="rId3"/>
          <a:stretch>
            <a:fillRect/>
          </a:stretch>
        </p:blipFill>
        <p:spPr>
          <a:xfrm>
            <a:off x="5833872" y="2121408"/>
            <a:ext cx="512064" cy="512064"/>
          </a:xfrm>
          <a:prstGeom prst="rect">
            <a:avLst/>
          </a:prstGeom>
        </p:spPr>
      </p:pic>
      <p:sp>
        <p:nvSpPr>
          <p:cNvPr id="16" name="Text 11"/>
          <p:cNvSpPr txBox="1"/>
          <p:nvPr/>
        </p:nvSpPr>
        <p:spPr>
          <a:xfrm>
            <a:off x="5157216" y="2926080"/>
            <a:ext cx="1874520" cy="457200"/>
          </a:xfrm>
          <a:prstGeom prst="rect">
            <a:avLst/>
          </a:prstGeom>
          <a:noFill/>
          <a:ln/>
        </p:spPr>
        <p:txBody>
          <a:bodyPr wrap="square" lIns="635" tIns="635" rIns="635" bIns="635" rtlCol="0" anchor="ctr"/>
          <a:lstStyle/>
          <a:p>
            <a:pPr algn="ctr" indent="0" marL="0">
              <a:buNone/>
            </a:pPr>
            <a:r>
              <a:rPr lang="en-US" sz="1600" b="1" dirty="0">
                <a:solidFill>
                  <a:srgbClr val="09A1E5"/>
                </a:solidFill>
                <a:latin typeface="Roboto" pitchFamily="34" charset="0"/>
                <a:ea typeface="Roboto" pitchFamily="34" charset="-122"/>
                <a:cs typeface="Roboto" pitchFamily="34" charset="-120"/>
              </a:rPr>
              <a:t>Chuyên môn, thiết bị</a:t>
            </a:r>
            <a:endParaRPr lang="en-US" sz="1600" dirty="0"/>
          </a:p>
        </p:txBody>
      </p:sp>
      <p:sp>
        <p:nvSpPr>
          <p:cNvPr id="17" name="Text 12"/>
          <p:cNvSpPr txBox="1"/>
          <p:nvPr/>
        </p:nvSpPr>
        <p:spPr>
          <a:xfrm>
            <a:off x="5175504" y="3383280"/>
            <a:ext cx="1828800" cy="914400"/>
          </a:xfrm>
          <a:prstGeom prst="rect">
            <a:avLst/>
          </a:prstGeom>
          <a:noFill/>
          <a:ln/>
        </p:spPr>
        <p:txBody>
          <a:bodyPr wrap="square" lIns="635" tIns="635" rIns="635" bIns="635" rtlCol="0" anchor="t"/>
          <a:lstStyle/>
          <a:p>
            <a:pPr algn="ctr" indent="0" marL="0">
              <a:buNone/>
            </a:pPr>
            <a:r>
              <a:rPr lang="en-US" sz="1350" dirty="0">
                <a:solidFill>
                  <a:srgbClr val="FBFAF4"/>
                </a:solidFill>
                <a:latin typeface="Roboto" pitchFamily="34" charset="0"/>
                <a:ea typeface="Roboto" pitchFamily="34" charset="-122"/>
                <a:cs typeface="Roboto" pitchFamily="34" charset="-120"/>
              </a:rPr>
              <a:t>Kỹ năng, thiết bị không cần dùng quanh năm</a:t>
            </a:r>
            <a:endParaRPr lang="en-US" sz="1350" dirty="0"/>
          </a:p>
        </p:txBody>
      </p:sp>
      <p:sp>
        <p:nvSpPr>
          <p:cNvPr id="18" name="Shape 13"/>
          <p:cNvSpPr/>
          <p:nvPr/>
        </p:nvSpPr>
        <p:spPr>
          <a:xfrm>
            <a:off x="7324344" y="1783080"/>
            <a:ext cx="2057400" cy="2606040"/>
          </a:xfrm>
          <a:prstGeom prst="roundRect">
            <a:avLst>
              <a:gd name="adj" fmla="val 3556"/>
            </a:avLst>
          </a:prstGeom>
          <a:solidFill>
            <a:srgbClr val="22395F"/>
          </a:solidFill>
          <a:ln w="12700">
            <a:solidFill>
              <a:srgbClr val="22395F"/>
            </a:solidFill>
            <a:prstDash val="solid"/>
          </a:ln>
        </p:spPr>
      </p:sp>
      <p:sp>
        <p:nvSpPr>
          <p:cNvPr id="19" name="Shape 14"/>
          <p:cNvSpPr/>
          <p:nvPr/>
        </p:nvSpPr>
        <p:spPr>
          <a:xfrm>
            <a:off x="7891272" y="1920240"/>
            <a:ext cx="914400" cy="914400"/>
          </a:xfrm>
          <a:prstGeom prst="ellipse">
            <a:avLst/>
          </a:prstGeom>
          <a:solidFill>
            <a:srgbClr val="FF9259"/>
          </a:solidFill>
          <a:ln w="12700">
            <a:solidFill>
              <a:srgbClr val="FF9259"/>
            </a:solidFill>
            <a:prstDash val="solid"/>
          </a:ln>
        </p:spPr>
      </p:sp>
      <p:pic>
        <p:nvPicPr>
          <p:cNvPr id="20" name="Image 3" descr="preencoded.png">    </p:cNvPr>
          <p:cNvPicPr>
            <a:picLocks noChangeAspect="1"/>
          </p:cNvPicPr>
          <p:nvPr/>
        </p:nvPicPr>
        <p:blipFill>
          <a:blip r:embed="rId4"/>
          <a:stretch>
            <a:fillRect/>
          </a:stretch>
        </p:blipFill>
        <p:spPr>
          <a:xfrm>
            <a:off x="8092440" y="2121408"/>
            <a:ext cx="512064" cy="512064"/>
          </a:xfrm>
          <a:prstGeom prst="rect">
            <a:avLst/>
          </a:prstGeom>
        </p:spPr>
      </p:pic>
      <p:sp>
        <p:nvSpPr>
          <p:cNvPr id="21" name="Text 15"/>
          <p:cNvSpPr txBox="1"/>
          <p:nvPr/>
        </p:nvSpPr>
        <p:spPr>
          <a:xfrm>
            <a:off x="7415784" y="2926080"/>
            <a:ext cx="1874520" cy="457200"/>
          </a:xfrm>
          <a:prstGeom prst="rect">
            <a:avLst/>
          </a:prstGeom>
          <a:noFill/>
          <a:ln/>
        </p:spPr>
        <p:txBody>
          <a:bodyPr wrap="square" lIns="635" tIns="635" rIns="635" bIns="635" rtlCol="0" anchor="ctr"/>
          <a:lstStyle/>
          <a:p>
            <a:pPr algn="ctr" indent="0" marL="0">
              <a:buNone/>
            </a:pPr>
            <a:r>
              <a:rPr lang="en-US" sz="1600" b="1" dirty="0">
                <a:solidFill>
                  <a:srgbClr val="FF9259"/>
                </a:solidFill>
                <a:latin typeface="Roboto" pitchFamily="34" charset="0"/>
                <a:ea typeface="Roboto" pitchFamily="34" charset="-122"/>
                <a:cs typeface="Roboto" pitchFamily="34" charset="-120"/>
              </a:rPr>
              <a:t>Rủi ro</a:t>
            </a:r>
            <a:endParaRPr lang="en-US" sz="1600" dirty="0"/>
          </a:p>
        </p:txBody>
      </p:sp>
      <p:sp>
        <p:nvSpPr>
          <p:cNvPr id="22" name="Text 16"/>
          <p:cNvSpPr txBox="1"/>
          <p:nvPr/>
        </p:nvSpPr>
        <p:spPr>
          <a:xfrm>
            <a:off x="7434072" y="3383280"/>
            <a:ext cx="1828800" cy="914400"/>
          </a:xfrm>
          <a:prstGeom prst="rect">
            <a:avLst/>
          </a:prstGeom>
          <a:noFill/>
          <a:ln/>
        </p:spPr>
        <p:txBody>
          <a:bodyPr wrap="square" lIns="635" tIns="635" rIns="635" bIns="635" rtlCol="0" anchor="t"/>
          <a:lstStyle/>
          <a:p>
            <a:pPr algn="ctr" indent="0" marL="0">
              <a:buNone/>
            </a:pPr>
            <a:r>
              <a:rPr lang="en-US" sz="1350" dirty="0">
                <a:solidFill>
                  <a:srgbClr val="FBFAF4"/>
                </a:solidFill>
                <a:latin typeface="Roboto" pitchFamily="34" charset="0"/>
                <a:ea typeface="Roboto" pitchFamily="34" charset="-122"/>
                <a:cs typeface="Roboto" pitchFamily="34" charset="-120"/>
              </a:rPr>
              <a:t>Mỗi nhà cung cấp tự đánh giá rủi ro mảng của mình</a:t>
            </a:r>
            <a:endParaRPr lang="en-US" sz="1350" dirty="0"/>
          </a:p>
        </p:txBody>
      </p:sp>
      <p:sp>
        <p:nvSpPr>
          <p:cNvPr id="23" name="Shape 17"/>
          <p:cNvSpPr/>
          <p:nvPr/>
        </p:nvSpPr>
        <p:spPr>
          <a:xfrm>
            <a:off x="9582912" y="1783080"/>
            <a:ext cx="2057400" cy="2606040"/>
          </a:xfrm>
          <a:prstGeom prst="roundRect">
            <a:avLst>
              <a:gd name="adj" fmla="val 3556"/>
            </a:avLst>
          </a:prstGeom>
          <a:solidFill>
            <a:srgbClr val="22395F"/>
          </a:solidFill>
          <a:ln w="12700">
            <a:solidFill>
              <a:srgbClr val="22395F"/>
            </a:solidFill>
            <a:prstDash val="solid"/>
          </a:ln>
        </p:spPr>
      </p:sp>
      <p:sp>
        <p:nvSpPr>
          <p:cNvPr id="24" name="Shape 18"/>
          <p:cNvSpPr/>
          <p:nvPr/>
        </p:nvSpPr>
        <p:spPr>
          <a:xfrm>
            <a:off x="10149840" y="1920240"/>
            <a:ext cx="914400" cy="914400"/>
          </a:xfrm>
          <a:prstGeom prst="ellipse">
            <a:avLst/>
          </a:prstGeom>
          <a:solidFill>
            <a:srgbClr val="FF5178"/>
          </a:solidFill>
          <a:ln w="12700">
            <a:solidFill>
              <a:srgbClr val="FF5178"/>
            </a:solidFill>
            <a:prstDash val="solid"/>
          </a:ln>
        </p:spPr>
      </p:sp>
      <p:pic>
        <p:nvPicPr>
          <p:cNvPr id="25" name="Image 4" descr="preencoded.png">    </p:cNvPr>
          <p:cNvPicPr>
            <a:picLocks noChangeAspect="1"/>
          </p:cNvPicPr>
          <p:nvPr/>
        </p:nvPicPr>
        <p:blipFill>
          <a:blip r:embed="rId5"/>
          <a:stretch>
            <a:fillRect/>
          </a:stretch>
        </p:blipFill>
        <p:spPr>
          <a:xfrm>
            <a:off x="10351008" y="2121408"/>
            <a:ext cx="512064" cy="512064"/>
          </a:xfrm>
          <a:prstGeom prst="rect">
            <a:avLst/>
          </a:prstGeom>
        </p:spPr>
      </p:pic>
      <p:sp>
        <p:nvSpPr>
          <p:cNvPr id="26" name="Text 19"/>
          <p:cNvSpPr txBox="1"/>
          <p:nvPr/>
        </p:nvSpPr>
        <p:spPr>
          <a:xfrm>
            <a:off x="9674352" y="2926080"/>
            <a:ext cx="1874520" cy="457200"/>
          </a:xfrm>
          <a:prstGeom prst="rect">
            <a:avLst/>
          </a:prstGeom>
          <a:noFill/>
          <a:ln/>
        </p:spPr>
        <p:txBody>
          <a:bodyPr wrap="square" lIns="635" tIns="635" rIns="635" bIns="635" rtlCol="0" anchor="ctr"/>
          <a:lstStyle/>
          <a:p>
            <a:pPr algn="ctr" indent="0" marL="0">
              <a:buNone/>
            </a:pPr>
            <a:r>
              <a:rPr lang="en-US" sz="1600" b="1" dirty="0">
                <a:solidFill>
                  <a:srgbClr val="FF5178"/>
                </a:solidFill>
                <a:latin typeface="Roboto" pitchFamily="34" charset="0"/>
                <a:ea typeface="Roboto" pitchFamily="34" charset="-122"/>
                <a:cs typeface="Roboto" pitchFamily="34" charset="-120"/>
              </a:rPr>
              <a:t>Chất lượng</a:t>
            </a:r>
            <a:endParaRPr lang="en-US" sz="1600" dirty="0"/>
          </a:p>
        </p:txBody>
      </p:sp>
      <p:sp>
        <p:nvSpPr>
          <p:cNvPr id="27" name="Text 20"/>
          <p:cNvSpPr txBox="1"/>
          <p:nvPr/>
        </p:nvSpPr>
        <p:spPr>
          <a:xfrm>
            <a:off x="9692640" y="3383280"/>
            <a:ext cx="1828800" cy="914400"/>
          </a:xfrm>
          <a:prstGeom prst="rect">
            <a:avLst/>
          </a:prstGeom>
          <a:noFill/>
          <a:ln/>
        </p:spPr>
        <p:txBody>
          <a:bodyPr wrap="square" lIns="635" tIns="635" rIns="635" bIns="635" rtlCol="0" anchor="t"/>
          <a:lstStyle/>
          <a:p>
            <a:pPr algn="ctr" indent="0" marL="0">
              <a:buNone/>
            </a:pPr>
            <a:r>
              <a:rPr lang="en-US" sz="1350" dirty="0">
                <a:solidFill>
                  <a:srgbClr val="FBFAF4"/>
                </a:solidFill>
                <a:latin typeface="Roboto" pitchFamily="34" charset="0"/>
                <a:ea typeface="Roboto" pitchFamily="34" charset="-122"/>
                <a:cs typeface="Roboto" pitchFamily="34" charset="-120"/>
              </a:rPr>
              <a:t>Chuyên gia làm tốt hơn</a:t>
            </a:r>
            <a:endParaRPr lang="en-US" sz="1350" dirty="0"/>
          </a:p>
        </p:txBody>
      </p:sp>
      <p:sp>
        <p:nvSpPr>
          <p:cNvPr id="28" name="Shape 21"/>
          <p:cNvSpPr/>
          <p:nvPr/>
        </p:nvSpPr>
        <p:spPr>
          <a:xfrm>
            <a:off x="548640" y="4572000"/>
            <a:ext cx="11091672" cy="1143000"/>
          </a:xfrm>
          <a:prstGeom prst="roundRect">
            <a:avLst>
              <a:gd name="adj" fmla="val 6400"/>
            </a:avLst>
          </a:prstGeom>
          <a:solidFill>
            <a:srgbClr val="FFD23B"/>
          </a:solidFill>
          <a:ln w="12700">
            <a:solidFill>
              <a:srgbClr val="FFD23B"/>
            </a:solidFill>
            <a:prstDash val="solid"/>
          </a:ln>
        </p:spPr>
      </p:sp>
      <p:sp>
        <p:nvSpPr>
          <p:cNvPr id="29" name="Text 22"/>
          <p:cNvSpPr txBox="1"/>
          <p:nvPr/>
        </p:nvSpPr>
        <p:spPr>
          <a:xfrm>
            <a:off x="777240" y="4572000"/>
            <a:ext cx="10698480" cy="1143000"/>
          </a:xfrm>
          <a:prstGeom prst="rect">
            <a:avLst/>
          </a:prstGeom>
          <a:noFill/>
          <a:ln/>
        </p:spPr>
        <p:txBody>
          <a:bodyPr wrap="square" lIns="635" tIns="635" rIns="635" bIns="635" rtlCol="0" anchor="ctr"/>
          <a:lstStyle/>
          <a:p>
            <a:pPr indent="0" marL="0">
              <a:buNone/>
            </a:pPr>
            <a:r>
              <a:rPr lang="en-US" sz="1600" b="1" i="1" dirty="0">
                <a:solidFill>
                  <a:srgbClr val="172849"/>
                </a:solidFill>
                <a:latin typeface="Roboto" pitchFamily="34" charset="0"/>
                <a:ea typeface="Roboto" pitchFamily="34" charset="-122"/>
                <a:cs typeface="Roboto" pitchFamily="34" charset="-120"/>
              </a:rPr>
              <a:t>“Outsourcing an activity does not make the cost problem go away, as considerable time is spent in managing the relationship with the outsourcing provider.”</a:t>
            </a:r>
            <a:endParaRPr lang="en-US" sz="1600" dirty="0"/>
          </a:p>
        </p:txBody>
      </p:sp>
      <p:sp>
        <p:nvSpPr>
          <p:cNvPr id="30" name="Text 23"/>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Dowson, Albert &amp; Lomax (2023, tr. 217–218) (V15).</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Buổi 7 là chiến lược, Buổi 10 là tác nghiệp</a:t>
            </a:r>
            <a:endParaRPr lang="en-US" sz="2800" dirty="0"/>
          </a:p>
        </p:txBody>
      </p:sp>
      <p:sp>
        <p:nvSpPr>
          <p:cNvPr id="3" name="Shape 1"/>
          <p:cNvSpPr/>
          <p:nvPr/>
        </p:nvSpPr>
        <p:spPr>
          <a:xfrm>
            <a:off x="548640" y="1783080"/>
            <a:ext cx="2048256" cy="548640"/>
          </a:xfrm>
          <a:prstGeom prst="roundRect">
            <a:avLst>
              <a:gd name="adj" fmla="val 13333"/>
            </a:avLst>
          </a:prstGeom>
          <a:solidFill>
            <a:srgbClr val="22395F"/>
          </a:solidFill>
          <a:ln w="12700">
            <a:solidFill>
              <a:srgbClr val="22395F"/>
            </a:solidFill>
            <a:prstDash val="solid"/>
          </a:ln>
        </p:spPr>
      </p:sp>
      <p:sp>
        <p:nvSpPr>
          <p:cNvPr id="4" name="Text 2"/>
          <p:cNvSpPr txBox="1"/>
          <p:nvPr/>
        </p:nvSpPr>
        <p:spPr>
          <a:xfrm>
            <a:off x="640080" y="1783080"/>
            <a:ext cx="1865376" cy="548640"/>
          </a:xfrm>
          <a:prstGeom prst="rect">
            <a:avLst/>
          </a:prstGeom>
          <a:noFill/>
          <a:ln/>
        </p:spPr>
        <p:txBody>
          <a:bodyPr wrap="square" lIns="635" tIns="635" rIns="635" bIns="635" rtlCol="0" anchor="ctr"/>
          <a:lstStyle/>
          <a:p>
            <a:pPr indent="0" marL="0">
              <a:buNone/>
            </a:pPr>
            <a:endParaRPr lang="en-US" sz="1500" dirty="0"/>
          </a:p>
        </p:txBody>
      </p:sp>
      <p:sp>
        <p:nvSpPr>
          <p:cNvPr id="5" name="Shape 3"/>
          <p:cNvSpPr/>
          <p:nvPr/>
        </p:nvSpPr>
        <p:spPr>
          <a:xfrm>
            <a:off x="2651760" y="1783080"/>
            <a:ext cx="4443984" cy="548640"/>
          </a:xfrm>
          <a:prstGeom prst="roundRect">
            <a:avLst>
              <a:gd name="adj" fmla="val 13333"/>
            </a:avLst>
          </a:prstGeom>
          <a:solidFill>
            <a:srgbClr val="962B7C"/>
          </a:solidFill>
          <a:ln w="12700">
            <a:solidFill>
              <a:srgbClr val="962B7C"/>
            </a:solidFill>
            <a:prstDash val="solid"/>
          </a:ln>
        </p:spPr>
      </p:sp>
      <p:sp>
        <p:nvSpPr>
          <p:cNvPr id="6" name="Text 4"/>
          <p:cNvSpPr txBox="1"/>
          <p:nvPr/>
        </p:nvSpPr>
        <p:spPr>
          <a:xfrm>
            <a:off x="2743200" y="1783080"/>
            <a:ext cx="4261104"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Buổi 7 — chiến lược</a:t>
            </a:r>
            <a:endParaRPr lang="en-US" sz="1500" dirty="0"/>
          </a:p>
        </p:txBody>
      </p:sp>
      <p:sp>
        <p:nvSpPr>
          <p:cNvPr id="7" name="Shape 5"/>
          <p:cNvSpPr/>
          <p:nvPr/>
        </p:nvSpPr>
        <p:spPr>
          <a:xfrm>
            <a:off x="7150608" y="1783080"/>
            <a:ext cx="4434840" cy="548640"/>
          </a:xfrm>
          <a:prstGeom prst="roundRect">
            <a:avLst>
              <a:gd name="adj" fmla="val 13333"/>
            </a:avLst>
          </a:prstGeom>
          <a:solidFill>
            <a:srgbClr val="49B296"/>
          </a:solidFill>
          <a:ln w="12700">
            <a:solidFill>
              <a:srgbClr val="49B296"/>
            </a:solidFill>
            <a:prstDash val="solid"/>
          </a:ln>
        </p:spPr>
      </p:sp>
      <p:sp>
        <p:nvSpPr>
          <p:cNvPr id="8" name="Text 6"/>
          <p:cNvSpPr txBox="1"/>
          <p:nvPr/>
        </p:nvSpPr>
        <p:spPr>
          <a:xfrm>
            <a:off x="7242048" y="1783080"/>
            <a:ext cx="4251960"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Buổi 10 — tác nghiệp</a:t>
            </a:r>
            <a:endParaRPr lang="en-US" sz="1500" dirty="0"/>
          </a:p>
        </p:txBody>
      </p:sp>
      <p:sp>
        <p:nvSpPr>
          <p:cNvPr id="9" name="Shape 7"/>
          <p:cNvSpPr/>
          <p:nvPr/>
        </p:nvSpPr>
        <p:spPr>
          <a:xfrm>
            <a:off x="548640" y="2404872"/>
            <a:ext cx="2048256" cy="749808"/>
          </a:xfrm>
          <a:prstGeom prst="roundRect">
            <a:avLst>
              <a:gd name="adj" fmla="val 9756"/>
            </a:avLst>
          </a:prstGeom>
          <a:solidFill>
            <a:srgbClr val="FFD23B"/>
          </a:solidFill>
          <a:ln w="12700">
            <a:solidFill>
              <a:srgbClr val="FFD23B"/>
            </a:solidFill>
            <a:prstDash val="solid"/>
          </a:ln>
        </p:spPr>
      </p:sp>
      <p:sp>
        <p:nvSpPr>
          <p:cNvPr id="10" name="Text 8"/>
          <p:cNvSpPr txBox="1"/>
          <p:nvPr/>
        </p:nvSpPr>
        <p:spPr>
          <a:xfrm>
            <a:off x="658368" y="2404872"/>
            <a:ext cx="1828800" cy="749808"/>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Câu hỏi</a:t>
            </a:r>
            <a:endParaRPr lang="en-US" sz="1500" dirty="0"/>
          </a:p>
        </p:txBody>
      </p:sp>
      <p:sp>
        <p:nvSpPr>
          <p:cNvPr id="11" name="Shape 9"/>
          <p:cNvSpPr/>
          <p:nvPr/>
        </p:nvSpPr>
        <p:spPr>
          <a:xfrm>
            <a:off x="2651760" y="2404872"/>
            <a:ext cx="4443984" cy="749808"/>
          </a:xfrm>
          <a:prstGeom prst="roundRect">
            <a:avLst>
              <a:gd name="adj" fmla="val 9756"/>
            </a:avLst>
          </a:prstGeom>
          <a:solidFill>
            <a:srgbClr val="22395F"/>
          </a:solidFill>
          <a:ln w="12700">
            <a:solidFill>
              <a:srgbClr val="22395F"/>
            </a:solidFill>
            <a:prstDash val="solid"/>
          </a:ln>
        </p:spPr>
      </p:sp>
      <p:sp>
        <p:nvSpPr>
          <p:cNvPr id="12" name="Text 10"/>
          <p:cNvSpPr txBox="1"/>
          <p:nvPr/>
        </p:nvSpPr>
        <p:spPr>
          <a:xfrm>
            <a:off x="2761488" y="2404872"/>
            <a:ext cx="4224528" cy="74980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Hạng mục quan trọng và rủi ro đến đâu? Quan hệ nên thế nào?</a:t>
            </a:r>
            <a:endParaRPr lang="en-US" sz="1500" dirty="0"/>
          </a:p>
        </p:txBody>
      </p:sp>
      <p:sp>
        <p:nvSpPr>
          <p:cNvPr id="13" name="Shape 11"/>
          <p:cNvSpPr/>
          <p:nvPr/>
        </p:nvSpPr>
        <p:spPr>
          <a:xfrm>
            <a:off x="7150608" y="2404872"/>
            <a:ext cx="4434840" cy="749808"/>
          </a:xfrm>
          <a:prstGeom prst="roundRect">
            <a:avLst>
              <a:gd name="adj" fmla="val 9756"/>
            </a:avLst>
          </a:prstGeom>
          <a:solidFill>
            <a:srgbClr val="22395F"/>
          </a:solidFill>
          <a:ln w="12700">
            <a:solidFill>
              <a:srgbClr val="22395F"/>
            </a:solidFill>
            <a:prstDash val="solid"/>
          </a:ln>
        </p:spPr>
      </p:sp>
      <p:sp>
        <p:nvSpPr>
          <p:cNvPr id="14" name="Text 12"/>
          <p:cNvSpPr txBox="1"/>
          <p:nvPr/>
        </p:nvSpPr>
        <p:spPr>
          <a:xfrm>
            <a:off x="7260336" y="2404872"/>
            <a:ext cx="4215384" cy="74980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Mời ai, hỏi gì, chấm thế nào, kiểm tra tại chỗ ra sao?</a:t>
            </a:r>
            <a:endParaRPr lang="en-US" sz="1500" dirty="0"/>
          </a:p>
        </p:txBody>
      </p:sp>
      <p:sp>
        <p:nvSpPr>
          <p:cNvPr id="15" name="Shape 13"/>
          <p:cNvSpPr/>
          <p:nvPr/>
        </p:nvSpPr>
        <p:spPr>
          <a:xfrm>
            <a:off x="548640" y="3227832"/>
            <a:ext cx="2048256" cy="749808"/>
          </a:xfrm>
          <a:prstGeom prst="roundRect">
            <a:avLst>
              <a:gd name="adj" fmla="val 9756"/>
            </a:avLst>
          </a:prstGeom>
          <a:solidFill>
            <a:srgbClr val="FFD23B"/>
          </a:solidFill>
          <a:ln w="12700">
            <a:solidFill>
              <a:srgbClr val="FFD23B"/>
            </a:solidFill>
            <a:prstDash val="solid"/>
          </a:ln>
        </p:spPr>
      </p:sp>
      <p:sp>
        <p:nvSpPr>
          <p:cNvPr id="16" name="Text 14"/>
          <p:cNvSpPr txBox="1"/>
          <p:nvPr/>
        </p:nvSpPr>
        <p:spPr>
          <a:xfrm>
            <a:off x="658368" y="3227832"/>
            <a:ext cx="1828800" cy="749808"/>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Công cụ</a:t>
            </a:r>
            <a:endParaRPr lang="en-US" sz="1500" dirty="0"/>
          </a:p>
        </p:txBody>
      </p:sp>
      <p:sp>
        <p:nvSpPr>
          <p:cNvPr id="17" name="Shape 15"/>
          <p:cNvSpPr/>
          <p:nvPr/>
        </p:nvSpPr>
        <p:spPr>
          <a:xfrm>
            <a:off x="2651760" y="3227832"/>
            <a:ext cx="4443984" cy="749808"/>
          </a:xfrm>
          <a:prstGeom prst="roundRect">
            <a:avLst>
              <a:gd name="adj" fmla="val 9756"/>
            </a:avLst>
          </a:prstGeom>
          <a:solidFill>
            <a:srgbClr val="22395F"/>
          </a:solidFill>
          <a:ln w="12700">
            <a:solidFill>
              <a:srgbClr val="22395F"/>
            </a:solidFill>
            <a:prstDash val="solid"/>
          </a:ln>
        </p:spPr>
      </p:sp>
      <p:sp>
        <p:nvSpPr>
          <p:cNvPr id="18" name="Text 16"/>
          <p:cNvSpPr txBox="1"/>
          <p:nvPr/>
        </p:nvSpPr>
        <p:spPr>
          <a:xfrm>
            <a:off x="2761488" y="3227832"/>
            <a:ext cx="4224528" cy="74980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Kraljic, Procurement vs Buying, customer of choice</a:t>
            </a:r>
            <a:endParaRPr lang="en-US" sz="1500" dirty="0"/>
          </a:p>
        </p:txBody>
      </p:sp>
      <p:sp>
        <p:nvSpPr>
          <p:cNvPr id="19" name="Shape 17"/>
          <p:cNvSpPr/>
          <p:nvPr/>
        </p:nvSpPr>
        <p:spPr>
          <a:xfrm>
            <a:off x="7150608" y="3227832"/>
            <a:ext cx="4434840" cy="749808"/>
          </a:xfrm>
          <a:prstGeom prst="roundRect">
            <a:avLst>
              <a:gd name="adj" fmla="val 9756"/>
            </a:avLst>
          </a:prstGeom>
          <a:solidFill>
            <a:srgbClr val="22395F"/>
          </a:solidFill>
          <a:ln w="12700">
            <a:solidFill>
              <a:srgbClr val="22395F"/>
            </a:solidFill>
            <a:prstDash val="solid"/>
          </a:ln>
        </p:spPr>
      </p:sp>
      <p:sp>
        <p:nvSpPr>
          <p:cNvPr id="20" name="Text 18"/>
          <p:cNvSpPr txBox="1"/>
          <p:nvPr/>
        </p:nvSpPr>
        <p:spPr>
          <a:xfrm>
            <a:off x="7260336" y="3227832"/>
            <a:ext cx="4215384" cy="74980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RFI – RFP – RFQ, bảng chấm điểm, site check, sơ đồ mặt bằng</a:t>
            </a:r>
            <a:endParaRPr lang="en-US" sz="1500" dirty="0"/>
          </a:p>
        </p:txBody>
      </p:sp>
      <p:sp>
        <p:nvSpPr>
          <p:cNvPr id="21" name="Shape 19"/>
          <p:cNvSpPr/>
          <p:nvPr/>
        </p:nvSpPr>
        <p:spPr>
          <a:xfrm>
            <a:off x="548640" y="4050792"/>
            <a:ext cx="2048256" cy="749808"/>
          </a:xfrm>
          <a:prstGeom prst="roundRect">
            <a:avLst>
              <a:gd name="adj" fmla="val 9756"/>
            </a:avLst>
          </a:prstGeom>
          <a:solidFill>
            <a:srgbClr val="FFD23B"/>
          </a:solidFill>
          <a:ln w="12700">
            <a:solidFill>
              <a:srgbClr val="FFD23B"/>
            </a:solidFill>
            <a:prstDash val="solid"/>
          </a:ln>
        </p:spPr>
      </p:sp>
      <p:sp>
        <p:nvSpPr>
          <p:cNvPr id="22" name="Text 20"/>
          <p:cNvSpPr txBox="1"/>
          <p:nvPr/>
        </p:nvSpPr>
        <p:spPr>
          <a:xfrm>
            <a:off x="658368" y="4050792"/>
            <a:ext cx="1828800" cy="749808"/>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Đầu ra</a:t>
            </a:r>
            <a:endParaRPr lang="en-US" sz="1500" dirty="0"/>
          </a:p>
        </p:txBody>
      </p:sp>
      <p:sp>
        <p:nvSpPr>
          <p:cNvPr id="23" name="Shape 21"/>
          <p:cNvSpPr/>
          <p:nvPr/>
        </p:nvSpPr>
        <p:spPr>
          <a:xfrm>
            <a:off x="2651760" y="4050792"/>
            <a:ext cx="4443984" cy="749808"/>
          </a:xfrm>
          <a:prstGeom prst="roundRect">
            <a:avLst>
              <a:gd name="adj" fmla="val 9756"/>
            </a:avLst>
          </a:prstGeom>
          <a:solidFill>
            <a:srgbClr val="22395F"/>
          </a:solidFill>
          <a:ln w="12700">
            <a:solidFill>
              <a:srgbClr val="22395F"/>
            </a:solidFill>
            <a:prstDash val="solid"/>
          </a:ln>
        </p:spPr>
      </p:sp>
      <p:sp>
        <p:nvSpPr>
          <p:cNvPr id="24" name="Text 22"/>
          <p:cNvSpPr txBox="1"/>
          <p:nvPr/>
        </p:nvSpPr>
        <p:spPr>
          <a:xfrm>
            <a:off x="2761488" y="4050792"/>
            <a:ext cx="4224528" cy="74980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Chiến lược cho từng hạng mục</a:t>
            </a:r>
            <a:endParaRPr lang="en-US" sz="1500" dirty="0"/>
          </a:p>
        </p:txBody>
      </p:sp>
      <p:sp>
        <p:nvSpPr>
          <p:cNvPr id="25" name="Shape 23"/>
          <p:cNvSpPr/>
          <p:nvPr/>
        </p:nvSpPr>
        <p:spPr>
          <a:xfrm>
            <a:off x="7150608" y="4050792"/>
            <a:ext cx="4434840" cy="749808"/>
          </a:xfrm>
          <a:prstGeom prst="roundRect">
            <a:avLst>
              <a:gd name="adj" fmla="val 9756"/>
            </a:avLst>
          </a:prstGeom>
          <a:solidFill>
            <a:srgbClr val="22395F"/>
          </a:solidFill>
          <a:ln w="12700">
            <a:solidFill>
              <a:srgbClr val="22395F"/>
            </a:solidFill>
            <a:prstDash val="solid"/>
          </a:ln>
        </p:spPr>
      </p:sp>
      <p:sp>
        <p:nvSpPr>
          <p:cNvPr id="26" name="Text 24"/>
          <p:cNvSpPr txBox="1"/>
          <p:nvPr/>
        </p:nvSpPr>
        <p:spPr>
          <a:xfrm>
            <a:off x="7260336" y="4050792"/>
            <a:ext cx="4215384" cy="74980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Nhà cung cấp được chọn + hồ sơ giải thích được</a:t>
            </a:r>
            <a:endParaRPr lang="en-US" sz="1500" dirty="0"/>
          </a:p>
        </p:txBody>
      </p:sp>
      <p:sp>
        <p:nvSpPr>
          <p:cNvPr id="27" name="Shape 25"/>
          <p:cNvSpPr/>
          <p:nvPr/>
        </p:nvSpPr>
        <p:spPr>
          <a:xfrm>
            <a:off x="548640" y="5074920"/>
            <a:ext cx="11091672" cy="685800"/>
          </a:xfrm>
          <a:prstGeom prst="roundRect">
            <a:avLst>
              <a:gd name="adj" fmla="val 10667"/>
            </a:avLst>
          </a:prstGeom>
          <a:solidFill>
            <a:srgbClr val="22395F"/>
          </a:solidFill>
          <a:ln w="12700">
            <a:solidFill>
              <a:srgbClr val="22395F"/>
            </a:solidFill>
            <a:prstDash val="solid"/>
          </a:ln>
        </p:spPr>
      </p:sp>
      <p:sp>
        <p:nvSpPr>
          <p:cNvPr id="28" name="Text 26"/>
          <p:cNvSpPr txBox="1"/>
          <p:nvPr/>
        </p:nvSpPr>
        <p:spPr>
          <a:xfrm>
            <a:off x="777240" y="5074920"/>
            <a:ext cx="10698480" cy="685800"/>
          </a:xfrm>
          <a:prstGeom prst="rect">
            <a:avLst/>
          </a:prstGeom>
          <a:noFill/>
          <a:ln/>
        </p:spPr>
        <p:txBody>
          <a:bodyPr wrap="square" lIns="635" tIns="635" rIns="635" bIns="635" rtlCol="0" anchor="ctr"/>
          <a:lstStyle/>
          <a:p>
            <a:pPr indent="0" marL="0">
              <a:buNone/>
            </a:pPr>
            <a:r>
              <a:rPr lang="en-US" sz="1600" b="1" dirty="0">
                <a:solidFill>
                  <a:srgbClr val="FFD23B"/>
                </a:solidFill>
                <a:latin typeface="Roboto" pitchFamily="34" charset="0"/>
                <a:ea typeface="Roboto" pitchFamily="34" charset="-122"/>
                <a:cs typeface="Roboto" pitchFamily="34" charset="-120"/>
              </a:rPr>
              <a:t>Ô Kraljic quyết định cách mua: Non-critical → hỏi giá nhanh; Strategic (ballroom tháng 12) → RFP, site check, đàm phán quan hệ.</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RFI hỏi “ai”, RFP hỏi “giải pháp”, RFQ hỏi “giá”</a:t>
            </a:r>
            <a:endParaRPr lang="en-US" sz="2800" dirty="0"/>
          </a:p>
        </p:txBody>
      </p:sp>
      <p:sp>
        <p:nvSpPr>
          <p:cNvPr id="3" name="Shape 1"/>
          <p:cNvSpPr/>
          <p:nvPr/>
        </p:nvSpPr>
        <p:spPr>
          <a:xfrm>
            <a:off x="548640" y="1783080"/>
            <a:ext cx="1956816" cy="548640"/>
          </a:xfrm>
          <a:prstGeom prst="roundRect">
            <a:avLst>
              <a:gd name="adj" fmla="val 13333"/>
            </a:avLst>
          </a:prstGeom>
          <a:solidFill>
            <a:srgbClr val="22395F"/>
          </a:solidFill>
          <a:ln w="12700">
            <a:solidFill>
              <a:srgbClr val="22395F"/>
            </a:solidFill>
            <a:prstDash val="solid"/>
          </a:ln>
        </p:spPr>
      </p:sp>
      <p:sp>
        <p:nvSpPr>
          <p:cNvPr id="4" name="Text 2"/>
          <p:cNvSpPr txBox="1"/>
          <p:nvPr/>
        </p:nvSpPr>
        <p:spPr>
          <a:xfrm>
            <a:off x="640080" y="1783080"/>
            <a:ext cx="1773936" cy="548640"/>
          </a:xfrm>
          <a:prstGeom prst="rect">
            <a:avLst/>
          </a:prstGeom>
          <a:noFill/>
          <a:ln/>
        </p:spPr>
        <p:txBody>
          <a:bodyPr wrap="square" lIns="635" tIns="635" rIns="635" bIns="635" rtlCol="0" anchor="ctr"/>
          <a:lstStyle/>
          <a:p>
            <a:pPr indent="0" marL="0">
              <a:buNone/>
            </a:pPr>
            <a:endParaRPr lang="en-US" sz="1500" dirty="0"/>
          </a:p>
        </p:txBody>
      </p:sp>
      <p:sp>
        <p:nvSpPr>
          <p:cNvPr id="5" name="Shape 3"/>
          <p:cNvSpPr/>
          <p:nvPr/>
        </p:nvSpPr>
        <p:spPr>
          <a:xfrm>
            <a:off x="2560320" y="1783080"/>
            <a:ext cx="2779776"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2651760" y="1783080"/>
            <a:ext cx="259689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Hỏi gì</a:t>
            </a:r>
            <a:endParaRPr lang="en-US" sz="1500" dirty="0"/>
          </a:p>
        </p:txBody>
      </p:sp>
      <p:sp>
        <p:nvSpPr>
          <p:cNvPr id="7" name="Shape 5"/>
          <p:cNvSpPr/>
          <p:nvPr/>
        </p:nvSpPr>
        <p:spPr>
          <a:xfrm>
            <a:off x="5394960" y="1783080"/>
            <a:ext cx="2871216" cy="548640"/>
          </a:xfrm>
          <a:prstGeom prst="roundRect">
            <a:avLst>
              <a:gd name="adj" fmla="val 13333"/>
            </a:avLst>
          </a:prstGeom>
          <a:solidFill>
            <a:srgbClr val="09A1E5"/>
          </a:solidFill>
          <a:ln w="12700">
            <a:solidFill>
              <a:srgbClr val="09A1E5"/>
            </a:solidFill>
            <a:prstDash val="solid"/>
          </a:ln>
        </p:spPr>
      </p:sp>
      <p:sp>
        <p:nvSpPr>
          <p:cNvPr id="8" name="Text 6"/>
          <p:cNvSpPr txBox="1"/>
          <p:nvPr/>
        </p:nvSpPr>
        <p:spPr>
          <a:xfrm>
            <a:off x="5486400" y="1783080"/>
            <a:ext cx="268833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Khi nào dùng</a:t>
            </a:r>
            <a:endParaRPr lang="en-US" sz="1500" dirty="0"/>
          </a:p>
        </p:txBody>
      </p:sp>
      <p:sp>
        <p:nvSpPr>
          <p:cNvPr id="9" name="Shape 7"/>
          <p:cNvSpPr/>
          <p:nvPr/>
        </p:nvSpPr>
        <p:spPr>
          <a:xfrm>
            <a:off x="8321040" y="1783080"/>
            <a:ext cx="3264408" cy="548640"/>
          </a:xfrm>
          <a:prstGeom prst="roundRect">
            <a:avLst>
              <a:gd name="adj" fmla="val 13333"/>
            </a:avLst>
          </a:prstGeom>
          <a:solidFill>
            <a:srgbClr val="FFD23B"/>
          </a:solidFill>
          <a:ln w="12700">
            <a:solidFill>
              <a:srgbClr val="FFD23B"/>
            </a:solidFill>
            <a:prstDash val="solid"/>
          </a:ln>
        </p:spPr>
      </p:sp>
      <p:sp>
        <p:nvSpPr>
          <p:cNvPr id="10" name="Text 8"/>
          <p:cNvSpPr txBox="1"/>
          <p:nvPr/>
        </p:nvSpPr>
        <p:spPr>
          <a:xfrm>
            <a:off x="8412480" y="1783080"/>
            <a:ext cx="3081528"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Ví dụ gala An Phát</a:t>
            </a:r>
            <a:endParaRPr lang="en-US" sz="1500" dirty="0"/>
          </a:p>
        </p:txBody>
      </p:sp>
      <p:sp>
        <p:nvSpPr>
          <p:cNvPr id="11" name="Shape 9"/>
          <p:cNvSpPr/>
          <p:nvPr/>
        </p:nvSpPr>
        <p:spPr>
          <a:xfrm>
            <a:off x="548640" y="2404872"/>
            <a:ext cx="1956816" cy="749808"/>
          </a:xfrm>
          <a:prstGeom prst="roundRect">
            <a:avLst>
              <a:gd name="adj" fmla="val 9756"/>
            </a:avLst>
          </a:prstGeom>
          <a:solidFill>
            <a:srgbClr val="FFD23B"/>
          </a:solidFill>
          <a:ln w="12700">
            <a:solidFill>
              <a:srgbClr val="FFD23B"/>
            </a:solidFill>
            <a:prstDash val="solid"/>
          </a:ln>
        </p:spPr>
      </p:sp>
      <p:sp>
        <p:nvSpPr>
          <p:cNvPr id="12" name="Text 10"/>
          <p:cNvSpPr txBox="1"/>
          <p:nvPr/>
        </p:nvSpPr>
        <p:spPr>
          <a:xfrm>
            <a:off x="658368" y="2404872"/>
            <a:ext cx="1737360" cy="749808"/>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RFI</a:t>
            </a:r>
            <a:endParaRPr lang="en-US" sz="1500" dirty="0"/>
          </a:p>
        </p:txBody>
      </p:sp>
      <p:sp>
        <p:nvSpPr>
          <p:cNvPr id="13" name="Shape 11"/>
          <p:cNvSpPr/>
          <p:nvPr/>
        </p:nvSpPr>
        <p:spPr>
          <a:xfrm>
            <a:off x="2560320" y="2404872"/>
            <a:ext cx="2779776" cy="749808"/>
          </a:xfrm>
          <a:prstGeom prst="roundRect">
            <a:avLst>
              <a:gd name="adj" fmla="val 9756"/>
            </a:avLst>
          </a:prstGeom>
          <a:solidFill>
            <a:srgbClr val="22395F"/>
          </a:solidFill>
          <a:ln w="12700">
            <a:solidFill>
              <a:srgbClr val="22395F"/>
            </a:solidFill>
            <a:prstDash val="solid"/>
          </a:ln>
        </p:spPr>
      </p:sp>
      <p:sp>
        <p:nvSpPr>
          <p:cNvPr id="14" name="Text 12"/>
          <p:cNvSpPr txBox="1"/>
          <p:nvPr/>
        </p:nvSpPr>
        <p:spPr>
          <a:xfrm>
            <a:off x="2670048" y="2404872"/>
            <a:ext cx="2560320" cy="74980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Nhà cung cấp là ai, làm được gì</a:t>
            </a:r>
            <a:endParaRPr lang="en-US" sz="1500" dirty="0"/>
          </a:p>
        </p:txBody>
      </p:sp>
      <p:sp>
        <p:nvSpPr>
          <p:cNvPr id="15" name="Shape 13"/>
          <p:cNvSpPr/>
          <p:nvPr/>
        </p:nvSpPr>
        <p:spPr>
          <a:xfrm>
            <a:off x="5394960" y="2404872"/>
            <a:ext cx="2871216" cy="749808"/>
          </a:xfrm>
          <a:prstGeom prst="roundRect">
            <a:avLst>
              <a:gd name="adj" fmla="val 9756"/>
            </a:avLst>
          </a:prstGeom>
          <a:solidFill>
            <a:srgbClr val="22395F"/>
          </a:solidFill>
          <a:ln w="12700">
            <a:solidFill>
              <a:srgbClr val="22395F"/>
            </a:solidFill>
            <a:prstDash val="solid"/>
          </a:ln>
        </p:spPr>
      </p:sp>
      <p:sp>
        <p:nvSpPr>
          <p:cNvPr id="16" name="Text 14"/>
          <p:cNvSpPr txBox="1"/>
          <p:nvPr/>
        </p:nvSpPr>
        <p:spPr>
          <a:xfrm>
            <a:off x="5504688" y="2404872"/>
            <a:ext cx="2651760" cy="74980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Chưa biết thị trường; lọc danh sách</a:t>
            </a:r>
            <a:endParaRPr lang="en-US" sz="1500" dirty="0"/>
          </a:p>
        </p:txBody>
      </p:sp>
      <p:sp>
        <p:nvSpPr>
          <p:cNvPr id="17" name="Shape 15"/>
          <p:cNvSpPr/>
          <p:nvPr/>
        </p:nvSpPr>
        <p:spPr>
          <a:xfrm>
            <a:off x="8321040" y="2404872"/>
            <a:ext cx="3264408" cy="749808"/>
          </a:xfrm>
          <a:prstGeom prst="roundRect">
            <a:avLst>
              <a:gd name="adj" fmla="val 9756"/>
            </a:avLst>
          </a:prstGeom>
          <a:solidFill>
            <a:srgbClr val="22395F"/>
          </a:solidFill>
          <a:ln w="12700">
            <a:solidFill>
              <a:srgbClr val="22395F"/>
            </a:solidFill>
            <a:prstDash val="solid"/>
          </a:ln>
        </p:spPr>
      </p:sp>
      <p:sp>
        <p:nvSpPr>
          <p:cNvPr id="18" name="Text 16"/>
          <p:cNvSpPr txBox="1"/>
          <p:nvPr/>
        </p:nvSpPr>
        <p:spPr>
          <a:xfrm>
            <a:off x="8430768" y="2404872"/>
            <a:ext cx="3044952" cy="74980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Tìm đơn vị livestream về 80 chi nhánh</a:t>
            </a:r>
            <a:endParaRPr lang="en-US" sz="1500" dirty="0"/>
          </a:p>
        </p:txBody>
      </p:sp>
      <p:sp>
        <p:nvSpPr>
          <p:cNvPr id="19" name="Shape 17"/>
          <p:cNvSpPr/>
          <p:nvPr/>
        </p:nvSpPr>
        <p:spPr>
          <a:xfrm>
            <a:off x="548640" y="3227832"/>
            <a:ext cx="1956816" cy="749808"/>
          </a:xfrm>
          <a:prstGeom prst="roundRect">
            <a:avLst>
              <a:gd name="adj" fmla="val 9756"/>
            </a:avLst>
          </a:prstGeom>
          <a:solidFill>
            <a:srgbClr val="FFD23B"/>
          </a:solidFill>
          <a:ln w="12700">
            <a:solidFill>
              <a:srgbClr val="FFD23B"/>
            </a:solidFill>
            <a:prstDash val="solid"/>
          </a:ln>
        </p:spPr>
      </p:sp>
      <p:sp>
        <p:nvSpPr>
          <p:cNvPr id="20" name="Text 18"/>
          <p:cNvSpPr txBox="1"/>
          <p:nvPr/>
        </p:nvSpPr>
        <p:spPr>
          <a:xfrm>
            <a:off x="658368" y="3227832"/>
            <a:ext cx="1737360" cy="749808"/>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RFP</a:t>
            </a:r>
            <a:endParaRPr lang="en-US" sz="1500" dirty="0"/>
          </a:p>
        </p:txBody>
      </p:sp>
      <p:sp>
        <p:nvSpPr>
          <p:cNvPr id="21" name="Shape 19"/>
          <p:cNvSpPr/>
          <p:nvPr/>
        </p:nvSpPr>
        <p:spPr>
          <a:xfrm>
            <a:off x="2560320" y="3227832"/>
            <a:ext cx="2779776" cy="749808"/>
          </a:xfrm>
          <a:prstGeom prst="roundRect">
            <a:avLst>
              <a:gd name="adj" fmla="val 9756"/>
            </a:avLst>
          </a:prstGeom>
          <a:solidFill>
            <a:srgbClr val="22395F"/>
          </a:solidFill>
          <a:ln w="12700">
            <a:solidFill>
              <a:srgbClr val="22395F"/>
            </a:solidFill>
            <a:prstDash val="solid"/>
          </a:ln>
        </p:spPr>
      </p:sp>
      <p:sp>
        <p:nvSpPr>
          <p:cNvPr id="22" name="Text 20"/>
          <p:cNvSpPr txBox="1"/>
          <p:nvPr/>
        </p:nvSpPr>
        <p:spPr>
          <a:xfrm>
            <a:off x="2670048" y="3227832"/>
            <a:ext cx="2560320" cy="74980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Giải pháp + giá, chấm theo nhiều tiêu chí</a:t>
            </a:r>
            <a:endParaRPr lang="en-US" sz="1500" dirty="0"/>
          </a:p>
        </p:txBody>
      </p:sp>
      <p:sp>
        <p:nvSpPr>
          <p:cNvPr id="23" name="Shape 21"/>
          <p:cNvSpPr/>
          <p:nvPr/>
        </p:nvSpPr>
        <p:spPr>
          <a:xfrm>
            <a:off x="5394960" y="3227832"/>
            <a:ext cx="2871216" cy="749808"/>
          </a:xfrm>
          <a:prstGeom prst="roundRect">
            <a:avLst>
              <a:gd name="adj" fmla="val 9756"/>
            </a:avLst>
          </a:prstGeom>
          <a:solidFill>
            <a:srgbClr val="22395F"/>
          </a:solidFill>
          <a:ln w="12700">
            <a:solidFill>
              <a:srgbClr val="22395F"/>
            </a:solidFill>
            <a:prstDash val="solid"/>
          </a:ln>
        </p:spPr>
      </p:sp>
      <p:sp>
        <p:nvSpPr>
          <p:cNvPr id="24" name="Text 22"/>
          <p:cNvSpPr txBox="1"/>
          <p:nvPr/>
        </p:nvSpPr>
        <p:spPr>
          <a:xfrm>
            <a:off x="5504688" y="3227832"/>
            <a:ext cx="2651760" cy="74980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Hạng mục phức tạp, nhiều cách làm</a:t>
            </a:r>
            <a:endParaRPr lang="en-US" sz="1500" dirty="0"/>
          </a:p>
        </p:txBody>
      </p:sp>
      <p:sp>
        <p:nvSpPr>
          <p:cNvPr id="25" name="Shape 23"/>
          <p:cNvSpPr/>
          <p:nvPr/>
        </p:nvSpPr>
        <p:spPr>
          <a:xfrm>
            <a:off x="8321040" y="3227832"/>
            <a:ext cx="3264408" cy="749808"/>
          </a:xfrm>
          <a:prstGeom prst="roundRect">
            <a:avLst>
              <a:gd name="adj" fmla="val 9756"/>
            </a:avLst>
          </a:prstGeom>
          <a:solidFill>
            <a:srgbClr val="22395F"/>
          </a:solidFill>
          <a:ln w="12700">
            <a:solidFill>
              <a:srgbClr val="22395F"/>
            </a:solidFill>
            <a:prstDash val="solid"/>
          </a:ln>
        </p:spPr>
      </p:sp>
      <p:sp>
        <p:nvSpPr>
          <p:cNvPr id="26" name="Text 24"/>
          <p:cNvSpPr txBox="1"/>
          <p:nvPr/>
        </p:nvSpPr>
        <p:spPr>
          <a:xfrm>
            <a:off x="8430768" y="3227832"/>
            <a:ext cx="3044952" cy="74980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Ballroom + F&amp;B; AV và livestream</a:t>
            </a:r>
            <a:endParaRPr lang="en-US" sz="1500" dirty="0"/>
          </a:p>
        </p:txBody>
      </p:sp>
      <p:sp>
        <p:nvSpPr>
          <p:cNvPr id="27" name="Shape 25"/>
          <p:cNvSpPr/>
          <p:nvPr/>
        </p:nvSpPr>
        <p:spPr>
          <a:xfrm>
            <a:off x="548640" y="4050792"/>
            <a:ext cx="1956816" cy="749808"/>
          </a:xfrm>
          <a:prstGeom prst="roundRect">
            <a:avLst>
              <a:gd name="adj" fmla="val 9756"/>
            </a:avLst>
          </a:prstGeom>
          <a:solidFill>
            <a:srgbClr val="FFD23B"/>
          </a:solidFill>
          <a:ln w="12700">
            <a:solidFill>
              <a:srgbClr val="FFD23B"/>
            </a:solidFill>
            <a:prstDash val="solid"/>
          </a:ln>
        </p:spPr>
      </p:sp>
      <p:sp>
        <p:nvSpPr>
          <p:cNvPr id="28" name="Text 26"/>
          <p:cNvSpPr txBox="1"/>
          <p:nvPr/>
        </p:nvSpPr>
        <p:spPr>
          <a:xfrm>
            <a:off x="658368" y="4050792"/>
            <a:ext cx="1737360" cy="749808"/>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RFQ</a:t>
            </a:r>
            <a:endParaRPr lang="en-US" sz="1500" dirty="0"/>
          </a:p>
        </p:txBody>
      </p:sp>
      <p:sp>
        <p:nvSpPr>
          <p:cNvPr id="29" name="Shape 27"/>
          <p:cNvSpPr/>
          <p:nvPr/>
        </p:nvSpPr>
        <p:spPr>
          <a:xfrm>
            <a:off x="2560320" y="4050792"/>
            <a:ext cx="2779776" cy="749808"/>
          </a:xfrm>
          <a:prstGeom prst="roundRect">
            <a:avLst>
              <a:gd name="adj" fmla="val 9756"/>
            </a:avLst>
          </a:prstGeom>
          <a:solidFill>
            <a:srgbClr val="22395F"/>
          </a:solidFill>
          <a:ln w="12700">
            <a:solidFill>
              <a:srgbClr val="22395F"/>
            </a:solidFill>
            <a:prstDash val="solid"/>
          </a:ln>
        </p:spPr>
      </p:sp>
      <p:sp>
        <p:nvSpPr>
          <p:cNvPr id="30" name="Text 28"/>
          <p:cNvSpPr txBox="1"/>
          <p:nvPr/>
        </p:nvSpPr>
        <p:spPr>
          <a:xfrm>
            <a:off x="2670048" y="4050792"/>
            <a:ext cx="2560320" cy="74980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Giá cho thông số đã rõ</a:t>
            </a:r>
            <a:endParaRPr lang="en-US" sz="1500" dirty="0"/>
          </a:p>
        </p:txBody>
      </p:sp>
      <p:sp>
        <p:nvSpPr>
          <p:cNvPr id="31" name="Shape 29"/>
          <p:cNvSpPr/>
          <p:nvPr/>
        </p:nvSpPr>
        <p:spPr>
          <a:xfrm>
            <a:off x="5394960" y="4050792"/>
            <a:ext cx="2871216" cy="749808"/>
          </a:xfrm>
          <a:prstGeom prst="roundRect">
            <a:avLst>
              <a:gd name="adj" fmla="val 9756"/>
            </a:avLst>
          </a:prstGeom>
          <a:solidFill>
            <a:srgbClr val="22395F"/>
          </a:solidFill>
          <a:ln w="12700">
            <a:solidFill>
              <a:srgbClr val="22395F"/>
            </a:solidFill>
            <a:prstDash val="solid"/>
          </a:ln>
        </p:spPr>
      </p:sp>
      <p:sp>
        <p:nvSpPr>
          <p:cNvPr id="32" name="Text 30"/>
          <p:cNvSpPr txBox="1"/>
          <p:nvPr/>
        </p:nvSpPr>
        <p:spPr>
          <a:xfrm>
            <a:off x="5504688" y="4050792"/>
            <a:ext cx="2651760" cy="74980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Hạng mục chuẩn, nhiều nhà cung cấp</a:t>
            </a:r>
            <a:endParaRPr lang="en-US" sz="1500" dirty="0"/>
          </a:p>
        </p:txBody>
      </p:sp>
      <p:sp>
        <p:nvSpPr>
          <p:cNvPr id="33" name="Shape 31"/>
          <p:cNvSpPr/>
          <p:nvPr/>
        </p:nvSpPr>
        <p:spPr>
          <a:xfrm>
            <a:off x="8321040" y="4050792"/>
            <a:ext cx="3264408" cy="749808"/>
          </a:xfrm>
          <a:prstGeom prst="roundRect">
            <a:avLst>
              <a:gd name="adj" fmla="val 9756"/>
            </a:avLst>
          </a:prstGeom>
          <a:solidFill>
            <a:srgbClr val="22395F"/>
          </a:solidFill>
          <a:ln w="12700">
            <a:solidFill>
              <a:srgbClr val="22395F"/>
            </a:solidFill>
            <a:prstDash val="solid"/>
          </a:ln>
        </p:spPr>
      </p:sp>
      <p:sp>
        <p:nvSpPr>
          <p:cNvPr id="34" name="Text 32"/>
          <p:cNvSpPr txBox="1"/>
          <p:nvPr/>
        </p:nvSpPr>
        <p:spPr>
          <a:xfrm>
            <a:off x="8430768" y="4050792"/>
            <a:ext cx="3044952" cy="74980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In backdrop, thuê xe 45 chỗ, quà theo mẫu</a:t>
            </a:r>
            <a:endParaRPr lang="en-US" sz="1500" dirty="0"/>
          </a:p>
        </p:txBody>
      </p:sp>
      <p:sp>
        <p:nvSpPr>
          <p:cNvPr id="35" name="Text 33"/>
          <p:cNvSpPr txBox="1"/>
          <p:nvPr/>
        </p:nvSpPr>
        <p:spPr>
          <a:xfrm>
            <a:off x="548640" y="5120640"/>
            <a:ext cx="11091672" cy="411480"/>
          </a:xfrm>
          <a:prstGeom prst="rect">
            <a:avLst/>
          </a:prstGeom>
          <a:noFill/>
          <a:ln/>
        </p:spPr>
        <p:txBody>
          <a:bodyPr wrap="square" lIns="635" tIns="635" rIns="635" bIns="635" rtlCol="0" anchor="ctr"/>
          <a:lstStyle/>
          <a:p>
            <a:pPr indent="0" marL="0">
              <a:buNone/>
            </a:pPr>
            <a:r>
              <a:rPr lang="en-US" sz="1400" i="1" dirty="0">
                <a:solidFill>
                  <a:srgbClr val="A9B6D3"/>
                </a:solidFill>
                <a:latin typeface="Roboto" pitchFamily="34" charset="0"/>
                <a:ea typeface="Roboto" pitchFamily="34" charset="-122"/>
                <a:cs typeface="Roboto" pitchFamily="34" charset="-120"/>
              </a:rPr>
              <a:t>request for information · request for proposal · request for quotation</a:t>
            </a:r>
            <a:endParaRPr lang="en-US" sz="1400" dirty="0"/>
          </a:p>
        </p:txBody>
      </p:sp>
      <p:sp>
        <p:nvSpPr>
          <p:cNvPr id="36" name="Text 34"/>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Bảng do người soạn tổng hợp; Silvers (2008, Bảng 7.6, tr. 176) liệt kê RFI, RFP, RFQ cùng IFB, RFB, RFO, tender brief (V16). RFQ: CIPS (V01).</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Ba cách mua: ba báo giá, đấu thầu, nhà cung cấp ưu tiên</a:t>
            </a:r>
            <a:endParaRPr lang="en-US" sz="2800" dirty="0"/>
          </a:p>
        </p:txBody>
      </p:sp>
      <p:sp>
        <p:nvSpPr>
          <p:cNvPr id="3" name="Shape 1"/>
          <p:cNvSpPr/>
          <p:nvPr/>
        </p:nvSpPr>
        <p:spPr>
          <a:xfrm>
            <a:off x="548640" y="1783080"/>
            <a:ext cx="3566160" cy="2743200"/>
          </a:xfrm>
          <a:prstGeom prst="roundRect">
            <a:avLst>
              <a:gd name="adj" fmla="val 2667"/>
            </a:avLst>
          </a:prstGeom>
          <a:solidFill>
            <a:srgbClr val="22395F"/>
          </a:solidFill>
          <a:ln w="12700">
            <a:solidFill>
              <a:srgbClr val="22395F"/>
            </a:solidFill>
            <a:prstDash val="solid"/>
          </a:ln>
        </p:spPr>
      </p:sp>
      <p:sp>
        <p:nvSpPr>
          <p:cNvPr id="4" name="Shape 2"/>
          <p:cNvSpPr/>
          <p:nvPr/>
        </p:nvSpPr>
        <p:spPr>
          <a:xfrm>
            <a:off x="777240" y="1965960"/>
            <a:ext cx="822960" cy="82296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58291" y="2147011"/>
            <a:ext cx="460858" cy="460858"/>
          </a:xfrm>
          <a:prstGeom prst="rect">
            <a:avLst/>
          </a:prstGeom>
        </p:spPr>
      </p:pic>
      <p:sp>
        <p:nvSpPr>
          <p:cNvPr id="6" name="Text 3"/>
          <p:cNvSpPr txBox="1"/>
          <p:nvPr/>
        </p:nvSpPr>
        <p:spPr>
          <a:xfrm>
            <a:off x="1737360" y="1965960"/>
            <a:ext cx="2286000" cy="822960"/>
          </a:xfrm>
          <a:prstGeom prst="rect">
            <a:avLst/>
          </a:prstGeom>
          <a:noFill/>
          <a:ln/>
        </p:spPr>
        <p:txBody>
          <a:bodyPr wrap="square" lIns="635" tIns="635" rIns="635" bIns="635" rtlCol="0" anchor="ctr"/>
          <a:lstStyle/>
          <a:p>
            <a:pPr indent="0" marL="0">
              <a:buNone/>
            </a:pPr>
            <a:r>
              <a:rPr lang="en-US" sz="1800" b="1" dirty="0">
                <a:solidFill>
                  <a:srgbClr val="49B296"/>
                </a:solidFill>
                <a:latin typeface="Roboto" pitchFamily="34" charset="0"/>
                <a:ea typeface="Roboto" pitchFamily="34" charset="-122"/>
                <a:cs typeface="Roboto" pitchFamily="34" charset="-120"/>
              </a:rPr>
              <a:t>Ba báo giá</a:t>
            </a:r>
            <a:endParaRPr lang="en-US" sz="1800" dirty="0"/>
          </a:p>
        </p:txBody>
      </p:sp>
      <p:sp>
        <p:nvSpPr>
          <p:cNvPr id="7" name="Text 4"/>
          <p:cNvSpPr txBox="1"/>
          <p:nvPr/>
        </p:nvSpPr>
        <p:spPr>
          <a:xfrm>
            <a:off x="777240" y="2926080"/>
            <a:ext cx="3108960" cy="91440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Mời ít nhất 3 bên báo giá cho thông số rõ</a:t>
            </a:r>
            <a:endParaRPr lang="en-US" sz="1500" dirty="0"/>
          </a:p>
        </p:txBody>
      </p:sp>
      <p:sp>
        <p:nvSpPr>
          <p:cNvPr id="8" name="Text 5"/>
          <p:cNvSpPr txBox="1"/>
          <p:nvPr/>
        </p:nvSpPr>
        <p:spPr>
          <a:xfrm>
            <a:off x="777240" y="3931920"/>
            <a:ext cx="3108960" cy="502920"/>
          </a:xfrm>
          <a:prstGeom prst="rect">
            <a:avLst/>
          </a:prstGeom>
          <a:noFill/>
          <a:ln/>
        </p:spPr>
        <p:txBody>
          <a:bodyPr wrap="square" lIns="635" tIns="635" rIns="635" bIns="635" rtlCol="0" anchor="ctr"/>
          <a:lstStyle/>
          <a:p>
            <a:pPr indent="0" marL="0">
              <a:buNone/>
            </a:pPr>
            <a:r>
              <a:rPr lang="en-US" sz="1400" i="1" dirty="0">
                <a:solidFill>
                  <a:srgbClr val="A9B6D3"/>
                </a:solidFill>
                <a:latin typeface="Roboto" pitchFamily="34" charset="0"/>
                <a:ea typeface="Roboto" pitchFamily="34" charset="-122"/>
                <a:cs typeface="Roboto" pitchFamily="34" charset="-120"/>
              </a:rPr>
              <a:t>Gala: In ấn, xe, quà</a:t>
            </a:r>
            <a:endParaRPr lang="en-US" sz="1400" dirty="0"/>
          </a:p>
        </p:txBody>
      </p:sp>
      <p:sp>
        <p:nvSpPr>
          <p:cNvPr id="9" name="Shape 6"/>
          <p:cNvSpPr/>
          <p:nvPr/>
        </p:nvSpPr>
        <p:spPr>
          <a:xfrm>
            <a:off x="4325112" y="1783080"/>
            <a:ext cx="3566160" cy="2743200"/>
          </a:xfrm>
          <a:prstGeom prst="roundRect">
            <a:avLst>
              <a:gd name="adj" fmla="val 2667"/>
            </a:avLst>
          </a:prstGeom>
          <a:solidFill>
            <a:srgbClr val="22395F"/>
          </a:solidFill>
          <a:ln w="12700">
            <a:solidFill>
              <a:srgbClr val="22395F"/>
            </a:solidFill>
            <a:prstDash val="solid"/>
          </a:ln>
        </p:spPr>
      </p:sp>
      <p:sp>
        <p:nvSpPr>
          <p:cNvPr id="10" name="Shape 7"/>
          <p:cNvSpPr/>
          <p:nvPr/>
        </p:nvSpPr>
        <p:spPr>
          <a:xfrm>
            <a:off x="4553712" y="1965960"/>
            <a:ext cx="822960" cy="822960"/>
          </a:xfrm>
          <a:prstGeom prst="ellipse">
            <a:avLst/>
          </a:prstGeom>
          <a:solidFill>
            <a:srgbClr val="FFD23B"/>
          </a:solidFill>
          <a:ln w="12700">
            <a:solidFill>
              <a:srgbClr val="FFD23B"/>
            </a:solidFill>
            <a:prstDash val="solid"/>
          </a:ln>
        </p:spPr>
      </p:sp>
      <p:pic>
        <p:nvPicPr>
          <p:cNvPr id="11" name="Image 1" descr="preencoded.png">    </p:cNvPr>
          <p:cNvPicPr>
            <a:picLocks noChangeAspect="1"/>
          </p:cNvPicPr>
          <p:nvPr/>
        </p:nvPicPr>
        <p:blipFill>
          <a:blip r:embed="rId2"/>
          <a:stretch>
            <a:fillRect/>
          </a:stretch>
        </p:blipFill>
        <p:spPr>
          <a:xfrm>
            <a:off x="4734763" y="2147011"/>
            <a:ext cx="460858" cy="460858"/>
          </a:xfrm>
          <a:prstGeom prst="rect">
            <a:avLst/>
          </a:prstGeom>
        </p:spPr>
      </p:pic>
      <p:sp>
        <p:nvSpPr>
          <p:cNvPr id="12" name="Text 8"/>
          <p:cNvSpPr txBox="1"/>
          <p:nvPr/>
        </p:nvSpPr>
        <p:spPr>
          <a:xfrm>
            <a:off x="5513832" y="1965960"/>
            <a:ext cx="2286000" cy="822960"/>
          </a:xfrm>
          <a:prstGeom prst="rect">
            <a:avLst/>
          </a:prstGeom>
          <a:noFill/>
          <a:ln/>
        </p:spPr>
        <p:txBody>
          <a:bodyPr wrap="square" lIns="635" tIns="635" rIns="635" bIns="635" rtlCol="0" anchor="ctr"/>
          <a:lstStyle/>
          <a:p>
            <a:pPr indent="0" marL="0">
              <a:buNone/>
            </a:pPr>
            <a:r>
              <a:rPr lang="en-US" sz="1800" b="1" dirty="0">
                <a:solidFill>
                  <a:srgbClr val="FFD23B"/>
                </a:solidFill>
                <a:latin typeface="Roboto" pitchFamily="34" charset="0"/>
                <a:ea typeface="Roboto" pitchFamily="34" charset="-122"/>
                <a:cs typeface="Roboto" pitchFamily="34" charset="-120"/>
              </a:rPr>
              <a:t>Đấu thầu</a:t>
            </a:r>
            <a:endParaRPr lang="en-US" sz="1800" dirty="0"/>
          </a:p>
        </p:txBody>
      </p:sp>
      <p:sp>
        <p:nvSpPr>
          <p:cNvPr id="13" name="Text 9"/>
          <p:cNvSpPr txBox="1"/>
          <p:nvPr/>
        </p:nvSpPr>
        <p:spPr>
          <a:xfrm>
            <a:off x="4553712" y="2926080"/>
            <a:ext cx="3108960" cy="91440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Hồ sơ mời thầu chính thức, tiêu chí công khai, chấm điểm</a:t>
            </a:r>
            <a:endParaRPr lang="en-US" sz="1500" dirty="0"/>
          </a:p>
        </p:txBody>
      </p:sp>
      <p:sp>
        <p:nvSpPr>
          <p:cNvPr id="14" name="Text 10"/>
          <p:cNvSpPr txBox="1"/>
          <p:nvPr/>
        </p:nvSpPr>
        <p:spPr>
          <a:xfrm>
            <a:off x="4553712" y="3931920"/>
            <a:ext cx="3108960" cy="502920"/>
          </a:xfrm>
          <a:prstGeom prst="rect">
            <a:avLst/>
          </a:prstGeom>
          <a:noFill/>
          <a:ln/>
        </p:spPr>
        <p:txBody>
          <a:bodyPr wrap="square" lIns="635" tIns="635" rIns="635" bIns="635" rtlCol="0" anchor="ctr"/>
          <a:lstStyle/>
          <a:p>
            <a:pPr indent="0" marL="0">
              <a:buNone/>
            </a:pPr>
            <a:r>
              <a:rPr lang="en-US" sz="1400" i="1" dirty="0">
                <a:solidFill>
                  <a:srgbClr val="A9B6D3"/>
                </a:solidFill>
                <a:latin typeface="Roboto" pitchFamily="34" charset="0"/>
                <a:ea typeface="Roboto" pitchFamily="34" charset="-122"/>
                <a:cs typeface="Roboto" pitchFamily="34" charset="-120"/>
              </a:rPr>
              <a:t>Gala: Khách sạn, AV – livestream</a:t>
            </a:r>
            <a:endParaRPr lang="en-US" sz="1400" dirty="0"/>
          </a:p>
        </p:txBody>
      </p:sp>
      <p:sp>
        <p:nvSpPr>
          <p:cNvPr id="15" name="Shape 11"/>
          <p:cNvSpPr/>
          <p:nvPr/>
        </p:nvSpPr>
        <p:spPr>
          <a:xfrm>
            <a:off x="8101584" y="1783080"/>
            <a:ext cx="3566160" cy="2743200"/>
          </a:xfrm>
          <a:prstGeom prst="roundRect">
            <a:avLst>
              <a:gd name="adj" fmla="val 2667"/>
            </a:avLst>
          </a:prstGeom>
          <a:solidFill>
            <a:srgbClr val="22395F"/>
          </a:solidFill>
          <a:ln w="12700">
            <a:solidFill>
              <a:srgbClr val="22395F"/>
            </a:solidFill>
            <a:prstDash val="solid"/>
          </a:ln>
        </p:spPr>
      </p:sp>
      <p:sp>
        <p:nvSpPr>
          <p:cNvPr id="16" name="Shape 12"/>
          <p:cNvSpPr/>
          <p:nvPr/>
        </p:nvSpPr>
        <p:spPr>
          <a:xfrm>
            <a:off x="8330184" y="1965960"/>
            <a:ext cx="822960" cy="822960"/>
          </a:xfrm>
          <a:prstGeom prst="ellipse">
            <a:avLst/>
          </a:prstGeom>
          <a:solidFill>
            <a:srgbClr val="09A1E5"/>
          </a:solidFill>
          <a:ln w="12700">
            <a:solidFill>
              <a:srgbClr val="09A1E5"/>
            </a:solidFill>
            <a:prstDash val="solid"/>
          </a:ln>
        </p:spPr>
      </p:sp>
      <p:pic>
        <p:nvPicPr>
          <p:cNvPr id="17" name="Image 2" descr="preencoded.png">    </p:cNvPr>
          <p:cNvPicPr>
            <a:picLocks noChangeAspect="1"/>
          </p:cNvPicPr>
          <p:nvPr/>
        </p:nvPicPr>
        <p:blipFill>
          <a:blip r:embed="rId3"/>
          <a:stretch>
            <a:fillRect/>
          </a:stretch>
        </p:blipFill>
        <p:spPr>
          <a:xfrm>
            <a:off x="8511235" y="2147011"/>
            <a:ext cx="460858" cy="460858"/>
          </a:xfrm>
          <a:prstGeom prst="rect">
            <a:avLst/>
          </a:prstGeom>
        </p:spPr>
      </p:pic>
      <p:sp>
        <p:nvSpPr>
          <p:cNvPr id="18" name="Text 13"/>
          <p:cNvSpPr txBox="1"/>
          <p:nvPr/>
        </p:nvSpPr>
        <p:spPr>
          <a:xfrm>
            <a:off x="9290304" y="1965960"/>
            <a:ext cx="2286000" cy="822960"/>
          </a:xfrm>
          <a:prstGeom prst="rect">
            <a:avLst/>
          </a:prstGeom>
          <a:noFill/>
          <a:ln/>
        </p:spPr>
        <p:txBody>
          <a:bodyPr wrap="square" lIns="635" tIns="635" rIns="635" bIns="635" rtlCol="0" anchor="ctr"/>
          <a:lstStyle/>
          <a:p>
            <a:pPr indent="0" marL="0">
              <a:buNone/>
            </a:pPr>
            <a:r>
              <a:rPr lang="en-US" sz="1800" b="1" dirty="0">
                <a:solidFill>
                  <a:srgbClr val="09A1E5"/>
                </a:solidFill>
                <a:latin typeface="Roboto" pitchFamily="34" charset="0"/>
                <a:ea typeface="Roboto" pitchFamily="34" charset="-122"/>
                <a:cs typeface="Roboto" pitchFamily="34" charset="-120"/>
              </a:rPr>
              <a:t>Nhà cung cấp ưu tiên</a:t>
            </a:r>
            <a:endParaRPr lang="en-US" sz="1800" dirty="0"/>
          </a:p>
        </p:txBody>
      </p:sp>
      <p:sp>
        <p:nvSpPr>
          <p:cNvPr id="19" name="Text 14"/>
          <p:cNvSpPr txBox="1"/>
          <p:nvPr/>
        </p:nvSpPr>
        <p:spPr>
          <a:xfrm>
            <a:off x="8330184" y="2926080"/>
            <a:ext cx="3108960" cy="91440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Đã qua đấu thầu hoặc đánh giá → quan hệ dài hạn</a:t>
            </a:r>
            <a:endParaRPr lang="en-US" sz="1500" dirty="0"/>
          </a:p>
        </p:txBody>
      </p:sp>
      <p:sp>
        <p:nvSpPr>
          <p:cNvPr id="20" name="Text 15"/>
          <p:cNvSpPr txBox="1"/>
          <p:nvPr/>
        </p:nvSpPr>
        <p:spPr>
          <a:xfrm>
            <a:off x="8330184" y="3931920"/>
            <a:ext cx="3108960" cy="502920"/>
          </a:xfrm>
          <a:prstGeom prst="rect">
            <a:avLst/>
          </a:prstGeom>
          <a:noFill/>
          <a:ln/>
        </p:spPr>
        <p:txBody>
          <a:bodyPr wrap="square" lIns="635" tIns="635" rIns="635" bIns="635" rtlCol="0" anchor="ctr"/>
          <a:lstStyle/>
          <a:p>
            <a:pPr indent="0" marL="0">
              <a:buNone/>
            </a:pPr>
            <a:r>
              <a:rPr lang="en-US" sz="1400" i="1" dirty="0">
                <a:solidFill>
                  <a:srgbClr val="A9B6D3"/>
                </a:solidFill>
                <a:latin typeface="Roboto" pitchFamily="34" charset="0"/>
                <a:ea typeface="Roboto" pitchFamily="34" charset="-122"/>
                <a:cs typeface="Roboto" pitchFamily="34" charset="-120"/>
              </a:rPr>
              <a:t>Gala: Đơn vị AV quen của Nova</a:t>
            </a:r>
            <a:endParaRPr lang="en-US" sz="1400" dirty="0"/>
          </a:p>
        </p:txBody>
      </p:sp>
      <p:sp>
        <p:nvSpPr>
          <p:cNvPr id="21" name="Shape 16"/>
          <p:cNvSpPr/>
          <p:nvPr/>
        </p:nvSpPr>
        <p:spPr>
          <a:xfrm>
            <a:off x="548640" y="4709160"/>
            <a:ext cx="11091672" cy="1005840"/>
          </a:xfrm>
          <a:prstGeom prst="roundRect">
            <a:avLst>
              <a:gd name="adj" fmla="val 7273"/>
            </a:avLst>
          </a:prstGeom>
          <a:solidFill>
            <a:srgbClr val="FF5178"/>
          </a:solidFill>
          <a:ln w="12700">
            <a:solidFill>
              <a:srgbClr val="FF5178"/>
            </a:solidFill>
            <a:prstDash val="solid"/>
          </a:ln>
        </p:spPr>
      </p:sp>
      <p:sp>
        <p:nvSpPr>
          <p:cNvPr id="22" name="Text 17"/>
          <p:cNvSpPr txBox="1"/>
          <p:nvPr/>
        </p:nvSpPr>
        <p:spPr>
          <a:xfrm>
            <a:off x="777240" y="4709160"/>
            <a:ext cx="10698480" cy="100584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Cảnh báo của giáo trình: nhà cung cấp “ưu tiên” ở công ty nhỏ đôi khi chỉ là “vì anh rể tôi làm chủ”. Ưu tiên phải có lý do ghi lại được.</a:t>
            </a:r>
            <a:endParaRPr lang="en-US" sz="1600" dirty="0"/>
          </a:p>
        </p:txBody>
      </p:sp>
      <p:sp>
        <p:nvSpPr>
          <p:cNvPr id="23" name="Text 18"/>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Dowson et al. (2023, tr. 229–230) (V15); CIPS: “at least three suppliers” (V01). Một nguồn (single source): khi chỉ một bên đủ năng lực.</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Nova mất quyền chọn AV ngay lúc ký với khách sạn</a:t>
            </a:r>
            <a:endParaRPr lang="en-US" sz="2800" dirty="0"/>
          </a:p>
        </p:txBody>
      </p:sp>
      <p:sp>
        <p:nvSpPr>
          <p:cNvPr id="3" name="Shape 1"/>
          <p:cNvSpPr/>
          <p:nvPr/>
        </p:nvSpPr>
        <p:spPr>
          <a:xfrm>
            <a:off x="548640" y="1920240"/>
            <a:ext cx="3566160" cy="1371600"/>
          </a:xfrm>
          <a:prstGeom prst="roundRect">
            <a:avLst>
              <a:gd name="adj" fmla="val 5333"/>
            </a:avLst>
          </a:prstGeom>
          <a:solidFill>
            <a:srgbClr val="49B296"/>
          </a:solidFill>
          <a:ln w="12700">
            <a:solidFill>
              <a:srgbClr val="49B296"/>
            </a:solidFill>
            <a:prstDash val="solid"/>
          </a:ln>
        </p:spPr>
      </p:sp>
      <p:sp>
        <p:nvSpPr>
          <p:cNvPr id="4" name="Text 2"/>
          <p:cNvSpPr txBox="1"/>
          <p:nvPr/>
        </p:nvSpPr>
        <p:spPr>
          <a:xfrm>
            <a:off x="731520" y="1920240"/>
            <a:ext cx="3200400" cy="137160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Chọn khách sạn</a:t>
            </a:r>
            <a:endParaRPr lang="en-US" sz="1800" dirty="0"/>
          </a:p>
        </p:txBody>
      </p:sp>
      <p:sp>
        <p:nvSpPr>
          <p:cNvPr id="5" name="Shape 3"/>
          <p:cNvSpPr/>
          <p:nvPr/>
        </p:nvSpPr>
        <p:spPr>
          <a:xfrm>
            <a:off x="4133088" y="2423160"/>
            <a:ext cx="182880" cy="365760"/>
          </a:xfrm>
          <a:prstGeom prst="rightArrow">
            <a:avLst/>
          </a:prstGeom>
          <a:solidFill>
            <a:srgbClr val="A9B6D3"/>
          </a:solidFill>
          <a:ln w="12700">
            <a:solidFill>
              <a:srgbClr val="A9B6D3"/>
            </a:solidFill>
            <a:prstDash val="solid"/>
          </a:ln>
        </p:spPr>
      </p:sp>
      <p:sp>
        <p:nvSpPr>
          <p:cNvPr id="6" name="Shape 4"/>
          <p:cNvSpPr/>
          <p:nvPr/>
        </p:nvSpPr>
        <p:spPr>
          <a:xfrm>
            <a:off x="4325112" y="1920240"/>
            <a:ext cx="3566160" cy="1371600"/>
          </a:xfrm>
          <a:prstGeom prst="roundRect">
            <a:avLst>
              <a:gd name="adj" fmla="val 5333"/>
            </a:avLst>
          </a:prstGeom>
          <a:solidFill>
            <a:srgbClr val="FF9259"/>
          </a:solidFill>
          <a:ln w="12700">
            <a:solidFill>
              <a:srgbClr val="FF9259"/>
            </a:solidFill>
            <a:prstDash val="solid"/>
          </a:ln>
        </p:spPr>
      </p:sp>
      <p:sp>
        <p:nvSpPr>
          <p:cNvPr id="7" name="Text 5"/>
          <p:cNvSpPr txBox="1"/>
          <p:nvPr/>
        </p:nvSpPr>
        <p:spPr>
          <a:xfrm>
            <a:off x="4507992" y="1920240"/>
            <a:ext cx="3200400" cy="137160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Khách sạn có AV độc quyền</a:t>
            </a:r>
            <a:endParaRPr lang="en-US" sz="1800" dirty="0"/>
          </a:p>
        </p:txBody>
      </p:sp>
      <p:sp>
        <p:nvSpPr>
          <p:cNvPr id="8" name="Shape 6"/>
          <p:cNvSpPr/>
          <p:nvPr/>
        </p:nvSpPr>
        <p:spPr>
          <a:xfrm>
            <a:off x="7909560" y="2423160"/>
            <a:ext cx="182880" cy="365760"/>
          </a:xfrm>
          <a:prstGeom prst="rightArrow">
            <a:avLst/>
          </a:prstGeom>
          <a:solidFill>
            <a:srgbClr val="A9B6D3"/>
          </a:solidFill>
          <a:ln w="12700">
            <a:solidFill>
              <a:srgbClr val="A9B6D3"/>
            </a:solidFill>
            <a:prstDash val="solid"/>
          </a:ln>
        </p:spPr>
      </p:sp>
      <p:sp>
        <p:nvSpPr>
          <p:cNvPr id="9" name="Shape 7"/>
          <p:cNvSpPr/>
          <p:nvPr/>
        </p:nvSpPr>
        <p:spPr>
          <a:xfrm>
            <a:off x="8101584" y="1920240"/>
            <a:ext cx="3566160" cy="1371600"/>
          </a:xfrm>
          <a:prstGeom prst="roundRect">
            <a:avLst>
              <a:gd name="adj" fmla="val 5333"/>
            </a:avLst>
          </a:prstGeom>
          <a:solidFill>
            <a:srgbClr val="FF5178"/>
          </a:solidFill>
          <a:ln w="12700">
            <a:solidFill>
              <a:srgbClr val="FF5178"/>
            </a:solidFill>
            <a:prstDash val="solid"/>
          </a:ln>
        </p:spPr>
      </p:sp>
      <p:sp>
        <p:nvSpPr>
          <p:cNvPr id="10" name="Text 8"/>
          <p:cNvSpPr txBox="1"/>
          <p:nvPr/>
        </p:nvSpPr>
        <p:spPr>
          <a:xfrm>
            <a:off x="8284464" y="1920240"/>
            <a:ext cx="3200400" cy="137160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AV thành “một nguồn” — không còn so giá</a:t>
            </a:r>
            <a:endParaRPr lang="en-US" sz="1800" dirty="0"/>
          </a:p>
        </p:txBody>
      </p:sp>
      <p:sp>
        <p:nvSpPr>
          <p:cNvPr id="11" name="Shape 9"/>
          <p:cNvSpPr/>
          <p:nvPr/>
        </p:nvSpPr>
        <p:spPr>
          <a:xfrm>
            <a:off x="548640" y="3566160"/>
            <a:ext cx="11091672" cy="1188720"/>
          </a:xfrm>
          <a:prstGeom prst="roundRect">
            <a:avLst>
              <a:gd name="adj" fmla="val 6154"/>
            </a:avLst>
          </a:prstGeom>
          <a:solidFill>
            <a:srgbClr val="22395F"/>
          </a:solidFill>
          <a:ln w="12700">
            <a:solidFill>
              <a:srgbClr val="22395F"/>
            </a:solidFill>
            <a:prstDash val="solid"/>
          </a:ln>
        </p:spPr>
      </p:sp>
      <p:sp>
        <p:nvSpPr>
          <p:cNvPr id="12" name="Text 10"/>
          <p:cNvSpPr txBox="1"/>
          <p:nvPr/>
        </p:nvSpPr>
        <p:spPr>
          <a:xfrm>
            <a:off x="777240" y="3566160"/>
            <a:ext cx="10698480" cy="1188720"/>
          </a:xfrm>
          <a:prstGeom prst="rect">
            <a:avLst/>
          </a:prstGeom>
          <a:noFill/>
          <a:ln/>
        </p:spPr>
        <p:txBody>
          <a:bodyPr wrap="square" lIns="635" tIns="635" rIns="635" bIns="635" rtlCol="0" anchor="ctr"/>
          <a:lstStyle/>
          <a:p>
            <a:pPr indent="0" marL="0">
              <a:buNone/>
            </a:pPr>
            <a:r>
              <a:rPr lang="en-US" sz="1600" i="1" dirty="0">
                <a:solidFill>
                  <a:srgbClr val="FBFAF4"/>
                </a:solidFill>
                <a:latin typeface="Roboto" pitchFamily="34" charset="0"/>
                <a:ea typeface="Roboto" pitchFamily="34" charset="-122"/>
                <a:cs typeface="Roboto" pitchFamily="34" charset="-120"/>
              </a:rPr>
              <a:t>“…suppliers (e.g., hotels, convention centers) that have preferred or exclusive vendors, which may limit an organizer’s choices (or increase costs) … must be identified and analyzed when evaluating bids.”</a:t>
            </a:r>
            <a:endParaRPr lang="en-US" sz="1600" dirty="0"/>
          </a:p>
        </p:txBody>
      </p:sp>
      <p:sp>
        <p:nvSpPr>
          <p:cNvPr id="13" name="Shape 11"/>
          <p:cNvSpPr/>
          <p:nvPr/>
        </p:nvSpPr>
        <p:spPr>
          <a:xfrm>
            <a:off x="548640" y="4937760"/>
            <a:ext cx="11091672" cy="777240"/>
          </a:xfrm>
          <a:prstGeom prst="roundRect">
            <a:avLst>
              <a:gd name="adj" fmla="val 9412"/>
            </a:avLst>
          </a:prstGeom>
          <a:solidFill>
            <a:srgbClr val="FFD23B"/>
          </a:solidFill>
          <a:ln w="12700">
            <a:solidFill>
              <a:srgbClr val="FFD23B"/>
            </a:solidFill>
            <a:prstDash val="solid"/>
          </a:ln>
        </p:spPr>
      </p:sp>
      <p:sp>
        <p:nvSpPr>
          <p:cNvPr id="14" name="Text 12"/>
          <p:cNvSpPr txBox="1"/>
          <p:nvPr/>
        </p:nvSpPr>
        <p:spPr>
          <a:xfrm>
            <a:off x="777240" y="4937760"/>
            <a:ext cx="10698480" cy="77724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 Câu hỏi về nhà cung cấp độc quyền phải nằm trong RFP gửi khách sạn — trước khi ký.</a:t>
            </a:r>
            <a:endParaRPr lang="en-US" sz="1800" dirty="0"/>
          </a:p>
        </p:txBody>
      </p:sp>
      <p:sp>
        <p:nvSpPr>
          <p:cNvPr id="15" name="Text 13"/>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Silvers (2008, tr. 175) (V16); BizBash (V07).</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RFP tốt mang Key Account và khách của Key Account vào</a:t>
            </a:r>
            <a:endParaRPr lang="en-US" sz="2800" dirty="0"/>
          </a:p>
        </p:txBody>
      </p:sp>
      <p:sp>
        <p:nvSpPr>
          <p:cNvPr id="3" name="Shape 1"/>
          <p:cNvSpPr/>
          <p:nvPr/>
        </p:nvSpPr>
        <p:spPr>
          <a:xfrm>
            <a:off x="548640" y="1856232"/>
            <a:ext cx="548640" cy="548640"/>
          </a:xfrm>
          <a:prstGeom prst="ellipse">
            <a:avLst/>
          </a:prstGeom>
          <a:solidFill>
            <a:srgbClr val="49B296"/>
          </a:solidFill>
          <a:ln w="12700">
            <a:solidFill>
              <a:srgbClr val="49B296"/>
            </a:solidFill>
            <a:prstDash val="solid"/>
          </a:ln>
        </p:spPr>
      </p:sp>
      <p:sp>
        <p:nvSpPr>
          <p:cNvPr id="4" name="Text 2"/>
          <p:cNvSpPr txBox="1"/>
          <p:nvPr/>
        </p:nvSpPr>
        <p:spPr>
          <a:xfrm>
            <a:off x="548640" y="1856232"/>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1</a:t>
            </a:r>
            <a:endParaRPr lang="en-US" sz="1700" dirty="0"/>
          </a:p>
        </p:txBody>
      </p:sp>
      <p:sp>
        <p:nvSpPr>
          <p:cNvPr id="5" name="Shape 3"/>
          <p:cNvSpPr/>
          <p:nvPr/>
        </p:nvSpPr>
        <p:spPr>
          <a:xfrm>
            <a:off x="1234440" y="1783080"/>
            <a:ext cx="4709160" cy="713232"/>
          </a:xfrm>
          <a:prstGeom prst="roundRect">
            <a:avLst>
              <a:gd name="adj" fmla="val 10256"/>
            </a:avLst>
          </a:prstGeom>
          <a:solidFill>
            <a:srgbClr val="22395F"/>
          </a:solidFill>
          <a:ln w="12700">
            <a:solidFill>
              <a:srgbClr val="22395F"/>
            </a:solidFill>
            <a:prstDash val="solid"/>
          </a:ln>
        </p:spPr>
      </p:sp>
      <p:sp>
        <p:nvSpPr>
          <p:cNvPr id="6" name="Text 4"/>
          <p:cNvSpPr txBox="1"/>
          <p:nvPr/>
        </p:nvSpPr>
        <p:spPr>
          <a:xfrm>
            <a:off x="1417320" y="1783080"/>
            <a:ext cx="4434840" cy="713232"/>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Về An Phát và mục tiêu gala</a:t>
            </a:r>
            <a:endParaRPr lang="en-US" sz="1500" dirty="0"/>
          </a:p>
        </p:txBody>
      </p:sp>
      <p:sp>
        <p:nvSpPr>
          <p:cNvPr id="7" name="Shape 5"/>
          <p:cNvSpPr/>
          <p:nvPr/>
        </p:nvSpPr>
        <p:spPr>
          <a:xfrm>
            <a:off x="548640" y="2697480"/>
            <a:ext cx="548640" cy="548640"/>
          </a:xfrm>
          <a:prstGeom prst="ellipse">
            <a:avLst/>
          </a:prstGeom>
          <a:solidFill>
            <a:srgbClr val="49B296"/>
          </a:solidFill>
          <a:ln w="12700">
            <a:solidFill>
              <a:srgbClr val="49B296"/>
            </a:solidFill>
            <a:prstDash val="solid"/>
          </a:ln>
        </p:spPr>
      </p:sp>
      <p:sp>
        <p:nvSpPr>
          <p:cNvPr id="8" name="Text 6"/>
          <p:cNvSpPr txBox="1"/>
          <p:nvPr/>
        </p:nvSpPr>
        <p:spPr>
          <a:xfrm>
            <a:off x="548640" y="2697480"/>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2</a:t>
            </a:r>
            <a:endParaRPr lang="en-US" sz="1700" dirty="0"/>
          </a:p>
        </p:txBody>
      </p:sp>
      <p:sp>
        <p:nvSpPr>
          <p:cNvPr id="9" name="Shape 7"/>
          <p:cNvSpPr/>
          <p:nvPr/>
        </p:nvSpPr>
        <p:spPr>
          <a:xfrm>
            <a:off x="1234440" y="2624328"/>
            <a:ext cx="4709160" cy="713232"/>
          </a:xfrm>
          <a:prstGeom prst="roundRect">
            <a:avLst>
              <a:gd name="adj" fmla="val 10256"/>
            </a:avLst>
          </a:prstGeom>
          <a:solidFill>
            <a:srgbClr val="22395F"/>
          </a:solidFill>
          <a:ln w="12700">
            <a:solidFill>
              <a:srgbClr val="22395F"/>
            </a:solidFill>
            <a:prstDash val="solid"/>
          </a:ln>
        </p:spPr>
      </p:sp>
      <p:sp>
        <p:nvSpPr>
          <p:cNvPr id="10" name="Text 8"/>
          <p:cNvSpPr txBox="1"/>
          <p:nvPr/>
        </p:nvSpPr>
        <p:spPr>
          <a:xfrm>
            <a:off x="1417320" y="2624328"/>
            <a:ext cx="4434840" cy="713232"/>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Hồ sơ khách: 600 lãnh đạo doanh nghiệp, kỳ vọng, nhu cầu đặc biệt</a:t>
            </a:r>
            <a:endParaRPr lang="en-US" sz="1500" dirty="0"/>
          </a:p>
        </p:txBody>
      </p:sp>
      <p:sp>
        <p:nvSpPr>
          <p:cNvPr id="11" name="Shape 9"/>
          <p:cNvSpPr/>
          <p:nvPr/>
        </p:nvSpPr>
        <p:spPr>
          <a:xfrm>
            <a:off x="548640" y="3538728"/>
            <a:ext cx="548640" cy="548640"/>
          </a:xfrm>
          <a:prstGeom prst="ellipse">
            <a:avLst/>
          </a:prstGeom>
          <a:solidFill>
            <a:srgbClr val="FFD23B"/>
          </a:solidFill>
          <a:ln w="12700">
            <a:solidFill>
              <a:srgbClr val="FFD23B"/>
            </a:solidFill>
            <a:prstDash val="solid"/>
          </a:ln>
        </p:spPr>
      </p:sp>
      <p:sp>
        <p:nvSpPr>
          <p:cNvPr id="12" name="Text 10"/>
          <p:cNvSpPr txBox="1"/>
          <p:nvPr/>
        </p:nvSpPr>
        <p:spPr>
          <a:xfrm>
            <a:off x="548640" y="3538728"/>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3</a:t>
            </a:r>
            <a:endParaRPr lang="en-US" sz="1700" dirty="0"/>
          </a:p>
        </p:txBody>
      </p:sp>
      <p:sp>
        <p:nvSpPr>
          <p:cNvPr id="13" name="Shape 11"/>
          <p:cNvSpPr/>
          <p:nvPr/>
        </p:nvSpPr>
        <p:spPr>
          <a:xfrm>
            <a:off x="1234440" y="3465576"/>
            <a:ext cx="4709160" cy="713232"/>
          </a:xfrm>
          <a:prstGeom prst="roundRect">
            <a:avLst>
              <a:gd name="adj" fmla="val 10256"/>
            </a:avLst>
          </a:prstGeom>
          <a:solidFill>
            <a:srgbClr val="22395F"/>
          </a:solidFill>
          <a:ln w="12700">
            <a:solidFill>
              <a:srgbClr val="22395F"/>
            </a:solidFill>
            <a:prstDash val="solid"/>
          </a:ln>
        </p:spPr>
      </p:sp>
      <p:sp>
        <p:nvSpPr>
          <p:cNvPr id="14" name="Text 12"/>
          <p:cNvSpPr txBox="1"/>
          <p:nvPr/>
        </p:nvSpPr>
        <p:spPr>
          <a:xfrm>
            <a:off x="1417320" y="3465576"/>
            <a:ext cx="4434840" cy="713232"/>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Ngày, giờ, giờ dựng – tháo (load-in/out)</a:t>
            </a:r>
            <a:endParaRPr lang="en-US" sz="1500" dirty="0"/>
          </a:p>
        </p:txBody>
      </p:sp>
      <p:sp>
        <p:nvSpPr>
          <p:cNvPr id="15" name="Shape 13"/>
          <p:cNvSpPr/>
          <p:nvPr/>
        </p:nvSpPr>
        <p:spPr>
          <a:xfrm>
            <a:off x="548640" y="4379976"/>
            <a:ext cx="548640" cy="548640"/>
          </a:xfrm>
          <a:prstGeom prst="ellipse">
            <a:avLst/>
          </a:prstGeom>
          <a:solidFill>
            <a:srgbClr val="FFD23B"/>
          </a:solidFill>
          <a:ln w="12700">
            <a:solidFill>
              <a:srgbClr val="FFD23B"/>
            </a:solidFill>
            <a:prstDash val="solid"/>
          </a:ln>
        </p:spPr>
      </p:sp>
      <p:sp>
        <p:nvSpPr>
          <p:cNvPr id="16" name="Text 14"/>
          <p:cNvSpPr txBox="1"/>
          <p:nvPr/>
        </p:nvSpPr>
        <p:spPr>
          <a:xfrm>
            <a:off x="548640" y="4379976"/>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4</a:t>
            </a:r>
            <a:endParaRPr lang="en-US" sz="1700" dirty="0"/>
          </a:p>
        </p:txBody>
      </p:sp>
      <p:sp>
        <p:nvSpPr>
          <p:cNvPr id="17" name="Shape 15"/>
          <p:cNvSpPr/>
          <p:nvPr/>
        </p:nvSpPr>
        <p:spPr>
          <a:xfrm>
            <a:off x="1234440" y="4306824"/>
            <a:ext cx="4709160" cy="713232"/>
          </a:xfrm>
          <a:prstGeom prst="roundRect">
            <a:avLst>
              <a:gd name="adj" fmla="val 10256"/>
            </a:avLst>
          </a:prstGeom>
          <a:solidFill>
            <a:srgbClr val="22395F"/>
          </a:solidFill>
          <a:ln w="12700">
            <a:solidFill>
              <a:srgbClr val="22395F"/>
            </a:solidFill>
            <a:prstDash val="solid"/>
          </a:ln>
        </p:spPr>
      </p:sp>
      <p:sp>
        <p:nvSpPr>
          <p:cNvPr id="18" name="Text 16"/>
          <p:cNvSpPr txBox="1"/>
          <p:nvPr/>
        </p:nvSpPr>
        <p:spPr>
          <a:xfrm>
            <a:off x="1417320" y="4306824"/>
            <a:ext cx="4434840" cy="713232"/>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Bố trí: bàn tròn, sân khấu, LED, khu nhà tài trợ; xin sơ đồ mặt bằng</a:t>
            </a:r>
            <a:endParaRPr lang="en-US" sz="1500" dirty="0"/>
          </a:p>
        </p:txBody>
      </p:sp>
      <p:sp>
        <p:nvSpPr>
          <p:cNvPr id="19" name="Shape 17"/>
          <p:cNvSpPr/>
          <p:nvPr/>
        </p:nvSpPr>
        <p:spPr>
          <a:xfrm>
            <a:off x="6153912" y="1856232"/>
            <a:ext cx="548640" cy="548640"/>
          </a:xfrm>
          <a:prstGeom prst="ellipse">
            <a:avLst/>
          </a:prstGeom>
          <a:solidFill>
            <a:srgbClr val="FFD23B"/>
          </a:solidFill>
          <a:ln w="12700">
            <a:solidFill>
              <a:srgbClr val="FFD23B"/>
            </a:solidFill>
            <a:prstDash val="solid"/>
          </a:ln>
        </p:spPr>
      </p:sp>
      <p:sp>
        <p:nvSpPr>
          <p:cNvPr id="20" name="Text 18"/>
          <p:cNvSpPr txBox="1"/>
          <p:nvPr/>
        </p:nvSpPr>
        <p:spPr>
          <a:xfrm>
            <a:off x="6153912" y="1856232"/>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5</a:t>
            </a:r>
            <a:endParaRPr lang="en-US" sz="1700" dirty="0"/>
          </a:p>
        </p:txBody>
      </p:sp>
      <p:sp>
        <p:nvSpPr>
          <p:cNvPr id="21" name="Shape 19"/>
          <p:cNvSpPr/>
          <p:nvPr/>
        </p:nvSpPr>
        <p:spPr>
          <a:xfrm>
            <a:off x="6839712" y="1783080"/>
            <a:ext cx="4709160" cy="713232"/>
          </a:xfrm>
          <a:prstGeom prst="roundRect">
            <a:avLst>
              <a:gd name="adj" fmla="val 10256"/>
            </a:avLst>
          </a:prstGeom>
          <a:solidFill>
            <a:srgbClr val="22395F"/>
          </a:solidFill>
          <a:ln w="12700">
            <a:solidFill>
              <a:srgbClr val="22395F"/>
            </a:solidFill>
            <a:prstDash val="solid"/>
          </a:ln>
        </p:spPr>
      </p:sp>
      <p:sp>
        <p:nvSpPr>
          <p:cNvPr id="22" name="Text 20"/>
          <p:cNvSpPr txBox="1"/>
          <p:nvPr/>
        </p:nvSpPr>
        <p:spPr>
          <a:xfrm>
            <a:off x="7022592" y="1783080"/>
            <a:ext cx="4434840" cy="713232"/>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F&amp;B, phòng ngủ (nếu có)</a:t>
            </a:r>
            <a:endParaRPr lang="en-US" sz="1500" dirty="0"/>
          </a:p>
        </p:txBody>
      </p:sp>
      <p:sp>
        <p:nvSpPr>
          <p:cNvPr id="23" name="Shape 21"/>
          <p:cNvSpPr/>
          <p:nvPr/>
        </p:nvSpPr>
        <p:spPr>
          <a:xfrm>
            <a:off x="6153912" y="2697480"/>
            <a:ext cx="548640" cy="548640"/>
          </a:xfrm>
          <a:prstGeom prst="ellipse">
            <a:avLst/>
          </a:prstGeom>
          <a:solidFill>
            <a:srgbClr val="FF5178"/>
          </a:solidFill>
          <a:ln w="12700">
            <a:solidFill>
              <a:srgbClr val="FF5178"/>
            </a:solidFill>
            <a:prstDash val="solid"/>
          </a:ln>
        </p:spPr>
      </p:sp>
      <p:sp>
        <p:nvSpPr>
          <p:cNvPr id="24" name="Text 22"/>
          <p:cNvSpPr txBox="1"/>
          <p:nvPr/>
        </p:nvSpPr>
        <p:spPr>
          <a:xfrm>
            <a:off x="6153912" y="2697480"/>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6</a:t>
            </a:r>
            <a:endParaRPr lang="en-US" sz="1700" dirty="0"/>
          </a:p>
        </p:txBody>
      </p:sp>
      <p:sp>
        <p:nvSpPr>
          <p:cNvPr id="25" name="Shape 23"/>
          <p:cNvSpPr/>
          <p:nvPr/>
        </p:nvSpPr>
        <p:spPr>
          <a:xfrm>
            <a:off x="6839712" y="2624328"/>
            <a:ext cx="4709160" cy="713232"/>
          </a:xfrm>
          <a:prstGeom prst="roundRect">
            <a:avLst>
              <a:gd name="adj" fmla="val 10256"/>
            </a:avLst>
          </a:prstGeom>
          <a:solidFill>
            <a:srgbClr val="22395F"/>
          </a:solidFill>
          <a:ln w="12700">
            <a:solidFill>
              <a:srgbClr val="22395F"/>
            </a:solidFill>
            <a:prstDash val="solid"/>
          </a:ln>
        </p:spPr>
      </p:sp>
      <p:sp>
        <p:nvSpPr>
          <p:cNvPr id="26" name="Text 24"/>
          <p:cNvSpPr txBox="1"/>
          <p:nvPr/>
        </p:nvSpPr>
        <p:spPr>
          <a:xfrm>
            <a:off x="7022592" y="2624328"/>
            <a:ext cx="4434840" cy="713232"/>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Chính sách nhà cung cấp độc quyền; phụ thu mang ngoài vào</a:t>
            </a:r>
            <a:endParaRPr lang="en-US" sz="1500" dirty="0"/>
          </a:p>
        </p:txBody>
      </p:sp>
      <p:sp>
        <p:nvSpPr>
          <p:cNvPr id="27" name="Shape 25"/>
          <p:cNvSpPr/>
          <p:nvPr/>
        </p:nvSpPr>
        <p:spPr>
          <a:xfrm>
            <a:off x="6153912" y="3538728"/>
            <a:ext cx="548640" cy="548640"/>
          </a:xfrm>
          <a:prstGeom prst="ellipse">
            <a:avLst/>
          </a:prstGeom>
          <a:solidFill>
            <a:srgbClr val="FF5178"/>
          </a:solidFill>
          <a:ln w="12700">
            <a:solidFill>
              <a:srgbClr val="FF5178"/>
            </a:solidFill>
            <a:prstDash val="solid"/>
          </a:ln>
        </p:spPr>
      </p:sp>
      <p:sp>
        <p:nvSpPr>
          <p:cNvPr id="28" name="Text 26"/>
          <p:cNvSpPr txBox="1"/>
          <p:nvPr/>
        </p:nvSpPr>
        <p:spPr>
          <a:xfrm>
            <a:off x="6153912" y="3538728"/>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7</a:t>
            </a:r>
            <a:endParaRPr lang="en-US" sz="1700" dirty="0"/>
          </a:p>
        </p:txBody>
      </p:sp>
      <p:sp>
        <p:nvSpPr>
          <p:cNvPr id="29" name="Shape 27"/>
          <p:cNvSpPr/>
          <p:nvPr/>
        </p:nvSpPr>
        <p:spPr>
          <a:xfrm>
            <a:off x="6839712" y="3465576"/>
            <a:ext cx="4709160" cy="713232"/>
          </a:xfrm>
          <a:prstGeom prst="roundRect">
            <a:avLst>
              <a:gd name="adj" fmla="val 10256"/>
            </a:avLst>
          </a:prstGeom>
          <a:solidFill>
            <a:srgbClr val="22395F"/>
          </a:solidFill>
          <a:ln w="12700">
            <a:solidFill>
              <a:srgbClr val="22395F"/>
            </a:solidFill>
            <a:prstDash val="solid"/>
          </a:ln>
        </p:spPr>
      </p:sp>
      <p:sp>
        <p:nvSpPr>
          <p:cNvPr id="30" name="Text 28"/>
          <p:cNvSpPr txBox="1"/>
          <p:nvPr/>
        </p:nvSpPr>
        <p:spPr>
          <a:xfrm>
            <a:off x="7022592" y="3465576"/>
            <a:ext cx="4434840" cy="713232"/>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Điều khoản: cọc, hủy, thay đổi số khách</a:t>
            </a:r>
            <a:endParaRPr lang="en-US" sz="1500" dirty="0"/>
          </a:p>
        </p:txBody>
      </p:sp>
      <p:sp>
        <p:nvSpPr>
          <p:cNvPr id="31" name="Shape 29"/>
          <p:cNvSpPr/>
          <p:nvPr/>
        </p:nvSpPr>
        <p:spPr>
          <a:xfrm>
            <a:off x="6153912" y="4379976"/>
            <a:ext cx="548640" cy="548640"/>
          </a:xfrm>
          <a:prstGeom prst="ellipse">
            <a:avLst/>
          </a:prstGeom>
          <a:solidFill>
            <a:srgbClr val="09A1E5"/>
          </a:solidFill>
          <a:ln w="12700">
            <a:solidFill>
              <a:srgbClr val="09A1E5"/>
            </a:solidFill>
            <a:prstDash val="solid"/>
          </a:ln>
        </p:spPr>
      </p:sp>
      <p:sp>
        <p:nvSpPr>
          <p:cNvPr id="32" name="Text 30"/>
          <p:cNvSpPr txBox="1"/>
          <p:nvPr/>
        </p:nvSpPr>
        <p:spPr>
          <a:xfrm>
            <a:off x="6153912" y="4379976"/>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8</a:t>
            </a:r>
            <a:endParaRPr lang="en-US" sz="1700" dirty="0"/>
          </a:p>
        </p:txBody>
      </p:sp>
      <p:sp>
        <p:nvSpPr>
          <p:cNvPr id="33" name="Shape 31"/>
          <p:cNvSpPr/>
          <p:nvPr/>
        </p:nvSpPr>
        <p:spPr>
          <a:xfrm>
            <a:off x="6839712" y="4306824"/>
            <a:ext cx="4709160" cy="713232"/>
          </a:xfrm>
          <a:prstGeom prst="roundRect">
            <a:avLst>
              <a:gd name="adj" fmla="val 10256"/>
            </a:avLst>
          </a:prstGeom>
          <a:solidFill>
            <a:srgbClr val="22395F"/>
          </a:solidFill>
          <a:ln w="12700">
            <a:solidFill>
              <a:srgbClr val="22395F"/>
            </a:solidFill>
            <a:prstDash val="solid"/>
          </a:ln>
        </p:spPr>
      </p:sp>
      <p:sp>
        <p:nvSpPr>
          <p:cNvPr id="34" name="Text 32"/>
          <p:cNvSpPr txBox="1"/>
          <p:nvPr/>
        </p:nvSpPr>
        <p:spPr>
          <a:xfrm>
            <a:off x="7022592" y="4306824"/>
            <a:ext cx="4434840" cy="713232"/>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Tiêu chí chấm và hạn trả lời</a:t>
            </a:r>
            <a:endParaRPr lang="en-US" sz="1500" dirty="0"/>
          </a:p>
        </p:txBody>
      </p:sp>
      <p:sp>
        <p:nvSpPr>
          <p:cNvPr id="35" name="Text 33"/>
          <p:cNvSpPr txBox="1"/>
          <p:nvPr/>
        </p:nvSpPr>
        <p:spPr>
          <a:xfrm>
            <a:off x="548640" y="5212080"/>
            <a:ext cx="11091672" cy="411480"/>
          </a:xfrm>
          <a:prstGeom prst="rect">
            <a:avLst/>
          </a:prstGeom>
          <a:noFill/>
          <a:ln/>
        </p:spPr>
        <p:txBody>
          <a:bodyPr wrap="square" lIns="635" tIns="635" rIns="635" bIns="635" rtlCol="0" anchor="ctr"/>
          <a:lstStyle/>
          <a:p>
            <a:pPr indent="0" marL="0">
              <a:buNone/>
            </a:pPr>
            <a:r>
              <a:rPr lang="en-US" sz="1500" b="1" dirty="0">
                <a:solidFill>
                  <a:srgbClr val="FFD23B"/>
                </a:solidFill>
                <a:latin typeface="Roboto" pitchFamily="34" charset="0"/>
                <a:ea typeface="Roboto" pitchFamily="34" charset="-122"/>
                <a:cs typeface="Roboto" pitchFamily="34" charset="-120"/>
              </a:rPr>
              <a:t>Bảo mật: thông tin về khách của An Phát chỉ chia sẻ ở mức cần thiết.</a:t>
            </a:r>
            <a:endParaRPr lang="en-US" sz="1500" dirty="0"/>
          </a:p>
        </p:txBody>
      </p:sp>
      <p:sp>
        <p:nvSpPr>
          <p:cNvPr id="36" name="Text 34"/>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Khung rút gọn do người soạn dựng từ mẫu RFP APEX của Events Industry Council (V05): mục tiêu, hồ sơ người tham dự, lịch sử sự kiện, đính kèm PER kỳ trước.</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Đặc tả theo ba lớp: dịch vụ để làm gì, cần gì, đạt chuẩn nào</a:t>
            </a:r>
            <a:endParaRPr lang="en-US" sz="2800" dirty="0"/>
          </a:p>
        </p:txBody>
      </p:sp>
      <p:sp>
        <p:nvSpPr>
          <p:cNvPr id="3" name="Shape 1"/>
          <p:cNvSpPr/>
          <p:nvPr/>
        </p:nvSpPr>
        <p:spPr>
          <a:xfrm>
            <a:off x="548640" y="1783080"/>
            <a:ext cx="3557016"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Theo chức năng</a:t>
            </a:r>
            <a:endParaRPr lang="en-US" sz="1600" dirty="0"/>
          </a:p>
        </p:txBody>
      </p:sp>
      <p:sp>
        <p:nvSpPr>
          <p:cNvPr id="5" name="Shape 3"/>
          <p:cNvSpPr/>
          <p:nvPr/>
        </p:nvSpPr>
        <p:spPr>
          <a:xfrm>
            <a:off x="548640" y="2514600"/>
            <a:ext cx="3557016" cy="2697480"/>
          </a:xfrm>
          <a:prstGeom prst="roundRect">
            <a:avLst>
              <a:gd name="adj" fmla="val 2712"/>
            </a:avLst>
          </a:prstGeom>
          <a:solidFill>
            <a:srgbClr val="22395F"/>
          </a:solidFill>
          <a:ln w="12700">
            <a:solidFill>
              <a:srgbClr val="22395F"/>
            </a:solidFill>
            <a:prstDash val="solid"/>
          </a:ln>
        </p:spPr>
      </p:sp>
      <p:sp>
        <p:nvSpPr>
          <p:cNvPr id="6" name="Text 4"/>
          <p:cNvSpPr txBox="1"/>
          <p:nvPr/>
        </p:nvSpPr>
        <p:spPr>
          <a:xfrm>
            <a:off x="731520"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Dịch vụ để làm gì.</a:t>
            </a:r>
            <a:endParaRPr lang="en-US" sz="1600" dirty="0"/>
          </a:p>
          <a:p>
            <a:pPr indent="0" marL="0">
              <a:buNone/>
            </a:pPr>
            <a:endParaRPr lang="en-US" sz="1600" dirty="0"/>
          </a:p>
          <a:p>
            <a:pPr indent="0" marL="0">
              <a:buNone/>
            </a:pPr>
            <a:r>
              <a:rPr lang="en-US" sz="1600" dirty="0">
                <a:solidFill>
                  <a:srgbClr val="FBFAF4"/>
                </a:solidFill>
                <a:latin typeface="Roboto" pitchFamily="34" charset="0"/>
                <a:ea typeface="Roboto" pitchFamily="34" charset="-122"/>
                <a:cs typeface="Roboto" pitchFamily="34" charset="-120"/>
              </a:rPr>
              <a:t>Ví dụ: “Livestream gala tới 80 chi nhánh để nhân viên cùng xem phần vinh danh.”</a:t>
            </a:r>
            <a:endParaRPr lang="en-US" sz="1600" dirty="0"/>
          </a:p>
        </p:txBody>
      </p:sp>
      <p:sp>
        <p:nvSpPr>
          <p:cNvPr id="7" name="Text 5"/>
          <p:cNvSpPr txBox="1"/>
          <p:nvPr/>
        </p:nvSpPr>
        <p:spPr>
          <a:xfrm>
            <a:off x="548640"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(specification by function)</a:t>
            </a:r>
            <a:endParaRPr lang="en-US" sz="1200" dirty="0"/>
          </a:p>
        </p:txBody>
      </p:sp>
      <p:sp>
        <p:nvSpPr>
          <p:cNvPr id="8" name="Shape 6"/>
          <p:cNvSpPr/>
          <p:nvPr/>
        </p:nvSpPr>
        <p:spPr>
          <a:xfrm>
            <a:off x="4315968" y="1783080"/>
            <a:ext cx="3557016" cy="594360"/>
          </a:xfrm>
          <a:prstGeom prst="roundRect">
            <a:avLst>
              <a:gd name="adj" fmla="val 12308"/>
            </a:avLst>
          </a:prstGeom>
          <a:solidFill>
            <a:srgbClr val="FFD23B"/>
          </a:solidFill>
          <a:ln w="12700">
            <a:solidFill>
              <a:srgbClr val="FFD23B"/>
            </a:solidFill>
            <a:prstDash val="solid"/>
          </a:ln>
        </p:spPr>
      </p:sp>
      <p:sp>
        <p:nvSpPr>
          <p:cNvPr id="9" name="Text 7"/>
          <p:cNvSpPr txBox="1"/>
          <p:nvPr/>
        </p:nvSpPr>
        <p:spPr>
          <a:xfrm>
            <a:off x="4498848"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Kỹ thuật</a:t>
            </a:r>
            <a:endParaRPr lang="en-US" sz="1600" dirty="0"/>
          </a:p>
        </p:txBody>
      </p:sp>
      <p:sp>
        <p:nvSpPr>
          <p:cNvPr id="10" name="Shape 8"/>
          <p:cNvSpPr/>
          <p:nvPr/>
        </p:nvSpPr>
        <p:spPr>
          <a:xfrm>
            <a:off x="4315968" y="2514600"/>
            <a:ext cx="3557016" cy="2697480"/>
          </a:xfrm>
          <a:prstGeom prst="roundRect">
            <a:avLst>
              <a:gd name="adj" fmla="val 2712"/>
            </a:avLst>
          </a:prstGeom>
          <a:solidFill>
            <a:srgbClr val="22395F"/>
          </a:solidFill>
          <a:ln w="12700">
            <a:solidFill>
              <a:srgbClr val="22395F"/>
            </a:solidFill>
            <a:prstDash val="solid"/>
          </a:ln>
        </p:spPr>
      </p:sp>
      <p:sp>
        <p:nvSpPr>
          <p:cNvPr id="11" name="Text 9"/>
          <p:cNvSpPr txBox="1"/>
          <p:nvPr/>
        </p:nvSpPr>
        <p:spPr>
          <a:xfrm>
            <a:off x="4498848"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Nhân sự, thiết bị, số lượng, số ngày.</a:t>
            </a:r>
            <a:endParaRPr lang="en-US" sz="1600" dirty="0"/>
          </a:p>
          <a:p>
            <a:pPr indent="0" marL="0">
              <a:buNone/>
            </a:pPr>
            <a:endParaRPr lang="en-US" sz="1600" dirty="0"/>
          </a:p>
          <a:p>
            <a:pPr indent="0" marL="0">
              <a:buNone/>
            </a:pPr>
            <a:r>
              <a:rPr lang="en-US" sz="1600" dirty="0">
                <a:solidFill>
                  <a:srgbClr val="FBFAF4"/>
                </a:solidFill>
                <a:latin typeface="Roboto" pitchFamily="34" charset="0"/>
                <a:ea typeface="Roboto" pitchFamily="34" charset="-122"/>
                <a:cs typeface="Roboto" pitchFamily="34" charset="-120"/>
              </a:rPr>
              <a:t>Ví dụ: 3 máy quay, 1 đường truyền dự phòng, 1 kỹ thuật viên trực.</a:t>
            </a:r>
            <a:endParaRPr lang="en-US" sz="1600" dirty="0"/>
          </a:p>
        </p:txBody>
      </p:sp>
      <p:sp>
        <p:nvSpPr>
          <p:cNvPr id="12" name="Text 10"/>
          <p:cNvSpPr txBox="1"/>
          <p:nvPr/>
        </p:nvSpPr>
        <p:spPr>
          <a:xfrm>
            <a:off x="4315968"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(technical specification)</a:t>
            </a:r>
            <a:endParaRPr lang="en-US" sz="1200" dirty="0"/>
          </a:p>
        </p:txBody>
      </p:sp>
      <p:sp>
        <p:nvSpPr>
          <p:cNvPr id="13" name="Shape 11"/>
          <p:cNvSpPr/>
          <p:nvPr/>
        </p:nvSpPr>
        <p:spPr>
          <a:xfrm>
            <a:off x="8083296" y="1783080"/>
            <a:ext cx="3557016" cy="594360"/>
          </a:xfrm>
          <a:prstGeom prst="roundRect">
            <a:avLst>
              <a:gd name="adj" fmla="val 12308"/>
            </a:avLst>
          </a:prstGeom>
          <a:solidFill>
            <a:srgbClr val="FF5178"/>
          </a:solidFill>
          <a:ln w="12700">
            <a:solidFill>
              <a:srgbClr val="FF5178"/>
            </a:solidFill>
            <a:prstDash val="solid"/>
          </a:ln>
        </p:spPr>
      </p:sp>
      <p:sp>
        <p:nvSpPr>
          <p:cNvPr id="14" name="Text 12"/>
          <p:cNvSpPr txBox="1"/>
          <p:nvPr/>
        </p:nvSpPr>
        <p:spPr>
          <a:xfrm>
            <a:off x="8266176"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Theo kết quả</a:t>
            </a:r>
            <a:endParaRPr lang="en-US" sz="1600" dirty="0"/>
          </a:p>
        </p:txBody>
      </p:sp>
      <p:sp>
        <p:nvSpPr>
          <p:cNvPr id="15" name="Shape 13"/>
          <p:cNvSpPr/>
          <p:nvPr/>
        </p:nvSpPr>
        <p:spPr>
          <a:xfrm>
            <a:off x="8083296" y="2514600"/>
            <a:ext cx="3557016" cy="2697480"/>
          </a:xfrm>
          <a:prstGeom prst="roundRect">
            <a:avLst>
              <a:gd name="adj" fmla="val 2712"/>
            </a:avLst>
          </a:prstGeom>
          <a:solidFill>
            <a:srgbClr val="22395F"/>
          </a:solidFill>
          <a:ln w="12700">
            <a:solidFill>
              <a:srgbClr val="22395F"/>
            </a:solidFill>
            <a:prstDash val="solid"/>
          </a:ln>
        </p:spPr>
      </p:sp>
      <p:sp>
        <p:nvSpPr>
          <p:cNvPr id="16" name="Text 14"/>
          <p:cNvSpPr txBox="1"/>
          <p:nvPr/>
        </p:nvSpPr>
        <p:spPr>
          <a:xfrm>
            <a:off x="8266176"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Chuẩn an toàn, chất lượng, bền vững; KPI kiểm chứng được.</a:t>
            </a:r>
            <a:endParaRPr lang="en-US" sz="1600" dirty="0"/>
          </a:p>
          <a:p>
            <a:pPr indent="0" marL="0">
              <a:buNone/>
            </a:pPr>
            <a:endParaRPr lang="en-US" sz="1600" dirty="0"/>
          </a:p>
          <a:p>
            <a:pPr indent="0" marL="0">
              <a:buNone/>
            </a:pPr>
            <a:r>
              <a:rPr lang="en-US" sz="1600" dirty="0">
                <a:solidFill>
                  <a:srgbClr val="FBFAF4"/>
                </a:solidFill>
                <a:latin typeface="Roboto" pitchFamily="34" charset="0"/>
                <a:ea typeface="Roboto" pitchFamily="34" charset="-122"/>
                <a:cs typeface="Roboto" pitchFamily="34" charset="-120"/>
              </a:rPr>
              <a:t>Ví dụ: đứt tín hiệu không quá 30 giây; có biên bản thử trước 1 ngày.</a:t>
            </a:r>
            <a:endParaRPr lang="en-US" sz="1600" dirty="0"/>
          </a:p>
        </p:txBody>
      </p:sp>
      <p:sp>
        <p:nvSpPr>
          <p:cNvPr id="17" name="Text 15"/>
          <p:cNvSpPr txBox="1"/>
          <p:nvPr/>
        </p:nvSpPr>
        <p:spPr>
          <a:xfrm>
            <a:off x="8083296"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(specification by performance)</a:t>
            </a:r>
            <a:endParaRPr lang="en-US" sz="1200" dirty="0"/>
          </a:p>
        </p:txBody>
      </p:sp>
      <p:sp>
        <p:nvSpPr>
          <p:cNvPr id="18" name="Shape 16"/>
          <p:cNvSpPr/>
          <p:nvPr/>
        </p:nvSpPr>
        <p:spPr>
          <a:xfrm>
            <a:off x="548640" y="5669280"/>
            <a:ext cx="11091672" cy="685800"/>
          </a:xfrm>
          <a:prstGeom prst="roundRect">
            <a:avLst>
              <a:gd name="adj" fmla="val 10667"/>
            </a:avLst>
          </a:prstGeom>
          <a:solidFill>
            <a:srgbClr val="FFD23B"/>
          </a:solidFill>
          <a:ln w="12700">
            <a:solidFill>
              <a:srgbClr val="FFD23B"/>
            </a:solidFill>
            <a:prstDash val="solid"/>
          </a:ln>
        </p:spPr>
      </p:sp>
      <p:sp>
        <p:nvSpPr>
          <p:cNvPr id="19" name="Text 17"/>
          <p:cNvSpPr txBox="1"/>
          <p:nvPr/>
        </p:nvSpPr>
        <p:spPr>
          <a:xfrm>
            <a:off x="731520" y="5669280"/>
            <a:ext cx="10424160" cy="68580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Đặc tả càng rõ, báo giá càng sát — và hồ sơ các bên mới so được với nhau. (Dowson et al., 2023, tr. 234–236)</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Tốc độ trả lời RFP cho biết cách nhà cung cấp sẽ phục vụ sau này</a:t>
            </a:r>
            <a:endParaRPr lang="en-US" sz="2800" dirty="0"/>
          </a:p>
        </p:txBody>
      </p:sp>
      <p:sp>
        <p:nvSpPr>
          <p:cNvPr id="3" name="Shape 1"/>
          <p:cNvSpPr/>
          <p:nvPr/>
        </p:nvSpPr>
        <p:spPr>
          <a:xfrm>
            <a:off x="548640" y="1783080"/>
            <a:ext cx="4480560" cy="3931920"/>
          </a:xfrm>
          <a:prstGeom prst="roundRect">
            <a:avLst>
              <a:gd name="adj" fmla="val 1860"/>
            </a:avLst>
          </a:prstGeom>
          <a:solidFill>
            <a:srgbClr val="22395F"/>
          </a:solidFill>
          <a:ln w="12700">
            <a:solidFill>
              <a:srgbClr val="22395F"/>
            </a:solidFill>
            <a:prstDash val="solid"/>
          </a:ln>
        </p:spPr>
      </p:sp>
      <p:sp>
        <p:nvSpPr>
          <p:cNvPr id="4" name="Text 2"/>
          <p:cNvSpPr txBox="1"/>
          <p:nvPr/>
        </p:nvSpPr>
        <p:spPr>
          <a:xfrm>
            <a:off x="548640" y="2011680"/>
            <a:ext cx="4480560" cy="1463040"/>
          </a:xfrm>
          <a:prstGeom prst="rect">
            <a:avLst/>
          </a:prstGeom>
          <a:noFill/>
          <a:ln/>
        </p:spPr>
        <p:txBody>
          <a:bodyPr wrap="square" lIns="635" tIns="635" rIns="635" bIns="635" rtlCol="0" anchor="ctr"/>
          <a:lstStyle/>
          <a:p>
            <a:pPr algn="ctr" indent="0" marL="0">
              <a:buNone/>
            </a:pPr>
            <a:r>
              <a:rPr lang="en-US" sz="6600" b="1" dirty="0">
                <a:solidFill>
                  <a:srgbClr val="49B296"/>
                </a:solidFill>
                <a:latin typeface="Roboto" pitchFamily="34" charset="0"/>
                <a:ea typeface="Roboto" pitchFamily="34" charset="-122"/>
                <a:cs typeface="Roboto" pitchFamily="34" charset="-120"/>
              </a:rPr>
              <a:t>80%</a:t>
            </a:r>
            <a:endParaRPr lang="en-US" sz="6600" dirty="0"/>
          </a:p>
        </p:txBody>
      </p:sp>
      <p:sp>
        <p:nvSpPr>
          <p:cNvPr id="5" name="Text 3"/>
          <p:cNvSpPr txBox="1"/>
          <p:nvPr/>
        </p:nvSpPr>
        <p:spPr>
          <a:xfrm>
            <a:off x="822960" y="3566160"/>
            <a:ext cx="3931920" cy="1188720"/>
          </a:xfrm>
          <a:prstGeom prst="rect">
            <a:avLst/>
          </a:prstGeom>
          <a:noFill/>
          <a:ln/>
        </p:spPr>
        <p:txBody>
          <a:bodyPr wrap="square" lIns="635" tIns="635" rIns="635" bIns="635" rtlCol="0" anchor="t"/>
          <a:lstStyle/>
          <a:p>
            <a:pPr algn="ctr" indent="0" marL="0">
              <a:buNone/>
            </a:pPr>
            <a:r>
              <a:rPr lang="en-US" sz="1800" dirty="0">
                <a:solidFill>
                  <a:srgbClr val="FBFAF4"/>
                </a:solidFill>
                <a:latin typeface="Roboto" pitchFamily="34" charset="0"/>
                <a:ea typeface="Roboto" pitchFamily="34" charset="-122"/>
                <a:cs typeface="Roboto" pitchFamily="34" charset="-120"/>
              </a:rPr>
              <a:t>người tổ chức muốn địa điểm trả lời RFP trong vòng 4 ngày</a:t>
            </a:r>
            <a:endParaRPr lang="en-US" sz="1800" dirty="0"/>
          </a:p>
        </p:txBody>
      </p:sp>
      <p:sp>
        <p:nvSpPr>
          <p:cNvPr id="6" name="Text 4"/>
          <p:cNvSpPr txBox="1"/>
          <p:nvPr/>
        </p:nvSpPr>
        <p:spPr>
          <a:xfrm>
            <a:off x="731520" y="5029200"/>
            <a:ext cx="4114800" cy="548640"/>
          </a:xfrm>
          <a:prstGeom prst="rect">
            <a:avLst/>
          </a:prstGeom>
          <a:noFill/>
          <a:ln/>
        </p:spPr>
        <p:txBody>
          <a:bodyPr wrap="square" lIns="635" tIns="635" rIns="635" bIns="635" rtlCol="0" anchor="ctr"/>
          <a:lstStyle/>
          <a:p>
            <a:pPr algn="ctr" indent="0" marL="0">
              <a:buNone/>
            </a:pPr>
            <a:r>
              <a:rPr lang="en-US" sz="1200" dirty="0">
                <a:solidFill>
                  <a:srgbClr val="A9B6D3"/>
                </a:solidFill>
                <a:latin typeface="Roboto" pitchFamily="34" charset="0"/>
                <a:ea typeface="Roboto" pitchFamily="34" charset="-122"/>
                <a:cs typeface="Roboto" pitchFamily="34" charset="-120"/>
              </a:rPr>
              <a:t>Cvent 2025 (V06) · chưa KCC · nguồn có lợi ích thương mại</a:t>
            </a:r>
            <a:endParaRPr lang="en-US" sz="1200" dirty="0"/>
          </a:p>
        </p:txBody>
      </p:sp>
      <p:sp>
        <p:nvSpPr>
          <p:cNvPr id="7" name="Shape 5"/>
          <p:cNvSpPr/>
          <p:nvPr/>
        </p:nvSpPr>
        <p:spPr>
          <a:xfrm>
            <a:off x="5257800" y="1783080"/>
            <a:ext cx="6382512" cy="3931920"/>
          </a:xfrm>
          <a:prstGeom prst="roundRect">
            <a:avLst>
              <a:gd name="adj" fmla="val 1860"/>
            </a:avLst>
          </a:prstGeom>
          <a:solidFill>
            <a:srgbClr val="FFD23B"/>
          </a:solidFill>
          <a:ln w="12700">
            <a:solidFill>
              <a:srgbClr val="FFD23B"/>
            </a:solidFill>
            <a:prstDash val="solid"/>
          </a:ln>
        </p:spPr>
      </p:sp>
      <p:sp>
        <p:nvSpPr>
          <p:cNvPr id="8" name="Text 6"/>
          <p:cNvSpPr txBox="1"/>
          <p:nvPr/>
        </p:nvSpPr>
        <p:spPr>
          <a:xfrm>
            <a:off x="5486400" y="1874520"/>
            <a:ext cx="5943600" cy="3749040"/>
          </a:xfrm>
          <a:prstGeom prst="rect">
            <a:avLst/>
          </a:prstGeom>
          <a:noFill/>
          <a:ln/>
        </p:spPr>
        <p:txBody>
          <a:bodyPr wrap="square" lIns="635" tIns="635" rIns="635" bIns="635" rtlCol="0" anchor="t"/>
          <a:lstStyle/>
          <a:p>
            <a:pPr indent="0" marL="0">
              <a:buNone/>
            </a:pPr>
            <a:r>
              <a:rPr lang="en-US" sz="1700" b="1" dirty="0">
                <a:solidFill>
                  <a:srgbClr val="172849"/>
                </a:solidFill>
                <a:latin typeface="Roboto" pitchFamily="34" charset="0"/>
                <a:ea typeface="Roboto" pitchFamily="34" charset="-122"/>
                <a:cs typeface="Roboto" pitchFamily="34" charset="-120"/>
              </a:rPr>
              <a:t>Hồ sơ dự thầu phải được giữ bảo mật để đối xử công bằng với mọi bên.</a:t>
            </a:r>
            <a:endParaRPr lang="en-US" sz="1700" dirty="0"/>
          </a:p>
          <a:p>
            <a:pPr indent="0" marL="0">
              <a:buNone/>
            </a:pPr>
            <a:endParaRPr lang="en-US" sz="1700" dirty="0"/>
          </a:p>
          <a:p>
            <a:pPr indent="0" marL="0">
              <a:buNone/>
            </a:pPr>
            <a:r>
              <a:rPr lang="en-US" sz="1700" b="1" dirty="0">
                <a:solidFill>
                  <a:srgbClr val="172849"/>
                </a:solidFill>
                <a:latin typeface="Roboto" pitchFamily="34" charset="0"/>
                <a:ea typeface="Roboto" pitchFamily="34" charset="-122"/>
                <a:cs typeface="Roboto" pitchFamily="34" charset="-120"/>
              </a:rPr>
              <a:t>Không gửi brief tìm địa điểm cho nhiều đơn vị trung gian cùng lúc — địa điểm sẽ rối và khó chịu.</a:t>
            </a:r>
            <a:endParaRPr lang="en-US" sz="1700" dirty="0"/>
          </a:p>
        </p:txBody>
      </p:sp>
      <p:sp>
        <p:nvSpPr>
          <p:cNvPr id="9"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V06; Dowson et al. (2023, tr. 111, 230) (V14, V15).</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Chấm điểm có trọng số biến lựa chọn thành lời giải thích</a:t>
            </a:r>
            <a:endParaRPr lang="en-US" sz="2800" dirty="0"/>
          </a:p>
        </p:txBody>
      </p:sp>
      <p:sp>
        <p:nvSpPr>
          <p:cNvPr id="3" name="Shape 1"/>
          <p:cNvSpPr/>
          <p:nvPr/>
        </p:nvSpPr>
        <p:spPr>
          <a:xfrm>
            <a:off x="548640" y="1783080"/>
            <a:ext cx="5431536" cy="548640"/>
          </a:xfrm>
          <a:prstGeom prst="roundRect">
            <a:avLst>
              <a:gd name="adj" fmla="val 13333"/>
            </a:avLst>
          </a:prstGeom>
          <a:solidFill>
            <a:srgbClr val="49B296"/>
          </a:solidFill>
          <a:ln w="12700">
            <a:solidFill>
              <a:srgbClr val="49B296"/>
            </a:solidFill>
            <a:prstDash val="solid"/>
          </a:ln>
        </p:spPr>
      </p:sp>
      <p:sp>
        <p:nvSpPr>
          <p:cNvPr id="4" name="Text 2"/>
          <p:cNvSpPr txBox="1"/>
          <p:nvPr/>
        </p:nvSpPr>
        <p:spPr>
          <a:xfrm>
            <a:off x="640080" y="1783080"/>
            <a:ext cx="524865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Tiêu chí (giả định)</a:t>
            </a:r>
            <a:endParaRPr lang="en-US" sz="1500" dirty="0"/>
          </a:p>
        </p:txBody>
      </p:sp>
      <p:sp>
        <p:nvSpPr>
          <p:cNvPr id="5" name="Shape 3"/>
          <p:cNvSpPr/>
          <p:nvPr/>
        </p:nvSpPr>
        <p:spPr>
          <a:xfrm>
            <a:off x="6035040" y="1783080"/>
            <a:ext cx="1408176" cy="548640"/>
          </a:xfrm>
          <a:prstGeom prst="roundRect">
            <a:avLst>
              <a:gd name="adj" fmla="val 13333"/>
            </a:avLst>
          </a:prstGeom>
          <a:solidFill>
            <a:srgbClr val="FFD23B"/>
          </a:solidFill>
          <a:ln w="12700">
            <a:solidFill>
              <a:srgbClr val="FFD23B"/>
            </a:solidFill>
            <a:prstDash val="solid"/>
          </a:ln>
        </p:spPr>
      </p:sp>
      <p:sp>
        <p:nvSpPr>
          <p:cNvPr id="6" name="Text 4"/>
          <p:cNvSpPr txBox="1"/>
          <p:nvPr/>
        </p:nvSpPr>
        <p:spPr>
          <a:xfrm>
            <a:off x="6126480" y="1783080"/>
            <a:ext cx="122529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Trọng số</a:t>
            </a:r>
            <a:endParaRPr lang="en-US" sz="1500" dirty="0"/>
          </a:p>
        </p:txBody>
      </p:sp>
      <p:sp>
        <p:nvSpPr>
          <p:cNvPr id="7" name="Shape 5"/>
          <p:cNvSpPr/>
          <p:nvPr/>
        </p:nvSpPr>
        <p:spPr>
          <a:xfrm>
            <a:off x="548640" y="2404872"/>
            <a:ext cx="5431536" cy="475488"/>
          </a:xfrm>
          <a:prstGeom prst="roundRect">
            <a:avLst>
              <a:gd name="adj" fmla="val 15385"/>
            </a:avLst>
          </a:prstGeom>
          <a:solidFill>
            <a:srgbClr val="22395F"/>
          </a:solidFill>
          <a:ln w="12700">
            <a:solidFill>
              <a:srgbClr val="22395F"/>
            </a:solidFill>
            <a:prstDash val="solid"/>
          </a:ln>
        </p:spPr>
      </p:sp>
      <p:sp>
        <p:nvSpPr>
          <p:cNvPr id="8" name="Text 6"/>
          <p:cNvSpPr txBox="1"/>
          <p:nvPr/>
        </p:nvSpPr>
        <p:spPr>
          <a:xfrm>
            <a:off x="658368" y="2404872"/>
            <a:ext cx="5212080" cy="475488"/>
          </a:xfrm>
          <a:prstGeom prst="rect">
            <a:avLst/>
          </a:prstGeom>
          <a:noFill/>
          <a:ln/>
        </p:spPr>
        <p:txBody>
          <a:bodyPr wrap="square" lIns="635" tIns="635" rIns="635" bIns="635" rtlCol="0" anchor="ctr"/>
          <a:lstStyle/>
          <a:p>
            <a:pPr indent="0" marL="0">
              <a:buNone/>
            </a:pPr>
            <a:r>
              <a:rPr lang="en-US" sz="1500" b="1" dirty="0">
                <a:solidFill>
                  <a:srgbClr val="FBFAF4"/>
                </a:solidFill>
                <a:latin typeface="Roboto" pitchFamily="34" charset="0"/>
                <a:ea typeface="Roboto" pitchFamily="34" charset="-122"/>
                <a:cs typeface="Roboto" pitchFamily="34" charset="-120"/>
              </a:rPr>
              <a:t>Không gian phù hợp khách của An Phát</a:t>
            </a:r>
            <a:endParaRPr lang="en-US" sz="1500" dirty="0"/>
          </a:p>
        </p:txBody>
      </p:sp>
      <p:sp>
        <p:nvSpPr>
          <p:cNvPr id="9" name="Shape 7"/>
          <p:cNvSpPr/>
          <p:nvPr/>
        </p:nvSpPr>
        <p:spPr>
          <a:xfrm>
            <a:off x="6035040" y="2404872"/>
            <a:ext cx="1408176" cy="475488"/>
          </a:xfrm>
          <a:prstGeom prst="roundRect">
            <a:avLst>
              <a:gd name="adj" fmla="val 15385"/>
            </a:avLst>
          </a:prstGeom>
          <a:solidFill>
            <a:srgbClr val="22395F"/>
          </a:solidFill>
          <a:ln w="12700">
            <a:solidFill>
              <a:srgbClr val="22395F"/>
            </a:solidFill>
            <a:prstDash val="solid"/>
          </a:ln>
        </p:spPr>
      </p:sp>
      <p:sp>
        <p:nvSpPr>
          <p:cNvPr id="10" name="Text 8"/>
          <p:cNvSpPr txBox="1"/>
          <p:nvPr/>
        </p:nvSpPr>
        <p:spPr>
          <a:xfrm>
            <a:off x="6144768" y="2404872"/>
            <a:ext cx="1188720" cy="47548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20</a:t>
            </a:r>
            <a:endParaRPr lang="en-US" sz="1500" dirty="0"/>
          </a:p>
        </p:txBody>
      </p:sp>
      <p:sp>
        <p:nvSpPr>
          <p:cNvPr id="11" name="Shape 9"/>
          <p:cNvSpPr/>
          <p:nvPr/>
        </p:nvSpPr>
        <p:spPr>
          <a:xfrm>
            <a:off x="548640" y="2953512"/>
            <a:ext cx="5431536" cy="475488"/>
          </a:xfrm>
          <a:prstGeom prst="roundRect">
            <a:avLst>
              <a:gd name="adj" fmla="val 15385"/>
            </a:avLst>
          </a:prstGeom>
          <a:solidFill>
            <a:srgbClr val="22395F"/>
          </a:solidFill>
          <a:ln w="12700">
            <a:solidFill>
              <a:srgbClr val="22395F"/>
            </a:solidFill>
            <a:prstDash val="solid"/>
          </a:ln>
        </p:spPr>
      </p:sp>
      <p:sp>
        <p:nvSpPr>
          <p:cNvPr id="12" name="Text 10"/>
          <p:cNvSpPr txBox="1"/>
          <p:nvPr/>
        </p:nvSpPr>
        <p:spPr>
          <a:xfrm>
            <a:off x="658368" y="2953512"/>
            <a:ext cx="5212080" cy="475488"/>
          </a:xfrm>
          <a:prstGeom prst="rect">
            <a:avLst/>
          </a:prstGeom>
          <a:noFill/>
          <a:ln/>
        </p:spPr>
        <p:txBody>
          <a:bodyPr wrap="square" lIns="635" tIns="635" rIns="635" bIns="635" rtlCol="0" anchor="ctr"/>
          <a:lstStyle/>
          <a:p>
            <a:pPr indent="0" marL="0">
              <a:buNone/>
            </a:pPr>
            <a:r>
              <a:rPr lang="en-US" sz="1500" b="1" dirty="0">
                <a:solidFill>
                  <a:srgbClr val="FBFAF4"/>
                </a:solidFill>
                <a:latin typeface="Roboto" pitchFamily="34" charset="0"/>
                <a:ea typeface="Roboto" pitchFamily="34" charset="-122"/>
                <a:cs typeface="Roboto" pitchFamily="34" charset="-120"/>
              </a:rPr>
              <a:t>Kỹ thuật – AV – livestream (gồm độc quyền)</a:t>
            </a:r>
            <a:endParaRPr lang="en-US" sz="1500" dirty="0"/>
          </a:p>
        </p:txBody>
      </p:sp>
      <p:sp>
        <p:nvSpPr>
          <p:cNvPr id="13" name="Shape 11"/>
          <p:cNvSpPr/>
          <p:nvPr/>
        </p:nvSpPr>
        <p:spPr>
          <a:xfrm>
            <a:off x="6035040" y="2953512"/>
            <a:ext cx="1408176" cy="475488"/>
          </a:xfrm>
          <a:prstGeom prst="roundRect">
            <a:avLst>
              <a:gd name="adj" fmla="val 15385"/>
            </a:avLst>
          </a:prstGeom>
          <a:solidFill>
            <a:srgbClr val="22395F"/>
          </a:solidFill>
          <a:ln w="12700">
            <a:solidFill>
              <a:srgbClr val="22395F"/>
            </a:solidFill>
            <a:prstDash val="solid"/>
          </a:ln>
        </p:spPr>
      </p:sp>
      <p:sp>
        <p:nvSpPr>
          <p:cNvPr id="14" name="Text 12"/>
          <p:cNvSpPr txBox="1"/>
          <p:nvPr/>
        </p:nvSpPr>
        <p:spPr>
          <a:xfrm>
            <a:off x="6144768" y="2953512"/>
            <a:ext cx="1188720" cy="47548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15</a:t>
            </a:r>
            <a:endParaRPr lang="en-US" sz="1500" dirty="0"/>
          </a:p>
        </p:txBody>
      </p:sp>
      <p:sp>
        <p:nvSpPr>
          <p:cNvPr id="15" name="Shape 13"/>
          <p:cNvSpPr/>
          <p:nvPr/>
        </p:nvSpPr>
        <p:spPr>
          <a:xfrm>
            <a:off x="548640" y="3502152"/>
            <a:ext cx="5431536" cy="475488"/>
          </a:xfrm>
          <a:prstGeom prst="roundRect">
            <a:avLst>
              <a:gd name="adj" fmla="val 15385"/>
            </a:avLst>
          </a:prstGeom>
          <a:solidFill>
            <a:srgbClr val="22395F"/>
          </a:solidFill>
          <a:ln w="12700">
            <a:solidFill>
              <a:srgbClr val="22395F"/>
            </a:solidFill>
            <a:prstDash val="solid"/>
          </a:ln>
        </p:spPr>
      </p:sp>
      <p:sp>
        <p:nvSpPr>
          <p:cNvPr id="16" name="Text 14"/>
          <p:cNvSpPr txBox="1"/>
          <p:nvPr/>
        </p:nvSpPr>
        <p:spPr>
          <a:xfrm>
            <a:off x="658368" y="3502152"/>
            <a:ext cx="5212080" cy="475488"/>
          </a:xfrm>
          <a:prstGeom prst="rect">
            <a:avLst/>
          </a:prstGeom>
          <a:noFill/>
          <a:ln/>
        </p:spPr>
        <p:txBody>
          <a:bodyPr wrap="square" lIns="635" tIns="635" rIns="635" bIns="635" rtlCol="0" anchor="ctr"/>
          <a:lstStyle/>
          <a:p>
            <a:pPr indent="0" marL="0">
              <a:buNone/>
            </a:pPr>
            <a:r>
              <a:rPr lang="en-US" sz="1500" b="1" dirty="0">
                <a:solidFill>
                  <a:srgbClr val="FBFAF4"/>
                </a:solidFill>
                <a:latin typeface="Roboto" pitchFamily="34" charset="0"/>
                <a:ea typeface="Roboto" pitchFamily="34" charset="-122"/>
                <a:cs typeface="Roboto" pitchFamily="34" charset="-120"/>
              </a:rPr>
              <a:t>Lịch và điều khoản hợp đồng</a:t>
            </a:r>
            <a:endParaRPr lang="en-US" sz="1500" dirty="0"/>
          </a:p>
        </p:txBody>
      </p:sp>
      <p:sp>
        <p:nvSpPr>
          <p:cNvPr id="17" name="Shape 15"/>
          <p:cNvSpPr/>
          <p:nvPr/>
        </p:nvSpPr>
        <p:spPr>
          <a:xfrm>
            <a:off x="6035040" y="3502152"/>
            <a:ext cx="1408176" cy="475488"/>
          </a:xfrm>
          <a:prstGeom prst="roundRect">
            <a:avLst>
              <a:gd name="adj" fmla="val 15385"/>
            </a:avLst>
          </a:prstGeom>
          <a:solidFill>
            <a:srgbClr val="22395F"/>
          </a:solidFill>
          <a:ln w="12700">
            <a:solidFill>
              <a:srgbClr val="22395F"/>
            </a:solidFill>
            <a:prstDash val="solid"/>
          </a:ln>
        </p:spPr>
      </p:sp>
      <p:sp>
        <p:nvSpPr>
          <p:cNvPr id="18" name="Text 16"/>
          <p:cNvSpPr txBox="1"/>
          <p:nvPr/>
        </p:nvSpPr>
        <p:spPr>
          <a:xfrm>
            <a:off x="6144768" y="3502152"/>
            <a:ext cx="1188720" cy="47548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15</a:t>
            </a:r>
            <a:endParaRPr lang="en-US" sz="1500" dirty="0"/>
          </a:p>
        </p:txBody>
      </p:sp>
      <p:sp>
        <p:nvSpPr>
          <p:cNvPr id="19" name="Shape 17"/>
          <p:cNvSpPr/>
          <p:nvPr/>
        </p:nvSpPr>
        <p:spPr>
          <a:xfrm>
            <a:off x="548640" y="4050792"/>
            <a:ext cx="5431536" cy="475488"/>
          </a:xfrm>
          <a:prstGeom prst="roundRect">
            <a:avLst>
              <a:gd name="adj" fmla="val 15385"/>
            </a:avLst>
          </a:prstGeom>
          <a:solidFill>
            <a:srgbClr val="22395F"/>
          </a:solidFill>
          <a:ln w="12700">
            <a:solidFill>
              <a:srgbClr val="22395F"/>
            </a:solidFill>
            <a:prstDash val="solid"/>
          </a:ln>
        </p:spPr>
      </p:sp>
      <p:sp>
        <p:nvSpPr>
          <p:cNvPr id="20" name="Text 18"/>
          <p:cNvSpPr txBox="1"/>
          <p:nvPr/>
        </p:nvSpPr>
        <p:spPr>
          <a:xfrm>
            <a:off x="658368" y="4050792"/>
            <a:ext cx="5212080" cy="475488"/>
          </a:xfrm>
          <a:prstGeom prst="rect">
            <a:avLst/>
          </a:prstGeom>
          <a:noFill/>
          <a:ln/>
        </p:spPr>
        <p:txBody>
          <a:bodyPr wrap="square" lIns="635" tIns="635" rIns="635" bIns="635" rtlCol="0" anchor="ctr"/>
          <a:lstStyle/>
          <a:p>
            <a:pPr indent="0" marL="0">
              <a:buNone/>
            </a:pPr>
            <a:r>
              <a:rPr lang="en-US" sz="1500" b="1" dirty="0">
                <a:solidFill>
                  <a:srgbClr val="FBFAF4"/>
                </a:solidFill>
                <a:latin typeface="Roboto" pitchFamily="34" charset="0"/>
                <a:ea typeface="Roboto" pitchFamily="34" charset="-122"/>
                <a:cs typeface="Roboto" pitchFamily="34" charset="-120"/>
              </a:rPr>
              <a:t>Dịch vụ, F&amp;B</a:t>
            </a:r>
            <a:endParaRPr lang="en-US" sz="1500" dirty="0"/>
          </a:p>
        </p:txBody>
      </p:sp>
      <p:sp>
        <p:nvSpPr>
          <p:cNvPr id="21" name="Shape 19"/>
          <p:cNvSpPr/>
          <p:nvPr/>
        </p:nvSpPr>
        <p:spPr>
          <a:xfrm>
            <a:off x="6035040" y="4050792"/>
            <a:ext cx="1408176" cy="475488"/>
          </a:xfrm>
          <a:prstGeom prst="roundRect">
            <a:avLst>
              <a:gd name="adj" fmla="val 15385"/>
            </a:avLst>
          </a:prstGeom>
          <a:solidFill>
            <a:srgbClr val="22395F"/>
          </a:solidFill>
          <a:ln w="12700">
            <a:solidFill>
              <a:srgbClr val="22395F"/>
            </a:solidFill>
            <a:prstDash val="solid"/>
          </a:ln>
        </p:spPr>
      </p:sp>
      <p:sp>
        <p:nvSpPr>
          <p:cNvPr id="22" name="Text 20"/>
          <p:cNvSpPr txBox="1"/>
          <p:nvPr/>
        </p:nvSpPr>
        <p:spPr>
          <a:xfrm>
            <a:off x="6144768" y="4050792"/>
            <a:ext cx="1188720" cy="47548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10</a:t>
            </a:r>
            <a:endParaRPr lang="en-US" sz="1500" dirty="0"/>
          </a:p>
        </p:txBody>
      </p:sp>
      <p:sp>
        <p:nvSpPr>
          <p:cNvPr id="23" name="Shape 21"/>
          <p:cNvSpPr/>
          <p:nvPr/>
        </p:nvSpPr>
        <p:spPr>
          <a:xfrm>
            <a:off x="548640" y="4599432"/>
            <a:ext cx="5431536" cy="475488"/>
          </a:xfrm>
          <a:prstGeom prst="roundRect">
            <a:avLst>
              <a:gd name="adj" fmla="val 15385"/>
            </a:avLst>
          </a:prstGeom>
          <a:solidFill>
            <a:srgbClr val="22395F"/>
          </a:solidFill>
          <a:ln w="12700">
            <a:solidFill>
              <a:srgbClr val="22395F"/>
            </a:solidFill>
            <a:prstDash val="solid"/>
          </a:ln>
        </p:spPr>
      </p:sp>
      <p:sp>
        <p:nvSpPr>
          <p:cNvPr id="24" name="Text 22"/>
          <p:cNvSpPr txBox="1"/>
          <p:nvPr/>
        </p:nvSpPr>
        <p:spPr>
          <a:xfrm>
            <a:off x="658368" y="4599432"/>
            <a:ext cx="5212080" cy="475488"/>
          </a:xfrm>
          <a:prstGeom prst="rect">
            <a:avLst/>
          </a:prstGeom>
          <a:noFill/>
          <a:ln/>
        </p:spPr>
        <p:txBody>
          <a:bodyPr wrap="square" lIns="635" tIns="635" rIns="635" bIns="635" rtlCol="0" anchor="ctr"/>
          <a:lstStyle/>
          <a:p>
            <a:pPr indent="0" marL="0">
              <a:buNone/>
            </a:pPr>
            <a:r>
              <a:rPr lang="en-US" sz="1500" b="1" dirty="0">
                <a:solidFill>
                  <a:srgbClr val="FBFAF4"/>
                </a:solidFill>
                <a:latin typeface="Roboto" pitchFamily="34" charset="0"/>
                <a:ea typeface="Roboto" pitchFamily="34" charset="-122"/>
                <a:cs typeface="Roboto" pitchFamily="34" charset="-120"/>
              </a:rPr>
              <a:t>Tổng chi phí (thuê + AV + phụ thu)</a:t>
            </a:r>
            <a:endParaRPr lang="en-US" sz="1500" dirty="0"/>
          </a:p>
        </p:txBody>
      </p:sp>
      <p:sp>
        <p:nvSpPr>
          <p:cNvPr id="25" name="Shape 23"/>
          <p:cNvSpPr/>
          <p:nvPr/>
        </p:nvSpPr>
        <p:spPr>
          <a:xfrm>
            <a:off x="6035040" y="4599432"/>
            <a:ext cx="1408176" cy="475488"/>
          </a:xfrm>
          <a:prstGeom prst="roundRect">
            <a:avLst>
              <a:gd name="adj" fmla="val 15385"/>
            </a:avLst>
          </a:prstGeom>
          <a:solidFill>
            <a:srgbClr val="22395F"/>
          </a:solidFill>
          <a:ln w="12700">
            <a:solidFill>
              <a:srgbClr val="22395F"/>
            </a:solidFill>
            <a:prstDash val="solid"/>
          </a:ln>
        </p:spPr>
      </p:sp>
      <p:sp>
        <p:nvSpPr>
          <p:cNvPr id="26" name="Text 24"/>
          <p:cNvSpPr txBox="1"/>
          <p:nvPr/>
        </p:nvSpPr>
        <p:spPr>
          <a:xfrm>
            <a:off x="6144768" y="4599432"/>
            <a:ext cx="1188720" cy="47548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40</a:t>
            </a:r>
            <a:endParaRPr lang="en-US" sz="1500" dirty="0"/>
          </a:p>
        </p:txBody>
      </p:sp>
      <p:sp>
        <p:nvSpPr>
          <p:cNvPr id="27" name="Shape 25"/>
          <p:cNvSpPr/>
          <p:nvPr/>
        </p:nvSpPr>
        <p:spPr>
          <a:xfrm>
            <a:off x="7726680" y="1783080"/>
            <a:ext cx="3913632" cy="1737360"/>
          </a:xfrm>
          <a:prstGeom prst="roundRect">
            <a:avLst>
              <a:gd name="adj" fmla="val 4211"/>
            </a:avLst>
          </a:prstGeom>
          <a:solidFill>
            <a:srgbClr val="FF5178"/>
          </a:solidFill>
          <a:ln w="12700">
            <a:solidFill>
              <a:srgbClr val="FF5178"/>
            </a:solidFill>
            <a:prstDash val="solid"/>
          </a:ln>
        </p:spPr>
      </p:sp>
      <p:sp>
        <p:nvSpPr>
          <p:cNvPr id="28" name="Text 26"/>
          <p:cNvSpPr txBox="1"/>
          <p:nvPr/>
        </p:nvSpPr>
        <p:spPr>
          <a:xfrm>
            <a:off x="7909560" y="1783080"/>
            <a:ext cx="3547872" cy="173736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Trước khi chấm: điều kiện bắt buộc (đạt / không đạt)</a:t>
            </a:r>
            <a:endParaRPr lang="en-US" sz="1500" dirty="0"/>
          </a:p>
          <a:p>
            <a:pPr indent="0" marL="0">
              <a:buNone/>
            </a:pPr>
            <a:r>
              <a:rPr lang="en-US" sz="1500" b="1" dirty="0">
                <a:solidFill>
                  <a:srgbClr val="172849"/>
                </a:solidFill>
                <a:latin typeface="Roboto" pitchFamily="34" charset="0"/>
                <a:ea typeface="Roboto" pitchFamily="34" charset="-122"/>
                <a:cs typeface="Roboto" pitchFamily="34" charset="-120"/>
              </a:rPr>
              <a:t>Còn trống 12/12? Đủ diện tích dùng được?</a:t>
            </a:r>
            <a:endParaRPr lang="en-US" sz="1500" dirty="0"/>
          </a:p>
        </p:txBody>
      </p:sp>
      <p:sp>
        <p:nvSpPr>
          <p:cNvPr id="29" name="Shape 27"/>
          <p:cNvSpPr/>
          <p:nvPr/>
        </p:nvSpPr>
        <p:spPr>
          <a:xfrm>
            <a:off x="7726680" y="3657600"/>
            <a:ext cx="3913632" cy="1280160"/>
          </a:xfrm>
          <a:prstGeom prst="roundRect">
            <a:avLst>
              <a:gd name="adj" fmla="val 5714"/>
            </a:avLst>
          </a:prstGeom>
          <a:solidFill>
            <a:srgbClr val="22395F"/>
          </a:solidFill>
          <a:ln w="12700">
            <a:solidFill>
              <a:srgbClr val="22395F"/>
            </a:solidFill>
            <a:prstDash val="solid"/>
          </a:ln>
        </p:spPr>
      </p:sp>
      <p:sp>
        <p:nvSpPr>
          <p:cNvPr id="30" name="Text 28"/>
          <p:cNvSpPr txBox="1"/>
          <p:nvPr/>
        </p:nvSpPr>
        <p:spPr>
          <a:xfrm>
            <a:off x="7909560" y="3657600"/>
            <a:ext cx="3547872" cy="1280160"/>
          </a:xfrm>
          <a:prstGeom prst="rect">
            <a:avLst/>
          </a:prstGeom>
          <a:noFill/>
          <a:ln/>
        </p:spPr>
        <p:txBody>
          <a:bodyPr wrap="square" lIns="635" tIns="635" rIns="635" bIns="635" rtlCol="0" anchor="ctr"/>
          <a:lstStyle/>
          <a:p>
            <a:pPr indent="0" marL="0">
              <a:buNone/>
            </a:pPr>
            <a:r>
              <a:rPr lang="en-US" sz="1600" b="1" dirty="0">
                <a:solidFill>
                  <a:srgbClr val="FFD23B"/>
                </a:solidFill>
                <a:latin typeface="Roboto" pitchFamily="34" charset="0"/>
                <a:ea typeface="Roboto" pitchFamily="34" charset="-122"/>
                <a:cs typeface="Roboto" pitchFamily="34" charset="-120"/>
              </a:rPr>
              <a:t>Điểm = Σ (điểm 1–5 × trọng số) / 5 → thang 100</a:t>
            </a:r>
            <a:endParaRPr lang="en-US" sz="1600" dirty="0"/>
          </a:p>
        </p:txBody>
      </p:sp>
      <p:sp>
        <p:nvSpPr>
          <p:cNvPr id="31" name="Shape 29"/>
          <p:cNvSpPr/>
          <p:nvPr/>
        </p:nvSpPr>
        <p:spPr>
          <a:xfrm>
            <a:off x="548640" y="5376672"/>
            <a:ext cx="11091672" cy="457200"/>
          </a:xfrm>
          <a:prstGeom prst="roundRect">
            <a:avLst>
              <a:gd name="adj" fmla="val 16000"/>
            </a:avLst>
          </a:prstGeom>
          <a:solidFill>
            <a:srgbClr val="22395F"/>
          </a:solidFill>
          <a:ln w="12700">
            <a:solidFill>
              <a:srgbClr val="22395F"/>
            </a:solidFill>
            <a:prstDash val="solid"/>
          </a:ln>
        </p:spPr>
      </p:sp>
      <p:sp>
        <p:nvSpPr>
          <p:cNvPr id="32" name="Text 30"/>
          <p:cNvSpPr txBox="1"/>
          <p:nvPr/>
        </p:nvSpPr>
        <p:spPr>
          <a:xfrm>
            <a:off x="777240" y="5376672"/>
            <a:ext cx="10698480" cy="457200"/>
          </a:xfrm>
          <a:prstGeom prst="rect">
            <a:avLst/>
          </a:prstGeom>
          <a:noFill/>
          <a:ln/>
        </p:spPr>
        <p:txBody>
          <a:bodyPr wrap="square" lIns="635" tIns="635" rIns="635" bIns="635" rtlCol="0" anchor="ctr"/>
          <a:lstStyle/>
          <a:p>
            <a:pPr indent="0" marL="0">
              <a:buNone/>
            </a:pPr>
            <a:r>
              <a:rPr lang="en-US" sz="1500" i="1" dirty="0">
                <a:solidFill>
                  <a:srgbClr val="FBFAF4"/>
                </a:solidFill>
                <a:latin typeface="Roboto" pitchFamily="34" charset="0"/>
                <a:ea typeface="Roboto" pitchFamily="34" charset="-122"/>
                <a:cs typeface="Roboto" pitchFamily="34" charset="-120"/>
              </a:rPr>
              <a:t>Silvers: trọng số làm giảm “ảnh hưởng và sở thích cá nhân” trong quyết định.</a:t>
            </a:r>
            <a:endParaRPr lang="en-US" sz="1500" dirty="0"/>
          </a:p>
        </p:txBody>
      </p:sp>
      <p:sp>
        <p:nvSpPr>
          <p:cNvPr id="33" name="Text 31"/>
          <p:cNvSpPr txBox="1"/>
          <p:nvPr/>
        </p:nvSpPr>
        <p:spPr>
          <a:xfrm>
            <a:off x="548640" y="59436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Trọng số 60/40 là GIẢ ĐỊNH (quyết định GV 6). Silvers (2008, tr. 176–177, Hình 7.5) (V16); Dowson et al. (2023, Bảng 9.6) (V15).</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Bốn nguyên tắc: value for money, công bằng, có dấu vết, phản hồi bên trượt</a:t>
            </a:r>
            <a:endParaRPr lang="en-US" sz="2800" dirty="0"/>
          </a:p>
        </p:txBody>
      </p:sp>
      <p:sp>
        <p:nvSpPr>
          <p:cNvPr id="3" name="Shape 1"/>
          <p:cNvSpPr/>
          <p:nvPr/>
        </p:nvSpPr>
        <p:spPr>
          <a:xfrm>
            <a:off x="548640" y="1783080"/>
            <a:ext cx="2651760" cy="3291840"/>
          </a:xfrm>
          <a:prstGeom prst="roundRect">
            <a:avLst>
              <a:gd name="adj" fmla="val 2759"/>
            </a:avLst>
          </a:prstGeom>
          <a:solidFill>
            <a:srgbClr val="22395F"/>
          </a:solidFill>
          <a:ln w="12700">
            <a:solidFill>
              <a:srgbClr val="22395F"/>
            </a:solidFill>
            <a:prstDash val="solid"/>
          </a:ln>
        </p:spPr>
      </p:sp>
      <p:sp>
        <p:nvSpPr>
          <p:cNvPr id="4" name="Shape 2"/>
          <p:cNvSpPr/>
          <p:nvPr/>
        </p:nvSpPr>
        <p:spPr>
          <a:xfrm>
            <a:off x="1417320" y="1965960"/>
            <a:ext cx="914400" cy="9144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1618488" y="2167128"/>
            <a:ext cx="512064" cy="512064"/>
          </a:xfrm>
          <a:prstGeom prst="rect">
            <a:avLst/>
          </a:prstGeom>
        </p:spPr>
      </p:pic>
      <p:sp>
        <p:nvSpPr>
          <p:cNvPr id="6" name="Text 3"/>
          <p:cNvSpPr txBox="1"/>
          <p:nvPr/>
        </p:nvSpPr>
        <p:spPr>
          <a:xfrm>
            <a:off x="685800" y="3017520"/>
            <a:ext cx="2377440" cy="685800"/>
          </a:xfrm>
          <a:prstGeom prst="rect">
            <a:avLst/>
          </a:prstGeom>
          <a:noFill/>
          <a:ln/>
        </p:spPr>
        <p:txBody>
          <a:bodyPr wrap="square" lIns="635" tIns="635" rIns="635" bIns="635" rtlCol="0" anchor="ctr"/>
          <a:lstStyle/>
          <a:p>
            <a:pPr algn="ctr" indent="0" marL="0">
              <a:buNone/>
            </a:pPr>
            <a:r>
              <a:rPr lang="en-US" sz="1600" b="1" dirty="0">
                <a:solidFill>
                  <a:srgbClr val="49B296"/>
                </a:solidFill>
                <a:latin typeface="Roboto" pitchFamily="34" charset="0"/>
                <a:ea typeface="Roboto" pitchFamily="34" charset="-122"/>
                <a:cs typeface="Roboto" pitchFamily="34" charset="-120"/>
              </a:rPr>
              <a:t>Value for money</a:t>
            </a:r>
            <a:endParaRPr lang="en-US" sz="1600" dirty="0"/>
          </a:p>
        </p:txBody>
      </p:sp>
      <p:sp>
        <p:nvSpPr>
          <p:cNvPr id="7" name="Text 4"/>
          <p:cNvSpPr txBox="1"/>
          <p:nvPr/>
        </p:nvSpPr>
        <p:spPr>
          <a:xfrm>
            <a:off x="685800" y="3703320"/>
            <a:ext cx="2377440" cy="1280160"/>
          </a:xfrm>
          <a:prstGeom prst="rect">
            <a:avLst/>
          </a:prstGeom>
          <a:noFill/>
          <a:ln/>
        </p:spPr>
        <p:txBody>
          <a:bodyPr wrap="square" lIns="635" tIns="635" rIns="635" bIns="635" rtlCol="0" anchor="t"/>
          <a:lstStyle/>
          <a:p>
            <a:pPr algn="ctr" indent="0" marL="0">
              <a:buNone/>
            </a:pPr>
            <a:r>
              <a:rPr lang="en-US" sz="1400" dirty="0">
                <a:solidFill>
                  <a:srgbClr val="FBFAF4"/>
                </a:solidFill>
                <a:latin typeface="Roboto" pitchFamily="34" charset="0"/>
                <a:ea typeface="Roboto" pitchFamily="34" charset="-122"/>
                <a:cs typeface="Roboto" pitchFamily="34" charset="-120"/>
              </a:rPr>
              <a:t>Không phải giá thấp nhất</a:t>
            </a:r>
            <a:endParaRPr lang="en-US" sz="1400" dirty="0"/>
          </a:p>
        </p:txBody>
      </p:sp>
      <p:sp>
        <p:nvSpPr>
          <p:cNvPr id="8" name="Shape 5"/>
          <p:cNvSpPr/>
          <p:nvPr/>
        </p:nvSpPr>
        <p:spPr>
          <a:xfrm>
            <a:off x="3364992" y="1783080"/>
            <a:ext cx="2651760" cy="3291840"/>
          </a:xfrm>
          <a:prstGeom prst="roundRect">
            <a:avLst>
              <a:gd name="adj" fmla="val 2759"/>
            </a:avLst>
          </a:prstGeom>
          <a:solidFill>
            <a:srgbClr val="22395F"/>
          </a:solidFill>
          <a:ln w="12700">
            <a:solidFill>
              <a:srgbClr val="22395F"/>
            </a:solidFill>
            <a:prstDash val="solid"/>
          </a:ln>
        </p:spPr>
      </p:sp>
      <p:sp>
        <p:nvSpPr>
          <p:cNvPr id="9" name="Shape 6"/>
          <p:cNvSpPr/>
          <p:nvPr/>
        </p:nvSpPr>
        <p:spPr>
          <a:xfrm>
            <a:off x="4233672" y="1965960"/>
            <a:ext cx="914400" cy="914400"/>
          </a:xfrm>
          <a:prstGeom prst="ellipse">
            <a:avLst/>
          </a:prstGeom>
          <a:solidFill>
            <a:srgbClr val="FFD23B"/>
          </a:solidFill>
          <a:ln w="12700">
            <a:solidFill>
              <a:srgbClr val="FFD23B"/>
            </a:solidFill>
            <a:prstDash val="solid"/>
          </a:ln>
        </p:spPr>
      </p:sp>
      <p:pic>
        <p:nvPicPr>
          <p:cNvPr id="10" name="Image 1" descr="preencoded.png">    </p:cNvPr>
          <p:cNvPicPr>
            <a:picLocks noChangeAspect="1"/>
          </p:cNvPicPr>
          <p:nvPr/>
        </p:nvPicPr>
        <p:blipFill>
          <a:blip r:embed="rId2"/>
          <a:stretch>
            <a:fillRect/>
          </a:stretch>
        </p:blipFill>
        <p:spPr>
          <a:xfrm>
            <a:off x="4434840" y="2167128"/>
            <a:ext cx="512064" cy="512064"/>
          </a:xfrm>
          <a:prstGeom prst="rect">
            <a:avLst/>
          </a:prstGeom>
        </p:spPr>
      </p:pic>
      <p:sp>
        <p:nvSpPr>
          <p:cNvPr id="11" name="Text 7"/>
          <p:cNvSpPr txBox="1"/>
          <p:nvPr/>
        </p:nvSpPr>
        <p:spPr>
          <a:xfrm>
            <a:off x="3502152" y="3017520"/>
            <a:ext cx="2377440" cy="685800"/>
          </a:xfrm>
          <a:prstGeom prst="rect">
            <a:avLst/>
          </a:prstGeom>
          <a:noFill/>
          <a:ln/>
        </p:spPr>
        <p:txBody>
          <a:bodyPr wrap="square" lIns="635" tIns="635" rIns="635" bIns="635" rtlCol="0" anchor="ctr"/>
          <a:lstStyle/>
          <a:p>
            <a:pPr algn="ctr" indent="0" marL="0">
              <a:buNone/>
            </a:pPr>
            <a:r>
              <a:rPr lang="en-US" sz="1600" b="1" dirty="0">
                <a:solidFill>
                  <a:srgbClr val="FFD23B"/>
                </a:solidFill>
                <a:latin typeface="Roboto" pitchFamily="34" charset="0"/>
                <a:ea typeface="Roboto" pitchFamily="34" charset="-122"/>
                <a:cs typeface="Roboto" pitchFamily="34" charset="-120"/>
              </a:rPr>
              <a:t>Đối xử công bằng</a:t>
            </a:r>
            <a:endParaRPr lang="en-US" sz="1600" dirty="0"/>
          </a:p>
        </p:txBody>
      </p:sp>
      <p:sp>
        <p:nvSpPr>
          <p:cNvPr id="12" name="Text 8"/>
          <p:cNvSpPr txBox="1"/>
          <p:nvPr/>
        </p:nvSpPr>
        <p:spPr>
          <a:xfrm>
            <a:off x="3502152" y="3703320"/>
            <a:ext cx="2377440" cy="1280160"/>
          </a:xfrm>
          <a:prstGeom prst="rect">
            <a:avLst/>
          </a:prstGeom>
          <a:noFill/>
          <a:ln/>
        </p:spPr>
        <p:txBody>
          <a:bodyPr wrap="square" lIns="635" tIns="635" rIns="635" bIns="635" rtlCol="0" anchor="t"/>
          <a:lstStyle/>
          <a:p>
            <a:pPr algn="ctr" indent="0" marL="0">
              <a:buNone/>
            </a:pPr>
            <a:r>
              <a:rPr lang="en-US" sz="1400" dirty="0">
                <a:solidFill>
                  <a:srgbClr val="FBFAF4"/>
                </a:solidFill>
                <a:latin typeface="Roboto" pitchFamily="34" charset="0"/>
                <a:ea typeface="Roboto" pitchFamily="34" charset="-122"/>
                <a:cs typeface="Roboto" pitchFamily="34" charset="-120"/>
              </a:rPr>
              <a:t>Cùng yêu cầu, cùng hạn, cùng tiêu chí; khai báo quan hệ trước đó</a:t>
            </a:r>
            <a:endParaRPr lang="en-US" sz="1400" dirty="0"/>
          </a:p>
        </p:txBody>
      </p:sp>
      <p:sp>
        <p:nvSpPr>
          <p:cNvPr id="13" name="Shape 9"/>
          <p:cNvSpPr/>
          <p:nvPr/>
        </p:nvSpPr>
        <p:spPr>
          <a:xfrm>
            <a:off x="6181344" y="1783080"/>
            <a:ext cx="2651760" cy="3291840"/>
          </a:xfrm>
          <a:prstGeom prst="roundRect">
            <a:avLst>
              <a:gd name="adj" fmla="val 2759"/>
            </a:avLst>
          </a:prstGeom>
          <a:solidFill>
            <a:srgbClr val="22395F"/>
          </a:solidFill>
          <a:ln w="12700">
            <a:solidFill>
              <a:srgbClr val="22395F"/>
            </a:solidFill>
            <a:prstDash val="solid"/>
          </a:ln>
        </p:spPr>
      </p:sp>
      <p:sp>
        <p:nvSpPr>
          <p:cNvPr id="14" name="Shape 10"/>
          <p:cNvSpPr/>
          <p:nvPr/>
        </p:nvSpPr>
        <p:spPr>
          <a:xfrm>
            <a:off x="7050024" y="1965960"/>
            <a:ext cx="914400" cy="914400"/>
          </a:xfrm>
          <a:prstGeom prst="ellipse">
            <a:avLst/>
          </a:prstGeom>
          <a:solidFill>
            <a:srgbClr val="09A1E5"/>
          </a:solidFill>
          <a:ln w="12700">
            <a:solidFill>
              <a:srgbClr val="09A1E5"/>
            </a:solidFill>
            <a:prstDash val="solid"/>
          </a:ln>
        </p:spPr>
      </p:sp>
      <p:pic>
        <p:nvPicPr>
          <p:cNvPr id="15" name="Image 2" descr="preencoded.png">    </p:cNvPr>
          <p:cNvPicPr>
            <a:picLocks noChangeAspect="1"/>
          </p:cNvPicPr>
          <p:nvPr/>
        </p:nvPicPr>
        <p:blipFill>
          <a:blip r:embed="rId3"/>
          <a:stretch>
            <a:fillRect/>
          </a:stretch>
        </p:blipFill>
        <p:spPr>
          <a:xfrm>
            <a:off x="7251192" y="2167128"/>
            <a:ext cx="512064" cy="512064"/>
          </a:xfrm>
          <a:prstGeom prst="rect">
            <a:avLst/>
          </a:prstGeom>
        </p:spPr>
      </p:pic>
      <p:sp>
        <p:nvSpPr>
          <p:cNvPr id="16" name="Text 11"/>
          <p:cNvSpPr txBox="1"/>
          <p:nvPr/>
        </p:nvSpPr>
        <p:spPr>
          <a:xfrm>
            <a:off x="6318504" y="3017520"/>
            <a:ext cx="2377440" cy="685800"/>
          </a:xfrm>
          <a:prstGeom prst="rect">
            <a:avLst/>
          </a:prstGeom>
          <a:noFill/>
          <a:ln/>
        </p:spPr>
        <p:txBody>
          <a:bodyPr wrap="square" lIns="635" tIns="635" rIns="635" bIns="635" rtlCol="0" anchor="ctr"/>
          <a:lstStyle/>
          <a:p>
            <a:pPr algn="ctr" indent="0" marL="0">
              <a:buNone/>
            </a:pPr>
            <a:r>
              <a:rPr lang="en-US" sz="1600" b="1" dirty="0">
                <a:solidFill>
                  <a:srgbClr val="09A1E5"/>
                </a:solidFill>
                <a:latin typeface="Roboto" pitchFamily="34" charset="0"/>
                <a:ea typeface="Roboto" pitchFamily="34" charset="-122"/>
                <a:cs typeface="Roboto" pitchFamily="34" charset="-120"/>
              </a:rPr>
              <a:t>Có dấu vết (audit trail)</a:t>
            </a:r>
            <a:endParaRPr lang="en-US" sz="1600" dirty="0"/>
          </a:p>
        </p:txBody>
      </p:sp>
      <p:sp>
        <p:nvSpPr>
          <p:cNvPr id="17" name="Text 12"/>
          <p:cNvSpPr txBox="1"/>
          <p:nvPr/>
        </p:nvSpPr>
        <p:spPr>
          <a:xfrm>
            <a:off x="6318504" y="3703320"/>
            <a:ext cx="2377440" cy="1280160"/>
          </a:xfrm>
          <a:prstGeom prst="rect">
            <a:avLst/>
          </a:prstGeom>
          <a:noFill/>
          <a:ln/>
        </p:spPr>
        <p:txBody>
          <a:bodyPr wrap="square" lIns="635" tIns="635" rIns="635" bIns="635" rtlCol="0" anchor="t"/>
          <a:lstStyle/>
          <a:p>
            <a:pPr algn="ctr" indent="0" marL="0">
              <a:buNone/>
            </a:pPr>
            <a:r>
              <a:rPr lang="en-US" sz="1400" dirty="0">
                <a:solidFill>
                  <a:srgbClr val="FBFAF4"/>
                </a:solidFill>
                <a:latin typeface="Roboto" pitchFamily="34" charset="0"/>
                <a:ea typeface="Roboto" pitchFamily="34" charset="-122"/>
                <a:cs typeface="Roboto" pitchFamily="34" charset="-120"/>
              </a:rPr>
              <a:t>Ai chấm, chấm gì, vì sao — anh Minh, anh Khoa có thể hỏi lại</a:t>
            </a:r>
            <a:endParaRPr lang="en-US" sz="1400" dirty="0"/>
          </a:p>
        </p:txBody>
      </p:sp>
      <p:sp>
        <p:nvSpPr>
          <p:cNvPr id="18" name="Shape 13"/>
          <p:cNvSpPr/>
          <p:nvPr/>
        </p:nvSpPr>
        <p:spPr>
          <a:xfrm>
            <a:off x="8997696" y="1783080"/>
            <a:ext cx="2651760" cy="3291840"/>
          </a:xfrm>
          <a:prstGeom prst="roundRect">
            <a:avLst>
              <a:gd name="adj" fmla="val 2759"/>
            </a:avLst>
          </a:prstGeom>
          <a:solidFill>
            <a:srgbClr val="22395F"/>
          </a:solidFill>
          <a:ln w="12700">
            <a:solidFill>
              <a:srgbClr val="22395F"/>
            </a:solidFill>
            <a:prstDash val="solid"/>
          </a:ln>
        </p:spPr>
      </p:sp>
      <p:sp>
        <p:nvSpPr>
          <p:cNvPr id="19" name="Shape 14"/>
          <p:cNvSpPr/>
          <p:nvPr/>
        </p:nvSpPr>
        <p:spPr>
          <a:xfrm>
            <a:off x="9866376" y="1965960"/>
            <a:ext cx="914400" cy="914400"/>
          </a:xfrm>
          <a:prstGeom prst="ellipse">
            <a:avLst/>
          </a:prstGeom>
          <a:solidFill>
            <a:srgbClr val="FF5178"/>
          </a:solidFill>
          <a:ln w="12700">
            <a:solidFill>
              <a:srgbClr val="FF5178"/>
            </a:solidFill>
            <a:prstDash val="solid"/>
          </a:ln>
        </p:spPr>
      </p:sp>
      <p:pic>
        <p:nvPicPr>
          <p:cNvPr id="20" name="Image 3" descr="preencoded.png">    </p:cNvPr>
          <p:cNvPicPr>
            <a:picLocks noChangeAspect="1"/>
          </p:cNvPicPr>
          <p:nvPr/>
        </p:nvPicPr>
        <p:blipFill>
          <a:blip r:embed="rId4"/>
          <a:stretch>
            <a:fillRect/>
          </a:stretch>
        </p:blipFill>
        <p:spPr>
          <a:xfrm>
            <a:off x="10067544" y="2167128"/>
            <a:ext cx="512064" cy="512064"/>
          </a:xfrm>
          <a:prstGeom prst="rect">
            <a:avLst/>
          </a:prstGeom>
        </p:spPr>
      </p:pic>
      <p:sp>
        <p:nvSpPr>
          <p:cNvPr id="21" name="Text 15"/>
          <p:cNvSpPr txBox="1"/>
          <p:nvPr/>
        </p:nvSpPr>
        <p:spPr>
          <a:xfrm>
            <a:off x="9134856" y="3017520"/>
            <a:ext cx="2377440" cy="685800"/>
          </a:xfrm>
          <a:prstGeom prst="rect">
            <a:avLst/>
          </a:prstGeom>
          <a:noFill/>
          <a:ln/>
        </p:spPr>
        <p:txBody>
          <a:bodyPr wrap="square" lIns="635" tIns="635" rIns="635" bIns="635" rtlCol="0" anchor="ctr"/>
          <a:lstStyle/>
          <a:p>
            <a:pPr algn="ctr" indent="0" marL="0">
              <a:buNone/>
            </a:pPr>
            <a:r>
              <a:rPr lang="en-US" sz="1600" b="1" dirty="0">
                <a:solidFill>
                  <a:srgbClr val="FF5178"/>
                </a:solidFill>
                <a:latin typeface="Roboto" pitchFamily="34" charset="0"/>
                <a:ea typeface="Roboto" pitchFamily="34" charset="-122"/>
                <a:cs typeface="Roboto" pitchFamily="34" charset="-120"/>
              </a:rPr>
              <a:t>Phản hồi bên trượt</a:t>
            </a:r>
            <a:endParaRPr lang="en-US" sz="1600" dirty="0"/>
          </a:p>
        </p:txBody>
      </p:sp>
      <p:sp>
        <p:nvSpPr>
          <p:cNvPr id="22" name="Text 16"/>
          <p:cNvSpPr txBox="1"/>
          <p:nvPr/>
        </p:nvSpPr>
        <p:spPr>
          <a:xfrm>
            <a:off x="9134856" y="3703320"/>
            <a:ext cx="2377440" cy="1280160"/>
          </a:xfrm>
          <a:prstGeom prst="rect">
            <a:avLst/>
          </a:prstGeom>
          <a:noFill/>
          <a:ln/>
        </p:spPr>
        <p:txBody>
          <a:bodyPr wrap="square" lIns="635" tIns="635" rIns="635" bIns="635" rtlCol="0" anchor="t"/>
          <a:lstStyle/>
          <a:p>
            <a:pPr algn="ctr" indent="0" marL="0">
              <a:buNone/>
            </a:pPr>
            <a:r>
              <a:rPr lang="en-US" sz="1400" dirty="0">
                <a:solidFill>
                  <a:srgbClr val="FBFAF4"/>
                </a:solidFill>
                <a:latin typeface="Roboto" pitchFamily="34" charset="0"/>
                <a:ea typeface="Roboto" pitchFamily="34" charset="-122"/>
                <a:cs typeface="Roboto" pitchFamily="34" charset="-120"/>
              </a:rPr>
              <a:t>Bên trượt hôm nay là đối tác ngày mai (customer of choice)</a:t>
            </a:r>
            <a:endParaRPr lang="en-US" sz="1400" dirty="0"/>
          </a:p>
        </p:txBody>
      </p:sp>
      <p:sp>
        <p:nvSpPr>
          <p:cNvPr id="23" name="Shape 17"/>
          <p:cNvSpPr/>
          <p:nvPr/>
        </p:nvSpPr>
        <p:spPr>
          <a:xfrm>
            <a:off x="548640" y="5212080"/>
            <a:ext cx="11091672" cy="548640"/>
          </a:xfrm>
          <a:prstGeom prst="roundRect">
            <a:avLst>
              <a:gd name="adj" fmla="val 13333"/>
            </a:avLst>
          </a:prstGeom>
          <a:solidFill>
            <a:srgbClr val="22395F"/>
          </a:solidFill>
          <a:ln w="12700">
            <a:solidFill>
              <a:srgbClr val="22395F"/>
            </a:solidFill>
            <a:prstDash val="solid"/>
          </a:ln>
        </p:spPr>
      </p:sp>
      <p:sp>
        <p:nvSpPr>
          <p:cNvPr id="24" name="Text 18"/>
          <p:cNvSpPr txBox="1"/>
          <p:nvPr/>
        </p:nvSpPr>
        <p:spPr>
          <a:xfrm>
            <a:off x="777240" y="5212080"/>
            <a:ext cx="10698480" cy="548640"/>
          </a:xfrm>
          <a:prstGeom prst="rect">
            <a:avLst/>
          </a:prstGeom>
          <a:noFill/>
          <a:ln/>
        </p:spPr>
        <p:txBody>
          <a:bodyPr wrap="square" lIns="635" tIns="635" rIns="635" bIns="635" rtlCol="0" anchor="ctr"/>
          <a:lstStyle/>
          <a:p>
            <a:pPr indent="0" marL="0">
              <a:buNone/>
            </a:pPr>
            <a:r>
              <a:rPr lang="en-US" sz="1500" i="1" dirty="0">
                <a:solidFill>
                  <a:srgbClr val="FFD23B"/>
                </a:solidFill>
                <a:latin typeface="Roboto" pitchFamily="34" charset="0"/>
                <a:ea typeface="Roboto" pitchFamily="34" charset="-122"/>
                <a:cs typeface="Roboto" pitchFamily="34" charset="-120"/>
              </a:rPr>
              <a:t>Dowson: “The company that is appointed must be the highest scorer.”</a:t>
            </a:r>
            <a:endParaRPr lang="en-US" sz="1500" dirty="0"/>
          </a:p>
        </p:txBody>
      </p:sp>
      <p:sp>
        <p:nvSpPr>
          <p:cNvPr id="25" name="Text 1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CIPS — Tender evaluation (V02); Dowson et al. (2023, tr. 231) (V15).</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Thực hành 1 · 20 phút: chấm hồ sơ 3 khách sạn cho gala của An Phát</a:t>
            </a:r>
            <a:endParaRPr lang="en-US" sz="2800" dirty="0"/>
          </a:p>
        </p:txBody>
      </p:sp>
      <p:sp>
        <p:nvSpPr>
          <p:cNvPr id="3" name="Shape 1"/>
          <p:cNvSpPr/>
          <p:nvPr/>
        </p:nvSpPr>
        <p:spPr>
          <a:xfrm>
            <a:off x="548640" y="1783080"/>
            <a:ext cx="1097280" cy="1005840"/>
          </a:xfrm>
          <a:prstGeom prst="roundRect">
            <a:avLst>
              <a:gd name="adj" fmla="val 7273"/>
            </a:avLst>
          </a:prstGeom>
          <a:solidFill>
            <a:srgbClr val="49B296"/>
          </a:solidFill>
          <a:ln w="12700">
            <a:solidFill>
              <a:srgbClr val="49B296"/>
            </a:solidFill>
            <a:prstDash val="solid"/>
          </a:ln>
        </p:spPr>
      </p:sp>
      <p:sp>
        <p:nvSpPr>
          <p:cNvPr id="4" name="Text 2"/>
          <p:cNvSpPr txBox="1"/>
          <p:nvPr/>
        </p:nvSpPr>
        <p:spPr>
          <a:xfrm>
            <a:off x="548640" y="178308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4’</a:t>
            </a:r>
            <a:endParaRPr lang="en-US" sz="2400" dirty="0"/>
          </a:p>
        </p:txBody>
      </p:sp>
      <p:sp>
        <p:nvSpPr>
          <p:cNvPr id="5" name="Shape 3"/>
          <p:cNvSpPr/>
          <p:nvPr/>
        </p:nvSpPr>
        <p:spPr>
          <a:xfrm>
            <a:off x="1828800" y="1783080"/>
            <a:ext cx="6035040" cy="1005840"/>
          </a:xfrm>
          <a:prstGeom prst="roundRect">
            <a:avLst>
              <a:gd name="adj" fmla="val 7273"/>
            </a:avLst>
          </a:prstGeom>
          <a:solidFill>
            <a:srgbClr val="22395F"/>
          </a:solidFill>
          <a:ln w="12700">
            <a:solidFill>
              <a:srgbClr val="22395F"/>
            </a:solidFill>
            <a:prstDash val="solid"/>
          </a:ln>
        </p:spPr>
      </p:sp>
      <p:sp>
        <p:nvSpPr>
          <p:cNvPr id="6" name="Text 4"/>
          <p:cNvSpPr txBox="1"/>
          <p:nvPr/>
        </p:nvSpPr>
        <p:spPr>
          <a:xfrm>
            <a:off x="2011680" y="178308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Trọng số: được chuyển tối đa 10 điểm giữa các tiêu chí, ghi 1 câu lý do</a:t>
            </a:r>
            <a:endParaRPr lang="en-US" sz="1500" dirty="0"/>
          </a:p>
        </p:txBody>
      </p:sp>
      <p:sp>
        <p:nvSpPr>
          <p:cNvPr id="7" name="Shape 5"/>
          <p:cNvSpPr/>
          <p:nvPr/>
        </p:nvSpPr>
        <p:spPr>
          <a:xfrm>
            <a:off x="548640" y="2971800"/>
            <a:ext cx="1097280" cy="1005840"/>
          </a:xfrm>
          <a:prstGeom prst="roundRect">
            <a:avLst>
              <a:gd name="adj" fmla="val 7273"/>
            </a:avLst>
          </a:prstGeom>
          <a:solidFill>
            <a:srgbClr val="FFD23B"/>
          </a:solidFill>
          <a:ln w="12700">
            <a:solidFill>
              <a:srgbClr val="FFD23B"/>
            </a:solidFill>
            <a:prstDash val="solid"/>
          </a:ln>
        </p:spPr>
      </p:sp>
      <p:sp>
        <p:nvSpPr>
          <p:cNvPr id="8" name="Text 6"/>
          <p:cNvSpPr txBox="1"/>
          <p:nvPr/>
        </p:nvSpPr>
        <p:spPr>
          <a:xfrm>
            <a:off x="548640" y="297180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8’</a:t>
            </a:r>
            <a:endParaRPr lang="en-US" sz="2400" dirty="0"/>
          </a:p>
        </p:txBody>
      </p:sp>
      <p:sp>
        <p:nvSpPr>
          <p:cNvPr id="9" name="Shape 7"/>
          <p:cNvSpPr/>
          <p:nvPr/>
        </p:nvSpPr>
        <p:spPr>
          <a:xfrm>
            <a:off x="1828800" y="2971800"/>
            <a:ext cx="6035040" cy="1005840"/>
          </a:xfrm>
          <a:prstGeom prst="roundRect">
            <a:avLst>
              <a:gd name="adj" fmla="val 7273"/>
            </a:avLst>
          </a:prstGeom>
          <a:solidFill>
            <a:srgbClr val="22395F"/>
          </a:solidFill>
          <a:ln w="12700">
            <a:solidFill>
              <a:srgbClr val="22395F"/>
            </a:solidFill>
            <a:prstDash val="solid"/>
          </a:ln>
        </p:spPr>
      </p:sp>
      <p:sp>
        <p:nvSpPr>
          <p:cNvPr id="10" name="Text 8"/>
          <p:cNvSpPr txBox="1"/>
          <p:nvPr/>
        </p:nvSpPr>
        <p:spPr>
          <a:xfrm>
            <a:off x="2011680" y="297180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Kiểm tra điều kiện bắt buộc trước; chấm A, B, C từ 1–5; tính điểm</a:t>
            </a:r>
            <a:endParaRPr lang="en-US" sz="1500" dirty="0"/>
          </a:p>
        </p:txBody>
      </p:sp>
      <p:sp>
        <p:nvSpPr>
          <p:cNvPr id="11" name="Shape 9"/>
          <p:cNvSpPr/>
          <p:nvPr/>
        </p:nvSpPr>
        <p:spPr>
          <a:xfrm>
            <a:off x="548640" y="4160520"/>
            <a:ext cx="1097280" cy="1005840"/>
          </a:xfrm>
          <a:prstGeom prst="roundRect">
            <a:avLst>
              <a:gd name="adj" fmla="val 7273"/>
            </a:avLst>
          </a:prstGeom>
          <a:solidFill>
            <a:srgbClr val="FF5178"/>
          </a:solidFill>
          <a:ln w="12700">
            <a:solidFill>
              <a:srgbClr val="FF5178"/>
            </a:solidFill>
            <a:prstDash val="solid"/>
          </a:ln>
        </p:spPr>
      </p:sp>
      <p:sp>
        <p:nvSpPr>
          <p:cNvPr id="12" name="Text 10"/>
          <p:cNvSpPr txBox="1"/>
          <p:nvPr/>
        </p:nvSpPr>
        <p:spPr>
          <a:xfrm>
            <a:off x="548640" y="416052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5’</a:t>
            </a:r>
            <a:endParaRPr lang="en-US" sz="2400" dirty="0"/>
          </a:p>
        </p:txBody>
      </p:sp>
      <p:sp>
        <p:nvSpPr>
          <p:cNvPr id="13" name="Shape 11"/>
          <p:cNvSpPr/>
          <p:nvPr/>
        </p:nvSpPr>
        <p:spPr>
          <a:xfrm>
            <a:off x="1828800" y="4160520"/>
            <a:ext cx="6035040" cy="1005840"/>
          </a:xfrm>
          <a:prstGeom prst="roundRect">
            <a:avLst>
              <a:gd name="adj" fmla="val 7273"/>
            </a:avLst>
          </a:prstGeom>
          <a:solidFill>
            <a:srgbClr val="22395F"/>
          </a:solidFill>
          <a:ln w="12700">
            <a:solidFill>
              <a:srgbClr val="22395F"/>
            </a:solidFill>
            <a:prstDash val="solid"/>
          </a:ln>
        </p:spPr>
      </p:sp>
      <p:sp>
        <p:nvSpPr>
          <p:cNvPr id="14" name="Text 12"/>
          <p:cNvSpPr txBox="1"/>
          <p:nvPr/>
        </p:nvSpPr>
        <p:spPr>
          <a:xfrm>
            <a:off x="2011680" y="416052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Chọn 1 khách sạn (có thể có điều kiện); viết 1 câu báo anh Minh + 1 câu phản hồi khách sạn trượt</a:t>
            </a:r>
            <a:endParaRPr lang="en-US" sz="1500" dirty="0"/>
          </a:p>
        </p:txBody>
      </p:sp>
      <p:sp>
        <p:nvSpPr>
          <p:cNvPr id="15" name="Shape 13"/>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16" name="Shape 14"/>
          <p:cNvSpPr/>
          <p:nvPr/>
        </p:nvSpPr>
        <p:spPr>
          <a:xfrm>
            <a:off x="9372600" y="1965960"/>
            <a:ext cx="1005840" cy="1005840"/>
          </a:xfrm>
          <a:prstGeom prst="ellipse">
            <a:avLst/>
          </a:prstGeom>
          <a:solidFill>
            <a:srgbClr val="49B296"/>
          </a:solidFill>
          <a:ln w="12700">
            <a:solidFill>
              <a:srgbClr val="49B296"/>
            </a:solidFill>
            <a:prstDash val="solid"/>
          </a:ln>
        </p:spPr>
      </p:sp>
      <p:pic>
        <p:nvPicPr>
          <p:cNvPr id="17"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18" name="Text 15"/>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49B296"/>
                </a:solidFill>
                <a:latin typeface="Roboto" pitchFamily="34" charset="0"/>
                <a:ea typeface="Roboto" pitchFamily="34" charset="-122"/>
                <a:cs typeface="Roboto" pitchFamily="34" charset="-120"/>
              </a:rPr>
              <a:t>Sản phẩm</a:t>
            </a:r>
            <a:endParaRPr lang="en-US" sz="1800" dirty="0"/>
          </a:p>
        </p:txBody>
      </p:sp>
      <p:sp>
        <p:nvSpPr>
          <p:cNvPr id="19" name="Text 16"/>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Bảng chấm trên A3 + 2 câu — khách sạn được chọn dùng ở Thực hành 2</a:t>
            </a:r>
            <a:endParaRPr lang="en-US" sz="1600" dirty="0"/>
          </a:p>
        </p:txBody>
      </p:sp>
      <p:sp>
        <p:nvSpPr>
          <p:cNvPr id="20" name="Text 17"/>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Roboto" pitchFamily="34" charset="0"/>
                <a:ea typeface="Roboto" pitchFamily="34" charset="-122"/>
                <a:cs typeface="Roboto" pitchFamily="34" charset="-120"/>
              </a:rPr>
              <a:t>Ngân sách địa điểm + F&amp;B + AV: tối đa 1,50 tỷ. Cần ~860–920 m² dùng được.</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Giải lao 8 phút</a:t>
            </a:r>
            <a:endParaRPr lang="en-US" sz="2800" dirty="0"/>
          </a:p>
        </p:txBody>
      </p:sp>
      <p:sp>
        <p:nvSpPr>
          <p:cNvPr id="3" name="Shape 1"/>
          <p:cNvSpPr/>
          <p:nvPr/>
        </p:nvSpPr>
        <p:spPr>
          <a:xfrm>
            <a:off x="4956048" y="1737360"/>
            <a:ext cx="2286000" cy="2286000"/>
          </a:xfrm>
          <a:prstGeom prst="ellipse">
            <a:avLst/>
          </a:prstGeom>
          <a:solidFill>
            <a:srgbClr val="FF9259"/>
          </a:solidFill>
          <a:ln w="12700">
            <a:solidFill>
              <a:srgbClr val="FF9259"/>
            </a:solidFill>
            <a:prstDash val="solid"/>
          </a:ln>
        </p:spPr>
      </p:sp>
      <p:pic>
        <p:nvPicPr>
          <p:cNvPr id="4" name="Image 0" descr="preencoded.png">    </p:cNvPr>
          <p:cNvPicPr>
            <a:picLocks noChangeAspect="1"/>
          </p:cNvPicPr>
          <p:nvPr/>
        </p:nvPicPr>
        <p:blipFill>
          <a:blip r:embed="rId1"/>
          <a:stretch>
            <a:fillRect/>
          </a:stretch>
        </p:blipFill>
        <p:spPr>
          <a:xfrm>
            <a:off x="5458968" y="2240280"/>
            <a:ext cx="1280160" cy="1280160"/>
          </a:xfrm>
          <a:prstGeom prst="rect">
            <a:avLst/>
          </a:prstGeom>
        </p:spPr>
      </p:pic>
      <p:sp>
        <p:nvSpPr>
          <p:cNvPr id="5" name="Text 2"/>
          <p:cNvSpPr txBox="1"/>
          <p:nvPr/>
        </p:nvSpPr>
        <p:spPr>
          <a:xfrm>
            <a:off x="548640" y="4160520"/>
            <a:ext cx="11091672" cy="914400"/>
          </a:xfrm>
          <a:prstGeom prst="rect">
            <a:avLst/>
          </a:prstGeom>
          <a:noFill/>
          <a:ln/>
        </p:spPr>
        <p:txBody>
          <a:bodyPr wrap="square" lIns="635" tIns="635" rIns="635" bIns="635" rtlCol="0" anchor="ctr"/>
          <a:lstStyle/>
          <a:p>
            <a:pPr algn="ctr" indent="0" marL="0">
              <a:buNone/>
            </a:pPr>
            <a:r>
              <a:rPr lang="en-US" sz="4800" b="1" dirty="0">
                <a:solidFill>
                  <a:srgbClr val="FF9259"/>
                </a:solidFill>
                <a:latin typeface="Roboto" pitchFamily="34" charset="0"/>
                <a:ea typeface="Roboto" pitchFamily="34" charset="-122"/>
                <a:cs typeface="Roboto" pitchFamily="34" charset="-120"/>
              </a:rPr>
              <a:t>8 phút</a:t>
            </a:r>
            <a:endParaRPr lang="en-US" sz="4800" dirty="0"/>
          </a:p>
        </p:txBody>
      </p:sp>
      <p:sp>
        <p:nvSpPr>
          <p:cNvPr id="6" name="Shape 3"/>
          <p:cNvSpPr/>
          <p:nvPr/>
        </p:nvSpPr>
        <p:spPr>
          <a:xfrm>
            <a:off x="1984248" y="5257800"/>
            <a:ext cx="8229600" cy="731520"/>
          </a:xfrm>
          <a:prstGeom prst="roundRect">
            <a:avLst>
              <a:gd name="adj" fmla="val 10000"/>
            </a:avLst>
          </a:prstGeom>
          <a:solidFill>
            <a:srgbClr val="FFD23B"/>
          </a:solidFill>
          <a:ln w="12700">
            <a:solidFill>
              <a:srgbClr val="FFD23B"/>
            </a:solidFill>
            <a:prstDash val="solid"/>
          </a:ln>
        </p:spPr>
      </p:sp>
      <p:sp>
        <p:nvSpPr>
          <p:cNvPr id="7" name="Text 4"/>
          <p:cNvSpPr txBox="1"/>
          <p:nvPr/>
        </p:nvSpPr>
        <p:spPr>
          <a:xfrm>
            <a:off x="2167128" y="5257800"/>
            <a:ext cx="786384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Quay lại lúc: [cần giảng viên xác nhận]</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Một địa điểm phục vụ nhiều bên thuê — hãy hỏi lịch trước và sau ngày của mình</a:t>
            </a:r>
            <a:endParaRPr lang="en-US" sz="2800" dirty="0"/>
          </a:p>
        </p:txBody>
      </p:sp>
      <p:sp>
        <p:nvSpPr>
          <p:cNvPr id="3" name="Shape 1"/>
          <p:cNvSpPr/>
          <p:nvPr/>
        </p:nvSpPr>
        <p:spPr>
          <a:xfrm>
            <a:off x="548640" y="1783080"/>
            <a:ext cx="667512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777240" y="1965960"/>
            <a:ext cx="822960" cy="822960"/>
          </a:xfrm>
          <a:prstGeom prst="ellipse">
            <a:avLst/>
          </a:prstGeom>
          <a:solidFill>
            <a:srgbClr val="09A1E5"/>
          </a:solidFill>
          <a:ln w="12700">
            <a:solidFill>
              <a:srgbClr val="09A1E5"/>
            </a:solidFill>
            <a:prstDash val="solid"/>
          </a:ln>
        </p:spPr>
      </p:sp>
      <p:pic>
        <p:nvPicPr>
          <p:cNvPr id="5" name="Image 0" descr="preencoded.png">    </p:cNvPr>
          <p:cNvPicPr>
            <a:picLocks noChangeAspect="1"/>
          </p:cNvPicPr>
          <p:nvPr/>
        </p:nvPicPr>
        <p:blipFill>
          <a:blip r:embed="rId1"/>
          <a:stretch>
            <a:fillRect/>
          </a:stretch>
        </p:blipFill>
        <p:spPr>
          <a:xfrm>
            <a:off x="958291" y="2147011"/>
            <a:ext cx="460858" cy="460858"/>
          </a:xfrm>
          <a:prstGeom prst="rect">
            <a:avLst/>
          </a:prstGeom>
        </p:spPr>
      </p:pic>
      <p:sp>
        <p:nvSpPr>
          <p:cNvPr id="6" name="Text 3"/>
          <p:cNvSpPr txBox="1"/>
          <p:nvPr/>
        </p:nvSpPr>
        <p:spPr>
          <a:xfrm>
            <a:off x="1783080" y="1965960"/>
            <a:ext cx="5303520" cy="822960"/>
          </a:xfrm>
          <a:prstGeom prst="rect">
            <a:avLst/>
          </a:prstGeom>
          <a:noFill/>
          <a:ln/>
        </p:spPr>
        <p:txBody>
          <a:bodyPr wrap="square" lIns="635" tIns="635" rIns="635" bIns="635" rtlCol="0" anchor="ctr"/>
          <a:lstStyle/>
          <a:p>
            <a:pPr indent="0" marL="0">
              <a:buNone/>
            </a:pPr>
            <a:r>
              <a:rPr lang="en-US" sz="1800" b="1" dirty="0">
                <a:solidFill>
                  <a:srgbClr val="09A1E5"/>
                </a:solidFill>
                <a:latin typeface="Roboto" pitchFamily="34" charset="0"/>
                <a:ea typeface="Roboto" pitchFamily="34" charset="-122"/>
                <a:cs typeface="Roboto" pitchFamily="34" charset="-120"/>
              </a:rPr>
              <a:t>Sân vận động quốc gia Mỹ Đình, cuối 2024</a:t>
            </a:r>
            <a:endParaRPr lang="en-US" sz="1800" dirty="0"/>
          </a:p>
        </p:txBody>
      </p:sp>
      <p:sp>
        <p:nvSpPr>
          <p:cNvPr id="7" name="Text 4"/>
          <p:cNvSpPr txBox="1"/>
          <p:nvPr/>
        </p:nvSpPr>
        <p:spPr>
          <a:xfrm>
            <a:off x="822960" y="2971800"/>
            <a:ext cx="6217920" cy="2560320"/>
          </a:xfrm>
          <a:prstGeom prst="rect">
            <a:avLst/>
          </a:prstGeom>
          <a:noFill/>
          <a:ln/>
        </p:spPr>
        <p:txBody>
          <a:bodyPr wrap="square" lIns="635" tIns="635" rIns="635" bIns="635" rtlCol="0" anchor="t"/>
          <a:lstStyle/>
          <a:p>
            <a:pPr marL="342900" indent="-342900">
              <a:spcAft>
                <a:spcPts val="800"/>
              </a:spcAft>
              <a:buSzPct val="100000"/>
              <a:buChar char="•"/>
            </a:pPr>
            <a:r>
              <a:rPr lang="en-US" sz="1700" dirty="0">
                <a:solidFill>
                  <a:srgbClr val="FBFAF4"/>
                </a:solidFill>
                <a:latin typeface="Roboto" pitchFamily="34" charset="0"/>
                <a:ea typeface="Roboto" pitchFamily="34" charset="-122"/>
                <a:cs typeface="Roboto" pitchFamily="34" charset="-120"/>
              </a:rPr>
              <a:t>Concert tối 7/12/2024</a:t>
            </a:r>
            <a:endParaRPr lang="en-US" sz="1700" dirty="0"/>
          </a:p>
          <a:p>
            <a:pPr marL="342900" indent="-342900">
              <a:spcAft>
                <a:spcPts val="800"/>
              </a:spcAft>
              <a:buSzPct val="100000"/>
              <a:buChar char="•"/>
            </a:pPr>
            <a:r>
              <a:rPr lang="en-US" sz="1700" dirty="0">
                <a:solidFill>
                  <a:srgbClr val="FBFAF4"/>
                </a:solidFill>
                <a:latin typeface="Roboto" pitchFamily="34" charset="0"/>
                <a:ea typeface="Roboto" pitchFamily="34" charset="-122"/>
                <a:cs typeface="Roboto" pitchFamily="34" charset="-120"/>
              </a:rPr>
              <a:t>Một tuần sau (15/12): trận ASEAN Cup Việt Nam – Indonesia</a:t>
            </a:r>
            <a:endParaRPr lang="en-US" sz="1700" dirty="0"/>
          </a:p>
          <a:p>
            <a:pPr marL="342900" indent="-342900">
              <a:spcAft>
                <a:spcPts val="800"/>
              </a:spcAft>
              <a:buSzPct val="100000"/>
              <a:buChar char="•"/>
            </a:pPr>
            <a:r>
              <a:rPr lang="en-US" sz="1700" dirty="0">
                <a:solidFill>
                  <a:srgbClr val="FBFAF4"/>
                </a:solidFill>
                <a:latin typeface="Roboto" pitchFamily="34" charset="0"/>
                <a:ea typeface="Roboto" pitchFamily="34" charset="-122"/>
                <a:cs typeface="Roboto" pitchFamily="34" charset="-120"/>
              </a:rPr>
              <a:t>VFF xin đổi sân nhà về Việt Trì</a:t>
            </a:r>
            <a:endParaRPr lang="en-US" sz="1700" dirty="0"/>
          </a:p>
        </p:txBody>
      </p:sp>
      <p:sp>
        <p:nvSpPr>
          <p:cNvPr id="8" name="Shape 5"/>
          <p:cNvSpPr/>
          <p:nvPr/>
        </p:nvSpPr>
        <p:spPr>
          <a:xfrm>
            <a:off x="7452360" y="1783080"/>
            <a:ext cx="4187952" cy="3931920"/>
          </a:xfrm>
          <a:prstGeom prst="roundRect">
            <a:avLst>
              <a:gd name="adj" fmla="val 1860"/>
            </a:avLst>
          </a:prstGeom>
          <a:solidFill>
            <a:srgbClr val="FFD23B"/>
          </a:solidFill>
          <a:ln w="12700">
            <a:solidFill>
              <a:srgbClr val="FFD23B"/>
            </a:solidFill>
            <a:prstDash val="solid"/>
          </a:ln>
        </p:spPr>
      </p:sp>
      <p:sp>
        <p:nvSpPr>
          <p:cNvPr id="9" name="Text 6"/>
          <p:cNvSpPr txBox="1"/>
          <p:nvPr/>
        </p:nvSpPr>
        <p:spPr>
          <a:xfrm>
            <a:off x="7635240" y="1874520"/>
            <a:ext cx="3822192" cy="3749040"/>
          </a:xfrm>
          <a:prstGeom prst="rect">
            <a:avLst/>
          </a:prstGeom>
          <a:noFill/>
          <a:ln/>
        </p:spPr>
        <p:txBody>
          <a:bodyPr wrap="square" lIns="635" tIns="635" rIns="635" bIns="635" rtlCol="0" anchor="t"/>
          <a:lstStyle/>
          <a:p>
            <a:pPr indent="0" marL="0">
              <a:buNone/>
            </a:pPr>
            <a:r>
              <a:rPr lang="en-US" sz="1600" b="1" dirty="0">
                <a:solidFill>
                  <a:srgbClr val="172849"/>
                </a:solidFill>
                <a:latin typeface="Roboto" pitchFamily="34" charset="0"/>
                <a:ea typeface="Roboto" pitchFamily="34" charset="-122"/>
                <a:cs typeface="Roboto" pitchFamily="34" charset="-120"/>
              </a:rPr>
              <a:t>Agency luôn hỏi:</a:t>
            </a:r>
            <a:endParaRPr lang="en-US" sz="1600" dirty="0"/>
          </a:p>
          <a:p>
            <a:pPr indent="0" marL="0">
              <a:buNone/>
            </a:pPr>
            <a:endParaRPr lang="en-US" sz="1600" dirty="0"/>
          </a:p>
          <a:p>
            <a:pPr indent="0" marL="0">
              <a:buNone/>
            </a:pPr>
            <a:r>
              <a:rPr lang="en-US" sz="1600" b="1" dirty="0">
                <a:solidFill>
                  <a:srgbClr val="172849"/>
                </a:solidFill>
                <a:latin typeface="Roboto" pitchFamily="34" charset="0"/>
                <a:ea typeface="Roboto" pitchFamily="34" charset="-122"/>
                <a:cs typeface="Roboto" pitchFamily="34" charset="-120"/>
              </a:rPr>
              <a:t>• Trước và sau ngày của tôi có sự kiện gì?</a:t>
            </a:r>
            <a:endParaRPr lang="en-US" sz="1600" dirty="0"/>
          </a:p>
          <a:p>
            <a:pPr indent="0" marL="0">
              <a:buNone/>
            </a:pPr>
            <a:r>
              <a:rPr lang="en-US" sz="1600" b="1" dirty="0">
                <a:solidFill>
                  <a:srgbClr val="172849"/>
                </a:solidFill>
                <a:latin typeface="Roboto" pitchFamily="34" charset="0"/>
                <a:ea typeface="Roboto" pitchFamily="34" charset="-122"/>
                <a:cs typeface="Roboto" pitchFamily="34" charset="-120"/>
              </a:rPr>
              <a:t>• Giờ dựng – tháo thế nào?</a:t>
            </a:r>
            <a:endParaRPr lang="en-US" sz="1600" dirty="0"/>
          </a:p>
          <a:p>
            <a:pPr indent="0" marL="0">
              <a:buNone/>
            </a:pPr>
            <a:r>
              <a:rPr lang="en-US" sz="1600" b="1" dirty="0">
                <a:solidFill>
                  <a:srgbClr val="172849"/>
                </a:solidFill>
                <a:latin typeface="Roboto" pitchFamily="34" charset="0"/>
                <a:ea typeface="Roboto" pitchFamily="34" charset="-122"/>
                <a:cs typeface="Roboto" pitchFamily="34" charset="-120"/>
              </a:rPr>
              <a:t>• Ai chịu trách nhiệm trả lại mặt bằng?</a:t>
            </a:r>
            <a:endParaRPr lang="en-US" sz="1600" dirty="0"/>
          </a:p>
        </p:txBody>
      </p:sp>
      <p:sp>
        <p:nvSpPr>
          <p:cNvPr id="10"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Tuổi Trẻ (11/11/2024); Thanh Niên; Thể thao &amp; Văn hóa (V10) — đã kiểm chứng chéo. [VERIFY: tiêu đề bài báo trước khi phát cho SV]</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Chọn địa điểm trước — vì địa điểm quyết định nhà cung cấp</a:t>
            </a:r>
            <a:endParaRPr lang="en-US" sz="2800" dirty="0"/>
          </a:p>
        </p:txBody>
      </p:sp>
      <p:sp>
        <p:nvSpPr>
          <p:cNvPr id="3" name="Shape 1"/>
          <p:cNvSpPr/>
          <p:nvPr/>
        </p:nvSpPr>
        <p:spPr>
          <a:xfrm>
            <a:off x="548640" y="1783080"/>
            <a:ext cx="3557016"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Dowson et al. (2023)</a:t>
            </a:r>
            <a:endParaRPr lang="en-US" sz="1600" dirty="0"/>
          </a:p>
        </p:txBody>
      </p:sp>
      <p:sp>
        <p:nvSpPr>
          <p:cNvPr id="5" name="Shape 3"/>
          <p:cNvSpPr/>
          <p:nvPr/>
        </p:nvSpPr>
        <p:spPr>
          <a:xfrm>
            <a:off x="548640" y="2514600"/>
            <a:ext cx="3557016" cy="2697480"/>
          </a:xfrm>
          <a:prstGeom prst="roundRect">
            <a:avLst>
              <a:gd name="adj" fmla="val 2712"/>
            </a:avLst>
          </a:prstGeom>
          <a:solidFill>
            <a:srgbClr val="22395F"/>
          </a:solidFill>
          <a:ln w="12700">
            <a:solidFill>
              <a:srgbClr val="22395F"/>
            </a:solidFill>
            <a:prstDash val="solid"/>
          </a:ln>
        </p:spPr>
      </p:sp>
      <p:sp>
        <p:nvSpPr>
          <p:cNvPr id="6" name="Text 4"/>
          <p:cNvSpPr txBox="1"/>
          <p:nvPr/>
        </p:nvSpPr>
        <p:spPr>
          <a:xfrm>
            <a:off x="731520"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“The MVP (Most Valuable Player) of an event is the venue and location. … All the intricate planning cannot make up for a less than ideal venue.”</a:t>
            </a:r>
            <a:endParaRPr lang="en-US" sz="1600" dirty="0"/>
          </a:p>
        </p:txBody>
      </p:sp>
      <p:sp>
        <p:nvSpPr>
          <p:cNvPr id="7" name="Text 5"/>
          <p:cNvSpPr txBox="1"/>
          <p:nvPr/>
        </p:nvSpPr>
        <p:spPr>
          <a:xfrm>
            <a:off x="548640"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(V14, tr. 104)</a:t>
            </a:r>
            <a:endParaRPr lang="en-US" sz="1200" dirty="0"/>
          </a:p>
        </p:txBody>
      </p:sp>
      <p:sp>
        <p:nvSpPr>
          <p:cNvPr id="8" name="Shape 6"/>
          <p:cNvSpPr/>
          <p:nvPr/>
        </p:nvSpPr>
        <p:spPr>
          <a:xfrm>
            <a:off x="4315968" y="1783080"/>
            <a:ext cx="3557016" cy="594360"/>
          </a:xfrm>
          <a:prstGeom prst="roundRect">
            <a:avLst>
              <a:gd name="adj" fmla="val 12308"/>
            </a:avLst>
          </a:prstGeom>
          <a:solidFill>
            <a:srgbClr val="FFD23B"/>
          </a:solidFill>
          <a:ln w="12700">
            <a:solidFill>
              <a:srgbClr val="FFD23B"/>
            </a:solidFill>
            <a:prstDash val="solid"/>
          </a:ln>
        </p:spPr>
      </p:sp>
      <p:sp>
        <p:nvSpPr>
          <p:cNvPr id="9" name="Text 7"/>
          <p:cNvSpPr txBox="1"/>
          <p:nvPr/>
        </p:nvSpPr>
        <p:spPr>
          <a:xfrm>
            <a:off x="4498848"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BizBash (Blumin)</a:t>
            </a:r>
            <a:endParaRPr lang="en-US" sz="1600" dirty="0"/>
          </a:p>
        </p:txBody>
      </p:sp>
      <p:sp>
        <p:nvSpPr>
          <p:cNvPr id="10" name="Shape 8"/>
          <p:cNvSpPr/>
          <p:nvPr/>
        </p:nvSpPr>
        <p:spPr>
          <a:xfrm>
            <a:off x="4315968" y="2514600"/>
            <a:ext cx="3557016" cy="2697480"/>
          </a:xfrm>
          <a:prstGeom prst="roundRect">
            <a:avLst>
              <a:gd name="adj" fmla="val 2712"/>
            </a:avLst>
          </a:prstGeom>
          <a:solidFill>
            <a:srgbClr val="22395F"/>
          </a:solidFill>
          <a:ln w="12700">
            <a:solidFill>
              <a:srgbClr val="22395F"/>
            </a:solidFill>
            <a:prstDash val="solid"/>
          </a:ln>
        </p:spPr>
      </p:sp>
      <p:sp>
        <p:nvSpPr>
          <p:cNvPr id="11" name="Text 9"/>
          <p:cNvSpPr txBox="1"/>
          <p:nvPr/>
        </p:nvSpPr>
        <p:spPr>
          <a:xfrm>
            <a:off x="4498848"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“The venue is often the first step in a search because that influences which vendors are used.”</a:t>
            </a:r>
            <a:endParaRPr lang="en-US" sz="1600" dirty="0"/>
          </a:p>
        </p:txBody>
      </p:sp>
      <p:sp>
        <p:nvSpPr>
          <p:cNvPr id="12" name="Text 10"/>
          <p:cNvSpPr txBox="1"/>
          <p:nvPr/>
        </p:nvSpPr>
        <p:spPr>
          <a:xfrm>
            <a:off x="4315968"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(V07)</a:t>
            </a:r>
            <a:endParaRPr lang="en-US" sz="1200" dirty="0"/>
          </a:p>
        </p:txBody>
      </p:sp>
      <p:sp>
        <p:nvSpPr>
          <p:cNvPr id="13" name="Shape 11"/>
          <p:cNvSpPr/>
          <p:nvPr/>
        </p:nvSpPr>
        <p:spPr>
          <a:xfrm>
            <a:off x="8083296" y="1783080"/>
            <a:ext cx="3557016" cy="594360"/>
          </a:xfrm>
          <a:prstGeom prst="roundRect">
            <a:avLst>
              <a:gd name="adj" fmla="val 12308"/>
            </a:avLst>
          </a:prstGeom>
          <a:solidFill>
            <a:srgbClr val="09A1E5"/>
          </a:solidFill>
          <a:ln w="12700">
            <a:solidFill>
              <a:srgbClr val="09A1E5"/>
            </a:solidFill>
            <a:prstDash val="solid"/>
          </a:ln>
        </p:spPr>
      </p:sp>
      <p:sp>
        <p:nvSpPr>
          <p:cNvPr id="14" name="Text 12"/>
          <p:cNvSpPr txBox="1"/>
          <p:nvPr/>
        </p:nvSpPr>
        <p:spPr>
          <a:xfrm>
            <a:off x="8266176"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Cvent 2026</a:t>
            </a:r>
            <a:endParaRPr lang="en-US" sz="1600" dirty="0"/>
          </a:p>
        </p:txBody>
      </p:sp>
      <p:sp>
        <p:nvSpPr>
          <p:cNvPr id="15" name="Shape 13"/>
          <p:cNvSpPr/>
          <p:nvPr/>
        </p:nvSpPr>
        <p:spPr>
          <a:xfrm>
            <a:off x="8083296" y="2514600"/>
            <a:ext cx="3557016" cy="2697480"/>
          </a:xfrm>
          <a:prstGeom prst="roundRect">
            <a:avLst>
              <a:gd name="adj" fmla="val 2712"/>
            </a:avLst>
          </a:prstGeom>
          <a:solidFill>
            <a:srgbClr val="22395F"/>
          </a:solidFill>
          <a:ln w="12700">
            <a:solidFill>
              <a:srgbClr val="22395F"/>
            </a:solidFill>
            <a:prstDash val="solid"/>
          </a:ln>
        </p:spPr>
      </p:sp>
      <p:sp>
        <p:nvSpPr>
          <p:cNvPr id="16" name="Text 14"/>
          <p:cNvSpPr txBox="1"/>
          <p:nvPr/>
        </p:nvSpPr>
        <p:spPr>
          <a:xfrm>
            <a:off x="8266176"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Thông số phòng (50%), hình ảnh (48%), sơ đồ mặt bằng (46%) ảnh hưởng nhiều nhất đến quyết định gửi RFP.</a:t>
            </a:r>
            <a:endParaRPr lang="en-US" sz="1600" dirty="0"/>
          </a:p>
        </p:txBody>
      </p:sp>
      <p:sp>
        <p:nvSpPr>
          <p:cNvPr id="17" name="Text 15"/>
          <p:cNvSpPr txBox="1"/>
          <p:nvPr/>
        </p:nvSpPr>
        <p:spPr>
          <a:xfrm>
            <a:off x="8083296"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(V06 · chưa KCC)</a:t>
            </a:r>
            <a:endParaRPr lang="en-US" sz="1200" dirty="0"/>
          </a:p>
        </p:txBody>
      </p:sp>
      <p:sp>
        <p:nvSpPr>
          <p:cNvPr id="18" name="Shape 16"/>
          <p:cNvSpPr/>
          <p:nvPr/>
        </p:nvSpPr>
        <p:spPr>
          <a:xfrm>
            <a:off x="548640" y="5669280"/>
            <a:ext cx="11091672" cy="685800"/>
          </a:xfrm>
          <a:prstGeom prst="roundRect">
            <a:avLst>
              <a:gd name="adj" fmla="val 10667"/>
            </a:avLst>
          </a:prstGeom>
          <a:solidFill>
            <a:srgbClr val="FFD23B"/>
          </a:solidFill>
          <a:ln w="12700">
            <a:solidFill>
              <a:srgbClr val="FFD23B"/>
            </a:solidFill>
            <a:prstDash val="solid"/>
          </a:ln>
        </p:spPr>
      </p:sp>
      <p:sp>
        <p:nvSpPr>
          <p:cNvPr id="19" name="Text 17"/>
          <p:cNvSpPr txBox="1"/>
          <p:nvPr/>
        </p:nvSpPr>
        <p:spPr>
          <a:xfrm>
            <a:off x="731520" y="5669280"/>
            <a:ext cx="10424160" cy="68580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Khách sạn có AV độc quyền → Nova mất quyền chọn AV. Khách sạn cho mang AV ngoài → Nova chọn được đơn vị quen.</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Giá quan trọng, nhưng quan hệ với địa điểm cũng có giá</a:t>
            </a:r>
            <a:endParaRPr lang="en-US" sz="2800" dirty="0"/>
          </a:p>
        </p:txBody>
      </p:sp>
      <p:sp>
        <p:nvSpPr>
          <p:cNvPr id="3" name="Shape 1"/>
          <p:cNvSpPr/>
          <p:nvPr/>
        </p:nvSpPr>
        <p:spPr>
          <a:xfrm>
            <a:off x="548640" y="1783080"/>
            <a:ext cx="3566160" cy="3108960"/>
          </a:xfrm>
          <a:prstGeom prst="roundRect">
            <a:avLst>
              <a:gd name="adj" fmla="val 2353"/>
            </a:avLst>
          </a:prstGeom>
          <a:solidFill>
            <a:srgbClr val="22395F"/>
          </a:solidFill>
          <a:ln w="12700">
            <a:solidFill>
              <a:srgbClr val="22395F"/>
            </a:solidFill>
            <a:prstDash val="solid"/>
          </a:ln>
        </p:spPr>
      </p:sp>
      <p:sp>
        <p:nvSpPr>
          <p:cNvPr id="4" name="Text 2"/>
          <p:cNvSpPr txBox="1"/>
          <p:nvPr/>
        </p:nvSpPr>
        <p:spPr>
          <a:xfrm>
            <a:off x="548640" y="1920240"/>
            <a:ext cx="3566160" cy="1280160"/>
          </a:xfrm>
          <a:prstGeom prst="rect">
            <a:avLst/>
          </a:prstGeom>
          <a:noFill/>
          <a:ln/>
        </p:spPr>
        <p:txBody>
          <a:bodyPr wrap="square" lIns="635" tIns="635" rIns="635" bIns="635" rtlCol="0" anchor="ctr"/>
          <a:lstStyle/>
          <a:p>
            <a:pPr algn="ctr" indent="0" marL="0">
              <a:buNone/>
            </a:pPr>
            <a:r>
              <a:rPr lang="en-US" sz="6000" b="1" dirty="0">
                <a:solidFill>
                  <a:srgbClr val="49B296"/>
                </a:solidFill>
                <a:latin typeface="Roboto" pitchFamily="34" charset="0"/>
                <a:ea typeface="Roboto" pitchFamily="34" charset="-122"/>
                <a:cs typeface="Roboto" pitchFamily="34" charset="-120"/>
              </a:rPr>
              <a:t>97%</a:t>
            </a:r>
            <a:endParaRPr lang="en-US" sz="6000" dirty="0"/>
          </a:p>
        </p:txBody>
      </p:sp>
      <p:sp>
        <p:nvSpPr>
          <p:cNvPr id="5" name="Text 3"/>
          <p:cNvSpPr txBox="1"/>
          <p:nvPr/>
        </p:nvSpPr>
        <p:spPr>
          <a:xfrm>
            <a:off x="777240" y="3291840"/>
            <a:ext cx="3108960" cy="1280160"/>
          </a:xfrm>
          <a:prstGeom prst="rect">
            <a:avLst/>
          </a:prstGeom>
          <a:noFill/>
          <a:ln/>
        </p:spPr>
        <p:txBody>
          <a:bodyPr wrap="square" lIns="635" tIns="635" rIns="635" bIns="635" rtlCol="0" anchor="t"/>
          <a:lstStyle/>
          <a:p>
            <a:pPr algn="ctr" indent="0" marL="0">
              <a:buNone/>
            </a:pPr>
            <a:r>
              <a:rPr lang="en-US" sz="1700" dirty="0">
                <a:solidFill>
                  <a:srgbClr val="FBFAF4"/>
                </a:solidFill>
                <a:latin typeface="Roboto" pitchFamily="34" charset="0"/>
                <a:ea typeface="Roboto" pitchFamily="34" charset="-122"/>
                <a:cs typeface="Roboto" pitchFamily="34" charset="-120"/>
              </a:rPr>
              <a:t>sẵn sàng đổi sang địa điểm thứ hai nếu tiết kiệm từ 20% trở xuống</a:t>
            </a:r>
            <a:endParaRPr lang="en-US" sz="1700" dirty="0"/>
          </a:p>
        </p:txBody>
      </p:sp>
      <p:sp>
        <p:nvSpPr>
          <p:cNvPr id="6" name="Shape 4"/>
          <p:cNvSpPr/>
          <p:nvPr/>
        </p:nvSpPr>
        <p:spPr>
          <a:xfrm>
            <a:off x="4325112" y="1783080"/>
            <a:ext cx="3566160" cy="3108960"/>
          </a:xfrm>
          <a:prstGeom prst="roundRect">
            <a:avLst>
              <a:gd name="adj" fmla="val 2353"/>
            </a:avLst>
          </a:prstGeom>
          <a:solidFill>
            <a:srgbClr val="22395F"/>
          </a:solidFill>
          <a:ln w="12700">
            <a:solidFill>
              <a:srgbClr val="22395F"/>
            </a:solidFill>
            <a:prstDash val="solid"/>
          </a:ln>
        </p:spPr>
      </p:sp>
      <p:sp>
        <p:nvSpPr>
          <p:cNvPr id="7" name="Text 5"/>
          <p:cNvSpPr txBox="1"/>
          <p:nvPr/>
        </p:nvSpPr>
        <p:spPr>
          <a:xfrm>
            <a:off x="4325112" y="1920240"/>
            <a:ext cx="3566160" cy="1280160"/>
          </a:xfrm>
          <a:prstGeom prst="rect">
            <a:avLst/>
          </a:prstGeom>
          <a:noFill/>
          <a:ln/>
        </p:spPr>
        <p:txBody>
          <a:bodyPr wrap="square" lIns="635" tIns="635" rIns="635" bIns="635" rtlCol="0" anchor="ctr"/>
          <a:lstStyle/>
          <a:p>
            <a:pPr algn="ctr" indent="0" marL="0">
              <a:buNone/>
            </a:pPr>
            <a:r>
              <a:rPr lang="en-US" sz="6000" b="1" dirty="0">
                <a:solidFill>
                  <a:srgbClr val="FF5178"/>
                </a:solidFill>
                <a:latin typeface="Roboto" pitchFamily="34" charset="0"/>
                <a:ea typeface="Roboto" pitchFamily="34" charset="-122"/>
                <a:cs typeface="Roboto" pitchFamily="34" charset="-120"/>
              </a:rPr>
              <a:t>94%</a:t>
            </a:r>
            <a:endParaRPr lang="en-US" sz="6000" dirty="0"/>
          </a:p>
        </p:txBody>
      </p:sp>
      <p:sp>
        <p:nvSpPr>
          <p:cNvPr id="8" name="Text 6"/>
          <p:cNvSpPr txBox="1"/>
          <p:nvPr/>
        </p:nvSpPr>
        <p:spPr>
          <a:xfrm>
            <a:off x="4553712" y="3291840"/>
            <a:ext cx="3108960" cy="1280160"/>
          </a:xfrm>
          <a:prstGeom prst="rect">
            <a:avLst/>
          </a:prstGeom>
          <a:noFill/>
          <a:ln/>
        </p:spPr>
        <p:txBody>
          <a:bodyPr wrap="square" lIns="635" tIns="635" rIns="635" bIns="635" rtlCol="0" anchor="t"/>
          <a:lstStyle/>
          <a:p>
            <a:pPr algn="ctr" indent="0" marL="0">
              <a:buNone/>
            </a:pPr>
            <a:r>
              <a:rPr lang="en-US" sz="1700" dirty="0">
                <a:solidFill>
                  <a:srgbClr val="FBFAF4"/>
                </a:solidFill>
                <a:latin typeface="Roboto" pitchFamily="34" charset="0"/>
                <a:ea typeface="Roboto" pitchFamily="34" charset="-122"/>
                <a:cs typeface="Roboto" pitchFamily="34" charset="-120"/>
              </a:rPr>
              <a:t>sẵn sàng trả thêm để giữ địa điểm ưu tiên</a:t>
            </a:r>
            <a:endParaRPr lang="en-US" sz="1700" dirty="0"/>
          </a:p>
        </p:txBody>
      </p:sp>
      <p:sp>
        <p:nvSpPr>
          <p:cNvPr id="9" name="Shape 7"/>
          <p:cNvSpPr/>
          <p:nvPr/>
        </p:nvSpPr>
        <p:spPr>
          <a:xfrm>
            <a:off x="8101584" y="1783080"/>
            <a:ext cx="3538728" cy="3108960"/>
          </a:xfrm>
          <a:prstGeom prst="roundRect">
            <a:avLst>
              <a:gd name="adj" fmla="val 2353"/>
            </a:avLst>
          </a:prstGeom>
          <a:solidFill>
            <a:srgbClr val="FFD23B"/>
          </a:solidFill>
          <a:ln w="12700">
            <a:solidFill>
              <a:srgbClr val="FFD23B"/>
            </a:solidFill>
            <a:prstDash val="solid"/>
          </a:ln>
        </p:spPr>
      </p:sp>
      <p:sp>
        <p:nvSpPr>
          <p:cNvPr id="10" name="Text 8"/>
          <p:cNvSpPr txBox="1"/>
          <p:nvPr/>
        </p:nvSpPr>
        <p:spPr>
          <a:xfrm>
            <a:off x="8284464" y="1874520"/>
            <a:ext cx="3172968" cy="2926080"/>
          </a:xfrm>
          <a:prstGeom prst="rect">
            <a:avLst/>
          </a:prstGeom>
          <a:noFill/>
          <a:ln/>
        </p:spPr>
        <p:txBody>
          <a:bodyPr wrap="square" lIns="635" tIns="635" rIns="635" bIns="635" rtlCol="0" anchor="t"/>
          <a:lstStyle/>
          <a:p>
            <a:pPr indent="0" marL="0">
              <a:buNone/>
            </a:pPr>
            <a:r>
              <a:rPr lang="en-US" sz="1600" b="1" dirty="0">
                <a:solidFill>
                  <a:srgbClr val="172849"/>
                </a:solidFill>
                <a:latin typeface="Roboto" pitchFamily="34" charset="0"/>
                <a:ea typeface="Roboto" pitchFamily="34" charset="-122"/>
                <a:cs typeface="Roboto" pitchFamily="34" charset="-120"/>
              </a:rPr>
              <a:t>Mâu thuẫn không?</a:t>
            </a:r>
            <a:endParaRPr lang="en-US" sz="1600" dirty="0"/>
          </a:p>
          <a:p>
            <a:pPr indent="0" marL="0">
              <a:buNone/>
            </a:pPr>
            <a:endParaRPr lang="en-US" sz="1600" dirty="0"/>
          </a:p>
          <a:p>
            <a:pPr indent="0" marL="0">
              <a:buNone/>
            </a:pPr>
            <a:r>
              <a:rPr lang="en-US" sz="1600" b="1" dirty="0">
                <a:solidFill>
                  <a:srgbClr val="172849"/>
                </a:solidFill>
                <a:latin typeface="Roboto" pitchFamily="34" charset="0"/>
                <a:ea typeface="Roboto" pitchFamily="34" charset="-122"/>
                <a:cs typeface="Roboto" pitchFamily="34" charset="-120"/>
              </a:rPr>
              <a:t>Không hẳn: giá quan trọng — nhưng quan hệ với địa điểm (customer of choice, Buổi 7) cũng có giá trị.</a:t>
            </a:r>
            <a:endParaRPr lang="en-US" sz="1600" dirty="0"/>
          </a:p>
        </p:txBody>
      </p:sp>
      <p:sp>
        <p:nvSpPr>
          <p:cNvPr id="11" name="Text 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Cvent Planner Sourcing Report 2025 (V06) · chưa KCC · nguồn có lợi ích thương mại.</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Với một ngân hàng, địa điểm quá xa hoa có thể thành tin xấu — hãy làm “phép thử trang báo”</a:t>
            </a:r>
            <a:endParaRPr lang="en-US" sz="2800" dirty="0"/>
          </a:p>
        </p:txBody>
      </p:sp>
      <p:sp>
        <p:nvSpPr>
          <p:cNvPr id="3" name="Shape 1"/>
          <p:cNvSpPr/>
          <p:nvPr/>
        </p:nvSpPr>
        <p:spPr>
          <a:xfrm>
            <a:off x="548640" y="1783080"/>
            <a:ext cx="548640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777240" y="1965960"/>
            <a:ext cx="822960" cy="82296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958291" y="2147011"/>
            <a:ext cx="460858" cy="460858"/>
          </a:xfrm>
          <a:prstGeom prst="rect">
            <a:avLst/>
          </a:prstGeom>
        </p:spPr>
      </p:pic>
      <p:sp>
        <p:nvSpPr>
          <p:cNvPr id="6" name="Text 3"/>
          <p:cNvSpPr txBox="1"/>
          <p:nvPr/>
        </p:nvSpPr>
        <p:spPr>
          <a:xfrm>
            <a:off x="1783080" y="1965960"/>
            <a:ext cx="4114800" cy="822960"/>
          </a:xfrm>
          <a:prstGeom prst="rect">
            <a:avLst/>
          </a:prstGeom>
          <a:noFill/>
          <a:ln/>
        </p:spPr>
        <p:txBody>
          <a:bodyPr wrap="square" lIns="635" tIns="635" rIns="635" bIns="635" rtlCol="0" anchor="ctr"/>
          <a:lstStyle/>
          <a:p>
            <a:pPr indent="0" marL="0">
              <a:buNone/>
            </a:pPr>
            <a:r>
              <a:rPr lang="en-US" sz="1900" b="1" dirty="0">
                <a:solidFill>
                  <a:srgbClr val="FF5178"/>
                </a:solidFill>
                <a:latin typeface="Roboto" pitchFamily="34" charset="0"/>
                <a:ea typeface="Roboto" pitchFamily="34" charset="-122"/>
                <a:cs typeface="Roboto" pitchFamily="34" charset="-120"/>
              </a:rPr>
              <a:t>“AIG effect” (2008)</a:t>
            </a:r>
            <a:endParaRPr lang="en-US" sz="1900" dirty="0"/>
          </a:p>
        </p:txBody>
      </p:sp>
      <p:sp>
        <p:nvSpPr>
          <p:cNvPr id="7" name="Text 4"/>
          <p:cNvSpPr txBox="1"/>
          <p:nvPr/>
        </p:nvSpPr>
        <p:spPr>
          <a:xfrm>
            <a:off x="822960" y="2926080"/>
            <a:ext cx="5029200" cy="2651760"/>
          </a:xfrm>
          <a:prstGeom prst="rect">
            <a:avLst/>
          </a:prstGeom>
          <a:noFill/>
          <a:ln/>
        </p:spPr>
        <p:txBody>
          <a:bodyPr wrap="square" lIns="635" tIns="635" rIns="635" bIns="635" rtlCol="0" anchor="t"/>
          <a:lstStyle/>
          <a:p>
            <a:pPr indent="0" marL="0">
              <a:buNone/>
            </a:pPr>
            <a:r>
              <a:rPr lang="en-US" sz="1550" dirty="0">
                <a:solidFill>
                  <a:srgbClr val="FBFAF4"/>
                </a:solidFill>
                <a:latin typeface="Roboto" pitchFamily="34" charset="0"/>
                <a:ea typeface="Roboto" pitchFamily="34" charset="-122"/>
                <a:cs typeface="Roboto" pitchFamily="34" charset="-120"/>
              </a:rPr>
              <a:t>Vài ngày sau khi nhận gói cứu trợ, một công ty con của AIG tổ chức sự kiện tại khách sạn sang trọng ở California. Báo chí chỉ trích dữ dội; nhiều doanh nghiệp sau đó hủy đặt chỗ vì sợ bị đưa tin.</a:t>
            </a:r>
            <a:endParaRPr lang="en-US" sz="1550" dirty="0"/>
          </a:p>
        </p:txBody>
      </p:sp>
      <p:sp>
        <p:nvSpPr>
          <p:cNvPr id="8" name="Shape 5"/>
          <p:cNvSpPr/>
          <p:nvPr/>
        </p:nvSpPr>
        <p:spPr>
          <a:xfrm>
            <a:off x="6263640" y="1783080"/>
            <a:ext cx="5376672" cy="3931920"/>
          </a:xfrm>
          <a:prstGeom prst="roundRect">
            <a:avLst>
              <a:gd name="adj" fmla="val 1860"/>
            </a:avLst>
          </a:prstGeom>
          <a:solidFill>
            <a:srgbClr val="FFD23B"/>
          </a:solidFill>
          <a:ln w="12700">
            <a:solidFill>
              <a:srgbClr val="FFD23B"/>
            </a:solidFill>
            <a:prstDash val="solid"/>
          </a:ln>
        </p:spPr>
      </p:sp>
      <p:sp>
        <p:nvSpPr>
          <p:cNvPr id="9" name="Text 6"/>
          <p:cNvSpPr txBox="1"/>
          <p:nvPr/>
        </p:nvSpPr>
        <p:spPr>
          <a:xfrm>
            <a:off x="6446520" y="1874520"/>
            <a:ext cx="5010912" cy="3749040"/>
          </a:xfrm>
          <a:prstGeom prst="rect">
            <a:avLst/>
          </a:prstGeom>
          <a:noFill/>
          <a:ln/>
        </p:spPr>
        <p:txBody>
          <a:bodyPr wrap="square" lIns="635" tIns="635" rIns="635" bIns="635" rtlCol="0" anchor="t"/>
          <a:lstStyle/>
          <a:p>
            <a:pPr indent="0" marL="0">
              <a:buNone/>
            </a:pPr>
            <a:r>
              <a:rPr lang="en-US" sz="1600" b="1" dirty="0">
                <a:solidFill>
                  <a:srgbClr val="172849"/>
                </a:solidFill>
                <a:latin typeface="Roboto" pitchFamily="34" charset="0"/>
                <a:ea typeface="Roboto" pitchFamily="34" charset="-122"/>
                <a:cs typeface="Roboto" pitchFamily="34" charset="-120"/>
              </a:rPr>
              <a:t>“Would it pass the test of appearing in a national newspaper?”</a:t>
            </a:r>
            <a:endParaRPr lang="en-US" sz="1600" dirty="0"/>
          </a:p>
          <a:p>
            <a:pPr indent="0" marL="0">
              <a:buNone/>
            </a:pPr>
            <a:endParaRPr lang="en-US" sz="1600" dirty="0"/>
          </a:p>
          <a:p>
            <a:pPr indent="0" marL="0">
              <a:buNone/>
            </a:pPr>
            <a:r>
              <a:rPr lang="en-US" sz="1600" b="1" dirty="0">
                <a:solidFill>
                  <a:srgbClr val="172849"/>
                </a:solidFill>
                <a:latin typeface="Roboto" pitchFamily="34" charset="0"/>
                <a:ea typeface="Roboto" pitchFamily="34" charset="-122"/>
                <a:cs typeface="Roboto" pitchFamily="34" charset="-120"/>
              </a:rPr>
              <a:t>Câu hỏi cho gala An Phát: một ngân hàng tri ân khách VIP ở khách sạn 5 sao — trên báo sẽ trông thế nào? Chọn địa điểm cũng là quản trị hình ảnh của Key Account.</a:t>
            </a:r>
            <a:endParaRPr lang="en-US" sz="1600" dirty="0"/>
          </a:p>
        </p:txBody>
      </p:sp>
      <p:sp>
        <p:nvSpPr>
          <p:cNvPr id="10"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Dowson et al. (2023, tr. 99, 245–246) (V14, V15). Áp vào An Phát là nhận định.</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Sáu nhóm tiêu chí chọn địa điểm cho sự kiện của Key Account</a:t>
            </a:r>
            <a:endParaRPr lang="en-US" sz="2800" dirty="0"/>
          </a:p>
        </p:txBody>
      </p:sp>
      <p:sp>
        <p:nvSpPr>
          <p:cNvPr id="3" name="Shape 1"/>
          <p:cNvSpPr/>
          <p:nvPr/>
        </p:nvSpPr>
        <p:spPr>
          <a:xfrm>
            <a:off x="548640" y="1783080"/>
            <a:ext cx="2962656" cy="457200"/>
          </a:xfrm>
          <a:prstGeom prst="roundRect">
            <a:avLst>
              <a:gd name="adj" fmla="val 16000"/>
            </a:avLst>
          </a:prstGeom>
          <a:solidFill>
            <a:srgbClr val="FFD23B"/>
          </a:solidFill>
          <a:ln w="12700">
            <a:solidFill>
              <a:srgbClr val="FFD23B"/>
            </a:solidFill>
            <a:prstDash val="solid"/>
          </a:ln>
        </p:spPr>
      </p:sp>
      <p:sp>
        <p:nvSpPr>
          <p:cNvPr id="4" name="Text 2"/>
          <p:cNvSpPr txBox="1"/>
          <p:nvPr/>
        </p:nvSpPr>
        <p:spPr>
          <a:xfrm>
            <a:off x="640080" y="1783080"/>
            <a:ext cx="2779776" cy="457200"/>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Nhóm tiêu chí</a:t>
            </a:r>
            <a:endParaRPr lang="en-US" sz="1400" dirty="0"/>
          </a:p>
        </p:txBody>
      </p:sp>
      <p:sp>
        <p:nvSpPr>
          <p:cNvPr id="5" name="Shape 3"/>
          <p:cNvSpPr/>
          <p:nvPr/>
        </p:nvSpPr>
        <p:spPr>
          <a:xfrm>
            <a:off x="3566160" y="1783080"/>
            <a:ext cx="4151376" cy="457200"/>
          </a:xfrm>
          <a:prstGeom prst="roundRect">
            <a:avLst>
              <a:gd name="adj" fmla="val 16000"/>
            </a:avLst>
          </a:prstGeom>
          <a:solidFill>
            <a:srgbClr val="49B296"/>
          </a:solidFill>
          <a:ln w="12700">
            <a:solidFill>
              <a:srgbClr val="49B296"/>
            </a:solidFill>
            <a:prstDash val="solid"/>
          </a:ln>
        </p:spPr>
      </p:sp>
      <p:sp>
        <p:nvSpPr>
          <p:cNvPr id="6" name="Text 4"/>
          <p:cNvSpPr txBox="1"/>
          <p:nvPr/>
        </p:nvSpPr>
        <p:spPr>
          <a:xfrm>
            <a:off x="3657600" y="1783080"/>
            <a:ext cx="3968496" cy="457200"/>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Hỏi gì</a:t>
            </a:r>
            <a:endParaRPr lang="en-US" sz="1400" dirty="0"/>
          </a:p>
        </p:txBody>
      </p:sp>
      <p:sp>
        <p:nvSpPr>
          <p:cNvPr id="7" name="Shape 5"/>
          <p:cNvSpPr/>
          <p:nvPr/>
        </p:nvSpPr>
        <p:spPr>
          <a:xfrm>
            <a:off x="7772400" y="1783080"/>
            <a:ext cx="3813048" cy="457200"/>
          </a:xfrm>
          <a:prstGeom prst="roundRect">
            <a:avLst>
              <a:gd name="adj" fmla="val 16000"/>
            </a:avLst>
          </a:prstGeom>
          <a:solidFill>
            <a:srgbClr val="09A1E5"/>
          </a:solidFill>
          <a:ln w="12700">
            <a:solidFill>
              <a:srgbClr val="09A1E5"/>
            </a:solidFill>
            <a:prstDash val="solid"/>
          </a:ln>
        </p:spPr>
      </p:sp>
      <p:sp>
        <p:nvSpPr>
          <p:cNvPr id="8" name="Text 6"/>
          <p:cNvSpPr txBox="1"/>
          <p:nvPr/>
        </p:nvSpPr>
        <p:spPr>
          <a:xfrm>
            <a:off x="7863840" y="1783080"/>
            <a:ext cx="3630168" cy="457200"/>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Vì sao quan trọng với An Phát</a:t>
            </a:r>
            <a:endParaRPr lang="en-US" sz="1400" dirty="0"/>
          </a:p>
        </p:txBody>
      </p:sp>
      <p:sp>
        <p:nvSpPr>
          <p:cNvPr id="9" name="Shape 7"/>
          <p:cNvSpPr/>
          <p:nvPr/>
        </p:nvSpPr>
        <p:spPr>
          <a:xfrm>
            <a:off x="548640" y="2313432"/>
            <a:ext cx="2962656" cy="457200"/>
          </a:xfrm>
          <a:prstGeom prst="roundRect">
            <a:avLst>
              <a:gd name="adj" fmla="val 16000"/>
            </a:avLst>
          </a:prstGeom>
          <a:solidFill>
            <a:srgbClr val="FFD23B"/>
          </a:solidFill>
          <a:ln w="12700">
            <a:solidFill>
              <a:srgbClr val="FFD23B"/>
            </a:solidFill>
            <a:prstDash val="solid"/>
          </a:ln>
        </p:spPr>
      </p:sp>
      <p:sp>
        <p:nvSpPr>
          <p:cNvPr id="10" name="Text 8"/>
          <p:cNvSpPr txBox="1"/>
          <p:nvPr/>
        </p:nvSpPr>
        <p:spPr>
          <a:xfrm>
            <a:off x="658368" y="2313432"/>
            <a:ext cx="2743200" cy="457200"/>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1. Phù hợp khách &amp; hình ảnh</a:t>
            </a:r>
            <a:endParaRPr lang="en-US" sz="1400" dirty="0"/>
          </a:p>
        </p:txBody>
      </p:sp>
      <p:sp>
        <p:nvSpPr>
          <p:cNvPr id="11" name="Shape 9"/>
          <p:cNvSpPr/>
          <p:nvPr/>
        </p:nvSpPr>
        <p:spPr>
          <a:xfrm>
            <a:off x="3566160" y="2313432"/>
            <a:ext cx="4151376" cy="457200"/>
          </a:xfrm>
          <a:prstGeom prst="roundRect">
            <a:avLst>
              <a:gd name="adj" fmla="val 16000"/>
            </a:avLst>
          </a:prstGeom>
          <a:solidFill>
            <a:srgbClr val="22395F"/>
          </a:solidFill>
          <a:ln w="12700">
            <a:solidFill>
              <a:srgbClr val="22395F"/>
            </a:solidFill>
            <a:prstDash val="solid"/>
          </a:ln>
        </p:spPr>
      </p:sp>
      <p:sp>
        <p:nvSpPr>
          <p:cNvPr id="12" name="Text 10"/>
          <p:cNvSpPr txBox="1"/>
          <p:nvPr/>
        </p:nvSpPr>
        <p:spPr>
          <a:xfrm>
            <a:off x="3675888" y="2313432"/>
            <a:ext cx="3931920" cy="45720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Vị trí, đẳng cấp, phong cách hợp văn hóa doanh nghiệp</a:t>
            </a:r>
            <a:endParaRPr lang="en-US" sz="1400" dirty="0"/>
          </a:p>
        </p:txBody>
      </p:sp>
      <p:sp>
        <p:nvSpPr>
          <p:cNvPr id="13" name="Shape 11"/>
          <p:cNvSpPr/>
          <p:nvPr/>
        </p:nvSpPr>
        <p:spPr>
          <a:xfrm>
            <a:off x="7772400" y="2313432"/>
            <a:ext cx="3813048" cy="457200"/>
          </a:xfrm>
          <a:prstGeom prst="roundRect">
            <a:avLst>
              <a:gd name="adj" fmla="val 16000"/>
            </a:avLst>
          </a:prstGeom>
          <a:solidFill>
            <a:srgbClr val="22395F"/>
          </a:solidFill>
          <a:ln w="12700">
            <a:solidFill>
              <a:srgbClr val="22395F"/>
            </a:solidFill>
            <a:prstDash val="solid"/>
          </a:ln>
        </p:spPr>
      </p:sp>
      <p:sp>
        <p:nvSpPr>
          <p:cNvPr id="14" name="Text 12"/>
          <p:cNvSpPr txBox="1"/>
          <p:nvPr/>
        </p:nvSpPr>
        <p:spPr>
          <a:xfrm>
            <a:off x="7882128" y="2313432"/>
            <a:ext cx="3593592" cy="45720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600 lãnh đạo doanh nghiệp VIP</a:t>
            </a:r>
            <a:endParaRPr lang="en-US" sz="1400" dirty="0"/>
          </a:p>
        </p:txBody>
      </p:sp>
      <p:sp>
        <p:nvSpPr>
          <p:cNvPr id="15" name="Shape 13"/>
          <p:cNvSpPr/>
          <p:nvPr/>
        </p:nvSpPr>
        <p:spPr>
          <a:xfrm>
            <a:off x="548640" y="2843784"/>
            <a:ext cx="2962656" cy="457200"/>
          </a:xfrm>
          <a:prstGeom prst="roundRect">
            <a:avLst>
              <a:gd name="adj" fmla="val 16000"/>
            </a:avLst>
          </a:prstGeom>
          <a:solidFill>
            <a:srgbClr val="FFD23B"/>
          </a:solidFill>
          <a:ln w="12700">
            <a:solidFill>
              <a:srgbClr val="FFD23B"/>
            </a:solidFill>
            <a:prstDash val="solid"/>
          </a:ln>
        </p:spPr>
      </p:sp>
      <p:sp>
        <p:nvSpPr>
          <p:cNvPr id="16" name="Text 14"/>
          <p:cNvSpPr txBox="1"/>
          <p:nvPr/>
        </p:nvSpPr>
        <p:spPr>
          <a:xfrm>
            <a:off x="658368" y="2843784"/>
            <a:ext cx="2743200" cy="457200"/>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2. Sức chứa và bố trí</a:t>
            </a:r>
            <a:endParaRPr lang="en-US" sz="1400" dirty="0"/>
          </a:p>
        </p:txBody>
      </p:sp>
      <p:sp>
        <p:nvSpPr>
          <p:cNvPr id="17" name="Shape 15"/>
          <p:cNvSpPr/>
          <p:nvPr/>
        </p:nvSpPr>
        <p:spPr>
          <a:xfrm>
            <a:off x="3566160" y="2843784"/>
            <a:ext cx="4151376" cy="457200"/>
          </a:xfrm>
          <a:prstGeom prst="roundRect">
            <a:avLst>
              <a:gd name="adj" fmla="val 16000"/>
            </a:avLst>
          </a:prstGeom>
          <a:solidFill>
            <a:srgbClr val="22395F"/>
          </a:solidFill>
          <a:ln w="12700">
            <a:solidFill>
              <a:srgbClr val="22395F"/>
            </a:solidFill>
            <a:prstDash val="solid"/>
          </a:ln>
        </p:spPr>
      </p:sp>
      <p:sp>
        <p:nvSpPr>
          <p:cNvPr id="18" name="Text 16"/>
          <p:cNvSpPr txBox="1"/>
          <p:nvPr/>
        </p:nvSpPr>
        <p:spPr>
          <a:xfrm>
            <a:off x="3675888" y="2843784"/>
            <a:ext cx="3931920" cy="45720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Diện tích dùng được, cột, trần, tầm nhìn</a:t>
            </a:r>
            <a:endParaRPr lang="en-US" sz="1400" dirty="0"/>
          </a:p>
        </p:txBody>
      </p:sp>
      <p:sp>
        <p:nvSpPr>
          <p:cNvPr id="19" name="Shape 17"/>
          <p:cNvSpPr/>
          <p:nvPr/>
        </p:nvSpPr>
        <p:spPr>
          <a:xfrm>
            <a:off x="7772400" y="2843784"/>
            <a:ext cx="3813048" cy="457200"/>
          </a:xfrm>
          <a:prstGeom prst="roundRect">
            <a:avLst>
              <a:gd name="adj" fmla="val 16000"/>
            </a:avLst>
          </a:prstGeom>
          <a:solidFill>
            <a:srgbClr val="22395F"/>
          </a:solidFill>
          <a:ln w="12700">
            <a:solidFill>
              <a:srgbClr val="22395F"/>
            </a:solidFill>
            <a:prstDash val="solid"/>
          </a:ln>
        </p:spPr>
      </p:sp>
      <p:sp>
        <p:nvSpPr>
          <p:cNvPr id="20" name="Text 18"/>
          <p:cNvSpPr txBox="1"/>
          <p:nvPr/>
        </p:nvSpPr>
        <p:spPr>
          <a:xfrm>
            <a:off x="7882128" y="2843784"/>
            <a:ext cx="3593592" cy="45720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Không khách nào “ngồi sau cột”</a:t>
            </a:r>
            <a:endParaRPr lang="en-US" sz="1400" dirty="0"/>
          </a:p>
        </p:txBody>
      </p:sp>
      <p:sp>
        <p:nvSpPr>
          <p:cNvPr id="21" name="Shape 19"/>
          <p:cNvSpPr/>
          <p:nvPr/>
        </p:nvSpPr>
        <p:spPr>
          <a:xfrm>
            <a:off x="548640" y="3374136"/>
            <a:ext cx="2962656" cy="457200"/>
          </a:xfrm>
          <a:prstGeom prst="roundRect">
            <a:avLst>
              <a:gd name="adj" fmla="val 16000"/>
            </a:avLst>
          </a:prstGeom>
          <a:solidFill>
            <a:srgbClr val="FFD23B"/>
          </a:solidFill>
          <a:ln w="12700">
            <a:solidFill>
              <a:srgbClr val="FFD23B"/>
            </a:solidFill>
            <a:prstDash val="solid"/>
          </a:ln>
        </p:spPr>
      </p:sp>
      <p:sp>
        <p:nvSpPr>
          <p:cNvPr id="22" name="Text 20"/>
          <p:cNvSpPr txBox="1"/>
          <p:nvPr/>
        </p:nvSpPr>
        <p:spPr>
          <a:xfrm>
            <a:off x="658368" y="3374136"/>
            <a:ext cx="2743200" cy="457200"/>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3. Kỹ thuật</a:t>
            </a:r>
            <a:endParaRPr lang="en-US" sz="1400" dirty="0"/>
          </a:p>
        </p:txBody>
      </p:sp>
      <p:sp>
        <p:nvSpPr>
          <p:cNvPr id="23" name="Shape 21"/>
          <p:cNvSpPr/>
          <p:nvPr/>
        </p:nvSpPr>
        <p:spPr>
          <a:xfrm>
            <a:off x="3566160" y="3374136"/>
            <a:ext cx="4151376" cy="457200"/>
          </a:xfrm>
          <a:prstGeom prst="roundRect">
            <a:avLst>
              <a:gd name="adj" fmla="val 16000"/>
            </a:avLst>
          </a:prstGeom>
          <a:solidFill>
            <a:srgbClr val="22395F"/>
          </a:solidFill>
          <a:ln w="12700">
            <a:solidFill>
              <a:srgbClr val="22395F"/>
            </a:solidFill>
            <a:prstDash val="solid"/>
          </a:ln>
        </p:spPr>
      </p:sp>
      <p:sp>
        <p:nvSpPr>
          <p:cNvPr id="24" name="Text 22"/>
          <p:cNvSpPr txBox="1"/>
          <p:nvPr/>
        </p:nvSpPr>
        <p:spPr>
          <a:xfrm>
            <a:off x="3675888" y="3374136"/>
            <a:ext cx="3931920" cy="45720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Điện, rigging, Wi‑Fi, livestream</a:t>
            </a:r>
            <a:endParaRPr lang="en-US" sz="1400" dirty="0"/>
          </a:p>
        </p:txBody>
      </p:sp>
      <p:sp>
        <p:nvSpPr>
          <p:cNvPr id="25" name="Shape 23"/>
          <p:cNvSpPr/>
          <p:nvPr/>
        </p:nvSpPr>
        <p:spPr>
          <a:xfrm>
            <a:off x="7772400" y="3374136"/>
            <a:ext cx="3813048" cy="457200"/>
          </a:xfrm>
          <a:prstGeom prst="roundRect">
            <a:avLst>
              <a:gd name="adj" fmla="val 16000"/>
            </a:avLst>
          </a:prstGeom>
          <a:solidFill>
            <a:srgbClr val="22395F"/>
          </a:solidFill>
          <a:ln w="12700">
            <a:solidFill>
              <a:srgbClr val="22395F"/>
            </a:solidFill>
            <a:prstDash val="solid"/>
          </a:ln>
        </p:spPr>
      </p:sp>
      <p:sp>
        <p:nvSpPr>
          <p:cNvPr id="26" name="Text 24"/>
          <p:cNvSpPr txBox="1"/>
          <p:nvPr/>
        </p:nvSpPr>
        <p:spPr>
          <a:xfrm>
            <a:off x="7882128" y="3374136"/>
            <a:ext cx="3593592" cy="45720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Chị Lan: livestream 80 chi nhánh</a:t>
            </a:r>
            <a:endParaRPr lang="en-US" sz="1400" dirty="0"/>
          </a:p>
        </p:txBody>
      </p:sp>
      <p:sp>
        <p:nvSpPr>
          <p:cNvPr id="27" name="Shape 25"/>
          <p:cNvSpPr/>
          <p:nvPr/>
        </p:nvSpPr>
        <p:spPr>
          <a:xfrm>
            <a:off x="548640" y="3904488"/>
            <a:ext cx="2962656" cy="457200"/>
          </a:xfrm>
          <a:prstGeom prst="roundRect">
            <a:avLst>
              <a:gd name="adj" fmla="val 16000"/>
            </a:avLst>
          </a:prstGeom>
          <a:solidFill>
            <a:srgbClr val="FFD23B"/>
          </a:solidFill>
          <a:ln w="12700">
            <a:solidFill>
              <a:srgbClr val="FFD23B"/>
            </a:solidFill>
            <a:prstDash val="solid"/>
          </a:ln>
        </p:spPr>
      </p:sp>
      <p:sp>
        <p:nvSpPr>
          <p:cNvPr id="28" name="Text 26"/>
          <p:cNvSpPr txBox="1"/>
          <p:nvPr/>
        </p:nvSpPr>
        <p:spPr>
          <a:xfrm>
            <a:off x="658368" y="3904488"/>
            <a:ext cx="2743200" cy="457200"/>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4. Dịch vụ, độc quyền</a:t>
            </a:r>
            <a:endParaRPr lang="en-US" sz="1400" dirty="0"/>
          </a:p>
        </p:txBody>
      </p:sp>
      <p:sp>
        <p:nvSpPr>
          <p:cNvPr id="29" name="Shape 27"/>
          <p:cNvSpPr/>
          <p:nvPr/>
        </p:nvSpPr>
        <p:spPr>
          <a:xfrm>
            <a:off x="3566160" y="3904488"/>
            <a:ext cx="4151376" cy="457200"/>
          </a:xfrm>
          <a:prstGeom prst="roundRect">
            <a:avLst>
              <a:gd name="adj" fmla="val 16000"/>
            </a:avLst>
          </a:prstGeom>
          <a:solidFill>
            <a:srgbClr val="22395F"/>
          </a:solidFill>
          <a:ln w="12700">
            <a:solidFill>
              <a:srgbClr val="22395F"/>
            </a:solidFill>
            <a:prstDash val="solid"/>
          </a:ln>
        </p:spPr>
      </p:sp>
      <p:sp>
        <p:nvSpPr>
          <p:cNvPr id="30" name="Text 28"/>
          <p:cNvSpPr txBox="1"/>
          <p:nvPr/>
        </p:nvSpPr>
        <p:spPr>
          <a:xfrm>
            <a:off x="3675888" y="3904488"/>
            <a:ext cx="3931920" cy="45720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AV, hoa, F&amp;B nội bộ; phụ thu</a:t>
            </a:r>
            <a:endParaRPr lang="en-US" sz="1400" dirty="0"/>
          </a:p>
        </p:txBody>
      </p:sp>
      <p:sp>
        <p:nvSpPr>
          <p:cNvPr id="31" name="Shape 29"/>
          <p:cNvSpPr/>
          <p:nvPr/>
        </p:nvSpPr>
        <p:spPr>
          <a:xfrm>
            <a:off x="7772400" y="3904488"/>
            <a:ext cx="3813048" cy="457200"/>
          </a:xfrm>
          <a:prstGeom prst="roundRect">
            <a:avLst>
              <a:gd name="adj" fmla="val 16000"/>
            </a:avLst>
          </a:prstGeom>
          <a:solidFill>
            <a:srgbClr val="22395F"/>
          </a:solidFill>
          <a:ln w="12700">
            <a:solidFill>
              <a:srgbClr val="22395F"/>
            </a:solidFill>
            <a:prstDash val="solid"/>
          </a:ln>
        </p:spPr>
      </p:sp>
      <p:sp>
        <p:nvSpPr>
          <p:cNvPr id="32" name="Text 30"/>
          <p:cNvSpPr txBox="1"/>
          <p:nvPr/>
        </p:nvSpPr>
        <p:spPr>
          <a:xfrm>
            <a:off x="7882128" y="3904488"/>
            <a:ext cx="3593592" cy="45720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Chi phí và chất lượng</a:t>
            </a:r>
            <a:endParaRPr lang="en-US" sz="1400" dirty="0"/>
          </a:p>
        </p:txBody>
      </p:sp>
      <p:sp>
        <p:nvSpPr>
          <p:cNvPr id="33" name="Shape 31"/>
          <p:cNvSpPr/>
          <p:nvPr/>
        </p:nvSpPr>
        <p:spPr>
          <a:xfrm>
            <a:off x="548640" y="4434840"/>
            <a:ext cx="2962656" cy="457200"/>
          </a:xfrm>
          <a:prstGeom prst="roundRect">
            <a:avLst>
              <a:gd name="adj" fmla="val 16000"/>
            </a:avLst>
          </a:prstGeom>
          <a:solidFill>
            <a:srgbClr val="FFD23B"/>
          </a:solidFill>
          <a:ln w="12700">
            <a:solidFill>
              <a:srgbClr val="FFD23B"/>
            </a:solidFill>
            <a:prstDash val="solid"/>
          </a:ln>
        </p:spPr>
      </p:sp>
      <p:sp>
        <p:nvSpPr>
          <p:cNvPr id="34" name="Text 32"/>
          <p:cNvSpPr txBox="1"/>
          <p:nvPr/>
        </p:nvSpPr>
        <p:spPr>
          <a:xfrm>
            <a:off x="658368" y="4434840"/>
            <a:ext cx="2743200" cy="457200"/>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5. Lịch và điều khoản</a:t>
            </a:r>
            <a:endParaRPr lang="en-US" sz="1400" dirty="0"/>
          </a:p>
        </p:txBody>
      </p:sp>
      <p:sp>
        <p:nvSpPr>
          <p:cNvPr id="35" name="Shape 33"/>
          <p:cNvSpPr/>
          <p:nvPr/>
        </p:nvSpPr>
        <p:spPr>
          <a:xfrm>
            <a:off x="3566160" y="4434840"/>
            <a:ext cx="4151376" cy="457200"/>
          </a:xfrm>
          <a:prstGeom prst="roundRect">
            <a:avLst>
              <a:gd name="adj" fmla="val 16000"/>
            </a:avLst>
          </a:prstGeom>
          <a:solidFill>
            <a:srgbClr val="22395F"/>
          </a:solidFill>
          <a:ln w="12700">
            <a:solidFill>
              <a:srgbClr val="22395F"/>
            </a:solidFill>
            <a:prstDash val="solid"/>
          </a:ln>
        </p:spPr>
      </p:sp>
      <p:sp>
        <p:nvSpPr>
          <p:cNvPr id="36" name="Text 34"/>
          <p:cNvSpPr txBox="1"/>
          <p:nvPr/>
        </p:nvSpPr>
        <p:spPr>
          <a:xfrm>
            <a:off x="3675888" y="4434840"/>
            <a:ext cx="3931920" cy="45720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Lịch trước – sau, giờ dựng, hủy, cọc</a:t>
            </a:r>
            <a:endParaRPr lang="en-US" sz="1400" dirty="0"/>
          </a:p>
        </p:txBody>
      </p:sp>
      <p:sp>
        <p:nvSpPr>
          <p:cNvPr id="37" name="Shape 35"/>
          <p:cNvSpPr/>
          <p:nvPr/>
        </p:nvSpPr>
        <p:spPr>
          <a:xfrm>
            <a:off x="7772400" y="4434840"/>
            <a:ext cx="3813048" cy="457200"/>
          </a:xfrm>
          <a:prstGeom prst="roundRect">
            <a:avLst>
              <a:gd name="adj" fmla="val 16000"/>
            </a:avLst>
          </a:prstGeom>
          <a:solidFill>
            <a:srgbClr val="22395F"/>
          </a:solidFill>
          <a:ln w="12700">
            <a:solidFill>
              <a:srgbClr val="22395F"/>
            </a:solidFill>
            <a:prstDash val="solid"/>
          </a:ln>
        </p:spPr>
      </p:sp>
      <p:sp>
        <p:nvSpPr>
          <p:cNvPr id="38" name="Text 36"/>
          <p:cNvSpPr txBox="1"/>
          <p:nvPr/>
        </p:nvSpPr>
        <p:spPr>
          <a:xfrm>
            <a:off x="7882128" y="4434840"/>
            <a:ext cx="3593592" cy="45720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Rủi ro bị động sát ngày</a:t>
            </a:r>
            <a:endParaRPr lang="en-US" sz="1400" dirty="0"/>
          </a:p>
        </p:txBody>
      </p:sp>
      <p:sp>
        <p:nvSpPr>
          <p:cNvPr id="39" name="Shape 37"/>
          <p:cNvSpPr/>
          <p:nvPr/>
        </p:nvSpPr>
        <p:spPr>
          <a:xfrm>
            <a:off x="548640" y="4965192"/>
            <a:ext cx="2962656" cy="457200"/>
          </a:xfrm>
          <a:prstGeom prst="roundRect">
            <a:avLst>
              <a:gd name="adj" fmla="val 16000"/>
            </a:avLst>
          </a:prstGeom>
          <a:solidFill>
            <a:srgbClr val="FFD23B"/>
          </a:solidFill>
          <a:ln w="12700">
            <a:solidFill>
              <a:srgbClr val="FFD23B"/>
            </a:solidFill>
            <a:prstDash val="solid"/>
          </a:ln>
        </p:spPr>
      </p:sp>
      <p:sp>
        <p:nvSpPr>
          <p:cNvPr id="40" name="Text 38"/>
          <p:cNvSpPr txBox="1"/>
          <p:nvPr/>
        </p:nvSpPr>
        <p:spPr>
          <a:xfrm>
            <a:off x="658368" y="4965192"/>
            <a:ext cx="2743200" cy="457200"/>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6. Tổng chi phí</a:t>
            </a:r>
            <a:endParaRPr lang="en-US" sz="1400" dirty="0"/>
          </a:p>
        </p:txBody>
      </p:sp>
      <p:sp>
        <p:nvSpPr>
          <p:cNvPr id="41" name="Shape 39"/>
          <p:cNvSpPr/>
          <p:nvPr/>
        </p:nvSpPr>
        <p:spPr>
          <a:xfrm>
            <a:off x="3566160" y="4965192"/>
            <a:ext cx="4151376" cy="457200"/>
          </a:xfrm>
          <a:prstGeom prst="roundRect">
            <a:avLst>
              <a:gd name="adj" fmla="val 16000"/>
            </a:avLst>
          </a:prstGeom>
          <a:solidFill>
            <a:srgbClr val="22395F"/>
          </a:solidFill>
          <a:ln w="12700">
            <a:solidFill>
              <a:srgbClr val="22395F"/>
            </a:solidFill>
            <a:prstDash val="solid"/>
          </a:ln>
        </p:spPr>
      </p:sp>
      <p:sp>
        <p:nvSpPr>
          <p:cNvPr id="42" name="Text 40"/>
          <p:cNvSpPr txBox="1"/>
          <p:nvPr/>
        </p:nvSpPr>
        <p:spPr>
          <a:xfrm>
            <a:off x="3675888" y="4965192"/>
            <a:ext cx="3931920" cy="45720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Thuê + F&amp;B + AV + phụ thu</a:t>
            </a:r>
            <a:endParaRPr lang="en-US" sz="1400" dirty="0"/>
          </a:p>
        </p:txBody>
      </p:sp>
      <p:sp>
        <p:nvSpPr>
          <p:cNvPr id="43" name="Shape 41"/>
          <p:cNvSpPr/>
          <p:nvPr/>
        </p:nvSpPr>
        <p:spPr>
          <a:xfrm>
            <a:off x="7772400" y="4965192"/>
            <a:ext cx="3813048" cy="457200"/>
          </a:xfrm>
          <a:prstGeom prst="roundRect">
            <a:avLst>
              <a:gd name="adj" fmla="val 16000"/>
            </a:avLst>
          </a:prstGeom>
          <a:solidFill>
            <a:srgbClr val="22395F"/>
          </a:solidFill>
          <a:ln w="12700">
            <a:solidFill>
              <a:srgbClr val="22395F"/>
            </a:solidFill>
            <a:prstDash val="solid"/>
          </a:ln>
        </p:spPr>
      </p:sp>
      <p:sp>
        <p:nvSpPr>
          <p:cNvPr id="44" name="Text 42"/>
          <p:cNvSpPr txBox="1"/>
          <p:nvPr/>
        </p:nvSpPr>
        <p:spPr>
          <a:xfrm>
            <a:off x="7882128" y="4965192"/>
            <a:ext cx="3593592" cy="45720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Anh Khoa duyệt ngân sách</a:t>
            </a:r>
            <a:endParaRPr lang="en-US" sz="1400" dirty="0"/>
          </a:p>
        </p:txBody>
      </p:sp>
      <p:sp>
        <p:nvSpPr>
          <p:cNvPr id="45" name="Text 43"/>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Người soạn tổng hợp từ Dowson et al. (2023, tr. 102–103 — các điều kiện “phải có”) (V14), V06, V07.</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Khi khách muốn một địa điểm vì sở thích cá nhân — agency phục vụ ai?</a:t>
            </a:r>
            <a:endParaRPr lang="en-US" sz="2800" dirty="0"/>
          </a:p>
        </p:txBody>
      </p:sp>
      <p:sp>
        <p:nvSpPr>
          <p:cNvPr id="3" name="Shape 1"/>
          <p:cNvSpPr/>
          <p:nvPr/>
        </p:nvSpPr>
        <p:spPr>
          <a:xfrm>
            <a:off x="548640" y="1783080"/>
            <a:ext cx="667512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777240" y="1965960"/>
            <a:ext cx="822960" cy="822960"/>
          </a:xfrm>
          <a:prstGeom prst="ellipse">
            <a:avLst/>
          </a:prstGeom>
          <a:solidFill>
            <a:srgbClr val="962B7C"/>
          </a:solidFill>
          <a:ln w="12700">
            <a:solidFill>
              <a:srgbClr val="962B7C"/>
            </a:solidFill>
            <a:prstDash val="solid"/>
          </a:ln>
        </p:spPr>
      </p:sp>
      <p:pic>
        <p:nvPicPr>
          <p:cNvPr id="5" name="Image 0" descr="preencoded.png">    </p:cNvPr>
          <p:cNvPicPr>
            <a:picLocks noChangeAspect="1"/>
          </p:cNvPicPr>
          <p:nvPr/>
        </p:nvPicPr>
        <p:blipFill>
          <a:blip r:embed="rId1"/>
          <a:stretch>
            <a:fillRect/>
          </a:stretch>
        </p:blipFill>
        <p:spPr>
          <a:xfrm>
            <a:off x="958291" y="2147011"/>
            <a:ext cx="460858" cy="460858"/>
          </a:xfrm>
          <a:prstGeom prst="rect">
            <a:avLst/>
          </a:prstGeom>
        </p:spPr>
      </p:pic>
      <p:sp>
        <p:nvSpPr>
          <p:cNvPr id="6" name="Text 3"/>
          <p:cNvSpPr txBox="1"/>
          <p:nvPr/>
        </p:nvSpPr>
        <p:spPr>
          <a:xfrm>
            <a:off x="1783080" y="1965960"/>
            <a:ext cx="5303520" cy="822960"/>
          </a:xfrm>
          <a:prstGeom prst="rect">
            <a:avLst/>
          </a:prstGeom>
          <a:noFill/>
          <a:ln/>
        </p:spPr>
        <p:txBody>
          <a:bodyPr wrap="square" lIns="635" tIns="635" rIns="635" bIns="635" rtlCol="0" anchor="ctr"/>
          <a:lstStyle/>
          <a:p>
            <a:pPr indent="0" marL="0">
              <a:buNone/>
            </a:pPr>
            <a:r>
              <a:rPr lang="en-US" sz="1900" b="1" dirty="0">
                <a:solidFill>
                  <a:srgbClr val="FFD23B"/>
                </a:solidFill>
                <a:latin typeface="Roboto" pitchFamily="34" charset="0"/>
                <a:ea typeface="Roboto" pitchFamily="34" charset="-122"/>
                <a:cs typeface="Roboto" pitchFamily="34" charset="-120"/>
              </a:rPr>
              <a:t>Câu chuyện “lâu đài”</a:t>
            </a:r>
            <a:endParaRPr lang="en-US" sz="1900" dirty="0"/>
          </a:p>
        </p:txBody>
      </p:sp>
      <p:sp>
        <p:nvSpPr>
          <p:cNvPr id="7" name="Text 4"/>
          <p:cNvSpPr txBox="1"/>
          <p:nvPr/>
        </p:nvSpPr>
        <p:spPr>
          <a:xfrm>
            <a:off x="822960" y="2926080"/>
            <a:ext cx="6217920" cy="265176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Người phụ trách phía khách muốn tổ chức sự kiện ở một lâu đài. Agency thấy lâu đài không hợp sự kiện — và nhận ra người đó chỉ muốn được ở lâu đài.</a:t>
            </a:r>
            <a:endParaRPr lang="en-US" sz="1600" dirty="0"/>
          </a:p>
          <a:p>
            <a:pPr indent="0" marL="0">
              <a:buNone/>
            </a:pPr>
            <a:endParaRPr lang="en-US" sz="1600" dirty="0"/>
          </a:p>
          <a:p>
            <a:pPr indent="0" marL="0">
              <a:buNone/>
            </a:pPr>
            <a:r>
              <a:rPr lang="en-US" sz="1600" dirty="0">
                <a:solidFill>
                  <a:srgbClr val="FBFAF4"/>
                </a:solidFill>
                <a:latin typeface="Roboto" pitchFamily="34" charset="0"/>
                <a:ea typeface="Roboto" pitchFamily="34" charset="-122"/>
                <a:cs typeface="Roboto" pitchFamily="34" charset="-120"/>
              </a:rPr>
              <a:t>Agency đặt cho người đó một chuyến nghỉ ở lâu đài, và đặt sự kiện ở địa điểm phù hợp hơn.</a:t>
            </a:r>
            <a:endParaRPr lang="en-US" sz="1600" dirty="0"/>
          </a:p>
        </p:txBody>
      </p:sp>
      <p:sp>
        <p:nvSpPr>
          <p:cNvPr id="8" name="Shape 5"/>
          <p:cNvSpPr/>
          <p:nvPr/>
        </p:nvSpPr>
        <p:spPr>
          <a:xfrm>
            <a:off x="7452360" y="1783080"/>
            <a:ext cx="4187952" cy="3931920"/>
          </a:xfrm>
          <a:prstGeom prst="roundRect">
            <a:avLst>
              <a:gd name="adj" fmla="val 1860"/>
            </a:avLst>
          </a:prstGeom>
          <a:solidFill>
            <a:srgbClr val="FF5178"/>
          </a:solidFill>
          <a:ln w="12700">
            <a:solidFill>
              <a:srgbClr val="FF5178"/>
            </a:solidFill>
            <a:prstDash val="solid"/>
          </a:ln>
        </p:spPr>
      </p:sp>
      <p:sp>
        <p:nvSpPr>
          <p:cNvPr id="9" name="Text 6"/>
          <p:cNvSpPr txBox="1"/>
          <p:nvPr/>
        </p:nvSpPr>
        <p:spPr>
          <a:xfrm>
            <a:off x="7635240" y="1874520"/>
            <a:ext cx="3822192" cy="3749040"/>
          </a:xfrm>
          <a:prstGeom prst="rect">
            <a:avLst/>
          </a:prstGeom>
          <a:noFill/>
          <a:ln/>
        </p:spPr>
        <p:txBody>
          <a:bodyPr wrap="square" lIns="635" tIns="635" rIns="635" bIns="635" rtlCol="0" anchor="t"/>
          <a:lstStyle/>
          <a:p>
            <a:pPr indent="0" marL="0">
              <a:buNone/>
            </a:pPr>
            <a:r>
              <a:rPr lang="en-US" sz="1600" b="1" dirty="0">
                <a:solidFill>
                  <a:srgbClr val="172849"/>
                </a:solidFill>
                <a:latin typeface="Roboto" pitchFamily="34" charset="0"/>
                <a:ea typeface="Roboto" pitchFamily="34" charset="-122"/>
                <a:cs typeface="Roboto" pitchFamily="34" charset="-120"/>
              </a:rPr>
              <a:t>“Consider the ethical aspects of such actions!”</a:t>
            </a:r>
            <a:endParaRPr lang="en-US" sz="1600" dirty="0"/>
          </a:p>
          <a:p>
            <a:pPr indent="0" marL="0">
              <a:buNone/>
            </a:pPr>
            <a:endParaRPr lang="en-US" sz="1600" dirty="0"/>
          </a:p>
          <a:p>
            <a:pPr indent="0" marL="0">
              <a:buNone/>
            </a:pPr>
            <a:r>
              <a:rPr lang="en-US" sz="1600" b="1" dirty="0">
                <a:solidFill>
                  <a:srgbClr val="172849"/>
                </a:solidFill>
                <a:latin typeface="Roboto" pitchFamily="34" charset="0"/>
                <a:ea typeface="Roboto" pitchFamily="34" charset="-122"/>
                <a:cs typeface="Roboto" pitchFamily="34" charset="-120"/>
              </a:rPr>
              <a:t>Thảo luận: tổ chức của khách có biết không? Nova có đang tạo “agency effects” (Buổi 9)?</a:t>
            </a:r>
            <a:endParaRPr lang="en-US" sz="1600" dirty="0"/>
          </a:p>
        </p:txBody>
      </p:sp>
      <p:sp>
        <p:nvSpPr>
          <p:cNvPr id="10"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Dowson et al. (2023, tr. 105) (V14).</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Đơn vị tìm địa điểm “miễn phí” vì địa điểm trả hoa hồng — hãy hỏi họ làm việc với ai</a:t>
            </a:r>
            <a:endParaRPr lang="en-US" sz="2800" dirty="0"/>
          </a:p>
        </p:txBody>
      </p:sp>
      <p:sp>
        <p:nvSpPr>
          <p:cNvPr id="3" name="Shape 1"/>
          <p:cNvSpPr/>
          <p:nvPr/>
        </p:nvSpPr>
        <p:spPr>
          <a:xfrm>
            <a:off x="548640" y="1783080"/>
            <a:ext cx="3566160" cy="2743200"/>
          </a:xfrm>
          <a:prstGeom prst="roundRect">
            <a:avLst>
              <a:gd name="adj" fmla="val 2667"/>
            </a:avLst>
          </a:prstGeom>
          <a:solidFill>
            <a:srgbClr val="22395F"/>
          </a:solidFill>
          <a:ln w="12700">
            <a:solidFill>
              <a:srgbClr val="22395F"/>
            </a:solidFill>
            <a:prstDash val="solid"/>
          </a:ln>
        </p:spPr>
      </p:sp>
      <p:sp>
        <p:nvSpPr>
          <p:cNvPr id="4" name="Text 2"/>
          <p:cNvSpPr txBox="1"/>
          <p:nvPr/>
        </p:nvSpPr>
        <p:spPr>
          <a:xfrm>
            <a:off x="548640" y="1874520"/>
            <a:ext cx="3566160" cy="1188720"/>
          </a:xfrm>
          <a:prstGeom prst="rect">
            <a:avLst/>
          </a:prstGeom>
          <a:noFill/>
          <a:ln/>
        </p:spPr>
        <p:txBody>
          <a:bodyPr wrap="square" lIns="635" tIns="635" rIns="635" bIns="635" rtlCol="0" anchor="ctr"/>
          <a:lstStyle/>
          <a:p>
            <a:pPr algn="ctr" indent="0" marL="0">
              <a:buNone/>
            </a:pPr>
            <a:r>
              <a:rPr lang="en-US" sz="4800" b="1" dirty="0">
                <a:solidFill>
                  <a:srgbClr val="49B296"/>
                </a:solidFill>
                <a:latin typeface="Roboto" pitchFamily="34" charset="0"/>
                <a:ea typeface="Roboto" pitchFamily="34" charset="-122"/>
                <a:cs typeface="Roboto" pitchFamily="34" charset="-120"/>
              </a:rPr>
              <a:t>8–15%</a:t>
            </a:r>
            <a:endParaRPr lang="en-US" sz="4800" dirty="0"/>
          </a:p>
        </p:txBody>
      </p:sp>
      <p:sp>
        <p:nvSpPr>
          <p:cNvPr id="5" name="Text 3"/>
          <p:cNvSpPr txBox="1"/>
          <p:nvPr/>
        </p:nvSpPr>
        <p:spPr>
          <a:xfrm>
            <a:off x="777240" y="3063240"/>
            <a:ext cx="3108960" cy="1280160"/>
          </a:xfrm>
          <a:prstGeom prst="rect">
            <a:avLst/>
          </a:prstGeom>
          <a:noFill/>
          <a:ln/>
        </p:spPr>
        <p:txBody>
          <a:bodyPr wrap="square" lIns="635" tIns="635" rIns="635" bIns="635" rtlCol="0" anchor="t"/>
          <a:lstStyle/>
          <a:p>
            <a:pPr algn="ctr" indent="0" marL="0">
              <a:buNone/>
            </a:pPr>
            <a:r>
              <a:rPr lang="en-US" sz="1500" dirty="0">
                <a:solidFill>
                  <a:srgbClr val="FBFAF4"/>
                </a:solidFill>
                <a:latin typeface="Roboto" pitchFamily="34" charset="0"/>
                <a:ea typeface="Roboto" pitchFamily="34" charset="-122"/>
                <a:cs typeface="Roboto" pitchFamily="34" charset="-120"/>
              </a:rPr>
              <a:t>hoa hồng địa điểm trả cho đơn vị tìm địa điểm</a:t>
            </a:r>
            <a:endParaRPr lang="en-US" sz="1500" dirty="0"/>
          </a:p>
        </p:txBody>
      </p:sp>
      <p:sp>
        <p:nvSpPr>
          <p:cNvPr id="6" name="Shape 4"/>
          <p:cNvSpPr/>
          <p:nvPr/>
        </p:nvSpPr>
        <p:spPr>
          <a:xfrm>
            <a:off x="4325112" y="1783080"/>
            <a:ext cx="3566160" cy="2743200"/>
          </a:xfrm>
          <a:prstGeom prst="roundRect">
            <a:avLst>
              <a:gd name="adj" fmla="val 2667"/>
            </a:avLst>
          </a:prstGeom>
          <a:solidFill>
            <a:srgbClr val="22395F"/>
          </a:solidFill>
          <a:ln w="12700">
            <a:solidFill>
              <a:srgbClr val="22395F"/>
            </a:solidFill>
            <a:prstDash val="solid"/>
          </a:ln>
        </p:spPr>
      </p:sp>
      <p:sp>
        <p:nvSpPr>
          <p:cNvPr id="7" name="Text 5"/>
          <p:cNvSpPr txBox="1"/>
          <p:nvPr/>
        </p:nvSpPr>
        <p:spPr>
          <a:xfrm>
            <a:off x="4325112" y="1874520"/>
            <a:ext cx="3566160" cy="1188720"/>
          </a:xfrm>
          <a:prstGeom prst="rect">
            <a:avLst/>
          </a:prstGeom>
          <a:noFill/>
          <a:ln/>
        </p:spPr>
        <p:txBody>
          <a:bodyPr wrap="square" lIns="635" tIns="635" rIns="635" bIns="635" rtlCol="0" anchor="ctr"/>
          <a:lstStyle/>
          <a:p>
            <a:pPr algn="ctr" indent="0" marL="0">
              <a:buNone/>
            </a:pPr>
            <a:r>
              <a:rPr lang="en-US" sz="3800" b="1" dirty="0">
                <a:solidFill>
                  <a:srgbClr val="FF5178"/>
                </a:solidFill>
                <a:latin typeface="Roboto" pitchFamily="34" charset="0"/>
                <a:ea typeface="Roboto" pitchFamily="34" charset="-122"/>
                <a:cs typeface="Roboto" pitchFamily="34" charset="-120"/>
              </a:rPr>
              <a:t>Vàng / Đồng</a:t>
            </a:r>
            <a:endParaRPr lang="en-US" sz="3800" dirty="0"/>
          </a:p>
        </p:txBody>
      </p:sp>
      <p:sp>
        <p:nvSpPr>
          <p:cNvPr id="8" name="Text 6"/>
          <p:cNvSpPr txBox="1"/>
          <p:nvPr/>
        </p:nvSpPr>
        <p:spPr>
          <a:xfrm>
            <a:off x="4553712" y="3063240"/>
            <a:ext cx="3108960" cy="1280160"/>
          </a:xfrm>
          <a:prstGeom prst="rect">
            <a:avLst/>
          </a:prstGeom>
          <a:noFill/>
          <a:ln/>
        </p:spPr>
        <p:txBody>
          <a:bodyPr wrap="square" lIns="635" tIns="635" rIns="635" bIns="635" rtlCol="0" anchor="t"/>
          <a:lstStyle/>
          <a:p>
            <a:pPr algn="ctr" indent="0" marL="0">
              <a:buNone/>
            </a:pPr>
            <a:r>
              <a:rPr lang="en-US" sz="1500" dirty="0">
                <a:solidFill>
                  <a:srgbClr val="FBFAF4"/>
                </a:solidFill>
                <a:latin typeface="Roboto" pitchFamily="34" charset="0"/>
                <a:ea typeface="Roboto" pitchFamily="34" charset="-122"/>
                <a:cs typeface="Roboto" pitchFamily="34" charset="-120"/>
              </a:rPr>
              <a:t>địa điểm trả mức cao thường xuất hiện trong danh sách ngắn nhiều hơn</a:t>
            </a:r>
            <a:endParaRPr lang="en-US" sz="1500" dirty="0"/>
          </a:p>
        </p:txBody>
      </p:sp>
      <p:sp>
        <p:nvSpPr>
          <p:cNvPr id="9" name="Shape 7"/>
          <p:cNvSpPr/>
          <p:nvPr/>
        </p:nvSpPr>
        <p:spPr>
          <a:xfrm>
            <a:off x="8101584" y="1783080"/>
            <a:ext cx="3538728" cy="2743200"/>
          </a:xfrm>
          <a:prstGeom prst="roundRect">
            <a:avLst>
              <a:gd name="adj" fmla="val 2667"/>
            </a:avLst>
          </a:prstGeom>
          <a:solidFill>
            <a:srgbClr val="FFD23B"/>
          </a:solidFill>
          <a:ln w="12700">
            <a:solidFill>
              <a:srgbClr val="FFD23B"/>
            </a:solidFill>
            <a:prstDash val="solid"/>
          </a:ln>
        </p:spPr>
      </p:sp>
      <p:sp>
        <p:nvSpPr>
          <p:cNvPr id="10" name="Text 8"/>
          <p:cNvSpPr txBox="1"/>
          <p:nvPr/>
        </p:nvSpPr>
        <p:spPr>
          <a:xfrm>
            <a:off x="8284464" y="1874520"/>
            <a:ext cx="3172968" cy="2560320"/>
          </a:xfrm>
          <a:prstGeom prst="rect">
            <a:avLst/>
          </a:prstGeom>
          <a:noFill/>
          <a:ln/>
        </p:spPr>
        <p:txBody>
          <a:bodyPr wrap="square" lIns="635" tIns="635" rIns="635" bIns="635" rtlCol="0" anchor="t"/>
          <a:lstStyle/>
          <a:p>
            <a:pPr indent="0" marL="0">
              <a:buNone/>
            </a:pPr>
            <a:r>
              <a:rPr lang="en-US" sz="1500" b="1" dirty="0">
                <a:solidFill>
                  <a:srgbClr val="172849"/>
                </a:solidFill>
                <a:latin typeface="Roboto" pitchFamily="34" charset="0"/>
                <a:ea typeface="Roboto" pitchFamily="34" charset="-122"/>
                <a:cs typeface="Roboto" pitchFamily="34" charset="-120"/>
              </a:rPr>
              <a:t>Hỏi: có địa điểm hay chuỗi khách sạn nào họ không làm việc cùng?</a:t>
            </a:r>
            <a:endParaRPr lang="en-US" sz="1500" dirty="0"/>
          </a:p>
          <a:p>
            <a:pPr indent="0" marL="0">
              <a:buNone/>
            </a:pPr>
            <a:endParaRPr lang="en-US" sz="1500" dirty="0"/>
          </a:p>
          <a:p>
            <a:pPr indent="0" marL="0">
              <a:buNone/>
            </a:pPr>
            <a:r>
              <a:rPr lang="en-US" sz="1500" b="1" dirty="0">
                <a:solidFill>
                  <a:srgbClr val="172849"/>
                </a:solidFill>
                <a:latin typeface="Roboto" pitchFamily="34" charset="0"/>
                <a:ea typeface="Roboto" pitchFamily="34" charset="-122"/>
                <a:cs typeface="Roboto" pitchFamily="34" charset="-120"/>
              </a:rPr>
              <a:t>Giữ chỗ: lựa chọn thứ nhất / thứ hai (first / second option).</a:t>
            </a:r>
            <a:endParaRPr lang="en-US" sz="1500" dirty="0"/>
          </a:p>
        </p:txBody>
      </p:sp>
      <p:sp>
        <p:nvSpPr>
          <p:cNvPr id="11" name="Shape 9"/>
          <p:cNvSpPr/>
          <p:nvPr/>
        </p:nvSpPr>
        <p:spPr>
          <a:xfrm>
            <a:off x="548640" y="4709160"/>
            <a:ext cx="11091672" cy="1005840"/>
          </a:xfrm>
          <a:prstGeom prst="roundRect">
            <a:avLst>
              <a:gd name="adj" fmla="val 7273"/>
            </a:avLst>
          </a:prstGeom>
          <a:solidFill>
            <a:srgbClr val="22395F"/>
          </a:solidFill>
          <a:ln w="12700">
            <a:solidFill>
              <a:srgbClr val="22395F"/>
            </a:solidFill>
            <a:prstDash val="solid"/>
          </a:ln>
        </p:spPr>
      </p:sp>
      <p:sp>
        <p:nvSpPr>
          <p:cNvPr id="12" name="Text 10"/>
          <p:cNvSpPr txBox="1"/>
          <p:nvPr/>
        </p:nvSpPr>
        <p:spPr>
          <a:xfrm>
            <a:off x="777240" y="4709160"/>
            <a:ext cx="10698480" cy="1005840"/>
          </a:xfrm>
          <a:prstGeom prst="rect">
            <a:avLst/>
          </a:prstGeom>
          <a:noFill/>
          <a:ln/>
        </p:spPr>
        <p:txBody>
          <a:bodyPr wrap="square" lIns="635" tIns="635" rIns="635" bIns="635" rtlCol="0" anchor="ctr"/>
          <a:lstStyle/>
          <a:p>
            <a:pPr indent="0" marL="0">
              <a:buNone/>
            </a:pPr>
            <a:r>
              <a:rPr lang="en-US" sz="1550" dirty="0">
                <a:solidFill>
                  <a:srgbClr val="FBFAF4"/>
                </a:solidFill>
                <a:latin typeface="Roboto" pitchFamily="34" charset="0"/>
                <a:ea typeface="Roboto" pitchFamily="34" charset="-122"/>
                <a:cs typeface="Roboto" pitchFamily="34" charset="-120"/>
              </a:rPr>
              <a:t>Lưu cả danh sách địa điểm bị loại và lý do — “for the purpose of corporate governance, procurement requirements and transparent decision-making”.</a:t>
            </a:r>
            <a:endParaRPr lang="en-US" sz="1550" dirty="0"/>
          </a:p>
        </p:txBody>
      </p:sp>
      <p:sp>
        <p:nvSpPr>
          <p:cNvPr id="13" name="Text 11"/>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Dowson et al. (2023, tr. 110–111) (V14). Bối cảnh Anh; thị trường Việt Nam chưa có số liệu.</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Site check là đi để hỏi, không phải đi để chụp ảnh</a:t>
            </a:r>
            <a:endParaRPr lang="en-US" sz="2800" dirty="0"/>
          </a:p>
        </p:txBody>
      </p:sp>
      <p:sp>
        <p:nvSpPr>
          <p:cNvPr id="3" name="Shape 1"/>
          <p:cNvSpPr/>
          <p:nvPr/>
        </p:nvSpPr>
        <p:spPr>
          <a:xfrm>
            <a:off x="548640" y="1783080"/>
            <a:ext cx="5614416" cy="457200"/>
          </a:xfrm>
          <a:prstGeom prst="roundRect">
            <a:avLst>
              <a:gd name="adj" fmla="val 16000"/>
            </a:avLst>
          </a:prstGeom>
          <a:solidFill>
            <a:srgbClr val="49B296"/>
          </a:solidFill>
          <a:ln w="12700">
            <a:solidFill>
              <a:srgbClr val="49B296"/>
            </a:solidFill>
            <a:prstDash val="solid"/>
          </a:ln>
        </p:spPr>
      </p:sp>
      <p:sp>
        <p:nvSpPr>
          <p:cNvPr id="4" name="Text 2"/>
          <p:cNvSpPr txBox="1"/>
          <p:nvPr/>
        </p:nvSpPr>
        <p:spPr>
          <a:xfrm>
            <a:off x="640080" y="1783080"/>
            <a:ext cx="5431536" cy="457200"/>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Câu hỏi site check</a:t>
            </a:r>
            <a:endParaRPr lang="en-US" sz="1400" dirty="0"/>
          </a:p>
        </p:txBody>
      </p:sp>
      <p:sp>
        <p:nvSpPr>
          <p:cNvPr id="5" name="Shape 3"/>
          <p:cNvSpPr/>
          <p:nvPr/>
        </p:nvSpPr>
        <p:spPr>
          <a:xfrm>
            <a:off x="6217920" y="1783080"/>
            <a:ext cx="5367528" cy="457200"/>
          </a:xfrm>
          <a:prstGeom prst="roundRect">
            <a:avLst>
              <a:gd name="adj" fmla="val 16000"/>
            </a:avLst>
          </a:prstGeom>
          <a:solidFill>
            <a:srgbClr val="FFD23B"/>
          </a:solidFill>
          <a:ln w="12700">
            <a:solidFill>
              <a:srgbClr val="FFD23B"/>
            </a:solidFill>
            <a:prstDash val="solid"/>
          </a:ln>
        </p:spPr>
      </p:sp>
      <p:sp>
        <p:nvSpPr>
          <p:cNvPr id="6" name="Text 4"/>
          <p:cNvSpPr txBox="1"/>
          <p:nvPr/>
        </p:nvSpPr>
        <p:spPr>
          <a:xfrm>
            <a:off x="6309360" y="1783080"/>
            <a:ext cx="5184648" cy="457200"/>
          </a:xfrm>
          <a:prstGeom prst="rect">
            <a:avLst/>
          </a:prstGeom>
          <a:noFill/>
          <a:ln/>
        </p:spPr>
        <p:txBody>
          <a:bodyPr wrap="square" lIns="635" tIns="635" rIns="635" bIns="635" rtlCol="0" anchor="ctr"/>
          <a:lstStyle/>
          <a:p>
            <a:pPr indent="0" marL="0">
              <a:buNone/>
            </a:pPr>
            <a:r>
              <a:rPr lang="en-US" sz="1400" b="1" dirty="0">
                <a:solidFill>
                  <a:srgbClr val="172849"/>
                </a:solidFill>
                <a:latin typeface="Roboto" pitchFamily="34" charset="0"/>
                <a:ea typeface="Roboto" pitchFamily="34" charset="-122"/>
                <a:cs typeface="Roboto" pitchFamily="34" charset="-120"/>
              </a:rPr>
              <a:t>Ảnh hưởng đến An Phát</a:t>
            </a:r>
            <a:endParaRPr lang="en-US" sz="1400" dirty="0"/>
          </a:p>
        </p:txBody>
      </p:sp>
      <p:sp>
        <p:nvSpPr>
          <p:cNvPr id="7" name="Shape 5"/>
          <p:cNvSpPr/>
          <p:nvPr/>
        </p:nvSpPr>
        <p:spPr>
          <a:xfrm>
            <a:off x="548640" y="2313432"/>
            <a:ext cx="5614416" cy="475488"/>
          </a:xfrm>
          <a:prstGeom prst="roundRect">
            <a:avLst>
              <a:gd name="adj" fmla="val 15385"/>
            </a:avLst>
          </a:prstGeom>
          <a:solidFill>
            <a:srgbClr val="22395F"/>
          </a:solidFill>
          <a:ln w="12700">
            <a:solidFill>
              <a:srgbClr val="22395F"/>
            </a:solidFill>
            <a:prstDash val="solid"/>
          </a:ln>
        </p:spPr>
      </p:sp>
      <p:sp>
        <p:nvSpPr>
          <p:cNvPr id="8" name="Text 6"/>
          <p:cNvSpPr txBox="1"/>
          <p:nvPr/>
        </p:nvSpPr>
        <p:spPr>
          <a:xfrm>
            <a:off x="658368" y="2313432"/>
            <a:ext cx="5394960" cy="475488"/>
          </a:xfrm>
          <a:prstGeom prst="rect">
            <a:avLst/>
          </a:prstGeom>
          <a:noFill/>
          <a:ln/>
        </p:spPr>
        <p:txBody>
          <a:bodyPr wrap="square" lIns="635" tIns="635" rIns="635" bIns="635" rtlCol="0" anchor="ctr"/>
          <a:lstStyle/>
          <a:p>
            <a:pPr indent="0" marL="0">
              <a:buNone/>
            </a:pPr>
            <a:r>
              <a:rPr lang="en-US" sz="1400" b="1" dirty="0">
                <a:solidFill>
                  <a:srgbClr val="FBFAF4"/>
                </a:solidFill>
                <a:latin typeface="Roboto" pitchFamily="34" charset="0"/>
                <a:ea typeface="Roboto" pitchFamily="34" charset="-122"/>
                <a:cs typeface="Roboto" pitchFamily="34" charset="-120"/>
              </a:rPr>
              <a:t>Sức chứa tối đa, giấy phép? (chi tiết PCCC: môn Quản trị rủi ro)</a:t>
            </a:r>
            <a:endParaRPr lang="en-US" sz="1400" dirty="0"/>
          </a:p>
        </p:txBody>
      </p:sp>
      <p:sp>
        <p:nvSpPr>
          <p:cNvPr id="9" name="Shape 7"/>
          <p:cNvSpPr/>
          <p:nvPr/>
        </p:nvSpPr>
        <p:spPr>
          <a:xfrm>
            <a:off x="6217920" y="2313432"/>
            <a:ext cx="5367528" cy="475488"/>
          </a:xfrm>
          <a:prstGeom prst="roundRect">
            <a:avLst>
              <a:gd name="adj" fmla="val 15385"/>
            </a:avLst>
          </a:prstGeom>
          <a:solidFill>
            <a:srgbClr val="22395F"/>
          </a:solidFill>
          <a:ln w="12700">
            <a:solidFill>
              <a:srgbClr val="22395F"/>
            </a:solidFill>
            <a:prstDash val="solid"/>
          </a:ln>
        </p:spPr>
      </p:sp>
      <p:sp>
        <p:nvSpPr>
          <p:cNvPr id="10" name="Text 8"/>
          <p:cNvSpPr txBox="1"/>
          <p:nvPr/>
        </p:nvSpPr>
        <p:spPr>
          <a:xfrm>
            <a:off x="6327648" y="2313432"/>
            <a:ext cx="5148072" cy="475488"/>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Không vượt giới hạn chính thức</a:t>
            </a:r>
            <a:endParaRPr lang="en-US" sz="1400" dirty="0"/>
          </a:p>
        </p:txBody>
      </p:sp>
      <p:sp>
        <p:nvSpPr>
          <p:cNvPr id="11" name="Shape 9"/>
          <p:cNvSpPr/>
          <p:nvPr/>
        </p:nvSpPr>
        <p:spPr>
          <a:xfrm>
            <a:off x="548640" y="2862072"/>
            <a:ext cx="5614416" cy="475488"/>
          </a:xfrm>
          <a:prstGeom prst="roundRect">
            <a:avLst>
              <a:gd name="adj" fmla="val 15385"/>
            </a:avLst>
          </a:prstGeom>
          <a:solidFill>
            <a:srgbClr val="22395F"/>
          </a:solidFill>
          <a:ln w="12700">
            <a:solidFill>
              <a:srgbClr val="22395F"/>
            </a:solidFill>
            <a:prstDash val="solid"/>
          </a:ln>
        </p:spPr>
      </p:sp>
      <p:sp>
        <p:nvSpPr>
          <p:cNvPr id="12" name="Text 10"/>
          <p:cNvSpPr txBox="1"/>
          <p:nvPr/>
        </p:nvSpPr>
        <p:spPr>
          <a:xfrm>
            <a:off x="658368" y="2862072"/>
            <a:ext cx="5394960" cy="475488"/>
          </a:xfrm>
          <a:prstGeom prst="rect">
            <a:avLst/>
          </a:prstGeom>
          <a:noFill/>
          <a:ln/>
        </p:spPr>
        <p:txBody>
          <a:bodyPr wrap="square" lIns="635" tIns="635" rIns="635" bIns="635" rtlCol="0" anchor="ctr"/>
          <a:lstStyle/>
          <a:p>
            <a:pPr indent="0" marL="0">
              <a:buNone/>
            </a:pPr>
            <a:r>
              <a:rPr lang="en-US" sz="1400" b="1" dirty="0">
                <a:solidFill>
                  <a:srgbClr val="FBFAF4"/>
                </a:solidFill>
                <a:latin typeface="Roboto" pitchFamily="34" charset="0"/>
                <a:ea typeface="Roboto" pitchFamily="34" charset="-122"/>
                <a:cs typeface="Roboto" pitchFamily="34" charset="-120"/>
              </a:rPr>
              <a:t>Nhà cung cấp độc quyền? Phụ thu mang ngoài vào?</a:t>
            </a:r>
            <a:endParaRPr lang="en-US" sz="1400" dirty="0"/>
          </a:p>
        </p:txBody>
      </p:sp>
      <p:sp>
        <p:nvSpPr>
          <p:cNvPr id="13" name="Shape 11"/>
          <p:cNvSpPr/>
          <p:nvPr/>
        </p:nvSpPr>
        <p:spPr>
          <a:xfrm>
            <a:off x="6217920" y="2862072"/>
            <a:ext cx="5367528" cy="475488"/>
          </a:xfrm>
          <a:prstGeom prst="roundRect">
            <a:avLst>
              <a:gd name="adj" fmla="val 15385"/>
            </a:avLst>
          </a:prstGeom>
          <a:solidFill>
            <a:srgbClr val="22395F"/>
          </a:solidFill>
          <a:ln w="12700">
            <a:solidFill>
              <a:srgbClr val="22395F"/>
            </a:solidFill>
            <a:prstDash val="solid"/>
          </a:ln>
        </p:spPr>
      </p:sp>
      <p:sp>
        <p:nvSpPr>
          <p:cNvPr id="14" name="Text 12"/>
          <p:cNvSpPr txBox="1"/>
          <p:nvPr/>
        </p:nvSpPr>
        <p:spPr>
          <a:xfrm>
            <a:off x="6327648" y="2862072"/>
            <a:ext cx="5148072" cy="475488"/>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Chi phí, chất lượng AV</a:t>
            </a:r>
            <a:endParaRPr lang="en-US" sz="1400" dirty="0"/>
          </a:p>
        </p:txBody>
      </p:sp>
      <p:sp>
        <p:nvSpPr>
          <p:cNvPr id="15" name="Shape 13"/>
          <p:cNvSpPr/>
          <p:nvPr/>
        </p:nvSpPr>
        <p:spPr>
          <a:xfrm>
            <a:off x="548640" y="3410712"/>
            <a:ext cx="5614416" cy="475488"/>
          </a:xfrm>
          <a:prstGeom prst="roundRect">
            <a:avLst>
              <a:gd name="adj" fmla="val 15385"/>
            </a:avLst>
          </a:prstGeom>
          <a:solidFill>
            <a:srgbClr val="22395F"/>
          </a:solidFill>
          <a:ln w="12700">
            <a:solidFill>
              <a:srgbClr val="22395F"/>
            </a:solidFill>
            <a:prstDash val="solid"/>
          </a:ln>
        </p:spPr>
      </p:sp>
      <p:sp>
        <p:nvSpPr>
          <p:cNvPr id="16" name="Text 14"/>
          <p:cNvSpPr txBox="1"/>
          <p:nvPr/>
        </p:nvSpPr>
        <p:spPr>
          <a:xfrm>
            <a:off x="658368" y="3410712"/>
            <a:ext cx="5394960" cy="475488"/>
          </a:xfrm>
          <a:prstGeom prst="rect">
            <a:avLst/>
          </a:prstGeom>
          <a:noFill/>
          <a:ln/>
        </p:spPr>
        <p:txBody>
          <a:bodyPr wrap="square" lIns="635" tIns="635" rIns="635" bIns="635" rtlCol="0" anchor="ctr"/>
          <a:lstStyle/>
          <a:p>
            <a:pPr indent="0" marL="0">
              <a:buNone/>
            </a:pPr>
            <a:r>
              <a:rPr lang="en-US" sz="1400" b="1" dirty="0">
                <a:solidFill>
                  <a:srgbClr val="FBFAF4"/>
                </a:solidFill>
                <a:latin typeface="Roboto" pitchFamily="34" charset="0"/>
                <a:ea typeface="Roboto" pitchFamily="34" charset="-122"/>
                <a:cs typeface="Roboto" pitchFamily="34" charset="-120"/>
              </a:rPr>
              <a:t>AV, rigging, máy phát dự phòng? Wi‑Fi cho kỹ thuật?</a:t>
            </a:r>
            <a:endParaRPr lang="en-US" sz="1400" dirty="0"/>
          </a:p>
        </p:txBody>
      </p:sp>
      <p:sp>
        <p:nvSpPr>
          <p:cNvPr id="17" name="Shape 15"/>
          <p:cNvSpPr/>
          <p:nvPr/>
        </p:nvSpPr>
        <p:spPr>
          <a:xfrm>
            <a:off x="6217920" y="3410712"/>
            <a:ext cx="5367528" cy="475488"/>
          </a:xfrm>
          <a:prstGeom prst="roundRect">
            <a:avLst>
              <a:gd name="adj" fmla="val 15385"/>
            </a:avLst>
          </a:prstGeom>
          <a:solidFill>
            <a:srgbClr val="22395F"/>
          </a:solidFill>
          <a:ln w="12700">
            <a:solidFill>
              <a:srgbClr val="22395F"/>
            </a:solidFill>
            <a:prstDash val="solid"/>
          </a:ln>
        </p:spPr>
      </p:sp>
      <p:sp>
        <p:nvSpPr>
          <p:cNvPr id="18" name="Text 16"/>
          <p:cNvSpPr txBox="1"/>
          <p:nvPr/>
        </p:nvSpPr>
        <p:spPr>
          <a:xfrm>
            <a:off x="6327648" y="3410712"/>
            <a:ext cx="5148072" cy="475488"/>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Livestream không bị đứt</a:t>
            </a:r>
            <a:endParaRPr lang="en-US" sz="1400" dirty="0"/>
          </a:p>
        </p:txBody>
      </p:sp>
      <p:sp>
        <p:nvSpPr>
          <p:cNvPr id="19" name="Shape 17"/>
          <p:cNvSpPr/>
          <p:nvPr/>
        </p:nvSpPr>
        <p:spPr>
          <a:xfrm>
            <a:off x="548640" y="3959352"/>
            <a:ext cx="5614416" cy="475488"/>
          </a:xfrm>
          <a:prstGeom prst="roundRect">
            <a:avLst>
              <a:gd name="adj" fmla="val 15385"/>
            </a:avLst>
          </a:prstGeom>
          <a:solidFill>
            <a:srgbClr val="22395F"/>
          </a:solidFill>
          <a:ln w="12700">
            <a:solidFill>
              <a:srgbClr val="22395F"/>
            </a:solidFill>
            <a:prstDash val="solid"/>
          </a:ln>
        </p:spPr>
      </p:sp>
      <p:sp>
        <p:nvSpPr>
          <p:cNvPr id="20" name="Text 18"/>
          <p:cNvSpPr txBox="1"/>
          <p:nvPr/>
        </p:nvSpPr>
        <p:spPr>
          <a:xfrm>
            <a:off x="658368" y="3959352"/>
            <a:ext cx="5394960" cy="475488"/>
          </a:xfrm>
          <a:prstGeom prst="rect">
            <a:avLst/>
          </a:prstGeom>
          <a:noFill/>
          <a:ln/>
        </p:spPr>
        <p:txBody>
          <a:bodyPr wrap="square" lIns="635" tIns="635" rIns="635" bIns="635" rtlCol="0" anchor="ctr"/>
          <a:lstStyle/>
          <a:p>
            <a:pPr indent="0" marL="0">
              <a:buNone/>
            </a:pPr>
            <a:r>
              <a:rPr lang="en-US" sz="1400" b="1" dirty="0">
                <a:solidFill>
                  <a:srgbClr val="FBFAF4"/>
                </a:solidFill>
                <a:latin typeface="Roboto" pitchFamily="34" charset="0"/>
                <a:ea typeface="Roboto" pitchFamily="34" charset="-122"/>
                <a:cs typeface="Roboto" pitchFamily="34" charset="-120"/>
              </a:rPr>
              <a:t>Khu hậu cần, khu chuẩn bị F&amp;B? Giờ tập kết, thang hàng?</a:t>
            </a:r>
            <a:endParaRPr lang="en-US" sz="1400" dirty="0"/>
          </a:p>
        </p:txBody>
      </p:sp>
      <p:sp>
        <p:nvSpPr>
          <p:cNvPr id="21" name="Shape 19"/>
          <p:cNvSpPr/>
          <p:nvPr/>
        </p:nvSpPr>
        <p:spPr>
          <a:xfrm>
            <a:off x="6217920" y="3959352"/>
            <a:ext cx="5367528" cy="475488"/>
          </a:xfrm>
          <a:prstGeom prst="roundRect">
            <a:avLst>
              <a:gd name="adj" fmla="val 15385"/>
            </a:avLst>
          </a:prstGeom>
          <a:solidFill>
            <a:srgbClr val="22395F"/>
          </a:solidFill>
          <a:ln w="12700">
            <a:solidFill>
              <a:srgbClr val="22395F"/>
            </a:solidFill>
            <a:prstDash val="solid"/>
          </a:ln>
        </p:spPr>
      </p:sp>
      <p:sp>
        <p:nvSpPr>
          <p:cNvPr id="22" name="Text 20"/>
          <p:cNvSpPr txBox="1"/>
          <p:nvPr/>
        </p:nvSpPr>
        <p:spPr>
          <a:xfrm>
            <a:off x="6327648" y="3959352"/>
            <a:ext cx="5148072" cy="475488"/>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Phục vụ đúng giờ; sân khấu kịp dựng</a:t>
            </a:r>
            <a:endParaRPr lang="en-US" sz="1400" dirty="0"/>
          </a:p>
        </p:txBody>
      </p:sp>
      <p:sp>
        <p:nvSpPr>
          <p:cNvPr id="23" name="Shape 21"/>
          <p:cNvSpPr/>
          <p:nvPr/>
        </p:nvSpPr>
        <p:spPr>
          <a:xfrm>
            <a:off x="548640" y="4507992"/>
            <a:ext cx="5614416" cy="475488"/>
          </a:xfrm>
          <a:prstGeom prst="roundRect">
            <a:avLst>
              <a:gd name="adj" fmla="val 15385"/>
            </a:avLst>
          </a:prstGeom>
          <a:solidFill>
            <a:srgbClr val="22395F"/>
          </a:solidFill>
          <a:ln w="12700">
            <a:solidFill>
              <a:srgbClr val="22395F"/>
            </a:solidFill>
            <a:prstDash val="solid"/>
          </a:ln>
        </p:spPr>
      </p:sp>
      <p:sp>
        <p:nvSpPr>
          <p:cNvPr id="24" name="Text 22"/>
          <p:cNvSpPr txBox="1"/>
          <p:nvPr/>
        </p:nvSpPr>
        <p:spPr>
          <a:xfrm>
            <a:off x="658368" y="4507992"/>
            <a:ext cx="5394960" cy="475488"/>
          </a:xfrm>
          <a:prstGeom prst="rect">
            <a:avLst/>
          </a:prstGeom>
          <a:noFill/>
          <a:ln/>
        </p:spPr>
        <p:txBody>
          <a:bodyPr wrap="square" lIns="635" tIns="635" rIns="635" bIns="635" rtlCol="0" anchor="ctr"/>
          <a:lstStyle/>
          <a:p>
            <a:pPr indent="0" marL="0">
              <a:buNone/>
            </a:pPr>
            <a:r>
              <a:rPr lang="en-US" sz="1400" b="1" dirty="0">
                <a:solidFill>
                  <a:srgbClr val="FBFAF4"/>
                </a:solidFill>
                <a:latin typeface="Roboto" pitchFamily="34" charset="0"/>
                <a:ea typeface="Roboto" pitchFamily="34" charset="-122"/>
                <a:cs typeface="Roboto" pitchFamily="34" charset="-120"/>
              </a:rPr>
              <a:t>Bãi đỗ xe? Quy định gắn thương hiệu?</a:t>
            </a:r>
            <a:endParaRPr lang="en-US" sz="1400" dirty="0"/>
          </a:p>
        </p:txBody>
      </p:sp>
      <p:sp>
        <p:nvSpPr>
          <p:cNvPr id="25" name="Shape 23"/>
          <p:cNvSpPr/>
          <p:nvPr/>
        </p:nvSpPr>
        <p:spPr>
          <a:xfrm>
            <a:off x="6217920" y="4507992"/>
            <a:ext cx="5367528" cy="475488"/>
          </a:xfrm>
          <a:prstGeom prst="roundRect">
            <a:avLst>
              <a:gd name="adj" fmla="val 15385"/>
            </a:avLst>
          </a:prstGeom>
          <a:solidFill>
            <a:srgbClr val="22395F"/>
          </a:solidFill>
          <a:ln w="12700">
            <a:solidFill>
              <a:srgbClr val="22395F"/>
            </a:solidFill>
            <a:prstDash val="solid"/>
          </a:ln>
        </p:spPr>
      </p:sp>
      <p:sp>
        <p:nvSpPr>
          <p:cNvPr id="26" name="Text 24"/>
          <p:cNvSpPr txBox="1"/>
          <p:nvPr/>
        </p:nvSpPr>
        <p:spPr>
          <a:xfrm>
            <a:off x="6327648" y="4507992"/>
            <a:ext cx="5148072" cy="475488"/>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Khách VIP; nhận diện An Phát và nhà tài trợ</a:t>
            </a:r>
            <a:endParaRPr lang="en-US" sz="1400" dirty="0"/>
          </a:p>
        </p:txBody>
      </p:sp>
      <p:sp>
        <p:nvSpPr>
          <p:cNvPr id="27" name="Shape 25"/>
          <p:cNvSpPr/>
          <p:nvPr/>
        </p:nvSpPr>
        <p:spPr>
          <a:xfrm>
            <a:off x="548640" y="5056632"/>
            <a:ext cx="5614416" cy="475488"/>
          </a:xfrm>
          <a:prstGeom prst="roundRect">
            <a:avLst>
              <a:gd name="adj" fmla="val 15385"/>
            </a:avLst>
          </a:prstGeom>
          <a:solidFill>
            <a:srgbClr val="22395F"/>
          </a:solidFill>
          <a:ln w="12700">
            <a:solidFill>
              <a:srgbClr val="22395F"/>
            </a:solidFill>
            <a:prstDash val="solid"/>
          </a:ln>
        </p:spPr>
      </p:sp>
      <p:sp>
        <p:nvSpPr>
          <p:cNvPr id="28" name="Text 26"/>
          <p:cNvSpPr txBox="1"/>
          <p:nvPr/>
        </p:nvSpPr>
        <p:spPr>
          <a:xfrm>
            <a:off x="658368" y="5056632"/>
            <a:ext cx="5394960" cy="475488"/>
          </a:xfrm>
          <a:prstGeom prst="rect">
            <a:avLst/>
          </a:prstGeom>
          <a:noFill/>
          <a:ln/>
        </p:spPr>
        <p:txBody>
          <a:bodyPr wrap="square" lIns="635" tIns="635" rIns="635" bIns="635" rtlCol="0" anchor="ctr"/>
          <a:lstStyle/>
          <a:p>
            <a:pPr indent="0" marL="0">
              <a:buNone/>
            </a:pPr>
            <a:r>
              <a:rPr lang="en-US" sz="1400" b="1" dirty="0">
                <a:solidFill>
                  <a:srgbClr val="FBFAF4"/>
                </a:solidFill>
                <a:latin typeface="Roboto" pitchFamily="34" charset="0"/>
                <a:ea typeface="Roboto" pitchFamily="34" charset="-122"/>
                <a:cs typeface="Roboto" pitchFamily="34" charset="-120"/>
              </a:rPr>
              <a:t>Ngày thử chuông báo cháy? Nhà vệ sinh?</a:t>
            </a:r>
            <a:endParaRPr lang="en-US" sz="1400" dirty="0"/>
          </a:p>
        </p:txBody>
      </p:sp>
      <p:sp>
        <p:nvSpPr>
          <p:cNvPr id="29" name="Shape 27"/>
          <p:cNvSpPr/>
          <p:nvPr/>
        </p:nvSpPr>
        <p:spPr>
          <a:xfrm>
            <a:off x="6217920" y="5056632"/>
            <a:ext cx="5367528" cy="475488"/>
          </a:xfrm>
          <a:prstGeom prst="roundRect">
            <a:avLst>
              <a:gd name="adj" fmla="val 15385"/>
            </a:avLst>
          </a:prstGeom>
          <a:solidFill>
            <a:srgbClr val="22395F"/>
          </a:solidFill>
          <a:ln w="12700">
            <a:solidFill>
              <a:srgbClr val="22395F"/>
            </a:solidFill>
            <a:prstDash val="solid"/>
          </a:ln>
        </p:spPr>
      </p:sp>
      <p:sp>
        <p:nvSpPr>
          <p:cNvPr id="30" name="Text 28"/>
          <p:cNvSpPr txBox="1"/>
          <p:nvPr/>
        </p:nvSpPr>
        <p:spPr>
          <a:xfrm>
            <a:off x="6327648" y="5056632"/>
            <a:ext cx="5148072" cy="475488"/>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Không bất ngờ giữa gala</a:t>
            </a:r>
            <a:endParaRPr lang="en-US" sz="1400" dirty="0"/>
          </a:p>
        </p:txBody>
      </p:sp>
      <p:sp>
        <p:nvSpPr>
          <p:cNvPr id="31" name="Text 2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BizBash (V07) [VERIFY: năm đăng]; Dowson et al. (2023, Hình 5.5, tr. 114–116) (V14).</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Mặt bằng ngoài trời sau mưa: site check phải hỏi cả thời tiết và tầm nhìn</a:t>
            </a:r>
            <a:endParaRPr lang="en-US" sz="2800" dirty="0"/>
          </a:p>
        </p:txBody>
      </p:sp>
      <p:sp>
        <p:nvSpPr>
          <p:cNvPr id="3" name="Shape 1"/>
          <p:cNvSpPr/>
          <p:nvPr/>
        </p:nvSpPr>
        <p:spPr>
          <a:xfrm>
            <a:off x="548640" y="1783080"/>
            <a:ext cx="667512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777240" y="1965960"/>
            <a:ext cx="822960" cy="822960"/>
          </a:xfrm>
          <a:prstGeom prst="ellipse">
            <a:avLst/>
          </a:prstGeom>
          <a:solidFill>
            <a:srgbClr val="09A1E5"/>
          </a:solidFill>
          <a:ln w="12700">
            <a:solidFill>
              <a:srgbClr val="09A1E5"/>
            </a:solidFill>
            <a:prstDash val="solid"/>
          </a:ln>
        </p:spPr>
      </p:sp>
      <p:pic>
        <p:nvPicPr>
          <p:cNvPr id="5" name="Image 0" descr="preencoded.png">    </p:cNvPr>
          <p:cNvPicPr>
            <a:picLocks noChangeAspect="1"/>
          </p:cNvPicPr>
          <p:nvPr/>
        </p:nvPicPr>
        <p:blipFill>
          <a:blip r:embed="rId1"/>
          <a:stretch>
            <a:fillRect/>
          </a:stretch>
        </p:blipFill>
        <p:spPr>
          <a:xfrm>
            <a:off x="958291" y="2147011"/>
            <a:ext cx="460858" cy="460858"/>
          </a:xfrm>
          <a:prstGeom prst="rect">
            <a:avLst/>
          </a:prstGeom>
        </p:spPr>
      </p:pic>
      <p:sp>
        <p:nvSpPr>
          <p:cNvPr id="6" name="Text 3"/>
          <p:cNvSpPr txBox="1"/>
          <p:nvPr/>
        </p:nvSpPr>
        <p:spPr>
          <a:xfrm>
            <a:off x="1783080" y="1965960"/>
            <a:ext cx="5303520" cy="822960"/>
          </a:xfrm>
          <a:prstGeom prst="rect">
            <a:avLst/>
          </a:prstGeom>
          <a:noFill/>
          <a:ln/>
        </p:spPr>
        <p:txBody>
          <a:bodyPr wrap="square" lIns="635" tIns="635" rIns="635" bIns="635" rtlCol="0" anchor="ctr"/>
          <a:lstStyle/>
          <a:p>
            <a:pPr indent="0" marL="0">
              <a:buNone/>
            </a:pPr>
            <a:r>
              <a:rPr lang="en-US" sz="1600" b="1" dirty="0">
                <a:solidFill>
                  <a:srgbClr val="09A1E5"/>
                </a:solidFill>
                <a:latin typeface="Roboto" pitchFamily="34" charset="0"/>
                <a:ea typeface="Roboto" pitchFamily="34" charset="-122"/>
                <a:cs typeface="Roboto" pitchFamily="34" charset="-120"/>
              </a:rPr>
              <a:t>“Những thành phố mơ màng Summer 2026”, Hà Nội, 12/7/2026</a:t>
            </a:r>
            <a:endParaRPr lang="en-US" sz="1600" dirty="0"/>
          </a:p>
        </p:txBody>
      </p:sp>
      <p:sp>
        <p:nvSpPr>
          <p:cNvPr id="7" name="Text 4"/>
          <p:cNvSpPr txBox="1"/>
          <p:nvPr/>
        </p:nvSpPr>
        <p:spPr>
          <a:xfrm>
            <a:off x="822960" y="2926080"/>
            <a:ext cx="6217920" cy="2651760"/>
          </a:xfrm>
          <a:prstGeom prst="rect">
            <a:avLst/>
          </a:prstGeom>
          <a:noFill/>
          <a:ln/>
        </p:spPr>
        <p:txBody>
          <a:bodyPr wrap="square" lIns="635" tIns="635" rIns="635" bIns="635" rtlCol="0" anchor="t"/>
          <a:lstStyle/>
          <a:p>
            <a:pPr marL="342900" indent="-342900">
              <a:spcAft>
                <a:spcPts val="800"/>
              </a:spcAft>
              <a:buSzPct val="100000"/>
              <a:buChar char="•"/>
            </a:pPr>
            <a:r>
              <a:rPr lang="en-US" sz="1550" dirty="0">
                <a:solidFill>
                  <a:srgbClr val="FBFAF4"/>
                </a:solidFill>
                <a:latin typeface="Roboto" pitchFamily="34" charset="0"/>
                <a:ea typeface="Roboto" pitchFamily="34" charset="-122"/>
                <a:cs typeface="Roboto" pitchFamily="34" charset="-120"/>
              </a:rPr>
              <a:t>Mưa lớn: khu vực không đảm bảo vệ sinh, khán giả lội bùn</a:t>
            </a:r>
            <a:endParaRPr lang="en-US" sz="1550" dirty="0"/>
          </a:p>
          <a:p>
            <a:pPr marL="342900" indent="-342900">
              <a:spcAft>
                <a:spcPts val="800"/>
              </a:spcAft>
              <a:buSzPct val="100000"/>
              <a:buChar char="•"/>
            </a:pPr>
            <a:r>
              <a:rPr lang="en-US" sz="1550" dirty="0">
                <a:solidFill>
                  <a:srgbClr val="FBFAF4"/>
                </a:solidFill>
                <a:latin typeface="Roboto" pitchFamily="34" charset="0"/>
                <a:ea typeface="Roboto" pitchFamily="34" charset="-122"/>
                <a:cs typeface="Roboto" pitchFamily="34" charset="-120"/>
              </a:rPr>
              <a:t>Sân khấu thấp, màn LED nhỏ, tầm nhìn hạn chế</a:t>
            </a:r>
            <a:endParaRPr lang="en-US" sz="1550" dirty="0"/>
          </a:p>
          <a:p>
            <a:pPr marL="342900" indent="-342900">
              <a:spcAft>
                <a:spcPts val="800"/>
              </a:spcAft>
              <a:buSzPct val="100000"/>
              <a:buChar char="•"/>
            </a:pPr>
            <a:r>
              <a:rPr lang="en-US" sz="1550" dirty="0">
                <a:solidFill>
                  <a:srgbClr val="FBFAF4"/>
                </a:solidFill>
                <a:latin typeface="Roboto" pitchFamily="34" charset="0"/>
                <a:ea typeface="Roboto" pitchFamily="34" charset="-122"/>
                <a:cs typeface="Roboto" pitchFamily="34" charset="-120"/>
              </a:rPr>
              <a:t>Ban tổ chức xin lỗi, cam kết rà soát “từ việc đánh giá điều kiện mặt bằng, xây dựng các phương án ứng phó với thời tiết…”</a:t>
            </a:r>
            <a:endParaRPr lang="en-US" sz="1550" dirty="0"/>
          </a:p>
        </p:txBody>
      </p:sp>
      <p:sp>
        <p:nvSpPr>
          <p:cNvPr id="8" name="Shape 5"/>
          <p:cNvSpPr/>
          <p:nvPr/>
        </p:nvSpPr>
        <p:spPr>
          <a:xfrm>
            <a:off x="7452360" y="1783080"/>
            <a:ext cx="4187952" cy="3931920"/>
          </a:xfrm>
          <a:prstGeom prst="roundRect">
            <a:avLst>
              <a:gd name="adj" fmla="val 1860"/>
            </a:avLst>
          </a:prstGeom>
          <a:solidFill>
            <a:srgbClr val="FFD23B"/>
          </a:solidFill>
          <a:ln w="12700">
            <a:solidFill>
              <a:srgbClr val="FFD23B"/>
            </a:solidFill>
            <a:prstDash val="solid"/>
          </a:ln>
        </p:spPr>
      </p:sp>
      <p:sp>
        <p:nvSpPr>
          <p:cNvPr id="9" name="Text 6"/>
          <p:cNvSpPr txBox="1"/>
          <p:nvPr/>
        </p:nvSpPr>
        <p:spPr>
          <a:xfrm>
            <a:off x="7635240" y="1874520"/>
            <a:ext cx="3822192" cy="3749040"/>
          </a:xfrm>
          <a:prstGeom prst="rect">
            <a:avLst/>
          </a:prstGeom>
          <a:noFill/>
          <a:ln/>
        </p:spPr>
        <p:txBody>
          <a:bodyPr wrap="square" lIns="635" tIns="635" rIns="635" bIns="635" rtlCol="0" anchor="t"/>
          <a:lstStyle/>
          <a:p>
            <a:pPr indent="0" marL="0">
              <a:buNone/>
            </a:pPr>
            <a:r>
              <a:rPr lang="en-US" sz="1600" b="1" dirty="0">
                <a:solidFill>
                  <a:srgbClr val="172849"/>
                </a:solidFill>
                <a:latin typeface="Roboto" pitchFamily="34" charset="0"/>
                <a:ea typeface="Roboto" pitchFamily="34" charset="-122"/>
                <a:cs typeface="Roboto" pitchFamily="34" charset="-120"/>
              </a:rPr>
              <a:t>Site check trước đó thiếu câu hỏi nào?</a:t>
            </a:r>
            <a:endParaRPr lang="en-US" sz="1600" dirty="0"/>
          </a:p>
          <a:p>
            <a:pPr indent="0" marL="0">
              <a:buNone/>
            </a:pPr>
            <a:endParaRPr lang="en-US" sz="1600" dirty="0"/>
          </a:p>
          <a:p>
            <a:pPr indent="0" marL="0">
              <a:buNone/>
            </a:pPr>
            <a:r>
              <a:rPr lang="en-US" sz="1600" b="1" dirty="0">
                <a:solidFill>
                  <a:srgbClr val="172849"/>
                </a:solidFill>
                <a:latin typeface="Roboto" pitchFamily="34" charset="0"/>
                <a:ea typeface="Roboto" pitchFamily="34" charset="-122"/>
                <a:cs typeface="Roboto" pitchFamily="34" charset="-120"/>
              </a:rPr>
              <a:t>Gợi ý: thoát nước khi mưa · phương án B · tầm nhìn từ cuối khán đài.</a:t>
            </a:r>
            <a:endParaRPr lang="en-US" sz="1600" dirty="0"/>
          </a:p>
          <a:p>
            <a:pPr indent="0" marL="0">
              <a:buNone/>
            </a:pPr>
            <a:endParaRPr lang="en-US" sz="1600" dirty="0"/>
          </a:p>
          <a:p>
            <a:pPr indent="0" marL="0">
              <a:buNone/>
            </a:pPr>
            <a:r>
              <a:rPr lang="en-US" sz="1600" b="1" dirty="0">
                <a:solidFill>
                  <a:srgbClr val="172849"/>
                </a:solidFill>
                <a:latin typeface="Roboto" pitchFamily="34" charset="0"/>
                <a:ea typeface="Roboto" pitchFamily="34" charset="-122"/>
                <a:cs typeface="Roboto" pitchFamily="34" charset="-120"/>
              </a:rPr>
              <a:t>Phương án B nằm trong hợp đồng với ai?</a:t>
            </a:r>
            <a:endParaRPr lang="en-US" sz="1600" dirty="0"/>
          </a:p>
        </p:txBody>
      </p:sp>
      <p:sp>
        <p:nvSpPr>
          <p:cNvPr id="10"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Tiền Phong (13/7/2026) (V11) — chưa KCC. [VERIFY: đối chiếu thêm một báo]</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Bố trí mặt bằng xoay quanh ba điều: không gian, di chuyển, không khí</a:t>
            </a:r>
            <a:endParaRPr lang="en-US" sz="2800" dirty="0"/>
          </a:p>
        </p:txBody>
      </p:sp>
      <p:sp>
        <p:nvSpPr>
          <p:cNvPr id="3" name="Shape 1"/>
          <p:cNvSpPr/>
          <p:nvPr/>
        </p:nvSpPr>
        <p:spPr>
          <a:xfrm>
            <a:off x="548640" y="1783080"/>
            <a:ext cx="3566160" cy="3291840"/>
          </a:xfrm>
          <a:prstGeom prst="roundRect">
            <a:avLst>
              <a:gd name="adj" fmla="val 2222"/>
            </a:avLst>
          </a:prstGeom>
          <a:solidFill>
            <a:srgbClr val="22395F"/>
          </a:solidFill>
          <a:ln w="12700">
            <a:solidFill>
              <a:srgbClr val="22395F"/>
            </a:solidFill>
            <a:prstDash val="solid"/>
          </a:ln>
        </p:spPr>
      </p:sp>
      <p:sp>
        <p:nvSpPr>
          <p:cNvPr id="4" name="Shape 2"/>
          <p:cNvSpPr/>
          <p:nvPr/>
        </p:nvSpPr>
        <p:spPr>
          <a:xfrm>
            <a:off x="1828800" y="1965960"/>
            <a:ext cx="1005840" cy="10058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050085" y="2187245"/>
            <a:ext cx="563270" cy="563270"/>
          </a:xfrm>
          <a:prstGeom prst="rect">
            <a:avLst/>
          </a:prstGeom>
        </p:spPr>
      </p:pic>
      <p:sp>
        <p:nvSpPr>
          <p:cNvPr id="6" name="Text 3"/>
          <p:cNvSpPr txBox="1"/>
          <p:nvPr/>
        </p:nvSpPr>
        <p:spPr>
          <a:xfrm>
            <a:off x="731520" y="3063240"/>
            <a:ext cx="3200400" cy="548640"/>
          </a:xfrm>
          <a:prstGeom prst="rect">
            <a:avLst/>
          </a:prstGeom>
          <a:noFill/>
          <a:ln/>
        </p:spPr>
        <p:txBody>
          <a:bodyPr wrap="square" lIns="635" tIns="635" rIns="635" bIns="635" rtlCol="0" anchor="ctr"/>
          <a:lstStyle/>
          <a:p>
            <a:pPr algn="ctr" indent="0" marL="0">
              <a:buNone/>
            </a:pPr>
            <a:r>
              <a:rPr lang="en-US" sz="2000" b="1" dirty="0">
                <a:solidFill>
                  <a:srgbClr val="49B296"/>
                </a:solidFill>
                <a:latin typeface="Roboto" pitchFamily="34" charset="0"/>
                <a:ea typeface="Roboto" pitchFamily="34" charset="-122"/>
                <a:cs typeface="Roboto" pitchFamily="34" charset="-120"/>
              </a:rPr>
              <a:t>Không gian</a:t>
            </a:r>
            <a:endParaRPr lang="en-US" sz="2000" dirty="0"/>
          </a:p>
        </p:txBody>
      </p:sp>
      <p:sp>
        <p:nvSpPr>
          <p:cNvPr id="7" name="Text 4"/>
          <p:cNvSpPr txBox="1"/>
          <p:nvPr/>
        </p:nvSpPr>
        <p:spPr>
          <a:xfrm>
            <a:off x="777240" y="3657600"/>
            <a:ext cx="3108960" cy="1325880"/>
          </a:xfrm>
          <a:prstGeom prst="rect">
            <a:avLst/>
          </a:prstGeom>
          <a:noFill/>
          <a:ln/>
        </p:spPr>
        <p:txBody>
          <a:bodyPr wrap="square" lIns="635" tIns="635" rIns="635" bIns="635" rtlCol="0" anchor="t"/>
          <a:lstStyle/>
          <a:p>
            <a:pPr algn="ctr" indent="0" marL="0">
              <a:buNone/>
            </a:pPr>
            <a:r>
              <a:rPr lang="en-US" sz="1450" dirty="0">
                <a:solidFill>
                  <a:srgbClr val="FBFAF4"/>
                </a:solidFill>
                <a:latin typeface="Roboto" pitchFamily="34" charset="0"/>
                <a:ea typeface="Roboto" pitchFamily="34" charset="-122"/>
                <a:cs typeface="Roboto" pitchFamily="34" charset="-120"/>
              </a:rPr>
              <a:t>Đủ chỗ cho mọi hoạt động; cả khu hậu cần (văn phòng, kho, phòng chờ nghệ sĩ, khu báo chí)</a:t>
            </a:r>
            <a:endParaRPr lang="en-US" sz="1450" dirty="0"/>
          </a:p>
        </p:txBody>
      </p:sp>
      <p:sp>
        <p:nvSpPr>
          <p:cNvPr id="8" name="Shape 5"/>
          <p:cNvSpPr/>
          <p:nvPr/>
        </p:nvSpPr>
        <p:spPr>
          <a:xfrm>
            <a:off x="4325112" y="1783080"/>
            <a:ext cx="3566160" cy="3291840"/>
          </a:xfrm>
          <a:prstGeom prst="roundRect">
            <a:avLst>
              <a:gd name="adj" fmla="val 2222"/>
            </a:avLst>
          </a:prstGeom>
          <a:solidFill>
            <a:srgbClr val="22395F"/>
          </a:solidFill>
          <a:ln w="12700">
            <a:solidFill>
              <a:srgbClr val="22395F"/>
            </a:solidFill>
            <a:prstDash val="solid"/>
          </a:ln>
        </p:spPr>
      </p:sp>
      <p:sp>
        <p:nvSpPr>
          <p:cNvPr id="9" name="Shape 6"/>
          <p:cNvSpPr/>
          <p:nvPr/>
        </p:nvSpPr>
        <p:spPr>
          <a:xfrm>
            <a:off x="5605272" y="1965960"/>
            <a:ext cx="1005840" cy="1005840"/>
          </a:xfrm>
          <a:prstGeom prst="ellipse">
            <a:avLst/>
          </a:prstGeom>
          <a:solidFill>
            <a:srgbClr val="FFD23B"/>
          </a:solidFill>
          <a:ln w="12700">
            <a:solidFill>
              <a:srgbClr val="FFD23B"/>
            </a:solidFill>
            <a:prstDash val="solid"/>
          </a:ln>
        </p:spPr>
      </p:sp>
      <p:pic>
        <p:nvPicPr>
          <p:cNvPr id="10" name="Image 1" descr="preencoded.png">    </p:cNvPr>
          <p:cNvPicPr>
            <a:picLocks noChangeAspect="1"/>
          </p:cNvPicPr>
          <p:nvPr/>
        </p:nvPicPr>
        <p:blipFill>
          <a:blip r:embed="rId2"/>
          <a:stretch>
            <a:fillRect/>
          </a:stretch>
        </p:blipFill>
        <p:spPr>
          <a:xfrm>
            <a:off x="5826557" y="2187245"/>
            <a:ext cx="563270" cy="563270"/>
          </a:xfrm>
          <a:prstGeom prst="rect">
            <a:avLst/>
          </a:prstGeom>
        </p:spPr>
      </p:pic>
      <p:sp>
        <p:nvSpPr>
          <p:cNvPr id="11" name="Text 7"/>
          <p:cNvSpPr txBox="1"/>
          <p:nvPr/>
        </p:nvSpPr>
        <p:spPr>
          <a:xfrm>
            <a:off x="4507992" y="3063240"/>
            <a:ext cx="3200400" cy="548640"/>
          </a:xfrm>
          <a:prstGeom prst="rect">
            <a:avLst/>
          </a:prstGeom>
          <a:noFill/>
          <a:ln/>
        </p:spPr>
        <p:txBody>
          <a:bodyPr wrap="square" lIns="635" tIns="635" rIns="635" bIns="635" rtlCol="0" anchor="ctr"/>
          <a:lstStyle/>
          <a:p>
            <a:pPr algn="ctr" indent="0" marL="0">
              <a:buNone/>
            </a:pPr>
            <a:r>
              <a:rPr lang="en-US" sz="2000" b="1" dirty="0">
                <a:solidFill>
                  <a:srgbClr val="FFD23B"/>
                </a:solidFill>
                <a:latin typeface="Roboto" pitchFamily="34" charset="0"/>
                <a:ea typeface="Roboto" pitchFamily="34" charset="-122"/>
                <a:cs typeface="Roboto" pitchFamily="34" charset="-120"/>
              </a:rPr>
              <a:t>Di chuyển (ICE)</a:t>
            </a:r>
            <a:endParaRPr lang="en-US" sz="2000" dirty="0"/>
          </a:p>
        </p:txBody>
      </p:sp>
      <p:sp>
        <p:nvSpPr>
          <p:cNvPr id="12" name="Text 8"/>
          <p:cNvSpPr txBox="1"/>
          <p:nvPr/>
        </p:nvSpPr>
        <p:spPr>
          <a:xfrm>
            <a:off x="4553712" y="3657600"/>
            <a:ext cx="3108960" cy="1325880"/>
          </a:xfrm>
          <a:prstGeom prst="rect">
            <a:avLst/>
          </a:prstGeom>
          <a:noFill/>
          <a:ln/>
        </p:spPr>
        <p:txBody>
          <a:bodyPr wrap="square" lIns="635" tIns="635" rIns="635" bIns="635" rtlCol="0" anchor="t"/>
          <a:lstStyle/>
          <a:p>
            <a:pPr algn="ctr" indent="0" marL="0">
              <a:buNone/>
            </a:pPr>
            <a:r>
              <a:rPr lang="en-US" sz="1450" dirty="0">
                <a:solidFill>
                  <a:srgbClr val="FBFAF4"/>
                </a:solidFill>
                <a:latin typeface="Roboto" pitchFamily="34" charset="0"/>
                <a:ea typeface="Roboto" pitchFamily="34" charset="-122"/>
                <a:cs typeface="Roboto" pitchFamily="34" charset="-120"/>
              </a:rPr>
              <a:t>Ingress — vào · Circulation — đi lại · Egress — ra; đủ chỗ xếp hàng ở lối vào</a:t>
            </a:r>
            <a:endParaRPr lang="en-US" sz="1450" dirty="0"/>
          </a:p>
        </p:txBody>
      </p:sp>
      <p:sp>
        <p:nvSpPr>
          <p:cNvPr id="13" name="Shape 9"/>
          <p:cNvSpPr/>
          <p:nvPr/>
        </p:nvSpPr>
        <p:spPr>
          <a:xfrm>
            <a:off x="8101584" y="1783080"/>
            <a:ext cx="3566160" cy="3291840"/>
          </a:xfrm>
          <a:prstGeom prst="roundRect">
            <a:avLst>
              <a:gd name="adj" fmla="val 2222"/>
            </a:avLst>
          </a:prstGeom>
          <a:solidFill>
            <a:srgbClr val="22395F"/>
          </a:solidFill>
          <a:ln w="12700">
            <a:solidFill>
              <a:srgbClr val="22395F"/>
            </a:solidFill>
            <a:prstDash val="solid"/>
          </a:ln>
        </p:spPr>
      </p:sp>
      <p:sp>
        <p:nvSpPr>
          <p:cNvPr id="14" name="Shape 10"/>
          <p:cNvSpPr/>
          <p:nvPr/>
        </p:nvSpPr>
        <p:spPr>
          <a:xfrm>
            <a:off x="9381744" y="1965960"/>
            <a:ext cx="1005840" cy="1005840"/>
          </a:xfrm>
          <a:prstGeom prst="ellipse">
            <a:avLst/>
          </a:prstGeom>
          <a:solidFill>
            <a:srgbClr val="FF5178"/>
          </a:solidFill>
          <a:ln w="12700">
            <a:solidFill>
              <a:srgbClr val="FF5178"/>
            </a:solidFill>
            <a:prstDash val="solid"/>
          </a:ln>
        </p:spPr>
      </p:sp>
      <p:pic>
        <p:nvPicPr>
          <p:cNvPr id="15" name="Image 2" descr="preencoded.png">    </p:cNvPr>
          <p:cNvPicPr>
            <a:picLocks noChangeAspect="1"/>
          </p:cNvPicPr>
          <p:nvPr/>
        </p:nvPicPr>
        <p:blipFill>
          <a:blip r:embed="rId3"/>
          <a:stretch>
            <a:fillRect/>
          </a:stretch>
        </p:blipFill>
        <p:spPr>
          <a:xfrm>
            <a:off x="9603029" y="2187245"/>
            <a:ext cx="563270" cy="563270"/>
          </a:xfrm>
          <a:prstGeom prst="rect">
            <a:avLst/>
          </a:prstGeom>
        </p:spPr>
      </p:pic>
      <p:sp>
        <p:nvSpPr>
          <p:cNvPr id="16" name="Text 11"/>
          <p:cNvSpPr txBox="1"/>
          <p:nvPr/>
        </p:nvSpPr>
        <p:spPr>
          <a:xfrm>
            <a:off x="8284464" y="3063240"/>
            <a:ext cx="3200400" cy="548640"/>
          </a:xfrm>
          <a:prstGeom prst="rect">
            <a:avLst/>
          </a:prstGeom>
          <a:noFill/>
          <a:ln/>
        </p:spPr>
        <p:txBody>
          <a:bodyPr wrap="square" lIns="635" tIns="635" rIns="635" bIns="635" rtlCol="0" anchor="ctr"/>
          <a:lstStyle/>
          <a:p>
            <a:pPr algn="ctr" indent="0" marL="0">
              <a:buNone/>
            </a:pPr>
            <a:r>
              <a:rPr lang="en-US" sz="2000" b="1" dirty="0">
                <a:solidFill>
                  <a:srgbClr val="FF5178"/>
                </a:solidFill>
                <a:latin typeface="Roboto" pitchFamily="34" charset="0"/>
                <a:ea typeface="Roboto" pitchFamily="34" charset="-122"/>
                <a:cs typeface="Roboto" pitchFamily="34" charset="-120"/>
              </a:rPr>
              <a:t>Không khí</a:t>
            </a:r>
            <a:endParaRPr lang="en-US" sz="2000" dirty="0"/>
          </a:p>
        </p:txBody>
      </p:sp>
      <p:sp>
        <p:nvSpPr>
          <p:cNvPr id="17" name="Text 12"/>
          <p:cNvSpPr txBox="1"/>
          <p:nvPr/>
        </p:nvSpPr>
        <p:spPr>
          <a:xfrm>
            <a:off x="8330184" y="3657600"/>
            <a:ext cx="3108960" cy="1325880"/>
          </a:xfrm>
          <a:prstGeom prst="rect">
            <a:avLst/>
          </a:prstGeom>
          <a:noFill/>
          <a:ln/>
        </p:spPr>
        <p:txBody>
          <a:bodyPr wrap="square" lIns="635" tIns="635" rIns="635" bIns="635" rtlCol="0" anchor="t"/>
          <a:lstStyle/>
          <a:p>
            <a:pPr algn="ctr" indent="0" marL="0">
              <a:buNone/>
            </a:pPr>
            <a:r>
              <a:rPr lang="en-US" sz="1450" dirty="0">
                <a:solidFill>
                  <a:srgbClr val="FBFAF4"/>
                </a:solidFill>
                <a:latin typeface="Roboto" pitchFamily="34" charset="0"/>
                <a:ea typeface="Roboto" pitchFamily="34" charset="-122"/>
                <a:cs typeface="Roboto" pitchFamily="34" charset="-120"/>
              </a:rPr>
              <a:t>Khu ồn không cạnh khu yên; mọi khách nhìn và nghe được sân khấu</a:t>
            </a:r>
            <a:endParaRPr lang="en-US" sz="1450" dirty="0"/>
          </a:p>
        </p:txBody>
      </p:sp>
      <p:sp>
        <p:nvSpPr>
          <p:cNvPr id="18" name="Shape 13"/>
          <p:cNvSpPr/>
          <p:nvPr/>
        </p:nvSpPr>
        <p:spPr>
          <a:xfrm>
            <a:off x="548640" y="5212080"/>
            <a:ext cx="11091672" cy="548640"/>
          </a:xfrm>
          <a:prstGeom prst="roundRect">
            <a:avLst>
              <a:gd name="adj" fmla="val 13333"/>
            </a:avLst>
          </a:prstGeom>
          <a:solidFill>
            <a:srgbClr val="22395F"/>
          </a:solidFill>
          <a:ln w="12700">
            <a:solidFill>
              <a:srgbClr val="22395F"/>
            </a:solidFill>
            <a:prstDash val="solid"/>
          </a:ln>
        </p:spPr>
      </p:sp>
      <p:sp>
        <p:nvSpPr>
          <p:cNvPr id="19" name="Text 14"/>
          <p:cNvSpPr txBox="1"/>
          <p:nvPr/>
        </p:nvSpPr>
        <p:spPr>
          <a:xfrm>
            <a:off x="777240" y="5212080"/>
            <a:ext cx="10698480" cy="548640"/>
          </a:xfrm>
          <a:prstGeom prst="rect">
            <a:avLst/>
          </a:prstGeom>
          <a:noFill/>
          <a:ln/>
        </p:spPr>
        <p:txBody>
          <a:bodyPr wrap="square" lIns="635" tIns="635" rIns="635" bIns="635" rtlCol="0" anchor="ctr"/>
          <a:lstStyle/>
          <a:p>
            <a:pPr indent="0" marL="0">
              <a:buNone/>
            </a:pPr>
            <a:r>
              <a:rPr lang="en-US" sz="1500" b="1" dirty="0">
                <a:solidFill>
                  <a:srgbClr val="FFD23B"/>
                </a:solidFill>
                <a:latin typeface="Roboto" pitchFamily="34" charset="0"/>
                <a:ea typeface="Roboto" pitchFamily="34" charset="-122"/>
                <a:cs typeface="Roboto" pitchFamily="34" charset="-120"/>
              </a:rPr>
              <a:t>Gala An Phát: khu nhà tài trợ (Buổi 9) không đặt cạnh sân khấu lúc phát biểu; khách VIP có lối vào riêng.</a:t>
            </a:r>
            <a:endParaRPr lang="en-US" sz="1500" dirty="0"/>
          </a:p>
        </p:txBody>
      </p:sp>
      <p:sp>
        <p:nvSpPr>
          <p:cNvPr id="20" name="Text 15"/>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Dowson et al. (2023, tr. 119–122) (V14). Ví dụ gala là nhận định.</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Diện tích trên brochure không phải diện tích dùng được — và quy tắc ước lượng vênh nhau</a:t>
            </a:r>
            <a:endParaRPr lang="en-US" sz="2800" dirty="0"/>
          </a:p>
        </p:txBody>
      </p:sp>
      <p:sp>
        <p:nvSpPr>
          <p:cNvPr id="3" name="Shape 1"/>
          <p:cNvSpPr/>
          <p:nvPr/>
        </p:nvSpPr>
        <p:spPr>
          <a:xfrm>
            <a:off x="548640" y="1783080"/>
            <a:ext cx="2962656" cy="548640"/>
          </a:xfrm>
          <a:prstGeom prst="roundRect">
            <a:avLst>
              <a:gd name="adj" fmla="val 13333"/>
            </a:avLst>
          </a:prstGeom>
          <a:solidFill>
            <a:srgbClr val="FFD23B"/>
          </a:solidFill>
          <a:ln w="12700">
            <a:solidFill>
              <a:srgbClr val="FFD23B"/>
            </a:solidFill>
            <a:prstDash val="solid"/>
          </a:ln>
        </p:spPr>
      </p:sp>
      <p:sp>
        <p:nvSpPr>
          <p:cNvPr id="4" name="Text 2"/>
          <p:cNvSpPr txBox="1"/>
          <p:nvPr/>
        </p:nvSpPr>
        <p:spPr>
          <a:xfrm>
            <a:off x="640080" y="1783080"/>
            <a:ext cx="277977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Kiểu bố trí</a:t>
            </a:r>
            <a:endParaRPr lang="en-US" sz="1500" dirty="0"/>
          </a:p>
        </p:txBody>
      </p:sp>
      <p:sp>
        <p:nvSpPr>
          <p:cNvPr id="5" name="Shape 3"/>
          <p:cNvSpPr/>
          <p:nvPr/>
        </p:nvSpPr>
        <p:spPr>
          <a:xfrm>
            <a:off x="3566160" y="1783080"/>
            <a:ext cx="2688336"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3657600" y="1783080"/>
            <a:ext cx="250545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Social Tables (V08)</a:t>
            </a:r>
            <a:endParaRPr lang="en-US" sz="1500" dirty="0"/>
          </a:p>
        </p:txBody>
      </p:sp>
      <p:sp>
        <p:nvSpPr>
          <p:cNvPr id="7" name="Shape 5"/>
          <p:cNvSpPr/>
          <p:nvPr/>
        </p:nvSpPr>
        <p:spPr>
          <a:xfrm>
            <a:off x="6309360" y="1783080"/>
            <a:ext cx="2688336" cy="548640"/>
          </a:xfrm>
          <a:prstGeom prst="roundRect">
            <a:avLst>
              <a:gd name="adj" fmla="val 13333"/>
            </a:avLst>
          </a:prstGeom>
          <a:solidFill>
            <a:srgbClr val="FF5178"/>
          </a:solidFill>
          <a:ln w="12700">
            <a:solidFill>
              <a:srgbClr val="FF5178"/>
            </a:solidFill>
            <a:prstDash val="solid"/>
          </a:ln>
        </p:spPr>
      </p:sp>
      <p:sp>
        <p:nvSpPr>
          <p:cNvPr id="8" name="Text 6"/>
          <p:cNvSpPr txBox="1"/>
          <p:nvPr/>
        </p:nvSpPr>
        <p:spPr>
          <a:xfrm>
            <a:off x="6400800" y="1783080"/>
            <a:ext cx="250545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Price 2004, qua Dowson</a:t>
            </a:r>
            <a:endParaRPr lang="en-US" sz="1500" dirty="0"/>
          </a:p>
        </p:txBody>
      </p:sp>
      <p:sp>
        <p:nvSpPr>
          <p:cNvPr id="9" name="Shape 7"/>
          <p:cNvSpPr/>
          <p:nvPr/>
        </p:nvSpPr>
        <p:spPr>
          <a:xfrm>
            <a:off x="548640" y="2404872"/>
            <a:ext cx="2962656" cy="566928"/>
          </a:xfrm>
          <a:prstGeom prst="roundRect">
            <a:avLst>
              <a:gd name="adj" fmla="val 12903"/>
            </a:avLst>
          </a:prstGeom>
          <a:solidFill>
            <a:srgbClr val="FFD23B"/>
          </a:solidFill>
          <a:ln w="12700">
            <a:solidFill>
              <a:srgbClr val="FFD23B"/>
            </a:solidFill>
            <a:prstDash val="solid"/>
          </a:ln>
        </p:spPr>
      </p:sp>
      <p:sp>
        <p:nvSpPr>
          <p:cNvPr id="10" name="Text 8"/>
          <p:cNvSpPr txBox="1"/>
          <p:nvPr/>
        </p:nvSpPr>
        <p:spPr>
          <a:xfrm>
            <a:off x="658368" y="2404872"/>
            <a:ext cx="2743200" cy="566928"/>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Nhà hát</a:t>
            </a:r>
            <a:endParaRPr lang="en-US" sz="1500" dirty="0"/>
          </a:p>
        </p:txBody>
      </p:sp>
      <p:sp>
        <p:nvSpPr>
          <p:cNvPr id="11" name="Shape 9"/>
          <p:cNvSpPr/>
          <p:nvPr/>
        </p:nvSpPr>
        <p:spPr>
          <a:xfrm>
            <a:off x="3566160" y="2404872"/>
            <a:ext cx="2688336" cy="566928"/>
          </a:xfrm>
          <a:prstGeom prst="roundRect">
            <a:avLst>
              <a:gd name="adj" fmla="val 12903"/>
            </a:avLst>
          </a:prstGeom>
          <a:solidFill>
            <a:srgbClr val="22395F"/>
          </a:solidFill>
          <a:ln w="12700">
            <a:solidFill>
              <a:srgbClr val="22395F"/>
            </a:solidFill>
            <a:prstDash val="solid"/>
          </a:ln>
        </p:spPr>
      </p:sp>
      <p:sp>
        <p:nvSpPr>
          <p:cNvPr id="12" name="Text 10"/>
          <p:cNvSpPr txBox="1"/>
          <p:nvPr/>
        </p:nvSpPr>
        <p:spPr>
          <a:xfrm>
            <a:off x="3675888" y="2404872"/>
            <a:ext cx="246888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 0,6–0,7 m²*</a:t>
            </a:r>
            <a:endParaRPr lang="en-US" sz="1500" dirty="0"/>
          </a:p>
        </p:txBody>
      </p:sp>
      <p:sp>
        <p:nvSpPr>
          <p:cNvPr id="13" name="Shape 11"/>
          <p:cNvSpPr/>
          <p:nvPr/>
        </p:nvSpPr>
        <p:spPr>
          <a:xfrm>
            <a:off x="6309360" y="2404872"/>
            <a:ext cx="2688336" cy="566928"/>
          </a:xfrm>
          <a:prstGeom prst="roundRect">
            <a:avLst>
              <a:gd name="adj" fmla="val 12903"/>
            </a:avLst>
          </a:prstGeom>
          <a:solidFill>
            <a:srgbClr val="22395F"/>
          </a:solidFill>
          <a:ln w="12700">
            <a:solidFill>
              <a:srgbClr val="22395F"/>
            </a:solidFill>
            <a:prstDash val="solid"/>
          </a:ln>
        </p:spPr>
      </p:sp>
      <p:sp>
        <p:nvSpPr>
          <p:cNvPr id="14" name="Text 12"/>
          <p:cNvSpPr txBox="1"/>
          <p:nvPr/>
        </p:nvSpPr>
        <p:spPr>
          <a:xfrm>
            <a:off x="6419088" y="2404872"/>
            <a:ext cx="246888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2 m²</a:t>
            </a:r>
            <a:endParaRPr lang="en-US" sz="1500" dirty="0"/>
          </a:p>
        </p:txBody>
      </p:sp>
      <p:sp>
        <p:nvSpPr>
          <p:cNvPr id="15" name="Shape 13"/>
          <p:cNvSpPr/>
          <p:nvPr/>
        </p:nvSpPr>
        <p:spPr>
          <a:xfrm>
            <a:off x="548640" y="3044952"/>
            <a:ext cx="2962656" cy="566928"/>
          </a:xfrm>
          <a:prstGeom prst="roundRect">
            <a:avLst>
              <a:gd name="adj" fmla="val 12903"/>
            </a:avLst>
          </a:prstGeom>
          <a:solidFill>
            <a:srgbClr val="FFD23B"/>
          </a:solidFill>
          <a:ln w="12700">
            <a:solidFill>
              <a:srgbClr val="FFD23B"/>
            </a:solidFill>
            <a:prstDash val="solid"/>
          </a:ln>
        </p:spPr>
      </p:sp>
      <p:sp>
        <p:nvSpPr>
          <p:cNvPr id="16" name="Text 14"/>
          <p:cNvSpPr txBox="1"/>
          <p:nvPr/>
        </p:nvSpPr>
        <p:spPr>
          <a:xfrm>
            <a:off x="658368" y="3044952"/>
            <a:ext cx="2743200" cy="566928"/>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Bàn tròn tiệc / cabaret</a:t>
            </a:r>
            <a:endParaRPr lang="en-US" sz="1500" dirty="0"/>
          </a:p>
        </p:txBody>
      </p:sp>
      <p:sp>
        <p:nvSpPr>
          <p:cNvPr id="17" name="Shape 15"/>
          <p:cNvSpPr/>
          <p:nvPr/>
        </p:nvSpPr>
        <p:spPr>
          <a:xfrm>
            <a:off x="3566160" y="3044952"/>
            <a:ext cx="2688336" cy="566928"/>
          </a:xfrm>
          <a:prstGeom prst="roundRect">
            <a:avLst>
              <a:gd name="adj" fmla="val 12903"/>
            </a:avLst>
          </a:prstGeom>
          <a:solidFill>
            <a:srgbClr val="22395F"/>
          </a:solidFill>
          <a:ln w="12700">
            <a:solidFill>
              <a:srgbClr val="22395F"/>
            </a:solidFill>
            <a:prstDash val="solid"/>
          </a:ln>
        </p:spPr>
      </p:sp>
      <p:sp>
        <p:nvSpPr>
          <p:cNvPr id="18" name="Text 16"/>
          <p:cNvSpPr txBox="1"/>
          <p:nvPr/>
        </p:nvSpPr>
        <p:spPr>
          <a:xfrm>
            <a:off x="3675888" y="3044952"/>
            <a:ext cx="246888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 1,0–1,1 m²*</a:t>
            </a:r>
            <a:endParaRPr lang="en-US" sz="1500" dirty="0"/>
          </a:p>
        </p:txBody>
      </p:sp>
      <p:sp>
        <p:nvSpPr>
          <p:cNvPr id="19" name="Shape 17"/>
          <p:cNvSpPr/>
          <p:nvPr/>
        </p:nvSpPr>
        <p:spPr>
          <a:xfrm>
            <a:off x="6309360" y="3044952"/>
            <a:ext cx="2688336" cy="566928"/>
          </a:xfrm>
          <a:prstGeom prst="roundRect">
            <a:avLst>
              <a:gd name="adj" fmla="val 12903"/>
            </a:avLst>
          </a:prstGeom>
          <a:solidFill>
            <a:srgbClr val="22395F"/>
          </a:solidFill>
          <a:ln w="12700">
            <a:solidFill>
              <a:srgbClr val="22395F"/>
            </a:solidFill>
            <a:prstDash val="solid"/>
          </a:ln>
        </p:spPr>
      </p:sp>
      <p:sp>
        <p:nvSpPr>
          <p:cNvPr id="20" name="Text 18"/>
          <p:cNvSpPr txBox="1"/>
          <p:nvPr/>
        </p:nvSpPr>
        <p:spPr>
          <a:xfrm>
            <a:off x="6419088" y="3044952"/>
            <a:ext cx="246888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4 m²</a:t>
            </a:r>
            <a:endParaRPr lang="en-US" sz="1500" dirty="0"/>
          </a:p>
        </p:txBody>
      </p:sp>
      <p:sp>
        <p:nvSpPr>
          <p:cNvPr id="21" name="Shape 19"/>
          <p:cNvSpPr/>
          <p:nvPr/>
        </p:nvSpPr>
        <p:spPr>
          <a:xfrm>
            <a:off x="548640" y="3685032"/>
            <a:ext cx="2962656" cy="566928"/>
          </a:xfrm>
          <a:prstGeom prst="roundRect">
            <a:avLst>
              <a:gd name="adj" fmla="val 12903"/>
            </a:avLst>
          </a:prstGeom>
          <a:solidFill>
            <a:srgbClr val="FFD23B"/>
          </a:solidFill>
          <a:ln w="12700">
            <a:solidFill>
              <a:srgbClr val="FFD23B"/>
            </a:solidFill>
            <a:prstDash val="solid"/>
          </a:ln>
        </p:spPr>
      </p:sp>
      <p:sp>
        <p:nvSpPr>
          <p:cNvPr id="22" name="Text 20"/>
          <p:cNvSpPr txBox="1"/>
          <p:nvPr/>
        </p:nvSpPr>
        <p:spPr>
          <a:xfrm>
            <a:off x="658368" y="3685032"/>
            <a:ext cx="2743200" cy="566928"/>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Bàn họp</a:t>
            </a:r>
            <a:endParaRPr lang="en-US" sz="1500" dirty="0"/>
          </a:p>
        </p:txBody>
      </p:sp>
      <p:sp>
        <p:nvSpPr>
          <p:cNvPr id="23" name="Shape 21"/>
          <p:cNvSpPr/>
          <p:nvPr/>
        </p:nvSpPr>
        <p:spPr>
          <a:xfrm>
            <a:off x="3566160" y="3685032"/>
            <a:ext cx="2688336" cy="566928"/>
          </a:xfrm>
          <a:prstGeom prst="roundRect">
            <a:avLst>
              <a:gd name="adj" fmla="val 12903"/>
            </a:avLst>
          </a:prstGeom>
          <a:solidFill>
            <a:srgbClr val="22395F"/>
          </a:solidFill>
          <a:ln w="12700">
            <a:solidFill>
              <a:srgbClr val="22395F"/>
            </a:solidFill>
            <a:prstDash val="solid"/>
          </a:ln>
        </p:spPr>
      </p:sp>
      <p:sp>
        <p:nvSpPr>
          <p:cNvPr id="24" name="Text 22"/>
          <p:cNvSpPr txBox="1"/>
          <p:nvPr/>
        </p:nvSpPr>
        <p:spPr>
          <a:xfrm>
            <a:off x="3675888" y="3685032"/>
            <a:ext cx="246888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a:t>
            </a:r>
            <a:endParaRPr lang="en-US" sz="1500" dirty="0"/>
          </a:p>
        </p:txBody>
      </p:sp>
      <p:sp>
        <p:nvSpPr>
          <p:cNvPr id="25" name="Shape 23"/>
          <p:cNvSpPr/>
          <p:nvPr/>
        </p:nvSpPr>
        <p:spPr>
          <a:xfrm>
            <a:off x="6309360" y="3685032"/>
            <a:ext cx="2688336" cy="566928"/>
          </a:xfrm>
          <a:prstGeom prst="roundRect">
            <a:avLst>
              <a:gd name="adj" fmla="val 12903"/>
            </a:avLst>
          </a:prstGeom>
          <a:solidFill>
            <a:srgbClr val="22395F"/>
          </a:solidFill>
          <a:ln w="12700">
            <a:solidFill>
              <a:srgbClr val="22395F"/>
            </a:solidFill>
            <a:prstDash val="solid"/>
          </a:ln>
        </p:spPr>
      </p:sp>
      <p:sp>
        <p:nvSpPr>
          <p:cNvPr id="26" name="Text 24"/>
          <p:cNvSpPr txBox="1"/>
          <p:nvPr/>
        </p:nvSpPr>
        <p:spPr>
          <a:xfrm>
            <a:off x="6419088" y="3685032"/>
            <a:ext cx="246888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8–12 m²</a:t>
            </a:r>
            <a:endParaRPr lang="en-US" sz="1500" dirty="0"/>
          </a:p>
        </p:txBody>
      </p:sp>
      <p:sp>
        <p:nvSpPr>
          <p:cNvPr id="27" name="Shape 25"/>
          <p:cNvSpPr/>
          <p:nvPr/>
        </p:nvSpPr>
        <p:spPr>
          <a:xfrm>
            <a:off x="9235440" y="1783080"/>
            <a:ext cx="2404872" cy="2514600"/>
          </a:xfrm>
          <a:prstGeom prst="roundRect">
            <a:avLst>
              <a:gd name="adj" fmla="val 3042"/>
            </a:avLst>
          </a:prstGeom>
          <a:solidFill>
            <a:srgbClr val="FF5178"/>
          </a:solidFill>
          <a:ln w="12700">
            <a:solidFill>
              <a:srgbClr val="FF5178"/>
            </a:solidFill>
            <a:prstDash val="solid"/>
          </a:ln>
        </p:spPr>
      </p:sp>
      <p:sp>
        <p:nvSpPr>
          <p:cNvPr id="28" name="Text 26"/>
          <p:cNvSpPr txBox="1"/>
          <p:nvPr/>
        </p:nvSpPr>
        <p:spPr>
          <a:xfrm>
            <a:off x="9372600" y="1783080"/>
            <a:ext cx="2130552" cy="251460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Roboto" pitchFamily="34" charset="0"/>
                <a:ea typeface="Roboto" pitchFamily="34" charset="-122"/>
                <a:cs typeface="Roboto" pitchFamily="34" charset="-120"/>
              </a:rPr>
              <a:t>600 khách bàn tròn:</a:t>
            </a:r>
            <a:endParaRPr lang="en-US" sz="1500" dirty="0"/>
          </a:p>
          <a:p>
            <a:pPr algn="ctr" indent="0" marL="0">
              <a:buNone/>
            </a:pPr>
            <a:r>
              <a:rPr lang="en-US" sz="1500" b="1" dirty="0">
                <a:solidFill>
                  <a:srgbClr val="172849"/>
                </a:solidFill>
                <a:latin typeface="Roboto" pitchFamily="34" charset="0"/>
                <a:ea typeface="Roboto" pitchFamily="34" charset="-122"/>
                <a:cs typeface="Roboto" pitchFamily="34" charset="-120"/>
              </a:rPr>
              <a:t>~610–670 m² hay ~2.400 m²?</a:t>
            </a:r>
            <a:endParaRPr lang="en-US" sz="1500" dirty="0"/>
          </a:p>
        </p:txBody>
      </p:sp>
      <p:sp>
        <p:nvSpPr>
          <p:cNvPr id="29" name="Shape 27"/>
          <p:cNvSpPr/>
          <p:nvPr/>
        </p:nvSpPr>
        <p:spPr>
          <a:xfrm>
            <a:off x="548640" y="4480560"/>
            <a:ext cx="11091672" cy="1234440"/>
          </a:xfrm>
          <a:prstGeom prst="roundRect">
            <a:avLst>
              <a:gd name="adj" fmla="val 5926"/>
            </a:avLst>
          </a:prstGeom>
          <a:solidFill>
            <a:srgbClr val="22395F"/>
          </a:solidFill>
          <a:ln w="12700">
            <a:solidFill>
              <a:srgbClr val="22395F"/>
            </a:solidFill>
            <a:prstDash val="solid"/>
          </a:ln>
        </p:spPr>
      </p:sp>
      <p:sp>
        <p:nvSpPr>
          <p:cNvPr id="30" name="Text 28"/>
          <p:cNvSpPr txBox="1"/>
          <p:nvPr/>
        </p:nvSpPr>
        <p:spPr>
          <a:xfrm>
            <a:off x="777240" y="4480560"/>
            <a:ext cx="10698480" cy="12344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Bài học: không tin một con số. Xin bảng sức chứa và sơ đồ chính thức của địa điểm, hỏi “diện tích này là gì?” (tổng sàn hay sảnh dùng được), và đo khi site check. Một trung tâm hội nghị ở TP.HCM được ghi từ “hơn 4.000 m²” đến “khoảng 10.000 m²” trên các trang khác nhau.</a:t>
            </a:r>
            <a:endParaRPr lang="en-US" sz="1500" dirty="0"/>
          </a:p>
        </p:txBody>
      </p:sp>
      <p:sp>
        <p:nvSpPr>
          <p:cNvPr id="31" name="Text 2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*Quy đổi từ sq ft (đứng 6, bàn tròn 11–12; nhà hát 6–8 — blog, chưa KCC); 1 m² ≈ 10,76 sq ft. Dowson et al. (2023, tr. 120) (V14). Ví dụ trung tâm hội nghị: V12, không nêu tên.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Dựng sơ đồ theo tỷ lệ, rồi xin góp ý của địa điểm, nhà cung cấp và Key Account</a:t>
            </a:r>
            <a:endParaRPr lang="en-US" sz="2800" dirty="0"/>
          </a:p>
        </p:txBody>
      </p:sp>
      <p:sp>
        <p:nvSpPr>
          <p:cNvPr id="3" name="Shape 1"/>
          <p:cNvSpPr/>
          <p:nvPr/>
        </p:nvSpPr>
        <p:spPr>
          <a:xfrm>
            <a:off x="548640" y="1828800"/>
            <a:ext cx="731520" cy="731520"/>
          </a:xfrm>
          <a:prstGeom prst="ellipse">
            <a:avLst/>
          </a:prstGeom>
          <a:solidFill>
            <a:srgbClr val="49B296"/>
          </a:solidFill>
          <a:ln w="12700">
            <a:solidFill>
              <a:srgbClr val="49B296"/>
            </a:solidFill>
            <a:prstDash val="solid"/>
          </a:ln>
        </p:spPr>
      </p:sp>
      <p:sp>
        <p:nvSpPr>
          <p:cNvPr id="4" name="Text 2"/>
          <p:cNvSpPr txBox="1"/>
          <p:nvPr/>
        </p:nvSpPr>
        <p:spPr>
          <a:xfrm>
            <a:off x="548640" y="182880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1</a:t>
            </a:r>
            <a:endParaRPr lang="en-US" sz="2200" dirty="0"/>
          </a:p>
        </p:txBody>
      </p:sp>
      <p:sp>
        <p:nvSpPr>
          <p:cNvPr id="5" name="Text 3"/>
          <p:cNvSpPr txBox="1"/>
          <p:nvPr/>
        </p:nvSpPr>
        <p:spPr>
          <a:xfrm>
            <a:off x="1417320" y="1828800"/>
            <a:ext cx="2651760" cy="731520"/>
          </a:xfrm>
          <a:prstGeom prst="rect">
            <a:avLst/>
          </a:prstGeom>
          <a:noFill/>
          <a:ln/>
        </p:spPr>
        <p:txBody>
          <a:bodyPr wrap="square" lIns="635" tIns="635" rIns="635" bIns="635" rtlCol="0" anchor="ctr"/>
          <a:lstStyle/>
          <a:p>
            <a:pPr indent="0" marL="0">
              <a:buNone/>
            </a:pPr>
            <a:r>
              <a:rPr lang="en-US" sz="1800" b="1" dirty="0">
                <a:solidFill>
                  <a:srgbClr val="49B296"/>
                </a:solidFill>
                <a:latin typeface="Roboto" pitchFamily="34" charset="0"/>
                <a:ea typeface="Roboto" pitchFamily="34" charset="-122"/>
                <a:cs typeface="Roboto" pitchFamily="34" charset="-120"/>
              </a:rPr>
              <a:t>Xin sơ đồ chi tiết</a:t>
            </a:r>
            <a:endParaRPr lang="en-US" sz="1800" dirty="0"/>
          </a:p>
        </p:txBody>
      </p:sp>
      <p:sp>
        <p:nvSpPr>
          <p:cNvPr id="6" name="Shape 4"/>
          <p:cNvSpPr/>
          <p:nvPr/>
        </p:nvSpPr>
        <p:spPr>
          <a:xfrm>
            <a:off x="548640" y="2697480"/>
            <a:ext cx="3566160" cy="1828800"/>
          </a:xfrm>
          <a:prstGeom prst="roundRect">
            <a:avLst>
              <a:gd name="adj" fmla="val 4000"/>
            </a:avLst>
          </a:prstGeom>
          <a:solidFill>
            <a:srgbClr val="22395F"/>
          </a:solidFill>
          <a:ln w="12700">
            <a:solidFill>
              <a:srgbClr val="22395F"/>
            </a:solidFill>
            <a:prstDash val="solid"/>
          </a:ln>
        </p:spPr>
      </p:sp>
      <p:sp>
        <p:nvSpPr>
          <p:cNvPr id="7" name="Text 5"/>
          <p:cNvSpPr txBox="1"/>
          <p:nvPr/>
        </p:nvSpPr>
        <p:spPr>
          <a:xfrm>
            <a:off x="731520" y="2788920"/>
            <a:ext cx="3200400" cy="164592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Kích thước, sức chứa, lối vào – ra, điểm cố định (cột, ổ điện)</a:t>
            </a:r>
            <a:endParaRPr lang="en-US" sz="1500" dirty="0"/>
          </a:p>
        </p:txBody>
      </p:sp>
      <p:sp>
        <p:nvSpPr>
          <p:cNvPr id="8" name="Shape 6"/>
          <p:cNvSpPr/>
          <p:nvPr/>
        </p:nvSpPr>
        <p:spPr>
          <a:xfrm>
            <a:off x="4325112" y="1828800"/>
            <a:ext cx="731520" cy="731520"/>
          </a:xfrm>
          <a:prstGeom prst="ellipse">
            <a:avLst/>
          </a:prstGeom>
          <a:solidFill>
            <a:srgbClr val="FFD23B"/>
          </a:solidFill>
          <a:ln w="12700">
            <a:solidFill>
              <a:srgbClr val="FFD23B"/>
            </a:solidFill>
            <a:prstDash val="solid"/>
          </a:ln>
        </p:spPr>
      </p:sp>
      <p:sp>
        <p:nvSpPr>
          <p:cNvPr id="9" name="Text 7"/>
          <p:cNvSpPr txBox="1"/>
          <p:nvPr/>
        </p:nvSpPr>
        <p:spPr>
          <a:xfrm>
            <a:off x="4325112" y="182880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2</a:t>
            </a:r>
            <a:endParaRPr lang="en-US" sz="2200" dirty="0"/>
          </a:p>
        </p:txBody>
      </p:sp>
      <p:sp>
        <p:nvSpPr>
          <p:cNvPr id="10" name="Text 8"/>
          <p:cNvSpPr txBox="1"/>
          <p:nvPr/>
        </p:nvSpPr>
        <p:spPr>
          <a:xfrm>
            <a:off x="5193792" y="1828800"/>
            <a:ext cx="2651760" cy="731520"/>
          </a:xfrm>
          <a:prstGeom prst="rect">
            <a:avLst/>
          </a:prstGeom>
          <a:noFill/>
          <a:ln/>
        </p:spPr>
        <p:txBody>
          <a:bodyPr wrap="square" lIns="635" tIns="635" rIns="635" bIns="635" rtlCol="0" anchor="ctr"/>
          <a:lstStyle/>
          <a:p>
            <a:pPr indent="0" marL="0">
              <a:buNone/>
            </a:pPr>
            <a:r>
              <a:rPr lang="en-US" sz="1800" b="1" dirty="0">
                <a:solidFill>
                  <a:srgbClr val="FFD23B"/>
                </a:solidFill>
                <a:latin typeface="Roboto" pitchFamily="34" charset="0"/>
                <a:ea typeface="Roboto" pitchFamily="34" charset="-122"/>
                <a:cs typeface="Roboto" pitchFamily="34" charset="-120"/>
              </a:rPr>
              <a:t>Xếp bố trí</a:t>
            </a:r>
            <a:endParaRPr lang="en-US" sz="1800" dirty="0"/>
          </a:p>
        </p:txBody>
      </p:sp>
      <p:sp>
        <p:nvSpPr>
          <p:cNvPr id="11" name="Shape 9"/>
          <p:cNvSpPr/>
          <p:nvPr/>
        </p:nvSpPr>
        <p:spPr>
          <a:xfrm>
            <a:off x="4325112" y="2697480"/>
            <a:ext cx="3566160" cy="1828800"/>
          </a:xfrm>
          <a:prstGeom prst="roundRect">
            <a:avLst>
              <a:gd name="adj" fmla="val 4000"/>
            </a:avLst>
          </a:prstGeom>
          <a:solidFill>
            <a:srgbClr val="22395F"/>
          </a:solidFill>
          <a:ln w="12700">
            <a:solidFill>
              <a:srgbClr val="22395F"/>
            </a:solidFill>
            <a:prstDash val="solid"/>
          </a:ln>
        </p:spPr>
      </p:sp>
      <p:sp>
        <p:nvSpPr>
          <p:cNvPr id="12" name="Text 10"/>
          <p:cNvSpPr txBox="1"/>
          <p:nvPr/>
        </p:nvSpPr>
        <p:spPr>
          <a:xfrm>
            <a:off x="4507992" y="2788920"/>
            <a:ext cx="3200400" cy="164592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Đặt hoạt động chính trước; khu bổ trợ cạnh nhau; khu VIP, báo chí ở vị trí tốt; hậu cần khuất tầm mắt</a:t>
            </a:r>
            <a:endParaRPr lang="en-US" sz="1500" dirty="0"/>
          </a:p>
        </p:txBody>
      </p:sp>
      <p:sp>
        <p:nvSpPr>
          <p:cNvPr id="13" name="Shape 11"/>
          <p:cNvSpPr/>
          <p:nvPr/>
        </p:nvSpPr>
        <p:spPr>
          <a:xfrm>
            <a:off x="8101584" y="1828800"/>
            <a:ext cx="731520" cy="731520"/>
          </a:xfrm>
          <a:prstGeom prst="ellipse">
            <a:avLst/>
          </a:prstGeom>
          <a:solidFill>
            <a:srgbClr val="FF5178"/>
          </a:solidFill>
          <a:ln w="12700">
            <a:solidFill>
              <a:srgbClr val="FF5178"/>
            </a:solidFill>
            <a:prstDash val="solid"/>
          </a:ln>
        </p:spPr>
      </p:sp>
      <p:sp>
        <p:nvSpPr>
          <p:cNvPr id="14" name="Text 12"/>
          <p:cNvSpPr txBox="1"/>
          <p:nvPr/>
        </p:nvSpPr>
        <p:spPr>
          <a:xfrm>
            <a:off x="8101584" y="182880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3</a:t>
            </a:r>
            <a:endParaRPr lang="en-US" sz="2200" dirty="0"/>
          </a:p>
        </p:txBody>
      </p:sp>
      <p:sp>
        <p:nvSpPr>
          <p:cNvPr id="15" name="Text 13"/>
          <p:cNvSpPr txBox="1"/>
          <p:nvPr/>
        </p:nvSpPr>
        <p:spPr>
          <a:xfrm>
            <a:off x="8970264" y="1828800"/>
            <a:ext cx="2651760" cy="731520"/>
          </a:xfrm>
          <a:prstGeom prst="rect">
            <a:avLst/>
          </a:prstGeom>
          <a:noFill/>
          <a:ln/>
        </p:spPr>
        <p:txBody>
          <a:bodyPr wrap="square" lIns="635" tIns="635" rIns="635" bIns="635" rtlCol="0" anchor="ctr"/>
          <a:lstStyle/>
          <a:p>
            <a:pPr indent="0" marL="0">
              <a:buNone/>
            </a:pPr>
            <a:r>
              <a:rPr lang="en-US" sz="1800" b="1" dirty="0">
                <a:solidFill>
                  <a:srgbClr val="FF5178"/>
                </a:solidFill>
                <a:latin typeface="Roboto" pitchFamily="34" charset="0"/>
                <a:ea typeface="Roboto" pitchFamily="34" charset="-122"/>
                <a:cs typeface="Roboto" pitchFamily="34" charset="-120"/>
              </a:rPr>
              <a:t>Xin góp ý</a:t>
            </a:r>
            <a:endParaRPr lang="en-US" sz="1800" dirty="0"/>
          </a:p>
        </p:txBody>
      </p:sp>
      <p:sp>
        <p:nvSpPr>
          <p:cNvPr id="16" name="Shape 14"/>
          <p:cNvSpPr/>
          <p:nvPr/>
        </p:nvSpPr>
        <p:spPr>
          <a:xfrm>
            <a:off x="8101584" y="2697480"/>
            <a:ext cx="3566160" cy="1828800"/>
          </a:xfrm>
          <a:prstGeom prst="roundRect">
            <a:avLst>
              <a:gd name="adj" fmla="val 4000"/>
            </a:avLst>
          </a:prstGeom>
          <a:solidFill>
            <a:srgbClr val="22395F"/>
          </a:solidFill>
          <a:ln w="12700">
            <a:solidFill>
              <a:srgbClr val="22395F"/>
            </a:solidFill>
            <a:prstDash val="solid"/>
          </a:ln>
        </p:spPr>
      </p:sp>
      <p:sp>
        <p:nvSpPr>
          <p:cNvPr id="17" name="Text 15"/>
          <p:cNvSpPr txBox="1"/>
          <p:nvPr/>
        </p:nvSpPr>
        <p:spPr>
          <a:xfrm>
            <a:off x="8284464" y="2788920"/>
            <a:ext cx="3200400" cy="164592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Quản lý địa điểm, nhà cung cấp từng làm ở đây — và khách hàng</a:t>
            </a:r>
            <a:endParaRPr lang="en-US" sz="1500" dirty="0"/>
          </a:p>
        </p:txBody>
      </p:sp>
      <p:sp>
        <p:nvSpPr>
          <p:cNvPr id="18" name="Shape 16"/>
          <p:cNvSpPr/>
          <p:nvPr/>
        </p:nvSpPr>
        <p:spPr>
          <a:xfrm>
            <a:off x="548640" y="4709160"/>
            <a:ext cx="11091672" cy="1005840"/>
          </a:xfrm>
          <a:prstGeom prst="roundRect">
            <a:avLst>
              <a:gd name="adj" fmla="val 7273"/>
            </a:avLst>
          </a:prstGeom>
          <a:solidFill>
            <a:srgbClr val="FFD23B"/>
          </a:solidFill>
          <a:ln w="12700">
            <a:solidFill>
              <a:srgbClr val="FFD23B"/>
            </a:solidFill>
            <a:prstDash val="solid"/>
          </a:ln>
        </p:spPr>
      </p:sp>
      <p:sp>
        <p:nvSpPr>
          <p:cNvPr id="19" name="Text 17"/>
          <p:cNvSpPr txBox="1"/>
          <p:nvPr/>
        </p:nvSpPr>
        <p:spPr>
          <a:xfrm>
            <a:off x="777240" y="4709160"/>
            <a:ext cx="10698480" cy="100584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Bước 3 là quản trị quan hệ: gửi sơ đồ cho anh Minh, chị Lan duyệt trước khi chốt với khách sạn.</a:t>
            </a:r>
            <a:endParaRPr lang="en-US" sz="1700" dirty="0"/>
          </a:p>
        </p:txBody>
      </p:sp>
      <p:sp>
        <p:nvSpPr>
          <p:cNvPr id="20" name="Text 18"/>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Dowson et al. (2023, tr. 122–124) (V14).</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Nhân viên kinh doanh hứa cả thế giới — nhân viên vận hành mới cho biết điều gì làm được</a:t>
            </a:r>
            <a:endParaRPr lang="en-US" sz="2800" dirty="0"/>
          </a:p>
        </p:txBody>
      </p:sp>
      <p:sp>
        <p:nvSpPr>
          <p:cNvPr id="3" name="Shape 1"/>
          <p:cNvSpPr/>
          <p:nvPr/>
        </p:nvSpPr>
        <p:spPr>
          <a:xfrm>
            <a:off x="548640" y="1783080"/>
            <a:ext cx="5394960" cy="2194560"/>
          </a:xfrm>
          <a:prstGeom prst="roundRect">
            <a:avLst>
              <a:gd name="adj" fmla="val 3333"/>
            </a:avLst>
          </a:prstGeom>
          <a:solidFill>
            <a:srgbClr val="FF9259"/>
          </a:solidFill>
          <a:ln w="12700">
            <a:solidFill>
              <a:srgbClr val="FF9259"/>
            </a:solidFill>
            <a:prstDash val="solid"/>
          </a:ln>
        </p:spPr>
      </p:sp>
      <p:sp>
        <p:nvSpPr>
          <p:cNvPr id="4" name="Text 2"/>
          <p:cNvSpPr txBox="1"/>
          <p:nvPr/>
        </p:nvSpPr>
        <p:spPr>
          <a:xfrm>
            <a:off x="777240" y="1783080"/>
            <a:ext cx="4937760" cy="2194560"/>
          </a:xfrm>
          <a:prstGeom prst="rect">
            <a:avLst/>
          </a:prstGeom>
          <a:noFill/>
          <a:ln/>
        </p:spPr>
        <p:txBody>
          <a:bodyPr wrap="square" lIns="635" tIns="635" rIns="635" bIns="635" rtlCol="0" anchor="ctr"/>
          <a:lstStyle/>
          <a:p>
            <a:pPr indent="0" marL="0">
              <a:buNone/>
            </a:pPr>
            <a:r>
              <a:rPr lang="en-US" sz="1700" b="1" i="1" dirty="0">
                <a:solidFill>
                  <a:srgbClr val="172849"/>
                </a:solidFill>
                <a:latin typeface="Roboto" pitchFamily="34" charset="0"/>
                <a:ea typeface="Roboto" pitchFamily="34" charset="-122"/>
                <a:cs typeface="Roboto" pitchFamily="34" charset="-120"/>
              </a:rPr>
              <a:t>“At first this will be with sales staff who may promise you the earth, but operational staff will tell you that it’s not that simple.”</a:t>
            </a:r>
            <a:endParaRPr lang="en-US" sz="1700" dirty="0"/>
          </a:p>
        </p:txBody>
      </p:sp>
      <p:sp>
        <p:nvSpPr>
          <p:cNvPr id="5" name="Shape 3"/>
          <p:cNvSpPr/>
          <p:nvPr/>
        </p:nvSpPr>
        <p:spPr>
          <a:xfrm>
            <a:off x="6245352" y="1783080"/>
            <a:ext cx="5394960" cy="2194560"/>
          </a:xfrm>
          <a:prstGeom prst="roundRect">
            <a:avLst>
              <a:gd name="adj" fmla="val 3333"/>
            </a:avLst>
          </a:prstGeom>
          <a:solidFill>
            <a:srgbClr val="22395F"/>
          </a:solidFill>
          <a:ln w="12700">
            <a:solidFill>
              <a:srgbClr val="22395F"/>
            </a:solidFill>
            <a:prstDash val="solid"/>
          </a:ln>
        </p:spPr>
      </p:sp>
      <p:sp>
        <p:nvSpPr>
          <p:cNvPr id="6" name="Text 4"/>
          <p:cNvSpPr txBox="1"/>
          <p:nvPr/>
        </p:nvSpPr>
        <p:spPr>
          <a:xfrm>
            <a:off x="6446520" y="1874520"/>
            <a:ext cx="5029200" cy="2011680"/>
          </a:xfrm>
          <a:prstGeom prst="rect">
            <a:avLst/>
          </a:prstGeom>
          <a:noFill/>
          <a:ln/>
        </p:spPr>
        <p:txBody>
          <a:bodyPr wrap="square" lIns="635" tIns="635" rIns="635" bIns="635" rtlCol="0" anchor="t"/>
          <a:lstStyle/>
          <a:p>
            <a:pPr marL="342900" indent="-342900">
              <a:spcAft>
                <a:spcPts val="600"/>
              </a:spcAft>
              <a:buSzPct val="100000"/>
              <a:buChar char="•"/>
            </a:pPr>
            <a:r>
              <a:rPr lang="en-US" sz="1550" dirty="0">
                <a:solidFill>
                  <a:srgbClr val="FBFAF4"/>
                </a:solidFill>
                <a:latin typeface="Roboto" pitchFamily="34" charset="0"/>
                <a:ea typeface="Roboto" pitchFamily="34" charset="-122"/>
                <a:cs typeface="Roboto" pitchFamily="34" charset="-120"/>
              </a:rPr>
              <a:t>Gặp nhân viên vận hành trước khi ký</a:t>
            </a:r>
            <a:endParaRPr lang="en-US" sz="1550" dirty="0"/>
          </a:p>
          <a:p>
            <a:pPr marL="342900" indent="-342900">
              <a:spcAft>
                <a:spcPts val="600"/>
              </a:spcAft>
              <a:buSzPct val="100000"/>
              <a:buChar char="•"/>
            </a:pPr>
            <a:r>
              <a:rPr lang="en-US" sz="1550" dirty="0">
                <a:solidFill>
                  <a:srgbClr val="FBFAF4"/>
                </a:solidFill>
                <a:latin typeface="Roboto" pitchFamily="34" charset="0"/>
                <a:ea typeface="Roboto" pitchFamily="34" charset="-122"/>
                <a:cs typeface="Roboto" pitchFamily="34" charset="-120"/>
              </a:rPr>
              <a:t>Gửi function sheet: lịch, phòng, bố trí, AV, ăn kiêng, người ký duyệt</a:t>
            </a:r>
            <a:endParaRPr lang="en-US" sz="1550" dirty="0"/>
          </a:p>
          <a:p>
            <a:pPr marL="342900" indent="-342900">
              <a:spcAft>
                <a:spcPts val="600"/>
              </a:spcAft>
              <a:buSzPct val="100000"/>
              <a:buChar char="•"/>
            </a:pPr>
            <a:r>
              <a:rPr lang="en-US" sz="1550" dirty="0">
                <a:solidFill>
                  <a:srgbClr val="FBFAF4"/>
                </a:solidFill>
                <a:latin typeface="Roboto" pitchFamily="34" charset="0"/>
                <a:ea typeface="Roboto" pitchFamily="34" charset="-122"/>
                <a:cs typeface="Roboto" pitchFamily="34" charset="-120"/>
              </a:rPr>
              <a:t>Góp ý ngay trong ngày, không để thành khiếu nại sau khi về</a:t>
            </a:r>
            <a:endParaRPr lang="en-US" sz="1550" dirty="0"/>
          </a:p>
        </p:txBody>
      </p:sp>
      <p:sp>
        <p:nvSpPr>
          <p:cNvPr id="7" name="Shape 5"/>
          <p:cNvSpPr/>
          <p:nvPr/>
        </p:nvSpPr>
        <p:spPr>
          <a:xfrm>
            <a:off x="548640" y="4160520"/>
            <a:ext cx="11091672" cy="1554480"/>
          </a:xfrm>
          <a:prstGeom prst="roundRect">
            <a:avLst>
              <a:gd name="adj" fmla="val 4706"/>
            </a:avLst>
          </a:prstGeom>
          <a:solidFill>
            <a:srgbClr val="22395F"/>
          </a:solidFill>
          <a:ln w="12700">
            <a:solidFill>
              <a:srgbClr val="22395F"/>
            </a:solidFill>
            <a:prstDash val="solid"/>
          </a:ln>
        </p:spPr>
      </p:sp>
      <p:sp>
        <p:nvSpPr>
          <p:cNvPr id="8" name="Text 6"/>
          <p:cNvSpPr txBox="1"/>
          <p:nvPr/>
        </p:nvSpPr>
        <p:spPr>
          <a:xfrm>
            <a:off x="777240" y="4160520"/>
            <a:ext cx="10698480" cy="1554480"/>
          </a:xfrm>
          <a:prstGeom prst="rect">
            <a:avLst/>
          </a:prstGeom>
          <a:noFill/>
          <a:ln/>
        </p:spPr>
        <p:txBody>
          <a:bodyPr wrap="square" lIns="635" tIns="635" rIns="635" bIns="635" rtlCol="0" anchor="ctr"/>
          <a:lstStyle/>
          <a:p>
            <a:pPr indent="0" marL="0">
              <a:buNone/>
            </a:pPr>
            <a:r>
              <a:rPr lang="en-US" sz="1600" b="1" dirty="0">
                <a:solidFill>
                  <a:srgbClr val="FFD23B"/>
                </a:solidFill>
                <a:latin typeface="Roboto" pitchFamily="34" charset="0"/>
                <a:ea typeface="Roboto" pitchFamily="34" charset="-122"/>
                <a:cs typeface="Roboto" pitchFamily="34" charset="-120"/>
              </a:rPr>
              <a:t>Nối Buổi 8 (Diamond): với khách sạn cũng cần nhiều cặp đối ứng — KAMer của Nova ↔ sales khách sạn; producer ↔ quản lý vận hành; kỹ thuật ↔ kỹ thuật khách sạn.</a:t>
            </a:r>
            <a:endParaRPr lang="en-US" sz="1600" dirty="0"/>
          </a:p>
        </p:txBody>
      </p:sp>
      <p:sp>
        <p:nvSpPr>
          <p:cNvPr id="9"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Dowson et al. (2023, tr. 116–118, Hình 5.7 — function sheet) (V14). Nối Diamond là nhận định.</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Đọc kỹ những điều khoản chuyển rủi ro: hủy, giảm số khách, thay đổi, bất khả kháng</a:t>
            </a:r>
            <a:endParaRPr lang="en-US" sz="2800" dirty="0"/>
          </a:p>
        </p:txBody>
      </p:sp>
      <p:sp>
        <p:nvSpPr>
          <p:cNvPr id="3" name="Shape 1"/>
          <p:cNvSpPr/>
          <p:nvPr/>
        </p:nvSpPr>
        <p:spPr>
          <a:xfrm>
            <a:off x="548640" y="1783080"/>
            <a:ext cx="3566160" cy="502920"/>
          </a:xfrm>
          <a:prstGeom prst="roundRect">
            <a:avLst>
              <a:gd name="adj" fmla="val 14545"/>
            </a:avLst>
          </a:prstGeom>
          <a:solidFill>
            <a:srgbClr val="FF5178"/>
          </a:solidFill>
          <a:ln w="12700">
            <a:solidFill>
              <a:srgbClr val="FF5178"/>
            </a:solidFill>
            <a:prstDash val="solid"/>
          </a:ln>
        </p:spPr>
      </p:sp>
      <p:sp>
        <p:nvSpPr>
          <p:cNvPr id="4" name="Text 2"/>
          <p:cNvSpPr txBox="1"/>
          <p:nvPr/>
        </p:nvSpPr>
        <p:spPr>
          <a:xfrm>
            <a:off x="685800" y="1783080"/>
            <a:ext cx="3291840" cy="50292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Hủy &amp; attrition</a:t>
            </a:r>
            <a:endParaRPr lang="en-US" sz="1500" dirty="0"/>
          </a:p>
        </p:txBody>
      </p:sp>
      <p:sp>
        <p:nvSpPr>
          <p:cNvPr id="5" name="Shape 3"/>
          <p:cNvSpPr/>
          <p:nvPr/>
        </p:nvSpPr>
        <p:spPr>
          <a:xfrm>
            <a:off x="548640" y="2331720"/>
            <a:ext cx="3566160"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685800" y="2331720"/>
            <a:ext cx="3291840" cy="86868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Phạt khi hủy; phạt khi số khách thấp hơn cam kết; hạn chốt số</a:t>
            </a:r>
            <a:endParaRPr lang="en-US" sz="1400" dirty="0"/>
          </a:p>
        </p:txBody>
      </p:sp>
      <p:sp>
        <p:nvSpPr>
          <p:cNvPr id="7" name="Shape 5"/>
          <p:cNvSpPr/>
          <p:nvPr/>
        </p:nvSpPr>
        <p:spPr>
          <a:xfrm>
            <a:off x="4325112" y="1783080"/>
            <a:ext cx="3566160" cy="502920"/>
          </a:xfrm>
          <a:prstGeom prst="roundRect">
            <a:avLst>
              <a:gd name="adj" fmla="val 14545"/>
            </a:avLst>
          </a:prstGeom>
          <a:solidFill>
            <a:srgbClr val="FFD23B"/>
          </a:solidFill>
          <a:ln w="12700">
            <a:solidFill>
              <a:srgbClr val="FFD23B"/>
            </a:solidFill>
            <a:prstDash val="solid"/>
          </a:ln>
        </p:spPr>
      </p:sp>
      <p:sp>
        <p:nvSpPr>
          <p:cNvPr id="8" name="Text 6"/>
          <p:cNvSpPr txBox="1"/>
          <p:nvPr/>
        </p:nvSpPr>
        <p:spPr>
          <a:xfrm>
            <a:off x="4462272" y="1783080"/>
            <a:ext cx="3291840" cy="50292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Thay đổi dịch vụ</a:t>
            </a:r>
            <a:endParaRPr lang="en-US" sz="1500" dirty="0"/>
          </a:p>
        </p:txBody>
      </p:sp>
      <p:sp>
        <p:nvSpPr>
          <p:cNvPr id="9" name="Shape 7"/>
          <p:cNvSpPr/>
          <p:nvPr/>
        </p:nvSpPr>
        <p:spPr>
          <a:xfrm>
            <a:off x="4325112" y="2331720"/>
            <a:ext cx="3566160"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4462272" y="2331720"/>
            <a:ext cx="3291840" cy="86868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Thỏa thuận cách đổi phạm vi và giá (variation to services)</a:t>
            </a:r>
            <a:endParaRPr lang="en-US" sz="1400" dirty="0"/>
          </a:p>
        </p:txBody>
      </p:sp>
      <p:sp>
        <p:nvSpPr>
          <p:cNvPr id="11" name="Shape 9"/>
          <p:cNvSpPr/>
          <p:nvPr/>
        </p:nvSpPr>
        <p:spPr>
          <a:xfrm>
            <a:off x="8101584" y="1783080"/>
            <a:ext cx="3566160" cy="502920"/>
          </a:xfrm>
          <a:prstGeom prst="roundRect">
            <a:avLst>
              <a:gd name="adj" fmla="val 14545"/>
            </a:avLst>
          </a:prstGeom>
          <a:solidFill>
            <a:srgbClr val="09A1E5"/>
          </a:solidFill>
          <a:ln w="12700">
            <a:solidFill>
              <a:srgbClr val="09A1E5"/>
            </a:solidFill>
            <a:prstDash val="solid"/>
          </a:ln>
        </p:spPr>
      </p:sp>
      <p:sp>
        <p:nvSpPr>
          <p:cNvPr id="12" name="Text 10"/>
          <p:cNvSpPr txBox="1"/>
          <p:nvPr/>
        </p:nvSpPr>
        <p:spPr>
          <a:xfrm>
            <a:off x="8238744" y="1783080"/>
            <a:ext cx="3291840" cy="50292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Cọc &amp; thanh toán</a:t>
            </a:r>
            <a:endParaRPr lang="en-US" sz="1500" dirty="0"/>
          </a:p>
        </p:txBody>
      </p:sp>
      <p:sp>
        <p:nvSpPr>
          <p:cNvPr id="13" name="Shape 11"/>
          <p:cNvSpPr/>
          <p:nvPr/>
        </p:nvSpPr>
        <p:spPr>
          <a:xfrm>
            <a:off x="8101584" y="2331720"/>
            <a:ext cx="3566160"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8238744" y="2331720"/>
            <a:ext cx="3291840" cy="86868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Lịch cọc; người có thẩm quyền ký duyệt chi — cả phía khách</a:t>
            </a:r>
            <a:endParaRPr lang="en-US" sz="1400" dirty="0"/>
          </a:p>
        </p:txBody>
      </p:sp>
      <p:sp>
        <p:nvSpPr>
          <p:cNvPr id="15" name="Shape 13"/>
          <p:cNvSpPr/>
          <p:nvPr/>
        </p:nvSpPr>
        <p:spPr>
          <a:xfrm>
            <a:off x="548640" y="3337560"/>
            <a:ext cx="3566160" cy="502920"/>
          </a:xfrm>
          <a:prstGeom prst="roundRect">
            <a:avLst>
              <a:gd name="adj" fmla="val 14545"/>
            </a:avLst>
          </a:prstGeom>
          <a:solidFill>
            <a:srgbClr val="49B296"/>
          </a:solidFill>
          <a:ln w="12700">
            <a:solidFill>
              <a:srgbClr val="49B296"/>
            </a:solidFill>
            <a:prstDash val="solid"/>
          </a:ln>
        </p:spPr>
      </p:sp>
      <p:sp>
        <p:nvSpPr>
          <p:cNvPr id="16" name="Text 14"/>
          <p:cNvSpPr txBox="1"/>
          <p:nvPr/>
        </p:nvSpPr>
        <p:spPr>
          <a:xfrm>
            <a:off x="685800" y="3337560"/>
            <a:ext cx="3291840" cy="50292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Bất khả kháng &amp; chấm dứt</a:t>
            </a:r>
            <a:endParaRPr lang="en-US" sz="1500" dirty="0"/>
          </a:p>
        </p:txBody>
      </p:sp>
      <p:sp>
        <p:nvSpPr>
          <p:cNvPr id="17" name="Shape 15"/>
          <p:cNvSpPr/>
          <p:nvPr/>
        </p:nvSpPr>
        <p:spPr>
          <a:xfrm>
            <a:off x="548640" y="3886200"/>
            <a:ext cx="3566160" cy="868680"/>
          </a:xfrm>
          <a:prstGeom prst="roundRect">
            <a:avLst>
              <a:gd name="adj" fmla="val 8421"/>
            </a:avLst>
          </a:prstGeom>
          <a:solidFill>
            <a:srgbClr val="22395F"/>
          </a:solidFill>
          <a:ln w="12700">
            <a:solidFill>
              <a:srgbClr val="22395F"/>
            </a:solidFill>
            <a:prstDash val="solid"/>
          </a:ln>
        </p:spPr>
      </p:sp>
      <p:sp>
        <p:nvSpPr>
          <p:cNvPr id="18" name="Text 16"/>
          <p:cNvSpPr txBox="1"/>
          <p:nvPr/>
        </p:nvSpPr>
        <p:spPr>
          <a:xfrm>
            <a:off x="685800" y="3886200"/>
            <a:ext cx="3291840" cy="86868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Khi nào được hủy không chịu trách nhiệm</a:t>
            </a:r>
            <a:endParaRPr lang="en-US" sz="1400" dirty="0"/>
          </a:p>
        </p:txBody>
      </p:sp>
      <p:sp>
        <p:nvSpPr>
          <p:cNvPr id="19" name="Shape 17"/>
          <p:cNvSpPr/>
          <p:nvPr/>
        </p:nvSpPr>
        <p:spPr>
          <a:xfrm>
            <a:off x="4325112" y="3337560"/>
            <a:ext cx="3566160" cy="502920"/>
          </a:xfrm>
          <a:prstGeom prst="roundRect">
            <a:avLst>
              <a:gd name="adj" fmla="val 14545"/>
            </a:avLst>
          </a:prstGeom>
          <a:solidFill>
            <a:srgbClr val="FF9259"/>
          </a:solidFill>
          <a:ln w="12700">
            <a:solidFill>
              <a:srgbClr val="FF9259"/>
            </a:solidFill>
            <a:prstDash val="solid"/>
          </a:ln>
        </p:spPr>
      </p:sp>
      <p:sp>
        <p:nvSpPr>
          <p:cNvPr id="20" name="Text 18"/>
          <p:cNvSpPr txBox="1"/>
          <p:nvPr/>
        </p:nvSpPr>
        <p:spPr>
          <a:xfrm>
            <a:off x="4462272" y="3337560"/>
            <a:ext cx="3291840" cy="50292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Bồi hoàn &amp; bảo hiểm</a:t>
            </a:r>
            <a:endParaRPr lang="en-US" sz="1500" dirty="0"/>
          </a:p>
        </p:txBody>
      </p:sp>
      <p:sp>
        <p:nvSpPr>
          <p:cNvPr id="21" name="Shape 19"/>
          <p:cNvSpPr/>
          <p:nvPr/>
        </p:nvSpPr>
        <p:spPr>
          <a:xfrm>
            <a:off x="4325112" y="3886200"/>
            <a:ext cx="3566160" cy="868680"/>
          </a:xfrm>
          <a:prstGeom prst="roundRect">
            <a:avLst>
              <a:gd name="adj" fmla="val 8421"/>
            </a:avLst>
          </a:prstGeom>
          <a:solidFill>
            <a:srgbClr val="22395F"/>
          </a:solidFill>
          <a:ln w="12700">
            <a:solidFill>
              <a:srgbClr val="22395F"/>
            </a:solidFill>
            <a:prstDash val="solid"/>
          </a:ln>
        </p:spPr>
      </p:sp>
      <p:sp>
        <p:nvSpPr>
          <p:cNvPr id="22" name="Text 20"/>
          <p:cNvSpPr txBox="1"/>
          <p:nvPr/>
        </p:nvSpPr>
        <p:spPr>
          <a:xfrm>
            <a:off x="4462272" y="3886200"/>
            <a:ext cx="3291840" cy="86868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Ai chịu khi có thiệt hại; yêu cầu giấy chứng nhận bảo hiểm</a:t>
            </a:r>
            <a:endParaRPr lang="en-US" sz="1400" dirty="0"/>
          </a:p>
        </p:txBody>
      </p:sp>
      <p:sp>
        <p:nvSpPr>
          <p:cNvPr id="23" name="Shape 21"/>
          <p:cNvSpPr/>
          <p:nvPr/>
        </p:nvSpPr>
        <p:spPr>
          <a:xfrm>
            <a:off x="8101584" y="3337560"/>
            <a:ext cx="3566160" cy="502920"/>
          </a:xfrm>
          <a:prstGeom prst="roundRect">
            <a:avLst>
              <a:gd name="adj" fmla="val 14545"/>
            </a:avLst>
          </a:prstGeom>
          <a:solidFill>
            <a:srgbClr val="962B7C"/>
          </a:solidFill>
          <a:ln w="12700">
            <a:solidFill>
              <a:srgbClr val="962B7C"/>
            </a:solidFill>
            <a:prstDash val="solid"/>
          </a:ln>
        </p:spPr>
      </p:sp>
      <p:sp>
        <p:nvSpPr>
          <p:cNvPr id="24" name="Text 22"/>
          <p:cNvSpPr txBox="1"/>
          <p:nvPr/>
        </p:nvSpPr>
        <p:spPr>
          <a:xfrm>
            <a:off x="8238744" y="3337560"/>
            <a:ext cx="3291840" cy="502920"/>
          </a:xfrm>
          <a:prstGeom prst="rect">
            <a:avLst/>
          </a:prstGeom>
          <a:noFill/>
          <a:ln/>
        </p:spPr>
        <p:txBody>
          <a:bodyPr wrap="square" lIns="635" tIns="635" rIns="635" bIns="635" rtlCol="0" anchor="ctr"/>
          <a:lstStyle/>
          <a:p>
            <a:pPr indent="0" marL="0">
              <a:buNone/>
            </a:pPr>
            <a:r>
              <a:rPr lang="en-US" sz="1500" b="1" dirty="0">
                <a:solidFill>
                  <a:srgbClr val="FBFAF4"/>
                </a:solidFill>
                <a:latin typeface="Roboto" pitchFamily="34" charset="0"/>
                <a:ea typeface="Roboto" pitchFamily="34" charset="-122"/>
                <a:cs typeface="Roboto" pitchFamily="34" charset="-120"/>
              </a:rPr>
              <a:t>Phí phát sinh</a:t>
            </a:r>
            <a:endParaRPr lang="en-US" sz="1500" dirty="0"/>
          </a:p>
        </p:txBody>
      </p:sp>
      <p:sp>
        <p:nvSpPr>
          <p:cNvPr id="25" name="Shape 23"/>
          <p:cNvSpPr/>
          <p:nvPr/>
        </p:nvSpPr>
        <p:spPr>
          <a:xfrm>
            <a:off x="8101584" y="3886200"/>
            <a:ext cx="3566160" cy="868680"/>
          </a:xfrm>
          <a:prstGeom prst="roundRect">
            <a:avLst>
              <a:gd name="adj" fmla="val 8421"/>
            </a:avLst>
          </a:prstGeom>
          <a:solidFill>
            <a:srgbClr val="22395F"/>
          </a:solidFill>
          <a:ln w="12700">
            <a:solidFill>
              <a:srgbClr val="22395F"/>
            </a:solidFill>
            <a:prstDash val="solid"/>
          </a:ln>
        </p:spPr>
      </p:sp>
      <p:sp>
        <p:nvSpPr>
          <p:cNvPr id="26" name="Text 24"/>
          <p:cNvSpPr txBox="1"/>
          <p:nvPr/>
        </p:nvSpPr>
        <p:spPr>
          <a:xfrm>
            <a:off x="8238744" y="3886200"/>
            <a:ext cx="3291840" cy="868680"/>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Photo, Internet, phụ thu trong ngày</a:t>
            </a:r>
            <a:endParaRPr lang="en-US" sz="1400" dirty="0"/>
          </a:p>
        </p:txBody>
      </p:sp>
      <p:sp>
        <p:nvSpPr>
          <p:cNvPr id="27" name="Shape 25"/>
          <p:cNvSpPr/>
          <p:nvPr/>
        </p:nvSpPr>
        <p:spPr>
          <a:xfrm>
            <a:off x="548640" y="4983480"/>
            <a:ext cx="11091672" cy="777240"/>
          </a:xfrm>
          <a:prstGeom prst="roundRect">
            <a:avLst>
              <a:gd name="adj" fmla="val 9412"/>
            </a:avLst>
          </a:prstGeom>
          <a:solidFill>
            <a:srgbClr val="FFD23B"/>
          </a:solidFill>
          <a:ln w="12700">
            <a:solidFill>
              <a:srgbClr val="FFD23B"/>
            </a:solidFill>
            <a:prstDash val="solid"/>
          </a:ln>
        </p:spPr>
      </p:sp>
      <p:sp>
        <p:nvSpPr>
          <p:cNvPr id="28" name="Text 26"/>
          <p:cNvSpPr txBox="1"/>
          <p:nvPr/>
        </p:nvSpPr>
        <p:spPr>
          <a:xfrm>
            <a:off x="777240" y="4983480"/>
            <a:ext cx="10698480" cy="777240"/>
          </a:xfrm>
          <a:prstGeom prst="rect">
            <a:avLst/>
          </a:prstGeom>
          <a:noFill/>
          <a:ln/>
        </p:spPr>
        <p:txBody>
          <a:bodyPr wrap="square" lIns="635" tIns="635" rIns="635" bIns="635" rtlCol="0" anchor="ctr"/>
          <a:lstStyle/>
          <a:p>
            <a:pPr indent="0" marL="0">
              <a:buNone/>
            </a:pPr>
            <a:r>
              <a:rPr lang="en-US" sz="1500" b="1" i="1" dirty="0">
                <a:solidFill>
                  <a:srgbClr val="172849"/>
                </a:solidFill>
                <a:latin typeface="Roboto" pitchFamily="34" charset="0"/>
                <a:ea typeface="Roboto" pitchFamily="34" charset="-122"/>
                <a:cs typeface="Roboto" pitchFamily="34" charset="-120"/>
              </a:rPr>
              <a:t>“Once the contract is agreed (not necessarily signed, as verbal agreements can be binding), you are liable for up to the full amount.”</a:t>
            </a:r>
            <a:endParaRPr lang="en-US" sz="1500" dirty="0"/>
          </a:p>
        </p:txBody>
      </p:sp>
      <p:sp>
        <p:nvSpPr>
          <p:cNvPr id="29" name="Text 2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Silvers (2008, Bảng 3.3, tr. 61–62) (V16); Dowson et al. (2023, tr. 222–223, 247) (V15). Bối cảnh Anh/Mỹ — [VERIFY: pháp chế theo luật Việt Nam].</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Hành trình có ba giai đoạn và bốn loại điểm chạm — đối tác cũng là điểm chạm</a:t>
            </a:r>
            <a:endParaRPr lang="en-US" sz="2800" dirty="0"/>
          </a:p>
        </p:txBody>
      </p:sp>
      <p:sp>
        <p:nvSpPr>
          <p:cNvPr id="3" name="Shape 1"/>
          <p:cNvSpPr/>
          <p:nvPr/>
        </p:nvSpPr>
        <p:spPr>
          <a:xfrm>
            <a:off x="548640" y="1783080"/>
            <a:ext cx="3566160" cy="731520"/>
          </a:xfrm>
          <a:prstGeom prst="roundRect">
            <a:avLst>
              <a:gd name="adj" fmla="val 10000"/>
            </a:avLst>
          </a:prstGeom>
          <a:solidFill>
            <a:srgbClr val="49B296"/>
          </a:solidFill>
          <a:ln w="12700">
            <a:solidFill>
              <a:srgbClr val="49B296"/>
            </a:solidFill>
            <a:prstDash val="solid"/>
          </a:ln>
        </p:spPr>
      </p:sp>
      <p:sp>
        <p:nvSpPr>
          <p:cNvPr id="4" name="Text 2"/>
          <p:cNvSpPr txBox="1"/>
          <p:nvPr/>
        </p:nvSpPr>
        <p:spPr>
          <a:xfrm>
            <a:off x="548640" y="1783080"/>
            <a:ext cx="356616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Trước mua</a:t>
            </a:r>
            <a:endParaRPr lang="en-US" sz="2000" dirty="0"/>
          </a:p>
        </p:txBody>
      </p:sp>
      <p:sp>
        <p:nvSpPr>
          <p:cNvPr id="5" name="Shape 3"/>
          <p:cNvSpPr/>
          <p:nvPr/>
        </p:nvSpPr>
        <p:spPr>
          <a:xfrm>
            <a:off x="4133088" y="1965960"/>
            <a:ext cx="182880" cy="365760"/>
          </a:xfrm>
          <a:prstGeom prst="rightArrow">
            <a:avLst/>
          </a:prstGeom>
          <a:solidFill>
            <a:srgbClr val="A9B6D3"/>
          </a:solidFill>
          <a:ln w="12700">
            <a:solidFill>
              <a:srgbClr val="A9B6D3"/>
            </a:solidFill>
            <a:prstDash val="solid"/>
          </a:ln>
        </p:spPr>
      </p:sp>
      <p:sp>
        <p:nvSpPr>
          <p:cNvPr id="6" name="Shape 4"/>
          <p:cNvSpPr/>
          <p:nvPr/>
        </p:nvSpPr>
        <p:spPr>
          <a:xfrm>
            <a:off x="4325112" y="1783080"/>
            <a:ext cx="3566160" cy="731520"/>
          </a:xfrm>
          <a:prstGeom prst="roundRect">
            <a:avLst>
              <a:gd name="adj" fmla="val 10000"/>
            </a:avLst>
          </a:prstGeom>
          <a:solidFill>
            <a:srgbClr val="FFD23B"/>
          </a:solidFill>
          <a:ln w="12700">
            <a:solidFill>
              <a:srgbClr val="FFD23B"/>
            </a:solidFill>
            <a:prstDash val="solid"/>
          </a:ln>
        </p:spPr>
      </p:sp>
      <p:sp>
        <p:nvSpPr>
          <p:cNvPr id="7" name="Text 5"/>
          <p:cNvSpPr txBox="1"/>
          <p:nvPr/>
        </p:nvSpPr>
        <p:spPr>
          <a:xfrm>
            <a:off x="4325112" y="1783080"/>
            <a:ext cx="356616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Mua</a:t>
            </a:r>
            <a:endParaRPr lang="en-US" sz="2000" dirty="0"/>
          </a:p>
        </p:txBody>
      </p:sp>
      <p:sp>
        <p:nvSpPr>
          <p:cNvPr id="8" name="Shape 6"/>
          <p:cNvSpPr/>
          <p:nvPr/>
        </p:nvSpPr>
        <p:spPr>
          <a:xfrm>
            <a:off x="7909560" y="1965960"/>
            <a:ext cx="182880" cy="365760"/>
          </a:xfrm>
          <a:prstGeom prst="rightArrow">
            <a:avLst/>
          </a:prstGeom>
          <a:solidFill>
            <a:srgbClr val="A9B6D3"/>
          </a:solidFill>
          <a:ln w="12700">
            <a:solidFill>
              <a:srgbClr val="A9B6D3"/>
            </a:solidFill>
            <a:prstDash val="solid"/>
          </a:ln>
        </p:spPr>
      </p:sp>
      <p:sp>
        <p:nvSpPr>
          <p:cNvPr id="9" name="Shape 7"/>
          <p:cNvSpPr/>
          <p:nvPr/>
        </p:nvSpPr>
        <p:spPr>
          <a:xfrm>
            <a:off x="8101584" y="1783080"/>
            <a:ext cx="3566160" cy="731520"/>
          </a:xfrm>
          <a:prstGeom prst="roundRect">
            <a:avLst>
              <a:gd name="adj" fmla="val 10000"/>
            </a:avLst>
          </a:prstGeom>
          <a:solidFill>
            <a:srgbClr val="FF5178"/>
          </a:solidFill>
          <a:ln w="12700">
            <a:solidFill>
              <a:srgbClr val="FF5178"/>
            </a:solidFill>
            <a:prstDash val="solid"/>
          </a:ln>
        </p:spPr>
      </p:sp>
      <p:sp>
        <p:nvSpPr>
          <p:cNvPr id="10" name="Text 8"/>
          <p:cNvSpPr txBox="1"/>
          <p:nvPr/>
        </p:nvSpPr>
        <p:spPr>
          <a:xfrm>
            <a:off x="8101584" y="1783080"/>
            <a:ext cx="356616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Sau mua</a:t>
            </a:r>
            <a:endParaRPr lang="en-US" sz="2000" dirty="0"/>
          </a:p>
        </p:txBody>
      </p:sp>
      <p:sp>
        <p:nvSpPr>
          <p:cNvPr id="11" name="Shape 9"/>
          <p:cNvSpPr/>
          <p:nvPr/>
        </p:nvSpPr>
        <p:spPr>
          <a:xfrm>
            <a:off x="548640" y="2788920"/>
            <a:ext cx="2651760" cy="1371600"/>
          </a:xfrm>
          <a:prstGeom prst="roundRect">
            <a:avLst>
              <a:gd name="adj" fmla="val 5333"/>
            </a:avLst>
          </a:prstGeom>
          <a:solidFill>
            <a:srgbClr val="22395F"/>
          </a:solidFill>
          <a:ln w="12700">
            <a:solidFill>
              <a:srgbClr val="22395F"/>
            </a:solidFill>
            <a:prstDash val="solid"/>
          </a:ln>
        </p:spPr>
      </p:sp>
      <p:sp>
        <p:nvSpPr>
          <p:cNvPr id="12" name="Text 10"/>
          <p:cNvSpPr txBox="1"/>
          <p:nvPr/>
        </p:nvSpPr>
        <p:spPr>
          <a:xfrm>
            <a:off x="685800" y="2834640"/>
            <a:ext cx="2377440" cy="640080"/>
          </a:xfrm>
          <a:prstGeom prst="rect">
            <a:avLst/>
          </a:prstGeom>
          <a:noFill/>
          <a:ln/>
        </p:spPr>
        <p:txBody>
          <a:bodyPr wrap="square" lIns="635" tIns="635" rIns="635" bIns="635" rtlCol="0" anchor="ctr"/>
          <a:lstStyle/>
          <a:p>
            <a:pPr algn="ctr" indent="0" marL="0">
              <a:buNone/>
            </a:pPr>
            <a:r>
              <a:rPr lang="en-US" sz="1700" b="1" dirty="0">
                <a:solidFill>
                  <a:srgbClr val="09A1E5"/>
                </a:solidFill>
                <a:latin typeface="Roboto" pitchFamily="34" charset="0"/>
                <a:ea typeface="Roboto" pitchFamily="34" charset="-122"/>
                <a:cs typeface="Roboto" pitchFamily="34" charset="-120"/>
              </a:rPr>
              <a:t>Brand-owned</a:t>
            </a:r>
            <a:endParaRPr lang="en-US" sz="1700" dirty="0"/>
          </a:p>
        </p:txBody>
      </p:sp>
      <p:sp>
        <p:nvSpPr>
          <p:cNvPr id="13" name="Text 11"/>
          <p:cNvSpPr txBox="1"/>
          <p:nvPr/>
        </p:nvSpPr>
        <p:spPr>
          <a:xfrm>
            <a:off x="685800" y="3474720"/>
            <a:ext cx="2377440" cy="548640"/>
          </a:xfrm>
          <a:prstGeom prst="rect">
            <a:avLst/>
          </a:prstGeom>
          <a:noFill/>
          <a:ln/>
        </p:spPr>
        <p:txBody>
          <a:bodyPr wrap="square" lIns="635" tIns="635" rIns="635" bIns="635" rtlCol="0" anchor="ctr"/>
          <a:lstStyle/>
          <a:p>
            <a:pPr algn="ctr" indent="0" marL="0">
              <a:buNone/>
            </a:pPr>
            <a:r>
              <a:rPr lang="en-US" sz="1400" dirty="0">
                <a:solidFill>
                  <a:srgbClr val="FBFAF4"/>
                </a:solidFill>
                <a:latin typeface="Roboto" pitchFamily="34" charset="0"/>
                <a:ea typeface="Roboto" pitchFamily="34" charset="-122"/>
                <a:cs typeface="Roboto" pitchFamily="34" charset="-120"/>
              </a:rPr>
              <a:t>do doanh nghiệp sở hữu</a:t>
            </a:r>
            <a:endParaRPr lang="en-US" sz="1400" dirty="0"/>
          </a:p>
        </p:txBody>
      </p:sp>
      <p:sp>
        <p:nvSpPr>
          <p:cNvPr id="14" name="Shape 12"/>
          <p:cNvSpPr/>
          <p:nvPr/>
        </p:nvSpPr>
        <p:spPr>
          <a:xfrm>
            <a:off x="3364992" y="2788920"/>
            <a:ext cx="2651760" cy="1371600"/>
          </a:xfrm>
          <a:prstGeom prst="roundRect">
            <a:avLst>
              <a:gd name="adj" fmla="val 5333"/>
            </a:avLst>
          </a:prstGeom>
          <a:solidFill>
            <a:srgbClr val="22395F"/>
          </a:solidFill>
          <a:ln w="12700">
            <a:solidFill>
              <a:srgbClr val="22395F"/>
            </a:solidFill>
            <a:prstDash val="solid"/>
          </a:ln>
        </p:spPr>
      </p:sp>
      <p:sp>
        <p:nvSpPr>
          <p:cNvPr id="15" name="Text 13"/>
          <p:cNvSpPr txBox="1"/>
          <p:nvPr/>
        </p:nvSpPr>
        <p:spPr>
          <a:xfrm>
            <a:off x="3502152" y="2834640"/>
            <a:ext cx="2377440" cy="640080"/>
          </a:xfrm>
          <a:prstGeom prst="rect">
            <a:avLst/>
          </a:prstGeom>
          <a:noFill/>
          <a:ln/>
        </p:spPr>
        <p:txBody>
          <a:bodyPr wrap="square" lIns="635" tIns="635" rIns="635" bIns="635" rtlCol="0" anchor="ctr"/>
          <a:lstStyle/>
          <a:p>
            <a:pPr algn="ctr" indent="0" marL="0">
              <a:buNone/>
            </a:pPr>
            <a:r>
              <a:rPr lang="en-US" sz="1700" b="1" dirty="0">
                <a:solidFill>
                  <a:srgbClr val="FF9259"/>
                </a:solidFill>
                <a:latin typeface="Roboto" pitchFamily="34" charset="0"/>
                <a:ea typeface="Roboto" pitchFamily="34" charset="-122"/>
                <a:cs typeface="Roboto" pitchFamily="34" charset="-120"/>
              </a:rPr>
              <a:t>Partner-owned</a:t>
            </a:r>
            <a:endParaRPr lang="en-US" sz="1700" dirty="0"/>
          </a:p>
        </p:txBody>
      </p:sp>
      <p:sp>
        <p:nvSpPr>
          <p:cNvPr id="16" name="Text 14"/>
          <p:cNvSpPr txBox="1"/>
          <p:nvPr/>
        </p:nvSpPr>
        <p:spPr>
          <a:xfrm>
            <a:off x="3502152" y="3474720"/>
            <a:ext cx="2377440" cy="548640"/>
          </a:xfrm>
          <a:prstGeom prst="rect">
            <a:avLst/>
          </a:prstGeom>
          <a:noFill/>
          <a:ln/>
        </p:spPr>
        <p:txBody>
          <a:bodyPr wrap="square" lIns="635" tIns="635" rIns="635" bIns="635" rtlCol="0" anchor="ctr"/>
          <a:lstStyle/>
          <a:p>
            <a:pPr algn="ctr" indent="0" marL="0">
              <a:buNone/>
            </a:pPr>
            <a:r>
              <a:rPr lang="en-US" sz="1400" dirty="0">
                <a:solidFill>
                  <a:srgbClr val="FBFAF4"/>
                </a:solidFill>
                <a:latin typeface="Roboto" pitchFamily="34" charset="0"/>
                <a:ea typeface="Roboto" pitchFamily="34" charset="-122"/>
                <a:cs typeface="Roboto" pitchFamily="34" charset="-120"/>
              </a:rPr>
              <a:t>do đối tác sở hữu</a:t>
            </a:r>
            <a:endParaRPr lang="en-US" sz="1400" dirty="0"/>
          </a:p>
        </p:txBody>
      </p:sp>
      <p:sp>
        <p:nvSpPr>
          <p:cNvPr id="17" name="Shape 15"/>
          <p:cNvSpPr/>
          <p:nvPr/>
        </p:nvSpPr>
        <p:spPr>
          <a:xfrm>
            <a:off x="6181344" y="2788920"/>
            <a:ext cx="2651760" cy="1371600"/>
          </a:xfrm>
          <a:prstGeom prst="roundRect">
            <a:avLst>
              <a:gd name="adj" fmla="val 5333"/>
            </a:avLst>
          </a:prstGeom>
          <a:solidFill>
            <a:srgbClr val="22395F"/>
          </a:solidFill>
          <a:ln w="12700">
            <a:solidFill>
              <a:srgbClr val="22395F"/>
            </a:solidFill>
            <a:prstDash val="solid"/>
          </a:ln>
        </p:spPr>
      </p:sp>
      <p:sp>
        <p:nvSpPr>
          <p:cNvPr id="18" name="Text 16"/>
          <p:cNvSpPr txBox="1"/>
          <p:nvPr/>
        </p:nvSpPr>
        <p:spPr>
          <a:xfrm>
            <a:off x="6318504" y="2834640"/>
            <a:ext cx="2377440" cy="640080"/>
          </a:xfrm>
          <a:prstGeom prst="rect">
            <a:avLst/>
          </a:prstGeom>
          <a:noFill/>
          <a:ln/>
        </p:spPr>
        <p:txBody>
          <a:bodyPr wrap="square" lIns="635" tIns="635" rIns="635" bIns="635" rtlCol="0" anchor="ctr"/>
          <a:lstStyle/>
          <a:p>
            <a:pPr algn="ctr" indent="0" marL="0">
              <a:buNone/>
            </a:pPr>
            <a:r>
              <a:rPr lang="en-US" sz="1700" b="1" dirty="0">
                <a:solidFill>
                  <a:srgbClr val="49B296"/>
                </a:solidFill>
                <a:latin typeface="Roboto" pitchFamily="34" charset="0"/>
                <a:ea typeface="Roboto" pitchFamily="34" charset="-122"/>
                <a:cs typeface="Roboto" pitchFamily="34" charset="-120"/>
              </a:rPr>
              <a:t>Customer-owned</a:t>
            </a:r>
            <a:endParaRPr lang="en-US" sz="1700" dirty="0"/>
          </a:p>
        </p:txBody>
      </p:sp>
      <p:sp>
        <p:nvSpPr>
          <p:cNvPr id="19" name="Text 17"/>
          <p:cNvSpPr txBox="1"/>
          <p:nvPr/>
        </p:nvSpPr>
        <p:spPr>
          <a:xfrm>
            <a:off x="6318504" y="3474720"/>
            <a:ext cx="2377440" cy="548640"/>
          </a:xfrm>
          <a:prstGeom prst="rect">
            <a:avLst/>
          </a:prstGeom>
          <a:noFill/>
          <a:ln/>
        </p:spPr>
        <p:txBody>
          <a:bodyPr wrap="square" lIns="635" tIns="635" rIns="635" bIns="635" rtlCol="0" anchor="ctr"/>
          <a:lstStyle/>
          <a:p>
            <a:pPr algn="ctr" indent="0" marL="0">
              <a:buNone/>
            </a:pPr>
            <a:r>
              <a:rPr lang="en-US" sz="1400" dirty="0">
                <a:solidFill>
                  <a:srgbClr val="FBFAF4"/>
                </a:solidFill>
                <a:latin typeface="Roboto" pitchFamily="34" charset="0"/>
                <a:ea typeface="Roboto" pitchFamily="34" charset="-122"/>
                <a:cs typeface="Roboto" pitchFamily="34" charset="-120"/>
              </a:rPr>
              <a:t>do khách tự làm</a:t>
            </a:r>
            <a:endParaRPr lang="en-US" sz="1400" dirty="0"/>
          </a:p>
        </p:txBody>
      </p:sp>
      <p:sp>
        <p:nvSpPr>
          <p:cNvPr id="20" name="Shape 18"/>
          <p:cNvSpPr/>
          <p:nvPr/>
        </p:nvSpPr>
        <p:spPr>
          <a:xfrm>
            <a:off x="8997696" y="2788920"/>
            <a:ext cx="2651760" cy="1371600"/>
          </a:xfrm>
          <a:prstGeom prst="roundRect">
            <a:avLst>
              <a:gd name="adj" fmla="val 5333"/>
            </a:avLst>
          </a:prstGeom>
          <a:solidFill>
            <a:srgbClr val="22395F"/>
          </a:solidFill>
          <a:ln w="12700">
            <a:solidFill>
              <a:srgbClr val="22395F"/>
            </a:solidFill>
            <a:prstDash val="solid"/>
          </a:ln>
        </p:spPr>
      </p:sp>
      <p:sp>
        <p:nvSpPr>
          <p:cNvPr id="21" name="Text 19"/>
          <p:cNvSpPr txBox="1"/>
          <p:nvPr/>
        </p:nvSpPr>
        <p:spPr>
          <a:xfrm>
            <a:off x="9134856" y="2834640"/>
            <a:ext cx="2377440" cy="640080"/>
          </a:xfrm>
          <a:prstGeom prst="rect">
            <a:avLst/>
          </a:prstGeom>
          <a:noFill/>
          <a:ln/>
        </p:spPr>
        <p:txBody>
          <a:bodyPr wrap="square" lIns="635" tIns="635" rIns="635" bIns="635" rtlCol="0" anchor="ctr"/>
          <a:lstStyle/>
          <a:p>
            <a:pPr algn="ctr" indent="0" marL="0">
              <a:buNone/>
            </a:pPr>
            <a:r>
              <a:rPr lang="en-US" sz="1700" b="1" dirty="0">
                <a:solidFill>
                  <a:srgbClr val="962B7C"/>
                </a:solidFill>
                <a:latin typeface="Roboto" pitchFamily="34" charset="0"/>
                <a:ea typeface="Roboto" pitchFamily="34" charset="-122"/>
                <a:cs typeface="Roboto" pitchFamily="34" charset="-120"/>
              </a:rPr>
              <a:t>Social / external</a:t>
            </a:r>
            <a:endParaRPr lang="en-US" sz="1700" dirty="0"/>
          </a:p>
        </p:txBody>
      </p:sp>
      <p:sp>
        <p:nvSpPr>
          <p:cNvPr id="22" name="Text 20"/>
          <p:cNvSpPr txBox="1"/>
          <p:nvPr/>
        </p:nvSpPr>
        <p:spPr>
          <a:xfrm>
            <a:off x="9134856" y="3474720"/>
            <a:ext cx="2377440" cy="548640"/>
          </a:xfrm>
          <a:prstGeom prst="rect">
            <a:avLst/>
          </a:prstGeom>
          <a:noFill/>
          <a:ln/>
        </p:spPr>
        <p:txBody>
          <a:bodyPr wrap="square" lIns="635" tIns="635" rIns="635" bIns="635" rtlCol="0" anchor="ctr"/>
          <a:lstStyle/>
          <a:p>
            <a:pPr algn="ctr" indent="0" marL="0">
              <a:buNone/>
            </a:pPr>
            <a:r>
              <a:rPr lang="en-US" sz="1400" dirty="0">
                <a:solidFill>
                  <a:srgbClr val="FBFAF4"/>
                </a:solidFill>
                <a:latin typeface="Roboto" pitchFamily="34" charset="0"/>
                <a:ea typeface="Roboto" pitchFamily="34" charset="-122"/>
                <a:cs typeface="Roboto" pitchFamily="34" charset="-120"/>
              </a:rPr>
              <a:t>bên ngoài</a:t>
            </a:r>
            <a:endParaRPr lang="en-US" sz="1400" dirty="0"/>
          </a:p>
        </p:txBody>
      </p:sp>
      <p:sp>
        <p:nvSpPr>
          <p:cNvPr id="23" name="Shape 21"/>
          <p:cNvSpPr/>
          <p:nvPr/>
        </p:nvSpPr>
        <p:spPr>
          <a:xfrm>
            <a:off x="548640" y="4389120"/>
            <a:ext cx="11091672" cy="1325880"/>
          </a:xfrm>
          <a:prstGeom prst="roundRect">
            <a:avLst>
              <a:gd name="adj" fmla="val 5517"/>
            </a:avLst>
          </a:prstGeom>
          <a:solidFill>
            <a:srgbClr val="22395F"/>
          </a:solidFill>
          <a:ln w="12700">
            <a:solidFill>
              <a:srgbClr val="22395F"/>
            </a:solidFill>
            <a:prstDash val="solid"/>
          </a:ln>
        </p:spPr>
      </p:sp>
      <p:sp>
        <p:nvSpPr>
          <p:cNvPr id="24" name="Text 22"/>
          <p:cNvSpPr txBox="1"/>
          <p:nvPr/>
        </p:nvSpPr>
        <p:spPr>
          <a:xfrm>
            <a:off x="777240" y="4389120"/>
            <a:ext cx="10698480" cy="1325880"/>
          </a:xfrm>
          <a:prstGeom prst="rect">
            <a:avLst/>
          </a:prstGeom>
          <a:noFill/>
          <a:ln/>
        </p:spPr>
        <p:txBody>
          <a:bodyPr wrap="square" lIns="635" tIns="635" rIns="635" bIns="635" rtlCol="0" anchor="ctr"/>
          <a:lstStyle/>
          <a:p>
            <a:pPr indent="0" marL="0">
              <a:buNone/>
            </a:pPr>
            <a:r>
              <a:rPr lang="en-US" sz="1700" dirty="0">
                <a:solidFill>
                  <a:srgbClr val="FBFAF4"/>
                </a:solidFill>
                <a:latin typeface="Roboto" pitchFamily="34" charset="0"/>
                <a:ea typeface="Roboto" pitchFamily="34" charset="-122"/>
                <a:cs typeface="Roboto" pitchFamily="34" charset="-120"/>
              </a:rPr>
              <a:t>“Partners can include marketing agencies…”</a:t>
            </a:r>
            <a:endParaRPr lang="en-US" sz="1700" dirty="0"/>
          </a:p>
          <a:p>
            <a:pPr indent="0" marL="0">
              <a:buNone/>
            </a:pPr>
            <a:r>
              <a:rPr lang="en-US" sz="1700" dirty="0">
                <a:solidFill>
                  <a:srgbClr val="FBFAF4"/>
                </a:solidFill>
                <a:latin typeface="Roboto" pitchFamily="34" charset="0"/>
                <a:ea typeface="Roboto" pitchFamily="34" charset="-122"/>
                <a:cs typeface="Roboto" pitchFamily="34" charset="-120"/>
              </a:rPr>
              <a:t>Khách sạn, AV, nhà in… là điểm chạm do đối tác sở hữu — trên hành trình của An Phát.</a:t>
            </a:r>
            <a:endParaRPr lang="en-US" sz="1700" dirty="0"/>
          </a:p>
        </p:txBody>
      </p:sp>
      <p:sp>
        <p:nvSpPr>
          <p:cNvPr id="25" name="Text 23"/>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Lemon &amp; Verhoef (2016), Journal of Marketing (V09).</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Hôm nay An Phát là khách hàng của Nova</a:t>
            </a:r>
            <a:endParaRPr lang="en-US" sz="2800" dirty="0"/>
          </a:p>
        </p:txBody>
      </p:sp>
      <p:sp>
        <p:nvSpPr>
          <p:cNvPr id="3" name="Shape 1"/>
          <p:cNvSpPr/>
          <p:nvPr/>
        </p:nvSpPr>
        <p:spPr>
          <a:xfrm>
            <a:off x="548640" y="1783080"/>
            <a:ext cx="5394960" cy="3931920"/>
          </a:xfrm>
          <a:prstGeom prst="roundRect">
            <a:avLst>
              <a:gd name="adj" fmla="val 1860"/>
            </a:avLst>
          </a:prstGeom>
          <a:solidFill>
            <a:srgbClr val="22395F"/>
          </a:solidFill>
          <a:ln w="12700">
            <a:solidFill>
              <a:srgbClr val="22395F"/>
            </a:solidFill>
            <a:prstDash val="solid"/>
          </a:ln>
        </p:spPr>
      </p:sp>
      <p:sp>
        <p:nvSpPr>
          <p:cNvPr id="4" name="Text 2"/>
          <p:cNvSpPr txBox="1"/>
          <p:nvPr/>
        </p:nvSpPr>
        <p:spPr>
          <a:xfrm>
            <a:off x="777240" y="1874520"/>
            <a:ext cx="4937760" cy="548640"/>
          </a:xfrm>
          <a:prstGeom prst="rect">
            <a:avLst/>
          </a:prstGeom>
          <a:noFill/>
          <a:ln/>
        </p:spPr>
        <p:txBody>
          <a:bodyPr wrap="square" lIns="635" tIns="635" rIns="635" bIns="635" rtlCol="0" anchor="ctr"/>
          <a:lstStyle/>
          <a:p>
            <a:pPr indent="0" marL="0">
              <a:buNone/>
            </a:pPr>
            <a:r>
              <a:rPr lang="en-US" sz="1800" b="1" dirty="0">
                <a:solidFill>
                  <a:srgbClr val="A9B6D3"/>
                </a:solidFill>
                <a:latin typeface="Roboto" pitchFamily="34" charset="0"/>
                <a:ea typeface="Roboto" pitchFamily="34" charset="-122"/>
                <a:cs typeface="Roboto" pitchFamily="34" charset="-120"/>
              </a:rPr>
              <a:t>Buổi 3, Buổi 9</a:t>
            </a:r>
            <a:endParaRPr lang="en-US" sz="1800" dirty="0"/>
          </a:p>
        </p:txBody>
      </p:sp>
      <p:sp>
        <p:nvSpPr>
          <p:cNvPr id="5" name="Text 3"/>
          <p:cNvSpPr txBox="1"/>
          <p:nvPr/>
        </p:nvSpPr>
        <p:spPr>
          <a:xfrm>
            <a:off x="777240" y="2514600"/>
            <a:ext cx="4937760" cy="3017520"/>
          </a:xfrm>
          <a:prstGeom prst="rect">
            <a:avLst/>
          </a:prstGeom>
          <a:noFill/>
          <a:ln/>
        </p:spPr>
        <p:txBody>
          <a:bodyPr wrap="square" lIns="635" tIns="635" rIns="635" bIns="635" rtlCol="0" anchor="t"/>
          <a:lstStyle/>
          <a:p>
            <a:pPr indent="0" marL="0">
              <a:buNone/>
            </a:pPr>
            <a:r>
              <a:rPr lang="en-US" sz="1800" dirty="0">
                <a:solidFill>
                  <a:srgbClr val="FBFAF4"/>
                </a:solidFill>
                <a:latin typeface="Roboto" pitchFamily="34" charset="0"/>
                <a:ea typeface="Roboto" pitchFamily="34" charset="-122"/>
                <a:cs typeface="Roboto" pitchFamily="34" charset="-120"/>
              </a:rPr>
              <a:t>Hành trình của KHÁCH CỦA AN PHÁT</a:t>
            </a:r>
            <a:endParaRPr lang="en-US" sz="1800" dirty="0"/>
          </a:p>
          <a:p>
            <a:pPr indent="0" marL="0">
              <a:buNone/>
            </a:pPr>
            <a:r>
              <a:rPr lang="en-US" sz="1800" dirty="0">
                <a:solidFill>
                  <a:srgbClr val="FBFAF4"/>
                </a:solidFill>
                <a:latin typeface="Roboto" pitchFamily="34" charset="0"/>
                <a:ea typeface="Roboto" pitchFamily="34" charset="-122"/>
                <a:cs typeface="Roboto" pitchFamily="34" charset="-120"/>
              </a:rPr>
              <a:t>(600 lãnh đạo doanh nghiệp)</a:t>
            </a:r>
            <a:endParaRPr lang="en-US" sz="1800" dirty="0"/>
          </a:p>
          <a:p>
            <a:pPr indent="0" marL="0">
              <a:buNone/>
            </a:pPr>
            <a:endParaRPr lang="en-US" sz="1800" dirty="0"/>
          </a:p>
          <a:p>
            <a:pPr indent="0" marL="0">
              <a:buNone/>
            </a:pPr>
            <a:r>
              <a:rPr lang="en-US" sz="1800" dirty="0">
                <a:solidFill>
                  <a:srgbClr val="FBFAF4"/>
                </a:solidFill>
                <a:latin typeface="Roboto" pitchFamily="34" charset="0"/>
                <a:ea typeface="Roboto" pitchFamily="34" charset="-122"/>
                <a:cs typeface="Roboto" pitchFamily="34" charset="-120"/>
              </a:rPr>
              <a:t>Nova + An Phát thiết kế điểm chạm cho họ</a:t>
            </a:r>
            <a:endParaRPr lang="en-US" sz="1800" dirty="0"/>
          </a:p>
        </p:txBody>
      </p:sp>
      <p:sp>
        <p:nvSpPr>
          <p:cNvPr id="6" name="Shape 4"/>
          <p:cNvSpPr/>
          <p:nvPr/>
        </p:nvSpPr>
        <p:spPr>
          <a:xfrm>
            <a:off x="6245352" y="1783080"/>
            <a:ext cx="5394960" cy="3931920"/>
          </a:xfrm>
          <a:prstGeom prst="roundRect">
            <a:avLst>
              <a:gd name="adj" fmla="val 1860"/>
            </a:avLst>
          </a:prstGeom>
          <a:solidFill>
            <a:srgbClr val="FFD23B"/>
          </a:solidFill>
          <a:ln w="12700">
            <a:solidFill>
              <a:srgbClr val="FFD23B"/>
            </a:solidFill>
            <a:prstDash val="solid"/>
          </a:ln>
        </p:spPr>
      </p:sp>
      <p:sp>
        <p:nvSpPr>
          <p:cNvPr id="7" name="Text 5"/>
          <p:cNvSpPr txBox="1"/>
          <p:nvPr/>
        </p:nvSpPr>
        <p:spPr>
          <a:xfrm>
            <a:off x="6473952" y="1874520"/>
            <a:ext cx="4937760" cy="54864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Buổi 10</a:t>
            </a:r>
            <a:endParaRPr lang="en-US" sz="1800" dirty="0"/>
          </a:p>
        </p:txBody>
      </p:sp>
      <p:sp>
        <p:nvSpPr>
          <p:cNvPr id="8" name="Text 6"/>
          <p:cNvSpPr txBox="1"/>
          <p:nvPr/>
        </p:nvSpPr>
        <p:spPr>
          <a:xfrm>
            <a:off x="6473952" y="2514600"/>
            <a:ext cx="4937760" cy="3017520"/>
          </a:xfrm>
          <a:prstGeom prst="rect">
            <a:avLst/>
          </a:prstGeom>
          <a:noFill/>
          <a:ln/>
        </p:spPr>
        <p:txBody>
          <a:bodyPr wrap="square" lIns="635" tIns="635" rIns="635" bIns="635" rtlCol="0" anchor="t"/>
          <a:lstStyle/>
          <a:p>
            <a:pPr indent="0" marL="0">
              <a:buNone/>
            </a:pPr>
            <a:r>
              <a:rPr lang="en-US" sz="1800" b="1" dirty="0">
                <a:solidFill>
                  <a:srgbClr val="172849"/>
                </a:solidFill>
                <a:latin typeface="Roboto" pitchFamily="34" charset="0"/>
                <a:ea typeface="Roboto" pitchFamily="34" charset="-122"/>
                <a:cs typeface="Roboto" pitchFamily="34" charset="-120"/>
              </a:rPr>
              <a:t>Hành trình của AN PHÁT với Nova</a:t>
            </a:r>
            <a:endParaRPr lang="en-US" sz="1800" dirty="0"/>
          </a:p>
          <a:p>
            <a:pPr indent="0" marL="0">
              <a:buNone/>
            </a:pPr>
            <a:endParaRPr lang="en-US" sz="1800" dirty="0"/>
          </a:p>
          <a:p>
            <a:pPr indent="0" marL="0">
              <a:buNone/>
            </a:pPr>
            <a:r>
              <a:rPr lang="en-US" sz="1800" b="1" dirty="0">
                <a:solidFill>
                  <a:srgbClr val="172849"/>
                </a:solidFill>
                <a:latin typeface="Roboto" pitchFamily="34" charset="0"/>
                <a:ea typeface="Roboto" pitchFamily="34" charset="-122"/>
                <a:cs typeface="Roboto" pitchFamily="34" charset="-120"/>
              </a:rPr>
              <a:t>Khách sạn, AV, nhà in… là điểm chạm do đối tác sở hữu mà anh Minh, chị Lan, anh Khoa nhìn thấy</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Nhà cung cấp chạm An Phát ở cả giai đoạn mua và sau mua</a:t>
            </a:r>
            <a:endParaRPr lang="en-US" sz="2800" dirty="0"/>
          </a:p>
        </p:txBody>
      </p:sp>
      <p:sp>
        <p:nvSpPr>
          <p:cNvPr id="3" name="Shape 1"/>
          <p:cNvSpPr/>
          <p:nvPr/>
        </p:nvSpPr>
        <p:spPr>
          <a:xfrm>
            <a:off x="548640" y="1783080"/>
            <a:ext cx="1773936" cy="548640"/>
          </a:xfrm>
          <a:prstGeom prst="roundRect">
            <a:avLst>
              <a:gd name="adj" fmla="val 13333"/>
            </a:avLst>
          </a:prstGeom>
          <a:solidFill>
            <a:srgbClr val="FFD23B"/>
          </a:solidFill>
          <a:ln w="12700">
            <a:solidFill>
              <a:srgbClr val="FFD23B"/>
            </a:solidFill>
            <a:prstDash val="solid"/>
          </a:ln>
        </p:spPr>
      </p:sp>
      <p:sp>
        <p:nvSpPr>
          <p:cNvPr id="4" name="Text 2"/>
          <p:cNvSpPr txBox="1"/>
          <p:nvPr/>
        </p:nvSpPr>
        <p:spPr>
          <a:xfrm>
            <a:off x="640080" y="1783080"/>
            <a:ext cx="159105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Giai đoạn</a:t>
            </a:r>
            <a:endParaRPr lang="en-US" sz="1500" dirty="0"/>
          </a:p>
        </p:txBody>
      </p:sp>
      <p:sp>
        <p:nvSpPr>
          <p:cNvPr id="5" name="Shape 3"/>
          <p:cNvSpPr/>
          <p:nvPr/>
        </p:nvSpPr>
        <p:spPr>
          <a:xfrm>
            <a:off x="2377440" y="1783080"/>
            <a:ext cx="4151376"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2468880" y="1783080"/>
            <a:ext cx="396849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An Phát trải qua gì</a:t>
            </a:r>
            <a:endParaRPr lang="en-US" sz="1500" dirty="0"/>
          </a:p>
        </p:txBody>
      </p:sp>
      <p:sp>
        <p:nvSpPr>
          <p:cNvPr id="7" name="Shape 5"/>
          <p:cNvSpPr/>
          <p:nvPr/>
        </p:nvSpPr>
        <p:spPr>
          <a:xfrm>
            <a:off x="6583680" y="1783080"/>
            <a:ext cx="5001768" cy="548640"/>
          </a:xfrm>
          <a:prstGeom prst="roundRect">
            <a:avLst>
              <a:gd name="adj" fmla="val 13333"/>
            </a:avLst>
          </a:prstGeom>
          <a:solidFill>
            <a:srgbClr val="FF5178"/>
          </a:solidFill>
          <a:ln w="12700">
            <a:solidFill>
              <a:srgbClr val="FF5178"/>
            </a:solidFill>
            <a:prstDash val="solid"/>
          </a:ln>
        </p:spPr>
      </p:sp>
      <p:sp>
        <p:nvSpPr>
          <p:cNvPr id="8" name="Text 6"/>
          <p:cNvSpPr txBox="1"/>
          <p:nvPr/>
        </p:nvSpPr>
        <p:spPr>
          <a:xfrm>
            <a:off x="6675120" y="1783080"/>
            <a:ext cx="4818888"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Nhà cung cấp chạm An Phát ở đâu</a:t>
            </a:r>
            <a:endParaRPr lang="en-US" sz="1500" dirty="0"/>
          </a:p>
        </p:txBody>
      </p:sp>
      <p:sp>
        <p:nvSpPr>
          <p:cNvPr id="9" name="Shape 7"/>
          <p:cNvSpPr/>
          <p:nvPr/>
        </p:nvSpPr>
        <p:spPr>
          <a:xfrm>
            <a:off x="548640" y="2404872"/>
            <a:ext cx="1773936" cy="841248"/>
          </a:xfrm>
          <a:prstGeom prst="roundRect">
            <a:avLst>
              <a:gd name="adj" fmla="val 8696"/>
            </a:avLst>
          </a:prstGeom>
          <a:solidFill>
            <a:srgbClr val="FFD23B"/>
          </a:solidFill>
          <a:ln w="12700">
            <a:solidFill>
              <a:srgbClr val="FFD23B"/>
            </a:solidFill>
            <a:prstDash val="solid"/>
          </a:ln>
        </p:spPr>
      </p:sp>
      <p:sp>
        <p:nvSpPr>
          <p:cNvPr id="10" name="Text 8"/>
          <p:cNvSpPr txBox="1"/>
          <p:nvPr/>
        </p:nvSpPr>
        <p:spPr>
          <a:xfrm>
            <a:off x="658368" y="2404872"/>
            <a:ext cx="1554480" cy="841248"/>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Trước mua</a:t>
            </a:r>
            <a:endParaRPr lang="en-US" sz="1500" dirty="0"/>
          </a:p>
        </p:txBody>
      </p:sp>
      <p:sp>
        <p:nvSpPr>
          <p:cNvPr id="11" name="Shape 9"/>
          <p:cNvSpPr/>
          <p:nvPr/>
        </p:nvSpPr>
        <p:spPr>
          <a:xfrm>
            <a:off x="2377440" y="2404872"/>
            <a:ext cx="4151376" cy="841248"/>
          </a:xfrm>
          <a:prstGeom prst="roundRect">
            <a:avLst>
              <a:gd name="adj" fmla="val 8696"/>
            </a:avLst>
          </a:prstGeom>
          <a:solidFill>
            <a:srgbClr val="22395F"/>
          </a:solidFill>
          <a:ln w="12700">
            <a:solidFill>
              <a:srgbClr val="22395F"/>
            </a:solidFill>
            <a:prstDash val="solid"/>
          </a:ln>
        </p:spPr>
      </p:sp>
      <p:sp>
        <p:nvSpPr>
          <p:cNvPr id="12" name="Text 10"/>
          <p:cNvSpPr txBox="1"/>
          <p:nvPr/>
        </p:nvSpPr>
        <p:spPr>
          <a:xfrm>
            <a:off x="2487168" y="2404872"/>
            <a:ext cx="3931920" cy="84124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Brief, đề xuất, báo giá, site check cùng Nova</a:t>
            </a:r>
            <a:endParaRPr lang="en-US" sz="1500" dirty="0"/>
          </a:p>
        </p:txBody>
      </p:sp>
      <p:sp>
        <p:nvSpPr>
          <p:cNvPr id="13" name="Shape 11"/>
          <p:cNvSpPr/>
          <p:nvPr/>
        </p:nvSpPr>
        <p:spPr>
          <a:xfrm>
            <a:off x="6583680" y="2404872"/>
            <a:ext cx="5001768" cy="841248"/>
          </a:xfrm>
          <a:prstGeom prst="roundRect">
            <a:avLst>
              <a:gd name="adj" fmla="val 8696"/>
            </a:avLst>
          </a:prstGeom>
          <a:solidFill>
            <a:srgbClr val="22395F"/>
          </a:solidFill>
          <a:ln w="12700">
            <a:solidFill>
              <a:srgbClr val="22395F"/>
            </a:solidFill>
            <a:prstDash val="solid"/>
          </a:ln>
        </p:spPr>
      </p:sp>
      <p:sp>
        <p:nvSpPr>
          <p:cNvPr id="14" name="Text 12"/>
          <p:cNvSpPr txBox="1"/>
          <p:nvPr/>
        </p:nvSpPr>
        <p:spPr>
          <a:xfrm>
            <a:off x="6693408" y="2404872"/>
            <a:ext cx="4782312" cy="84124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Khách sạn đón đoàn site check</a:t>
            </a:r>
            <a:endParaRPr lang="en-US" sz="1500" dirty="0"/>
          </a:p>
        </p:txBody>
      </p:sp>
      <p:sp>
        <p:nvSpPr>
          <p:cNvPr id="15" name="Shape 13"/>
          <p:cNvSpPr/>
          <p:nvPr/>
        </p:nvSpPr>
        <p:spPr>
          <a:xfrm>
            <a:off x="548640" y="3319272"/>
            <a:ext cx="1773936" cy="841248"/>
          </a:xfrm>
          <a:prstGeom prst="roundRect">
            <a:avLst>
              <a:gd name="adj" fmla="val 8696"/>
            </a:avLst>
          </a:prstGeom>
          <a:solidFill>
            <a:srgbClr val="FFD23B"/>
          </a:solidFill>
          <a:ln w="12700">
            <a:solidFill>
              <a:srgbClr val="FFD23B"/>
            </a:solidFill>
            <a:prstDash val="solid"/>
          </a:ln>
        </p:spPr>
      </p:sp>
      <p:sp>
        <p:nvSpPr>
          <p:cNvPr id="16" name="Text 14"/>
          <p:cNvSpPr txBox="1"/>
          <p:nvPr/>
        </p:nvSpPr>
        <p:spPr>
          <a:xfrm>
            <a:off x="658368" y="3319272"/>
            <a:ext cx="1554480" cy="841248"/>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Mua</a:t>
            </a:r>
            <a:endParaRPr lang="en-US" sz="1500" dirty="0"/>
          </a:p>
        </p:txBody>
      </p:sp>
      <p:sp>
        <p:nvSpPr>
          <p:cNvPr id="17" name="Shape 15"/>
          <p:cNvSpPr/>
          <p:nvPr/>
        </p:nvSpPr>
        <p:spPr>
          <a:xfrm>
            <a:off x="2377440" y="3319272"/>
            <a:ext cx="4151376" cy="841248"/>
          </a:xfrm>
          <a:prstGeom prst="roundRect">
            <a:avLst>
              <a:gd name="adj" fmla="val 8696"/>
            </a:avLst>
          </a:prstGeom>
          <a:solidFill>
            <a:srgbClr val="22395F"/>
          </a:solidFill>
          <a:ln w="12700">
            <a:solidFill>
              <a:srgbClr val="22395F"/>
            </a:solidFill>
            <a:prstDash val="solid"/>
          </a:ln>
        </p:spPr>
      </p:sp>
      <p:sp>
        <p:nvSpPr>
          <p:cNvPr id="18" name="Text 16"/>
          <p:cNvSpPr txBox="1"/>
          <p:nvPr/>
        </p:nvSpPr>
        <p:spPr>
          <a:xfrm>
            <a:off x="2487168" y="3319272"/>
            <a:ext cx="3931920" cy="84124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Ký hợp đồng; tổng duyệt; ngày 12/12</a:t>
            </a:r>
            <a:endParaRPr lang="en-US" sz="1500" dirty="0"/>
          </a:p>
        </p:txBody>
      </p:sp>
      <p:sp>
        <p:nvSpPr>
          <p:cNvPr id="19" name="Shape 17"/>
          <p:cNvSpPr/>
          <p:nvPr/>
        </p:nvSpPr>
        <p:spPr>
          <a:xfrm>
            <a:off x="6583680" y="3319272"/>
            <a:ext cx="5001768" cy="841248"/>
          </a:xfrm>
          <a:prstGeom prst="roundRect">
            <a:avLst>
              <a:gd name="adj" fmla="val 8696"/>
            </a:avLst>
          </a:prstGeom>
          <a:solidFill>
            <a:srgbClr val="22395F"/>
          </a:solidFill>
          <a:ln w="12700">
            <a:solidFill>
              <a:srgbClr val="22395F"/>
            </a:solidFill>
            <a:prstDash val="solid"/>
          </a:ln>
        </p:spPr>
      </p:sp>
      <p:sp>
        <p:nvSpPr>
          <p:cNvPr id="20" name="Text 18"/>
          <p:cNvSpPr txBox="1"/>
          <p:nvPr/>
        </p:nvSpPr>
        <p:spPr>
          <a:xfrm>
            <a:off x="6693408" y="3319272"/>
            <a:ext cx="4782312" cy="84124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Khách sạn (sảnh, F&amp;B), AV – livestream, backdrop, xe, nhiếp ảnh, lễ tân, quà</a:t>
            </a:r>
            <a:endParaRPr lang="en-US" sz="1500" dirty="0"/>
          </a:p>
        </p:txBody>
      </p:sp>
      <p:sp>
        <p:nvSpPr>
          <p:cNvPr id="21" name="Shape 19"/>
          <p:cNvSpPr/>
          <p:nvPr/>
        </p:nvSpPr>
        <p:spPr>
          <a:xfrm>
            <a:off x="548640" y="4233672"/>
            <a:ext cx="1773936" cy="841248"/>
          </a:xfrm>
          <a:prstGeom prst="roundRect">
            <a:avLst>
              <a:gd name="adj" fmla="val 8696"/>
            </a:avLst>
          </a:prstGeom>
          <a:solidFill>
            <a:srgbClr val="FFD23B"/>
          </a:solidFill>
          <a:ln w="12700">
            <a:solidFill>
              <a:srgbClr val="FFD23B"/>
            </a:solidFill>
            <a:prstDash val="solid"/>
          </a:ln>
        </p:spPr>
      </p:sp>
      <p:sp>
        <p:nvSpPr>
          <p:cNvPr id="22" name="Text 20"/>
          <p:cNvSpPr txBox="1"/>
          <p:nvPr/>
        </p:nvSpPr>
        <p:spPr>
          <a:xfrm>
            <a:off x="658368" y="4233672"/>
            <a:ext cx="1554480" cy="841248"/>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Sau mua</a:t>
            </a:r>
            <a:endParaRPr lang="en-US" sz="1500" dirty="0"/>
          </a:p>
        </p:txBody>
      </p:sp>
      <p:sp>
        <p:nvSpPr>
          <p:cNvPr id="23" name="Shape 21"/>
          <p:cNvSpPr/>
          <p:nvPr/>
        </p:nvSpPr>
        <p:spPr>
          <a:xfrm>
            <a:off x="2377440" y="4233672"/>
            <a:ext cx="4151376" cy="841248"/>
          </a:xfrm>
          <a:prstGeom prst="roundRect">
            <a:avLst>
              <a:gd name="adj" fmla="val 8696"/>
            </a:avLst>
          </a:prstGeom>
          <a:solidFill>
            <a:srgbClr val="22395F"/>
          </a:solidFill>
          <a:ln w="12700">
            <a:solidFill>
              <a:srgbClr val="22395F"/>
            </a:solidFill>
            <a:prstDash val="solid"/>
          </a:ln>
        </p:spPr>
      </p:sp>
      <p:sp>
        <p:nvSpPr>
          <p:cNvPr id="24" name="Text 22"/>
          <p:cNvSpPr txBox="1"/>
          <p:nvPr/>
        </p:nvSpPr>
        <p:spPr>
          <a:xfrm>
            <a:off x="2487168" y="4233672"/>
            <a:ext cx="3931920" cy="84124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Nghiệm thu, báo cáo sau sự kiện (PER), hóa đơn, thanh toán, khiếu nại, đề xuất năm sau</a:t>
            </a:r>
            <a:endParaRPr lang="en-US" sz="1500" dirty="0"/>
          </a:p>
        </p:txBody>
      </p:sp>
      <p:sp>
        <p:nvSpPr>
          <p:cNvPr id="25" name="Shape 23"/>
          <p:cNvSpPr/>
          <p:nvPr/>
        </p:nvSpPr>
        <p:spPr>
          <a:xfrm>
            <a:off x="6583680" y="4233672"/>
            <a:ext cx="5001768" cy="841248"/>
          </a:xfrm>
          <a:prstGeom prst="roundRect">
            <a:avLst>
              <a:gd name="adj" fmla="val 8696"/>
            </a:avLst>
          </a:prstGeom>
          <a:solidFill>
            <a:srgbClr val="22395F"/>
          </a:solidFill>
          <a:ln w="12700">
            <a:solidFill>
              <a:srgbClr val="22395F"/>
            </a:solidFill>
            <a:prstDash val="solid"/>
          </a:ln>
        </p:spPr>
      </p:sp>
      <p:sp>
        <p:nvSpPr>
          <p:cNvPr id="26" name="Text 24"/>
          <p:cNvSpPr txBox="1"/>
          <p:nvPr/>
        </p:nvSpPr>
        <p:spPr>
          <a:xfrm>
            <a:off x="6693408" y="4233672"/>
            <a:ext cx="4782312" cy="84124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Album ảnh, bản ghi livestream, đối soát số khách thực tế, hồ sơ thanh toán gửi anh Khoa</a:t>
            </a:r>
            <a:endParaRPr lang="en-US" sz="1500" dirty="0"/>
          </a:p>
        </p:txBody>
      </p:sp>
      <p:sp>
        <p:nvSpPr>
          <p:cNvPr id="27" name="Text 25"/>
          <p:cNvSpPr txBox="1"/>
          <p:nvPr/>
        </p:nvSpPr>
        <p:spPr>
          <a:xfrm>
            <a:off x="548640" y="5257800"/>
            <a:ext cx="11091672" cy="457200"/>
          </a:xfrm>
          <a:prstGeom prst="rect">
            <a:avLst/>
          </a:prstGeom>
          <a:noFill/>
          <a:ln/>
        </p:spPr>
        <p:txBody>
          <a:bodyPr wrap="square" lIns="635" tIns="635" rIns="635" bIns="635" rtlCol="0" anchor="ctr"/>
          <a:lstStyle/>
          <a:p>
            <a:pPr indent="0" marL="0">
              <a:buNone/>
            </a:pPr>
            <a:r>
              <a:rPr lang="en-US" sz="1600" b="1" dirty="0">
                <a:solidFill>
                  <a:srgbClr val="FF5178"/>
                </a:solidFill>
                <a:latin typeface="Roboto" pitchFamily="34" charset="0"/>
                <a:ea typeface="Roboto" pitchFamily="34" charset="-122"/>
                <a:cs typeface="Roboto" pitchFamily="34" charset="-120"/>
              </a:rPr>
              <a:t>Giai đoạn sau mua hay bị quên — nhưng là thứ anh Minh nhớ khi quyết định tái ký.</a:t>
            </a:r>
            <a:endParaRPr lang="en-US" sz="1600" dirty="0"/>
          </a:p>
        </p:txBody>
      </p:sp>
      <p:sp>
        <p:nvSpPr>
          <p:cNvPr id="28" name="Text 26"/>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Hành trình do người soạn dựng từ V09 và V05 (PER — Buổi 8).</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Trong mắt Key Account, lỗi của nhà cung cấp là lỗi của agency</a:t>
            </a:r>
            <a:endParaRPr lang="en-US" sz="2800" dirty="0"/>
          </a:p>
        </p:txBody>
      </p:sp>
      <p:sp>
        <p:nvSpPr>
          <p:cNvPr id="3" name="Shape 1"/>
          <p:cNvSpPr/>
          <p:nvPr/>
        </p:nvSpPr>
        <p:spPr>
          <a:xfrm>
            <a:off x="548640" y="1783080"/>
            <a:ext cx="3566160" cy="2743200"/>
          </a:xfrm>
          <a:prstGeom prst="roundRect">
            <a:avLst>
              <a:gd name="adj" fmla="val 2667"/>
            </a:avLst>
          </a:prstGeom>
          <a:solidFill>
            <a:srgbClr val="22395F"/>
          </a:solidFill>
          <a:ln w="12700">
            <a:solidFill>
              <a:srgbClr val="22395F"/>
            </a:solidFill>
            <a:prstDash val="solid"/>
          </a:ln>
        </p:spPr>
      </p:sp>
      <p:sp>
        <p:nvSpPr>
          <p:cNvPr id="4" name="Shape 2"/>
          <p:cNvSpPr/>
          <p:nvPr/>
        </p:nvSpPr>
        <p:spPr>
          <a:xfrm>
            <a:off x="1828800" y="1920240"/>
            <a:ext cx="1005840" cy="100584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2050085" y="2141525"/>
            <a:ext cx="563270" cy="563270"/>
          </a:xfrm>
          <a:prstGeom prst="rect">
            <a:avLst/>
          </a:prstGeom>
        </p:spPr>
      </p:pic>
      <p:sp>
        <p:nvSpPr>
          <p:cNvPr id="6" name="Text 3"/>
          <p:cNvSpPr txBox="1"/>
          <p:nvPr/>
        </p:nvSpPr>
        <p:spPr>
          <a:xfrm>
            <a:off x="731520" y="3017520"/>
            <a:ext cx="3200400" cy="731520"/>
          </a:xfrm>
          <a:prstGeom prst="rect">
            <a:avLst/>
          </a:prstGeom>
          <a:noFill/>
          <a:ln/>
        </p:spPr>
        <p:txBody>
          <a:bodyPr wrap="square" lIns="635" tIns="635" rIns="635" bIns="635" rtlCol="0" anchor="ctr"/>
          <a:lstStyle/>
          <a:p>
            <a:pPr algn="ctr" indent="0" marL="0">
              <a:buNone/>
            </a:pPr>
            <a:r>
              <a:rPr lang="en-US" sz="1600" b="1" dirty="0">
                <a:solidFill>
                  <a:srgbClr val="FF5178"/>
                </a:solidFill>
                <a:latin typeface="Roboto" pitchFamily="34" charset="0"/>
                <a:ea typeface="Roboto" pitchFamily="34" charset="-122"/>
                <a:cs typeface="Roboto" pitchFamily="34" charset="-120"/>
              </a:rPr>
              <a:t>Backdrop in sai logo</a:t>
            </a:r>
            <a:endParaRPr lang="en-US" sz="1600" dirty="0"/>
          </a:p>
        </p:txBody>
      </p:sp>
      <p:sp>
        <p:nvSpPr>
          <p:cNvPr id="7" name="Text 4"/>
          <p:cNvSpPr txBox="1"/>
          <p:nvPr/>
        </p:nvSpPr>
        <p:spPr>
          <a:xfrm>
            <a:off x="731520" y="3749040"/>
            <a:ext cx="3200400" cy="640080"/>
          </a:xfrm>
          <a:prstGeom prst="rect">
            <a:avLst/>
          </a:prstGeom>
          <a:noFill/>
          <a:ln/>
        </p:spPr>
        <p:txBody>
          <a:bodyPr wrap="square" lIns="635" tIns="635" rIns="635" bIns="635" rtlCol="0" anchor="ctr"/>
          <a:lstStyle/>
          <a:p>
            <a:pPr algn="ctr" indent="0" marL="0">
              <a:buNone/>
            </a:pPr>
            <a:r>
              <a:rPr lang="en-US" sz="1500" dirty="0">
                <a:solidFill>
                  <a:srgbClr val="FBFAF4"/>
                </a:solidFill>
                <a:latin typeface="Roboto" pitchFamily="34" charset="0"/>
                <a:ea typeface="Roboto" pitchFamily="34" charset="-122"/>
                <a:cs typeface="Roboto" pitchFamily="34" charset="-120"/>
              </a:rPr>
              <a:t>Chị Vy (thương hiệu) hỏi Nova</a:t>
            </a:r>
            <a:endParaRPr lang="en-US" sz="1500" dirty="0"/>
          </a:p>
        </p:txBody>
      </p:sp>
      <p:sp>
        <p:nvSpPr>
          <p:cNvPr id="8" name="Shape 5"/>
          <p:cNvSpPr/>
          <p:nvPr/>
        </p:nvSpPr>
        <p:spPr>
          <a:xfrm>
            <a:off x="4325112" y="1783080"/>
            <a:ext cx="3566160" cy="2743200"/>
          </a:xfrm>
          <a:prstGeom prst="roundRect">
            <a:avLst>
              <a:gd name="adj" fmla="val 2667"/>
            </a:avLst>
          </a:prstGeom>
          <a:solidFill>
            <a:srgbClr val="22395F"/>
          </a:solidFill>
          <a:ln w="12700">
            <a:solidFill>
              <a:srgbClr val="22395F"/>
            </a:solidFill>
            <a:prstDash val="solid"/>
          </a:ln>
        </p:spPr>
      </p:sp>
      <p:sp>
        <p:nvSpPr>
          <p:cNvPr id="9" name="Shape 6"/>
          <p:cNvSpPr/>
          <p:nvPr/>
        </p:nvSpPr>
        <p:spPr>
          <a:xfrm>
            <a:off x="5605272" y="1920240"/>
            <a:ext cx="1005840" cy="1005840"/>
          </a:xfrm>
          <a:prstGeom prst="ellipse">
            <a:avLst/>
          </a:prstGeom>
          <a:solidFill>
            <a:srgbClr val="FF9259"/>
          </a:solidFill>
          <a:ln w="12700">
            <a:solidFill>
              <a:srgbClr val="FF9259"/>
            </a:solidFill>
            <a:prstDash val="solid"/>
          </a:ln>
        </p:spPr>
      </p:sp>
      <p:pic>
        <p:nvPicPr>
          <p:cNvPr id="10" name="Image 1" descr="preencoded.png">    </p:cNvPr>
          <p:cNvPicPr>
            <a:picLocks noChangeAspect="1"/>
          </p:cNvPicPr>
          <p:nvPr/>
        </p:nvPicPr>
        <p:blipFill>
          <a:blip r:embed="rId2"/>
          <a:stretch>
            <a:fillRect/>
          </a:stretch>
        </p:blipFill>
        <p:spPr>
          <a:xfrm>
            <a:off x="5826557" y="2141525"/>
            <a:ext cx="563270" cy="563270"/>
          </a:xfrm>
          <a:prstGeom prst="rect">
            <a:avLst/>
          </a:prstGeom>
        </p:spPr>
      </p:pic>
      <p:sp>
        <p:nvSpPr>
          <p:cNvPr id="11" name="Text 7"/>
          <p:cNvSpPr txBox="1"/>
          <p:nvPr/>
        </p:nvSpPr>
        <p:spPr>
          <a:xfrm>
            <a:off x="4507992" y="3017520"/>
            <a:ext cx="3200400" cy="731520"/>
          </a:xfrm>
          <a:prstGeom prst="rect">
            <a:avLst/>
          </a:prstGeom>
          <a:noFill/>
          <a:ln/>
        </p:spPr>
        <p:txBody>
          <a:bodyPr wrap="square" lIns="635" tIns="635" rIns="635" bIns="635" rtlCol="0" anchor="ctr"/>
          <a:lstStyle/>
          <a:p>
            <a:pPr algn="ctr" indent="0" marL="0">
              <a:buNone/>
            </a:pPr>
            <a:r>
              <a:rPr lang="en-US" sz="1600" b="1" dirty="0">
                <a:solidFill>
                  <a:srgbClr val="FF9259"/>
                </a:solidFill>
                <a:latin typeface="Roboto" pitchFamily="34" charset="0"/>
                <a:ea typeface="Roboto" pitchFamily="34" charset="-122"/>
                <a:cs typeface="Roboto" pitchFamily="34" charset="-120"/>
              </a:rPr>
              <a:t>Hóa đơn khách sạn tính dư 30 khách</a:t>
            </a:r>
            <a:endParaRPr lang="en-US" sz="1600" dirty="0"/>
          </a:p>
        </p:txBody>
      </p:sp>
      <p:sp>
        <p:nvSpPr>
          <p:cNvPr id="12" name="Text 8"/>
          <p:cNvSpPr txBox="1"/>
          <p:nvPr/>
        </p:nvSpPr>
        <p:spPr>
          <a:xfrm>
            <a:off x="4507992" y="3749040"/>
            <a:ext cx="3200400" cy="640080"/>
          </a:xfrm>
          <a:prstGeom prst="rect">
            <a:avLst/>
          </a:prstGeom>
          <a:noFill/>
          <a:ln/>
        </p:spPr>
        <p:txBody>
          <a:bodyPr wrap="square" lIns="635" tIns="635" rIns="635" bIns="635" rtlCol="0" anchor="ctr"/>
          <a:lstStyle/>
          <a:p>
            <a:pPr algn="ctr" indent="0" marL="0">
              <a:buNone/>
            </a:pPr>
            <a:r>
              <a:rPr lang="en-US" sz="1500" dirty="0">
                <a:solidFill>
                  <a:srgbClr val="FBFAF4"/>
                </a:solidFill>
                <a:latin typeface="Roboto" pitchFamily="34" charset="0"/>
                <a:ea typeface="Roboto" pitchFamily="34" charset="-122"/>
                <a:cs typeface="Roboto" pitchFamily="34" charset="-120"/>
              </a:rPr>
              <a:t>Anh Khoa (ngân sách) hỏi Nova</a:t>
            </a:r>
            <a:endParaRPr lang="en-US" sz="1500" dirty="0"/>
          </a:p>
        </p:txBody>
      </p:sp>
      <p:sp>
        <p:nvSpPr>
          <p:cNvPr id="13" name="Shape 9"/>
          <p:cNvSpPr/>
          <p:nvPr/>
        </p:nvSpPr>
        <p:spPr>
          <a:xfrm>
            <a:off x="8101584" y="1783080"/>
            <a:ext cx="3566160" cy="2743200"/>
          </a:xfrm>
          <a:prstGeom prst="roundRect">
            <a:avLst>
              <a:gd name="adj" fmla="val 2667"/>
            </a:avLst>
          </a:prstGeom>
          <a:solidFill>
            <a:srgbClr val="22395F"/>
          </a:solidFill>
          <a:ln w="12700">
            <a:solidFill>
              <a:srgbClr val="22395F"/>
            </a:solidFill>
            <a:prstDash val="solid"/>
          </a:ln>
        </p:spPr>
      </p:sp>
      <p:sp>
        <p:nvSpPr>
          <p:cNvPr id="14" name="Shape 10"/>
          <p:cNvSpPr/>
          <p:nvPr/>
        </p:nvSpPr>
        <p:spPr>
          <a:xfrm>
            <a:off x="9381744" y="1920240"/>
            <a:ext cx="1005840" cy="1005840"/>
          </a:xfrm>
          <a:prstGeom prst="ellipse">
            <a:avLst/>
          </a:prstGeom>
          <a:solidFill>
            <a:srgbClr val="FFD23B"/>
          </a:solidFill>
          <a:ln w="12700">
            <a:solidFill>
              <a:srgbClr val="FFD23B"/>
            </a:solidFill>
            <a:prstDash val="solid"/>
          </a:ln>
        </p:spPr>
      </p:sp>
      <p:pic>
        <p:nvPicPr>
          <p:cNvPr id="15" name="Image 2" descr="preencoded.png">    </p:cNvPr>
          <p:cNvPicPr>
            <a:picLocks noChangeAspect="1"/>
          </p:cNvPicPr>
          <p:nvPr/>
        </p:nvPicPr>
        <p:blipFill>
          <a:blip r:embed="rId3"/>
          <a:stretch>
            <a:fillRect/>
          </a:stretch>
        </p:blipFill>
        <p:spPr>
          <a:xfrm>
            <a:off x="9603029" y="2141525"/>
            <a:ext cx="563270" cy="563270"/>
          </a:xfrm>
          <a:prstGeom prst="rect">
            <a:avLst/>
          </a:prstGeom>
        </p:spPr>
      </p:pic>
      <p:sp>
        <p:nvSpPr>
          <p:cNvPr id="16" name="Text 11"/>
          <p:cNvSpPr txBox="1"/>
          <p:nvPr/>
        </p:nvSpPr>
        <p:spPr>
          <a:xfrm>
            <a:off x="8284464" y="3017520"/>
            <a:ext cx="3200400" cy="731520"/>
          </a:xfrm>
          <a:prstGeom prst="rect">
            <a:avLst/>
          </a:prstGeom>
          <a:noFill/>
          <a:ln/>
        </p:spPr>
        <p:txBody>
          <a:bodyPr wrap="square" lIns="635" tIns="635" rIns="635" bIns="635" rtlCol="0" anchor="ctr"/>
          <a:lstStyle/>
          <a:p>
            <a:pPr algn="ctr" indent="0" marL="0">
              <a:buNone/>
            </a:pPr>
            <a:r>
              <a:rPr lang="en-US" sz="1600" b="1" dirty="0">
                <a:solidFill>
                  <a:srgbClr val="FFD23B"/>
                </a:solidFill>
                <a:latin typeface="Roboto" pitchFamily="34" charset="0"/>
                <a:ea typeface="Roboto" pitchFamily="34" charset="-122"/>
                <a:cs typeface="Roboto" pitchFamily="34" charset="-120"/>
              </a:rPr>
              <a:t>Livestream đứt giữa phần vinh danh</a:t>
            </a:r>
            <a:endParaRPr lang="en-US" sz="1600" dirty="0"/>
          </a:p>
        </p:txBody>
      </p:sp>
      <p:sp>
        <p:nvSpPr>
          <p:cNvPr id="17" name="Text 12"/>
          <p:cNvSpPr txBox="1"/>
          <p:nvPr/>
        </p:nvSpPr>
        <p:spPr>
          <a:xfrm>
            <a:off x="8284464" y="3749040"/>
            <a:ext cx="3200400" cy="640080"/>
          </a:xfrm>
          <a:prstGeom prst="rect">
            <a:avLst/>
          </a:prstGeom>
          <a:noFill/>
          <a:ln/>
        </p:spPr>
        <p:txBody>
          <a:bodyPr wrap="square" lIns="635" tIns="635" rIns="635" bIns="635" rtlCol="0" anchor="ctr"/>
          <a:lstStyle/>
          <a:p>
            <a:pPr algn="ctr" indent="0" marL="0">
              <a:buNone/>
            </a:pPr>
            <a:r>
              <a:rPr lang="en-US" sz="1500" dirty="0">
                <a:solidFill>
                  <a:srgbClr val="FBFAF4"/>
                </a:solidFill>
                <a:latin typeface="Roboto" pitchFamily="34" charset="0"/>
                <a:ea typeface="Roboto" pitchFamily="34" charset="-122"/>
                <a:cs typeface="Roboto" pitchFamily="34" charset="-120"/>
              </a:rPr>
              <a:t>Chị Lan (80 chi nhánh) hỏi Nova</a:t>
            </a:r>
            <a:endParaRPr lang="en-US" sz="1500" dirty="0"/>
          </a:p>
        </p:txBody>
      </p:sp>
      <p:sp>
        <p:nvSpPr>
          <p:cNvPr id="18" name="Shape 13"/>
          <p:cNvSpPr/>
          <p:nvPr/>
        </p:nvSpPr>
        <p:spPr>
          <a:xfrm>
            <a:off x="548640" y="4709160"/>
            <a:ext cx="11091672" cy="1005840"/>
          </a:xfrm>
          <a:prstGeom prst="roundRect">
            <a:avLst>
              <a:gd name="adj" fmla="val 7273"/>
            </a:avLst>
          </a:prstGeom>
          <a:solidFill>
            <a:srgbClr val="FFD23B"/>
          </a:solidFill>
          <a:ln w="12700">
            <a:solidFill>
              <a:srgbClr val="FFD23B"/>
            </a:solidFill>
            <a:prstDash val="solid"/>
          </a:ln>
        </p:spPr>
      </p:sp>
      <p:sp>
        <p:nvSpPr>
          <p:cNvPr id="19" name="Text 14"/>
          <p:cNvSpPr txBox="1"/>
          <p:nvPr/>
        </p:nvSpPr>
        <p:spPr>
          <a:xfrm>
            <a:off x="777240" y="4709160"/>
            <a:ext cx="10698480" cy="100584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An Phát ký với Nova, không ký với nhà in hay khách sạn → quản lý nhà cung cấp là quản lý trải nghiệm của Key Account.</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Bốn câu hỏi phân bổ nhà cung cấp</a:t>
            </a:r>
            <a:endParaRPr lang="en-US" sz="2800" dirty="0"/>
          </a:p>
        </p:txBody>
      </p:sp>
      <p:sp>
        <p:nvSpPr>
          <p:cNvPr id="3" name="Shape 1"/>
          <p:cNvSpPr/>
          <p:nvPr/>
        </p:nvSpPr>
        <p:spPr>
          <a:xfrm>
            <a:off x="548640" y="1828800"/>
            <a:ext cx="731520" cy="731520"/>
          </a:xfrm>
          <a:prstGeom prst="ellipse">
            <a:avLst/>
          </a:prstGeom>
          <a:solidFill>
            <a:srgbClr val="49B296"/>
          </a:solidFill>
          <a:ln w="12700">
            <a:solidFill>
              <a:srgbClr val="49B296"/>
            </a:solidFill>
            <a:prstDash val="solid"/>
          </a:ln>
        </p:spPr>
      </p:sp>
      <p:sp>
        <p:nvSpPr>
          <p:cNvPr id="4" name="Text 2"/>
          <p:cNvSpPr txBox="1"/>
          <p:nvPr/>
        </p:nvSpPr>
        <p:spPr>
          <a:xfrm>
            <a:off x="548640" y="182880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1</a:t>
            </a:r>
            <a:endParaRPr lang="en-US" sz="2200" dirty="0"/>
          </a:p>
        </p:txBody>
      </p:sp>
      <p:sp>
        <p:nvSpPr>
          <p:cNvPr id="5" name="Shape 3"/>
          <p:cNvSpPr/>
          <p:nvPr/>
        </p:nvSpPr>
        <p:spPr>
          <a:xfrm>
            <a:off x="1417320" y="1828800"/>
            <a:ext cx="731520" cy="731520"/>
          </a:xfrm>
          <a:prstGeom prst="ellipse">
            <a:avLst/>
          </a:prstGeom>
          <a:solidFill>
            <a:srgbClr val="49B296"/>
          </a:solidFill>
          <a:ln w="12700">
            <a:solidFill>
              <a:srgbClr val="49B296"/>
            </a:solidFill>
            <a:prstDash val="solid"/>
          </a:ln>
        </p:spPr>
      </p:sp>
      <p:pic>
        <p:nvPicPr>
          <p:cNvPr id="6" name="Image 0" descr="preencoded.png">    </p:cNvPr>
          <p:cNvPicPr>
            <a:picLocks noChangeAspect="1"/>
          </p:cNvPicPr>
          <p:nvPr/>
        </p:nvPicPr>
        <p:blipFill>
          <a:blip r:embed="rId1"/>
          <a:stretch>
            <a:fillRect/>
          </a:stretch>
        </p:blipFill>
        <p:spPr>
          <a:xfrm>
            <a:off x="1578254" y="1989734"/>
            <a:ext cx="409651" cy="409651"/>
          </a:xfrm>
          <a:prstGeom prst="rect">
            <a:avLst/>
          </a:prstGeom>
        </p:spPr>
      </p:pic>
      <p:sp>
        <p:nvSpPr>
          <p:cNvPr id="7" name="Shape 4"/>
          <p:cNvSpPr/>
          <p:nvPr/>
        </p:nvSpPr>
        <p:spPr>
          <a:xfrm>
            <a:off x="2331720" y="1783080"/>
            <a:ext cx="9308592" cy="822960"/>
          </a:xfrm>
          <a:prstGeom prst="roundRect">
            <a:avLst>
              <a:gd name="adj" fmla="val 8889"/>
            </a:avLst>
          </a:prstGeom>
          <a:solidFill>
            <a:srgbClr val="22395F"/>
          </a:solidFill>
          <a:ln w="12700">
            <a:solidFill>
              <a:srgbClr val="22395F"/>
            </a:solidFill>
            <a:prstDash val="solid"/>
          </a:ln>
        </p:spPr>
      </p:sp>
      <p:sp>
        <p:nvSpPr>
          <p:cNvPr id="8" name="Text 5"/>
          <p:cNvSpPr txBox="1"/>
          <p:nvPr/>
        </p:nvSpPr>
        <p:spPr>
          <a:xfrm>
            <a:off x="2560320" y="1783080"/>
            <a:ext cx="8961120" cy="822960"/>
          </a:xfrm>
          <a:prstGeom prst="rect">
            <a:avLst/>
          </a:prstGeom>
          <a:noFill/>
          <a:ln/>
        </p:spPr>
        <p:txBody>
          <a:bodyPr wrap="square" lIns="635" tIns="635" rIns="635" bIns="635" rtlCol="0" anchor="ctr"/>
          <a:lstStyle/>
          <a:p>
            <a:pPr indent="0" marL="0">
              <a:buNone/>
            </a:pPr>
            <a:r>
              <a:rPr lang="en-US" sz="1800" b="1" dirty="0">
                <a:solidFill>
                  <a:srgbClr val="FBFAF4"/>
                </a:solidFill>
                <a:latin typeface="Roboto" pitchFamily="34" charset="0"/>
                <a:ea typeface="Roboto" pitchFamily="34" charset="-122"/>
                <a:cs typeface="Roboto" pitchFamily="34" charset="-120"/>
              </a:rPr>
              <a:t>Chạm An Phát ở giai đoạn nào — mua hay sau mua?</a:t>
            </a:r>
            <a:endParaRPr lang="en-US" sz="1800" dirty="0"/>
          </a:p>
        </p:txBody>
      </p:sp>
      <p:sp>
        <p:nvSpPr>
          <p:cNvPr id="9" name="Shape 6"/>
          <p:cNvSpPr/>
          <p:nvPr/>
        </p:nvSpPr>
        <p:spPr>
          <a:xfrm>
            <a:off x="548640" y="2788920"/>
            <a:ext cx="731520" cy="731520"/>
          </a:xfrm>
          <a:prstGeom prst="ellipse">
            <a:avLst/>
          </a:prstGeom>
          <a:solidFill>
            <a:srgbClr val="FFD23B"/>
          </a:solidFill>
          <a:ln w="12700">
            <a:solidFill>
              <a:srgbClr val="FFD23B"/>
            </a:solidFill>
            <a:prstDash val="solid"/>
          </a:ln>
        </p:spPr>
      </p:sp>
      <p:sp>
        <p:nvSpPr>
          <p:cNvPr id="10" name="Text 7"/>
          <p:cNvSpPr txBox="1"/>
          <p:nvPr/>
        </p:nvSpPr>
        <p:spPr>
          <a:xfrm>
            <a:off x="548640" y="278892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2</a:t>
            </a:r>
            <a:endParaRPr lang="en-US" sz="2200" dirty="0"/>
          </a:p>
        </p:txBody>
      </p:sp>
      <p:sp>
        <p:nvSpPr>
          <p:cNvPr id="11" name="Shape 8"/>
          <p:cNvSpPr/>
          <p:nvPr/>
        </p:nvSpPr>
        <p:spPr>
          <a:xfrm>
            <a:off x="1417320" y="2788920"/>
            <a:ext cx="731520" cy="731520"/>
          </a:xfrm>
          <a:prstGeom prst="ellipse">
            <a:avLst/>
          </a:prstGeom>
          <a:solidFill>
            <a:srgbClr val="FFD23B"/>
          </a:solidFill>
          <a:ln w="12700">
            <a:solidFill>
              <a:srgbClr val="FFD23B"/>
            </a:solidFill>
            <a:prstDash val="solid"/>
          </a:ln>
        </p:spPr>
      </p:sp>
      <p:pic>
        <p:nvPicPr>
          <p:cNvPr id="12" name="Image 1" descr="preencoded.png">    </p:cNvPr>
          <p:cNvPicPr>
            <a:picLocks noChangeAspect="1"/>
          </p:cNvPicPr>
          <p:nvPr/>
        </p:nvPicPr>
        <p:blipFill>
          <a:blip r:embed="rId2"/>
          <a:stretch>
            <a:fillRect/>
          </a:stretch>
        </p:blipFill>
        <p:spPr>
          <a:xfrm>
            <a:off x="1578254" y="2949854"/>
            <a:ext cx="409651" cy="409651"/>
          </a:xfrm>
          <a:prstGeom prst="rect">
            <a:avLst/>
          </a:prstGeom>
        </p:spPr>
      </p:pic>
      <p:sp>
        <p:nvSpPr>
          <p:cNvPr id="13" name="Shape 9"/>
          <p:cNvSpPr/>
          <p:nvPr/>
        </p:nvSpPr>
        <p:spPr>
          <a:xfrm>
            <a:off x="2331720" y="2743200"/>
            <a:ext cx="9308592" cy="822960"/>
          </a:xfrm>
          <a:prstGeom prst="roundRect">
            <a:avLst>
              <a:gd name="adj" fmla="val 8889"/>
            </a:avLst>
          </a:prstGeom>
          <a:solidFill>
            <a:srgbClr val="22395F"/>
          </a:solidFill>
          <a:ln w="12700">
            <a:solidFill>
              <a:srgbClr val="22395F"/>
            </a:solidFill>
            <a:prstDash val="solid"/>
          </a:ln>
        </p:spPr>
      </p:sp>
      <p:sp>
        <p:nvSpPr>
          <p:cNvPr id="14" name="Text 10"/>
          <p:cNvSpPr txBox="1"/>
          <p:nvPr/>
        </p:nvSpPr>
        <p:spPr>
          <a:xfrm>
            <a:off x="2560320" y="2743200"/>
            <a:ext cx="8961120" cy="822960"/>
          </a:xfrm>
          <a:prstGeom prst="rect">
            <a:avLst/>
          </a:prstGeom>
          <a:noFill/>
          <a:ln/>
        </p:spPr>
        <p:txBody>
          <a:bodyPr wrap="square" lIns="635" tIns="635" rIns="635" bIns="635" rtlCol="0" anchor="ctr"/>
          <a:lstStyle/>
          <a:p>
            <a:pPr indent="0" marL="0">
              <a:buNone/>
            </a:pPr>
            <a:r>
              <a:rPr lang="en-US" sz="1800" b="1" dirty="0">
                <a:solidFill>
                  <a:srgbClr val="FBFAF4"/>
                </a:solidFill>
                <a:latin typeface="Roboto" pitchFamily="34" charset="0"/>
                <a:ea typeface="Roboto" pitchFamily="34" charset="-122"/>
                <a:cs typeface="Roboto" pitchFamily="34" charset="-120"/>
              </a:rPr>
              <a:t>Ai của An Phát nhìn thấy họ? (anh Minh, ông Tuấn, chị Lan, chị Vy, anh Khoa, khách)</a:t>
            </a:r>
            <a:endParaRPr lang="en-US" sz="1800" dirty="0"/>
          </a:p>
        </p:txBody>
      </p:sp>
      <p:sp>
        <p:nvSpPr>
          <p:cNvPr id="15" name="Shape 11"/>
          <p:cNvSpPr/>
          <p:nvPr/>
        </p:nvSpPr>
        <p:spPr>
          <a:xfrm>
            <a:off x="548640" y="3749040"/>
            <a:ext cx="731520" cy="731520"/>
          </a:xfrm>
          <a:prstGeom prst="ellipse">
            <a:avLst/>
          </a:prstGeom>
          <a:solidFill>
            <a:srgbClr val="FF5178"/>
          </a:solidFill>
          <a:ln w="12700">
            <a:solidFill>
              <a:srgbClr val="FF5178"/>
            </a:solidFill>
            <a:prstDash val="solid"/>
          </a:ln>
        </p:spPr>
      </p:sp>
      <p:sp>
        <p:nvSpPr>
          <p:cNvPr id="16" name="Text 12"/>
          <p:cNvSpPr txBox="1"/>
          <p:nvPr/>
        </p:nvSpPr>
        <p:spPr>
          <a:xfrm>
            <a:off x="548640" y="374904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3</a:t>
            </a:r>
            <a:endParaRPr lang="en-US" sz="2200" dirty="0"/>
          </a:p>
        </p:txBody>
      </p:sp>
      <p:sp>
        <p:nvSpPr>
          <p:cNvPr id="17" name="Shape 13"/>
          <p:cNvSpPr/>
          <p:nvPr/>
        </p:nvSpPr>
        <p:spPr>
          <a:xfrm>
            <a:off x="1417320" y="3749040"/>
            <a:ext cx="731520" cy="731520"/>
          </a:xfrm>
          <a:prstGeom prst="ellipse">
            <a:avLst/>
          </a:prstGeom>
          <a:solidFill>
            <a:srgbClr val="FF5178"/>
          </a:solidFill>
          <a:ln w="12700">
            <a:solidFill>
              <a:srgbClr val="FF5178"/>
            </a:solidFill>
            <a:prstDash val="solid"/>
          </a:ln>
        </p:spPr>
      </p:sp>
      <p:pic>
        <p:nvPicPr>
          <p:cNvPr id="18" name="Image 2" descr="preencoded.png">    </p:cNvPr>
          <p:cNvPicPr>
            <a:picLocks noChangeAspect="1"/>
          </p:cNvPicPr>
          <p:nvPr/>
        </p:nvPicPr>
        <p:blipFill>
          <a:blip r:embed="rId3"/>
          <a:stretch>
            <a:fillRect/>
          </a:stretch>
        </p:blipFill>
        <p:spPr>
          <a:xfrm>
            <a:off x="1578254" y="3909974"/>
            <a:ext cx="409651" cy="409651"/>
          </a:xfrm>
          <a:prstGeom prst="rect">
            <a:avLst/>
          </a:prstGeom>
        </p:spPr>
      </p:pic>
      <p:sp>
        <p:nvSpPr>
          <p:cNvPr id="19" name="Shape 14"/>
          <p:cNvSpPr/>
          <p:nvPr/>
        </p:nvSpPr>
        <p:spPr>
          <a:xfrm>
            <a:off x="2331720" y="3703320"/>
            <a:ext cx="9308592" cy="822960"/>
          </a:xfrm>
          <a:prstGeom prst="roundRect">
            <a:avLst>
              <a:gd name="adj" fmla="val 8889"/>
            </a:avLst>
          </a:prstGeom>
          <a:solidFill>
            <a:srgbClr val="22395F"/>
          </a:solidFill>
          <a:ln w="12700">
            <a:solidFill>
              <a:srgbClr val="22395F"/>
            </a:solidFill>
            <a:prstDash val="solid"/>
          </a:ln>
        </p:spPr>
      </p:sp>
      <p:sp>
        <p:nvSpPr>
          <p:cNvPr id="20" name="Text 15"/>
          <p:cNvSpPr txBox="1"/>
          <p:nvPr/>
        </p:nvSpPr>
        <p:spPr>
          <a:xfrm>
            <a:off x="2560320" y="3703320"/>
            <a:ext cx="8961120" cy="822960"/>
          </a:xfrm>
          <a:prstGeom prst="rect">
            <a:avLst/>
          </a:prstGeom>
          <a:noFill/>
          <a:ln/>
        </p:spPr>
        <p:txBody>
          <a:bodyPr wrap="square" lIns="635" tIns="635" rIns="635" bIns="635" rtlCol="0" anchor="ctr"/>
          <a:lstStyle/>
          <a:p>
            <a:pPr indent="0" marL="0">
              <a:buNone/>
            </a:pPr>
            <a:r>
              <a:rPr lang="en-US" sz="1800" b="1" dirty="0">
                <a:solidFill>
                  <a:srgbClr val="FBFAF4"/>
                </a:solidFill>
                <a:latin typeface="Roboto" pitchFamily="34" charset="0"/>
                <a:ea typeface="Roboto" pitchFamily="34" charset="-122"/>
                <a:cs typeface="Roboto" pitchFamily="34" charset="-120"/>
              </a:rPr>
              <a:t>Nếu họ làm hỏng, quan hệ Nova – An Phát bị ảnh hưởng thế nào?</a:t>
            </a:r>
            <a:endParaRPr lang="en-US" sz="1800" dirty="0"/>
          </a:p>
        </p:txBody>
      </p:sp>
      <p:sp>
        <p:nvSpPr>
          <p:cNvPr id="21" name="Shape 16"/>
          <p:cNvSpPr/>
          <p:nvPr/>
        </p:nvSpPr>
        <p:spPr>
          <a:xfrm>
            <a:off x="548640" y="4709160"/>
            <a:ext cx="731520" cy="731520"/>
          </a:xfrm>
          <a:prstGeom prst="ellipse">
            <a:avLst/>
          </a:prstGeom>
          <a:solidFill>
            <a:srgbClr val="09A1E5"/>
          </a:solidFill>
          <a:ln w="12700">
            <a:solidFill>
              <a:srgbClr val="09A1E5"/>
            </a:solidFill>
            <a:prstDash val="solid"/>
          </a:ln>
        </p:spPr>
      </p:sp>
      <p:sp>
        <p:nvSpPr>
          <p:cNvPr id="22" name="Text 17"/>
          <p:cNvSpPr txBox="1"/>
          <p:nvPr/>
        </p:nvSpPr>
        <p:spPr>
          <a:xfrm>
            <a:off x="548640" y="470916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4</a:t>
            </a:r>
            <a:endParaRPr lang="en-US" sz="2200" dirty="0"/>
          </a:p>
        </p:txBody>
      </p:sp>
      <p:sp>
        <p:nvSpPr>
          <p:cNvPr id="23" name="Shape 18"/>
          <p:cNvSpPr/>
          <p:nvPr/>
        </p:nvSpPr>
        <p:spPr>
          <a:xfrm>
            <a:off x="1417320" y="4709160"/>
            <a:ext cx="731520" cy="731520"/>
          </a:xfrm>
          <a:prstGeom prst="ellipse">
            <a:avLst/>
          </a:prstGeom>
          <a:solidFill>
            <a:srgbClr val="09A1E5"/>
          </a:solidFill>
          <a:ln w="12700">
            <a:solidFill>
              <a:srgbClr val="09A1E5"/>
            </a:solidFill>
            <a:prstDash val="solid"/>
          </a:ln>
        </p:spPr>
      </p:sp>
      <p:pic>
        <p:nvPicPr>
          <p:cNvPr id="24" name="Image 3" descr="preencoded.png">    </p:cNvPr>
          <p:cNvPicPr>
            <a:picLocks noChangeAspect="1"/>
          </p:cNvPicPr>
          <p:nvPr/>
        </p:nvPicPr>
        <p:blipFill>
          <a:blip r:embed="rId4"/>
          <a:stretch>
            <a:fillRect/>
          </a:stretch>
        </p:blipFill>
        <p:spPr>
          <a:xfrm>
            <a:off x="1578254" y="4870094"/>
            <a:ext cx="409651" cy="409651"/>
          </a:xfrm>
          <a:prstGeom prst="rect">
            <a:avLst/>
          </a:prstGeom>
        </p:spPr>
      </p:pic>
      <p:sp>
        <p:nvSpPr>
          <p:cNvPr id="25" name="Shape 19"/>
          <p:cNvSpPr/>
          <p:nvPr/>
        </p:nvSpPr>
        <p:spPr>
          <a:xfrm>
            <a:off x="2331720" y="4663440"/>
            <a:ext cx="9308592" cy="822960"/>
          </a:xfrm>
          <a:prstGeom prst="roundRect">
            <a:avLst>
              <a:gd name="adj" fmla="val 8889"/>
            </a:avLst>
          </a:prstGeom>
          <a:solidFill>
            <a:srgbClr val="22395F"/>
          </a:solidFill>
          <a:ln w="12700">
            <a:solidFill>
              <a:srgbClr val="22395F"/>
            </a:solidFill>
            <a:prstDash val="solid"/>
          </a:ln>
        </p:spPr>
      </p:sp>
      <p:sp>
        <p:nvSpPr>
          <p:cNvPr id="26" name="Text 20"/>
          <p:cNvSpPr txBox="1"/>
          <p:nvPr/>
        </p:nvSpPr>
        <p:spPr>
          <a:xfrm>
            <a:off x="2560320" y="4663440"/>
            <a:ext cx="8961120" cy="822960"/>
          </a:xfrm>
          <a:prstGeom prst="rect">
            <a:avLst/>
          </a:prstGeom>
          <a:noFill/>
          <a:ln/>
        </p:spPr>
        <p:txBody>
          <a:bodyPr wrap="square" lIns="635" tIns="635" rIns="635" bIns="635" rtlCol="0" anchor="ctr"/>
          <a:lstStyle/>
          <a:p>
            <a:pPr indent="0" marL="0">
              <a:buNone/>
            </a:pPr>
            <a:r>
              <a:rPr lang="en-US" sz="1800" b="1" dirty="0">
                <a:solidFill>
                  <a:srgbClr val="FBFAF4"/>
                </a:solidFill>
                <a:latin typeface="Roboto" pitchFamily="34" charset="0"/>
                <a:ea typeface="Roboto" pitchFamily="34" charset="-122"/>
                <a:cs typeface="Roboto" pitchFamily="34" charset="-120"/>
              </a:rPr>
              <a:t>Nova quản lý bằng gì: điều khoản, checklist, người phụ trách, chỉ số, đánh giá sau sự kiện?</a:t>
            </a:r>
            <a:endParaRPr lang="en-US" sz="1800" dirty="0"/>
          </a:p>
        </p:txBody>
      </p:sp>
      <p:sp>
        <p:nvSpPr>
          <p:cNvPr id="27" name="Text 21"/>
          <p:cNvSpPr txBox="1"/>
          <p:nvPr/>
        </p:nvSpPr>
        <p:spPr>
          <a:xfrm>
            <a:off x="548640" y="5715000"/>
            <a:ext cx="11091672" cy="411480"/>
          </a:xfrm>
          <a:prstGeom prst="rect">
            <a:avLst/>
          </a:prstGeom>
          <a:noFill/>
          <a:ln/>
        </p:spPr>
        <p:txBody>
          <a:bodyPr wrap="square" lIns="635" tIns="635" rIns="635" bIns="635" rtlCol="0" anchor="ctr"/>
          <a:lstStyle/>
          <a:p>
            <a:pPr indent="0" marL="0">
              <a:buNone/>
            </a:pPr>
            <a:r>
              <a:rPr lang="en-US" sz="1400" i="1" dirty="0">
                <a:solidFill>
                  <a:srgbClr val="A9B6D3"/>
                </a:solidFill>
                <a:latin typeface="Roboto" pitchFamily="34" charset="0"/>
                <a:ea typeface="Roboto" pitchFamily="34" charset="-122"/>
                <a:cs typeface="Roboto" pitchFamily="34" charset="-120"/>
              </a:rPr>
              <a:t>Chiếu suốt Thực hành 2. Dowson: thỏa thuận phản hồi hai chiều với nhà cung cấp ngay trong hợp đồng.</a:t>
            </a:r>
            <a:endParaRPr lang="en-US" sz="1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Thực hành 2 · 30 phút: phân bổ nhà cung cấp vào giai đoạn mua và sau mua của An Phát</a:t>
            </a:r>
            <a:endParaRPr lang="en-US" sz="2800" dirty="0"/>
          </a:p>
        </p:txBody>
      </p:sp>
      <p:sp>
        <p:nvSpPr>
          <p:cNvPr id="3" name="Shape 1"/>
          <p:cNvSpPr/>
          <p:nvPr/>
        </p:nvSpPr>
        <p:spPr>
          <a:xfrm>
            <a:off x="548640" y="1783080"/>
            <a:ext cx="1097280" cy="868680"/>
          </a:xfrm>
          <a:prstGeom prst="roundRect">
            <a:avLst>
              <a:gd name="adj" fmla="val 8421"/>
            </a:avLst>
          </a:prstGeom>
          <a:solidFill>
            <a:srgbClr val="49B296"/>
          </a:solidFill>
          <a:ln w="12700">
            <a:solidFill>
              <a:srgbClr val="49B296"/>
            </a:solidFill>
            <a:prstDash val="solid"/>
          </a:ln>
        </p:spPr>
      </p:sp>
      <p:sp>
        <p:nvSpPr>
          <p:cNvPr id="4" name="Text 2"/>
          <p:cNvSpPr txBox="1"/>
          <p:nvPr/>
        </p:nvSpPr>
        <p:spPr>
          <a:xfrm>
            <a:off x="548640" y="1783080"/>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3’</a:t>
            </a:r>
            <a:endParaRPr lang="en-US" sz="2400" dirty="0"/>
          </a:p>
        </p:txBody>
      </p:sp>
      <p:sp>
        <p:nvSpPr>
          <p:cNvPr id="5" name="Shape 3"/>
          <p:cNvSpPr/>
          <p:nvPr/>
        </p:nvSpPr>
        <p:spPr>
          <a:xfrm>
            <a:off x="1828800" y="1783080"/>
            <a:ext cx="6035040"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2011680" y="1783080"/>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Mở đầu: dùng khách sạn nhóm đã chọn (mặc định B) + AV, in ấn, xe, nhiếp ảnh, lễ tân, quà</a:t>
            </a:r>
            <a:endParaRPr lang="en-US" sz="1500" dirty="0"/>
          </a:p>
        </p:txBody>
      </p:sp>
      <p:sp>
        <p:nvSpPr>
          <p:cNvPr id="7" name="Shape 5"/>
          <p:cNvSpPr/>
          <p:nvPr/>
        </p:nvSpPr>
        <p:spPr>
          <a:xfrm>
            <a:off x="548640" y="2770632"/>
            <a:ext cx="1097280" cy="868680"/>
          </a:xfrm>
          <a:prstGeom prst="roundRect">
            <a:avLst>
              <a:gd name="adj" fmla="val 8421"/>
            </a:avLst>
          </a:prstGeom>
          <a:solidFill>
            <a:srgbClr val="FFD23B"/>
          </a:solidFill>
          <a:ln w="12700">
            <a:solidFill>
              <a:srgbClr val="FFD23B"/>
            </a:solidFill>
            <a:prstDash val="solid"/>
          </a:ln>
        </p:spPr>
      </p:sp>
      <p:sp>
        <p:nvSpPr>
          <p:cNvPr id="8" name="Text 6"/>
          <p:cNvSpPr txBox="1"/>
          <p:nvPr/>
        </p:nvSpPr>
        <p:spPr>
          <a:xfrm>
            <a:off x="548640" y="2770632"/>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15’</a:t>
            </a:r>
            <a:endParaRPr lang="en-US" sz="2400" dirty="0"/>
          </a:p>
        </p:txBody>
      </p:sp>
      <p:sp>
        <p:nvSpPr>
          <p:cNvPr id="9" name="Shape 7"/>
          <p:cNvSpPr/>
          <p:nvPr/>
        </p:nvSpPr>
        <p:spPr>
          <a:xfrm>
            <a:off x="1828800" y="2770632"/>
            <a:ext cx="6035040"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2011680" y="2770632"/>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Bảng trên A1: ≥ 5 nhà cung cấp (có khách sạn và AV), ≥ 2 dòng sau mua; đủ 6 cột; đánh dấu ⚠️ dòng rủi ro nhất</a:t>
            </a:r>
            <a:endParaRPr lang="en-US" sz="1500" dirty="0"/>
          </a:p>
        </p:txBody>
      </p:sp>
      <p:sp>
        <p:nvSpPr>
          <p:cNvPr id="11" name="Shape 9"/>
          <p:cNvSpPr/>
          <p:nvPr/>
        </p:nvSpPr>
        <p:spPr>
          <a:xfrm>
            <a:off x="548640" y="3758184"/>
            <a:ext cx="1097280" cy="868680"/>
          </a:xfrm>
          <a:prstGeom prst="roundRect">
            <a:avLst>
              <a:gd name="adj" fmla="val 8421"/>
            </a:avLst>
          </a:prstGeom>
          <a:solidFill>
            <a:srgbClr val="FF5178"/>
          </a:solidFill>
          <a:ln w="12700">
            <a:solidFill>
              <a:srgbClr val="FF5178"/>
            </a:solidFill>
            <a:prstDash val="solid"/>
          </a:ln>
        </p:spPr>
      </p:sp>
      <p:sp>
        <p:nvSpPr>
          <p:cNvPr id="12" name="Text 10"/>
          <p:cNvSpPr txBox="1"/>
          <p:nvPr/>
        </p:nvSpPr>
        <p:spPr>
          <a:xfrm>
            <a:off x="548640" y="3758184"/>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8’</a:t>
            </a:r>
            <a:endParaRPr lang="en-US" sz="2400" dirty="0"/>
          </a:p>
        </p:txBody>
      </p:sp>
      <p:sp>
        <p:nvSpPr>
          <p:cNvPr id="13" name="Shape 11"/>
          <p:cNvSpPr/>
          <p:nvPr/>
        </p:nvSpPr>
        <p:spPr>
          <a:xfrm>
            <a:off x="1828800" y="3758184"/>
            <a:ext cx="6035040"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2011680" y="3758184"/>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Xoay trạm 2 vòng × 4’: vai anh Khoa (ngân sách – mua sắm) — 1 câu hỏi (note vàng) + 1 lo ngại (note hồng)</a:t>
            </a:r>
            <a:endParaRPr lang="en-US" sz="1500" dirty="0"/>
          </a:p>
        </p:txBody>
      </p:sp>
      <p:sp>
        <p:nvSpPr>
          <p:cNvPr id="15" name="Shape 13"/>
          <p:cNvSpPr/>
          <p:nvPr/>
        </p:nvSpPr>
        <p:spPr>
          <a:xfrm>
            <a:off x="548640" y="4745736"/>
            <a:ext cx="1097280" cy="868680"/>
          </a:xfrm>
          <a:prstGeom prst="roundRect">
            <a:avLst>
              <a:gd name="adj" fmla="val 8421"/>
            </a:avLst>
          </a:prstGeom>
          <a:solidFill>
            <a:srgbClr val="09A1E5"/>
          </a:solidFill>
          <a:ln w="12700">
            <a:solidFill>
              <a:srgbClr val="09A1E5"/>
            </a:solidFill>
            <a:prstDash val="solid"/>
          </a:ln>
        </p:spPr>
      </p:sp>
      <p:sp>
        <p:nvSpPr>
          <p:cNvPr id="16" name="Text 14"/>
          <p:cNvSpPr txBox="1"/>
          <p:nvPr/>
        </p:nvSpPr>
        <p:spPr>
          <a:xfrm>
            <a:off x="548640" y="4745736"/>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4’</a:t>
            </a:r>
            <a:endParaRPr lang="en-US" sz="2400" dirty="0"/>
          </a:p>
        </p:txBody>
      </p:sp>
      <p:sp>
        <p:nvSpPr>
          <p:cNvPr id="17" name="Shape 15"/>
          <p:cNvSpPr/>
          <p:nvPr/>
        </p:nvSpPr>
        <p:spPr>
          <a:xfrm>
            <a:off x="1828800" y="4745736"/>
            <a:ext cx="6035040" cy="868680"/>
          </a:xfrm>
          <a:prstGeom prst="roundRect">
            <a:avLst>
              <a:gd name="adj" fmla="val 8421"/>
            </a:avLst>
          </a:prstGeom>
          <a:solidFill>
            <a:srgbClr val="22395F"/>
          </a:solidFill>
          <a:ln w="12700">
            <a:solidFill>
              <a:srgbClr val="22395F"/>
            </a:solidFill>
            <a:prstDash val="solid"/>
          </a:ln>
        </p:spPr>
      </p:sp>
      <p:sp>
        <p:nvSpPr>
          <p:cNvPr id="18" name="Text 16"/>
          <p:cNvSpPr txBox="1"/>
          <p:nvPr/>
        </p:nvSpPr>
        <p:spPr>
          <a:xfrm>
            <a:off x="2011680" y="4745736"/>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Về bàn, đọc note, sửa một dòng</a:t>
            </a:r>
            <a:endParaRPr lang="en-US" sz="1500" dirty="0"/>
          </a:p>
        </p:txBody>
      </p:sp>
      <p:sp>
        <p:nvSpPr>
          <p:cNvPr id="19" name="Shape 17"/>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20" name="Shape 18"/>
          <p:cNvSpPr/>
          <p:nvPr/>
        </p:nvSpPr>
        <p:spPr>
          <a:xfrm>
            <a:off x="9372600" y="1965960"/>
            <a:ext cx="1005840" cy="1005840"/>
          </a:xfrm>
          <a:prstGeom prst="ellipse">
            <a:avLst/>
          </a:prstGeom>
          <a:solidFill>
            <a:srgbClr val="FFD23B"/>
          </a:solidFill>
          <a:ln w="12700">
            <a:solidFill>
              <a:srgbClr val="FFD23B"/>
            </a:solidFill>
            <a:prstDash val="solid"/>
          </a:ln>
        </p:spPr>
      </p:sp>
      <p:pic>
        <p:nvPicPr>
          <p:cNvPr id="21"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22" name="Text 19"/>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FFD23B"/>
                </a:solidFill>
                <a:latin typeface="Roboto" pitchFamily="34" charset="0"/>
                <a:ea typeface="Roboto" pitchFamily="34" charset="-122"/>
                <a:cs typeface="Roboto" pitchFamily="34" charset="-120"/>
              </a:rPr>
              <a:t>Sản phẩm</a:t>
            </a:r>
            <a:endParaRPr lang="en-US" sz="1800" dirty="0"/>
          </a:p>
        </p:txBody>
      </p:sp>
      <p:sp>
        <p:nvSpPr>
          <p:cNvPr id="23" name="Text 20"/>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Bảng phân bổ đã sửa — mẫu cho trang “nhà cung cấp và địa điểm” trong SMP</a:t>
            </a:r>
            <a:endParaRPr lang="en-US" sz="1600" dirty="0"/>
          </a:p>
        </p:txBody>
      </p:sp>
      <p:sp>
        <p:nvSpPr>
          <p:cNvPr id="24" name="Text 21"/>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Roboto" pitchFamily="34" charset="0"/>
                <a:ea typeface="Roboto" pitchFamily="34" charset="-122"/>
                <a:cs typeface="Roboto" pitchFamily="34" charset="-120"/>
              </a:rPr>
              <a:t>6 cột: nhà cung cấp · giai đoạn · điểm chạm · ai thấy · hỏng thì sao · quản lý bằng gì</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Ba ý của Buổi 10 — và một trang mới cho kế hoạch</a:t>
            </a:r>
            <a:endParaRPr lang="en-US" sz="2800" dirty="0"/>
          </a:p>
        </p:txBody>
      </p:sp>
      <p:sp>
        <p:nvSpPr>
          <p:cNvPr id="3" name="Shape 1"/>
          <p:cNvSpPr/>
          <p:nvPr/>
        </p:nvSpPr>
        <p:spPr>
          <a:xfrm>
            <a:off x="548640" y="1783080"/>
            <a:ext cx="1188720" cy="960120"/>
          </a:xfrm>
          <a:prstGeom prst="roundRect">
            <a:avLst>
              <a:gd name="adj" fmla="val 7619"/>
            </a:avLst>
          </a:prstGeom>
          <a:solidFill>
            <a:srgbClr val="49B296"/>
          </a:solidFill>
          <a:ln w="12700">
            <a:solidFill>
              <a:srgbClr val="49B296"/>
            </a:solidFill>
            <a:prstDash val="solid"/>
          </a:ln>
        </p:spPr>
      </p:sp>
      <p:sp>
        <p:nvSpPr>
          <p:cNvPr id="4" name="Text 2"/>
          <p:cNvSpPr txBox="1"/>
          <p:nvPr/>
        </p:nvSpPr>
        <p:spPr>
          <a:xfrm>
            <a:off x="548640" y="1783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10.1</a:t>
            </a:r>
            <a:endParaRPr lang="en-US" sz="2200" dirty="0"/>
          </a:p>
        </p:txBody>
      </p:sp>
      <p:sp>
        <p:nvSpPr>
          <p:cNvPr id="5" name="Shape 3"/>
          <p:cNvSpPr/>
          <p:nvPr/>
        </p:nvSpPr>
        <p:spPr>
          <a:xfrm>
            <a:off x="1920240" y="1783080"/>
            <a:ext cx="9720072" cy="960120"/>
          </a:xfrm>
          <a:prstGeom prst="roundRect">
            <a:avLst>
              <a:gd name="adj" fmla="val 7619"/>
            </a:avLst>
          </a:prstGeom>
          <a:solidFill>
            <a:srgbClr val="22395F"/>
          </a:solidFill>
          <a:ln w="12700">
            <a:solidFill>
              <a:srgbClr val="22395F"/>
            </a:solidFill>
            <a:prstDash val="solid"/>
          </a:ln>
        </p:spPr>
      </p:sp>
      <p:sp>
        <p:nvSpPr>
          <p:cNvPr id="6" name="Text 4"/>
          <p:cNvSpPr txBox="1"/>
          <p:nvPr/>
        </p:nvSpPr>
        <p:spPr>
          <a:xfrm>
            <a:off x="2148840" y="1783080"/>
            <a:ext cx="9326880" cy="960120"/>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Chọn cách mua theo hạng mục (ba báo giá, đấu thầu, nhà cung cấp ưu tiên). RFP tốt mang Key Account và khách của Key Account vào. Chấm có trọng số: value for money, công bằng, có dấu vết, phản hồi bên trượt</a:t>
            </a:r>
            <a:endParaRPr lang="en-US" sz="1450" dirty="0"/>
          </a:p>
        </p:txBody>
      </p:sp>
      <p:sp>
        <p:nvSpPr>
          <p:cNvPr id="7" name="Shape 5"/>
          <p:cNvSpPr/>
          <p:nvPr/>
        </p:nvSpPr>
        <p:spPr>
          <a:xfrm>
            <a:off x="548640" y="2926080"/>
            <a:ext cx="1188720" cy="960120"/>
          </a:xfrm>
          <a:prstGeom prst="roundRect">
            <a:avLst>
              <a:gd name="adj" fmla="val 7619"/>
            </a:avLst>
          </a:prstGeom>
          <a:solidFill>
            <a:srgbClr val="FFD23B"/>
          </a:solidFill>
          <a:ln w="12700">
            <a:solidFill>
              <a:srgbClr val="FFD23B"/>
            </a:solidFill>
            <a:prstDash val="solid"/>
          </a:ln>
        </p:spPr>
      </p:sp>
      <p:sp>
        <p:nvSpPr>
          <p:cNvPr id="8" name="Text 6"/>
          <p:cNvSpPr txBox="1"/>
          <p:nvPr/>
        </p:nvSpPr>
        <p:spPr>
          <a:xfrm>
            <a:off x="548640" y="2926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10.2</a:t>
            </a:r>
            <a:endParaRPr lang="en-US" sz="2200" dirty="0"/>
          </a:p>
        </p:txBody>
      </p:sp>
      <p:sp>
        <p:nvSpPr>
          <p:cNvPr id="9" name="Shape 7"/>
          <p:cNvSpPr/>
          <p:nvPr/>
        </p:nvSpPr>
        <p:spPr>
          <a:xfrm>
            <a:off x="1920240" y="2926080"/>
            <a:ext cx="9720072" cy="960120"/>
          </a:xfrm>
          <a:prstGeom prst="roundRect">
            <a:avLst>
              <a:gd name="adj" fmla="val 7619"/>
            </a:avLst>
          </a:prstGeom>
          <a:solidFill>
            <a:srgbClr val="22395F"/>
          </a:solidFill>
          <a:ln w="12700">
            <a:solidFill>
              <a:srgbClr val="22395F"/>
            </a:solidFill>
            <a:prstDash val="solid"/>
          </a:ln>
        </p:spPr>
      </p:sp>
      <p:sp>
        <p:nvSpPr>
          <p:cNvPr id="10" name="Text 8"/>
          <p:cNvSpPr txBox="1"/>
          <p:nvPr/>
        </p:nvSpPr>
        <p:spPr>
          <a:xfrm>
            <a:off x="2148840" y="2926080"/>
            <a:ext cx="9326880" cy="960120"/>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Chọn địa điểm trước vì địa điểm quyết định nhà cung cấp — và hình ảnh của Key Account. Site check là đi để hỏi; diện tích dùng được, không tin một con số; đọc kỹ điều khoản chuyển rủi ro</a:t>
            </a:r>
            <a:endParaRPr lang="en-US" sz="1450" dirty="0"/>
          </a:p>
        </p:txBody>
      </p:sp>
      <p:sp>
        <p:nvSpPr>
          <p:cNvPr id="11" name="Shape 9"/>
          <p:cNvSpPr/>
          <p:nvPr/>
        </p:nvSpPr>
        <p:spPr>
          <a:xfrm>
            <a:off x="548640" y="4069080"/>
            <a:ext cx="1188720" cy="960120"/>
          </a:xfrm>
          <a:prstGeom prst="roundRect">
            <a:avLst>
              <a:gd name="adj" fmla="val 7619"/>
            </a:avLst>
          </a:prstGeom>
          <a:solidFill>
            <a:srgbClr val="FF5178"/>
          </a:solidFill>
          <a:ln w="12700">
            <a:solidFill>
              <a:srgbClr val="FF5178"/>
            </a:solidFill>
            <a:prstDash val="solid"/>
          </a:ln>
        </p:spPr>
      </p:sp>
      <p:sp>
        <p:nvSpPr>
          <p:cNvPr id="12" name="Text 10"/>
          <p:cNvSpPr txBox="1"/>
          <p:nvPr/>
        </p:nvSpPr>
        <p:spPr>
          <a:xfrm>
            <a:off x="548640" y="4069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10.3</a:t>
            </a:r>
            <a:endParaRPr lang="en-US" sz="2200" dirty="0"/>
          </a:p>
        </p:txBody>
      </p:sp>
      <p:sp>
        <p:nvSpPr>
          <p:cNvPr id="13" name="Shape 11"/>
          <p:cNvSpPr/>
          <p:nvPr/>
        </p:nvSpPr>
        <p:spPr>
          <a:xfrm>
            <a:off x="1920240" y="4069080"/>
            <a:ext cx="9720072" cy="960120"/>
          </a:xfrm>
          <a:prstGeom prst="roundRect">
            <a:avLst>
              <a:gd name="adj" fmla="val 7619"/>
            </a:avLst>
          </a:prstGeom>
          <a:solidFill>
            <a:srgbClr val="22395F"/>
          </a:solidFill>
          <a:ln w="12700">
            <a:solidFill>
              <a:srgbClr val="22395F"/>
            </a:solidFill>
            <a:prstDash val="solid"/>
          </a:ln>
        </p:spPr>
      </p:sp>
      <p:sp>
        <p:nvSpPr>
          <p:cNvPr id="14" name="Text 12"/>
          <p:cNvSpPr txBox="1"/>
          <p:nvPr/>
        </p:nvSpPr>
        <p:spPr>
          <a:xfrm>
            <a:off x="2148840" y="4069080"/>
            <a:ext cx="9326880" cy="960120"/>
          </a:xfrm>
          <a:prstGeom prst="rect">
            <a:avLst/>
          </a:prstGeom>
          <a:noFill/>
          <a:ln/>
        </p:spPr>
        <p:txBody>
          <a:bodyPr wrap="square" lIns="635" tIns="635" rIns="635" bIns="635" rtlCol="0" anchor="ctr"/>
          <a:lstStyle/>
          <a:p>
            <a:pPr indent="0" marL="0">
              <a:buNone/>
            </a:pPr>
            <a:r>
              <a:rPr lang="en-US" sz="1450" dirty="0">
                <a:solidFill>
                  <a:srgbClr val="FBFAF4"/>
                </a:solidFill>
                <a:latin typeface="Roboto" pitchFamily="34" charset="0"/>
                <a:ea typeface="Roboto" pitchFamily="34" charset="-122"/>
                <a:cs typeface="Roboto" pitchFamily="34" charset="-120"/>
              </a:rPr>
              <a:t>Nhà cung cấp là điểm chạm do đối tác sở hữu trên hành trình mua của Key Account. Quản lý họ ở cả giai đoạn mua và sau mua</a:t>
            </a:r>
            <a:endParaRPr lang="en-US" sz="1450" dirty="0"/>
          </a:p>
        </p:txBody>
      </p:sp>
      <p:sp>
        <p:nvSpPr>
          <p:cNvPr id="15" name="Shape 13"/>
          <p:cNvSpPr/>
          <p:nvPr/>
        </p:nvSpPr>
        <p:spPr>
          <a:xfrm>
            <a:off x="548640" y="5349240"/>
            <a:ext cx="11091672" cy="731520"/>
          </a:xfrm>
          <a:prstGeom prst="roundRect">
            <a:avLst>
              <a:gd name="adj" fmla="val 10000"/>
            </a:avLst>
          </a:prstGeom>
          <a:solidFill>
            <a:srgbClr val="09A1E5"/>
          </a:solidFill>
          <a:ln w="12700">
            <a:solidFill>
              <a:srgbClr val="09A1E5"/>
            </a:solidFill>
            <a:prstDash val="solid"/>
          </a:ln>
        </p:spPr>
      </p:sp>
      <p:sp>
        <p:nvSpPr>
          <p:cNvPr id="16" name="Text 14"/>
          <p:cNvSpPr txBox="1"/>
          <p:nvPr/>
        </p:nvSpPr>
        <p:spPr>
          <a:xfrm>
            <a:off x="777240" y="5349240"/>
            <a:ext cx="10698480" cy="73152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Kế hoạch cuối kỳ: trang “nhà cung cấp và địa điểm” — hạng mục chính, cách mua, 3 tiêu chí chọn, bảng phân bổ theo giai đoạn của Key Account.</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Ba câu hỏi kiểm tra nhanh</a:t>
            </a:r>
            <a:endParaRPr lang="en-US" sz="2800" dirty="0"/>
          </a:p>
        </p:txBody>
      </p:sp>
      <p:sp>
        <p:nvSpPr>
          <p:cNvPr id="3" name="Shape 1"/>
          <p:cNvSpPr/>
          <p:nvPr/>
        </p:nvSpPr>
        <p:spPr>
          <a:xfrm>
            <a:off x="548640" y="1828800"/>
            <a:ext cx="868680" cy="868680"/>
          </a:xfrm>
          <a:prstGeom prst="ellipse">
            <a:avLst/>
          </a:prstGeom>
          <a:solidFill>
            <a:srgbClr val="49B296"/>
          </a:solidFill>
          <a:ln w="12700">
            <a:solidFill>
              <a:srgbClr val="49B296"/>
            </a:solidFill>
            <a:prstDash val="solid"/>
          </a:ln>
        </p:spPr>
      </p:sp>
      <p:sp>
        <p:nvSpPr>
          <p:cNvPr id="4" name="Text 2"/>
          <p:cNvSpPr txBox="1"/>
          <p:nvPr/>
        </p:nvSpPr>
        <p:spPr>
          <a:xfrm>
            <a:off x="548640" y="182880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1</a:t>
            </a:r>
            <a:endParaRPr lang="en-US" sz="2600" dirty="0"/>
          </a:p>
        </p:txBody>
      </p:sp>
      <p:sp>
        <p:nvSpPr>
          <p:cNvPr id="5" name="Shape 3"/>
          <p:cNvSpPr/>
          <p:nvPr/>
        </p:nvSpPr>
        <p:spPr>
          <a:xfrm>
            <a:off x="1645920" y="1828800"/>
            <a:ext cx="9994392"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1874520" y="182880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RFP và RFQ khác nhau thế nào? Cho mỗi loại một hạng mục ở gala.</a:t>
            </a:r>
            <a:endParaRPr lang="en-US" sz="1800" dirty="0"/>
          </a:p>
        </p:txBody>
      </p:sp>
      <p:sp>
        <p:nvSpPr>
          <p:cNvPr id="7" name="Shape 5"/>
          <p:cNvSpPr/>
          <p:nvPr/>
        </p:nvSpPr>
        <p:spPr>
          <a:xfrm>
            <a:off x="548640" y="3063240"/>
            <a:ext cx="868680" cy="868680"/>
          </a:xfrm>
          <a:prstGeom prst="ellipse">
            <a:avLst/>
          </a:prstGeom>
          <a:solidFill>
            <a:srgbClr val="09A1E5"/>
          </a:solidFill>
          <a:ln w="12700">
            <a:solidFill>
              <a:srgbClr val="09A1E5"/>
            </a:solidFill>
            <a:prstDash val="solid"/>
          </a:ln>
        </p:spPr>
      </p:sp>
      <p:sp>
        <p:nvSpPr>
          <p:cNvPr id="8" name="Text 6"/>
          <p:cNvSpPr txBox="1"/>
          <p:nvPr/>
        </p:nvSpPr>
        <p:spPr>
          <a:xfrm>
            <a:off x="548640" y="306324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2</a:t>
            </a:r>
            <a:endParaRPr lang="en-US" sz="2600" dirty="0"/>
          </a:p>
        </p:txBody>
      </p:sp>
      <p:sp>
        <p:nvSpPr>
          <p:cNvPr id="9" name="Shape 7"/>
          <p:cNvSpPr/>
          <p:nvPr/>
        </p:nvSpPr>
        <p:spPr>
          <a:xfrm>
            <a:off x="1645920" y="3063240"/>
            <a:ext cx="9994392"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1874520" y="306324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Vì sao câu hỏi về nhà cung cấp độc quyền phải nằm trong RFP gửi khách sạn?</a:t>
            </a:r>
            <a:endParaRPr lang="en-US" sz="1800" dirty="0"/>
          </a:p>
        </p:txBody>
      </p:sp>
      <p:sp>
        <p:nvSpPr>
          <p:cNvPr id="11" name="Shape 9"/>
          <p:cNvSpPr/>
          <p:nvPr/>
        </p:nvSpPr>
        <p:spPr>
          <a:xfrm>
            <a:off x="548640" y="4297680"/>
            <a:ext cx="868680" cy="868680"/>
          </a:xfrm>
          <a:prstGeom prst="ellipse">
            <a:avLst/>
          </a:prstGeom>
          <a:solidFill>
            <a:srgbClr val="FF9259"/>
          </a:solidFill>
          <a:ln w="12700">
            <a:solidFill>
              <a:srgbClr val="FF9259"/>
            </a:solidFill>
            <a:prstDash val="solid"/>
          </a:ln>
        </p:spPr>
      </p:sp>
      <p:sp>
        <p:nvSpPr>
          <p:cNvPr id="12" name="Text 10"/>
          <p:cNvSpPr txBox="1"/>
          <p:nvPr/>
        </p:nvSpPr>
        <p:spPr>
          <a:xfrm>
            <a:off x="548640" y="429768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3</a:t>
            </a:r>
            <a:endParaRPr lang="en-US" sz="2600" dirty="0"/>
          </a:p>
        </p:txBody>
      </p:sp>
      <p:sp>
        <p:nvSpPr>
          <p:cNvPr id="13" name="Shape 11"/>
          <p:cNvSpPr/>
          <p:nvPr/>
        </p:nvSpPr>
        <p:spPr>
          <a:xfrm>
            <a:off x="1645920" y="4297680"/>
            <a:ext cx="9994392"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1874520" y="429768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Kể một nhà cung cấp chạm An Phát ở giai đoạn sau mua. Ai của An Phát nhìn thấy?</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Trước khi về: hai câu trên phiếu cuối giờ</a:t>
            </a:r>
            <a:endParaRPr lang="en-US" sz="2800" dirty="0"/>
          </a:p>
        </p:txBody>
      </p:sp>
      <p:sp>
        <p:nvSpPr>
          <p:cNvPr id="3" name="Shape 1"/>
          <p:cNvSpPr/>
          <p:nvPr/>
        </p:nvSpPr>
        <p:spPr>
          <a:xfrm>
            <a:off x="548640" y="1828800"/>
            <a:ext cx="5376672" cy="4023360"/>
          </a:xfrm>
          <a:prstGeom prst="roundRect">
            <a:avLst>
              <a:gd name="adj" fmla="val 1818"/>
            </a:avLst>
          </a:prstGeom>
          <a:solidFill>
            <a:srgbClr val="22395F"/>
          </a:solidFill>
          <a:ln w="12700">
            <a:solidFill>
              <a:srgbClr val="22395F"/>
            </a:solidFill>
            <a:prstDash val="solid"/>
          </a:ln>
        </p:spPr>
      </p:sp>
      <p:sp>
        <p:nvSpPr>
          <p:cNvPr id="4" name="Shape 2"/>
          <p:cNvSpPr/>
          <p:nvPr/>
        </p:nvSpPr>
        <p:spPr>
          <a:xfrm>
            <a:off x="2551176" y="2103120"/>
            <a:ext cx="1371600" cy="13716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852928" y="2404872"/>
            <a:ext cx="768096" cy="768096"/>
          </a:xfrm>
          <a:prstGeom prst="rect">
            <a:avLst/>
          </a:prstGeom>
        </p:spPr>
      </p:pic>
      <p:sp>
        <p:nvSpPr>
          <p:cNvPr id="6" name="Text 3"/>
          <p:cNvSpPr txBox="1"/>
          <p:nvPr/>
        </p:nvSpPr>
        <p:spPr>
          <a:xfrm>
            <a:off x="914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Roboto" pitchFamily="34" charset="0"/>
                <a:ea typeface="Roboto" pitchFamily="34" charset="-122"/>
                <a:cs typeface="Roboto" pitchFamily="34" charset="-120"/>
              </a:rPr>
              <a:t>Với sự kiện trong dự án cũ của nhóm, nêu 1 hạng mục bạn mua bằng RFQ và 1 hạng mục bằng RFP. Vì sao khác nhau?</a:t>
            </a:r>
            <a:endParaRPr lang="en-US" sz="1800" dirty="0"/>
          </a:p>
        </p:txBody>
      </p:sp>
      <p:sp>
        <p:nvSpPr>
          <p:cNvPr id="7" name="Shape 4"/>
          <p:cNvSpPr/>
          <p:nvPr/>
        </p:nvSpPr>
        <p:spPr>
          <a:xfrm>
            <a:off x="6263640" y="1828800"/>
            <a:ext cx="5376672" cy="4023360"/>
          </a:xfrm>
          <a:prstGeom prst="roundRect">
            <a:avLst>
              <a:gd name="adj" fmla="val 1818"/>
            </a:avLst>
          </a:prstGeom>
          <a:solidFill>
            <a:srgbClr val="22395F"/>
          </a:solidFill>
          <a:ln w="12700">
            <a:solidFill>
              <a:srgbClr val="22395F"/>
            </a:solidFill>
            <a:prstDash val="solid"/>
          </a:ln>
        </p:spPr>
      </p:sp>
      <p:sp>
        <p:nvSpPr>
          <p:cNvPr id="8" name="Shape 5"/>
          <p:cNvSpPr/>
          <p:nvPr/>
        </p:nvSpPr>
        <p:spPr>
          <a:xfrm>
            <a:off x="8266176" y="2103120"/>
            <a:ext cx="1371600" cy="137160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567928" y="2404872"/>
            <a:ext cx="768096" cy="768096"/>
          </a:xfrm>
          <a:prstGeom prst="rect">
            <a:avLst/>
          </a:prstGeom>
        </p:spPr>
      </p:pic>
      <p:sp>
        <p:nvSpPr>
          <p:cNvPr id="10" name="Text 6"/>
          <p:cNvSpPr txBox="1"/>
          <p:nvPr/>
        </p:nvSpPr>
        <p:spPr>
          <a:xfrm>
            <a:off x="6629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Roboto" pitchFamily="34" charset="0"/>
                <a:ea typeface="Roboto" pitchFamily="34" charset="-122"/>
                <a:cs typeface="Roboto" pitchFamily="34" charset="-120"/>
              </a:rPr>
              <a:t>Một câu hỏi site check bạn sẽ không bao giờ quên hỏi. Câu đó bảo vệ Key Account thế nào?</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Không có bài về nhà. Buổi 11: báo chí và KOL kể lại sự kiện của Key Account</a:t>
            </a:r>
            <a:endParaRPr lang="en-US" sz="2800" dirty="0"/>
          </a:p>
        </p:txBody>
      </p:sp>
      <p:sp>
        <p:nvSpPr>
          <p:cNvPr id="3" name="Shape 1"/>
          <p:cNvSpPr/>
          <p:nvPr/>
        </p:nvSpPr>
        <p:spPr>
          <a:xfrm>
            <a:off x="548640" y="1828800"/>
            <a:ext cx="5486400" cy="3657600"/>
          </a:xfrm>
          <a:prstGeom prst="roundRect">
            <a:avLst>
              <a:gd name="adj" fmla="val 2000"/>
            </a:avLst>
          </a:prstGeom>
          <a:solidFill>
            <a:srgbClr val="22395F"/>
          </a:solidFill>
          <a:ln w="12700">
            <a:solidFill>
              <a:srgbClr val="22395F"/>
            </a:solidFill>
            <a:prstDash val="solid"/>
          </a:ln>
        </p:spPr>
      </p:sp>
      <p:sp>
        <p:nvSpPr>
          <p:cNvPr id="4" name="Shape 2"/>
          <p:cNvSpPr/>
          <p:nvPr/>
        </p:nvSpPr>
        <p:spPr>
          <a:xfrm>
            <a:off x="822960" y="2103120"/>
            <a:ext cx="914400" cy="914400"/>
          </a:xfrm>
          <a:prstGeom prst="ellipse">
            <a:avLst/>
          </a:prstGeom>
          <a:solidFill>
            <a:srgbClr val="FFD23B"/>
          </a:solidFill>
          <a:ln w="12700">
            <a:solidFill>
              <a:srgbClr val="FFD23B"/>
            </a:solidFill>
            <a:prstDash val="solid"/>
          </a:ln>
        </p:spPr>
      </p:sp>
      <p:pic>
        <p:nvPicPr>
          <p:cNvPr id="5" name="Image 0" descr="preencoded.png">    </p:cNvPr>
          <p:cNvPicPr>
            <a:picLocks noChangeAspect="1"/>
          </p:cNvPicPr>
          <p:nvPr/>
        </p:nvPicPr>
        <p:blipFill>
          <a:blip r:embed="rId1"/>
          <a:stretch>
            <a:fillRect/>
          </a:stretch>
        </p:blipFill>
        <p:spPr>
          <a:xfrm>
            <a:off x="1024128" y="2304288"/>
            <a:ext cx="512064" cy="512064"/>
          </a:xfrm>
          <a:prstGeom prst="rect">
            <a:avLst/>
          </a:prstGeom>
        </p:spPr>
      </p:pic>
      <p:sp>
        <p:nvSpPr>
          <p:cNvPr id="6" name="Text 3"/>
          <p:cNvSpPr txBox="1"/>
          <p:nvPr/>
        </p:nvSpPr>
        <p:spPr>
          <a:xfrm>
            <a:off x="1920240" y="2103120"/>
            <a:ext cx="3931920" cy="914400"/>
          </a:xfrm>
          <a:prstGeom prst="rect">
            <a:avLst/>
          </a:prstGeom>
          <a:noFill/>
          <a:ln/>
        </p:spPr>
        <p:txBody>
          <a:bodyPr wrap="square" lIns="635" tIns="635" rIns="635" bIns="635" rtlCol="0" anchor="ctr"/>
          <a:lstStyle/>
          <a:p>
            <a:pPr indent="0" marL="0">
              <a:buNone/>
            </a:pPr>
            <a:r>
              <a:rPr lang="en-US" sz="2000" b="1" dirty="0">
                <a:solidFill>
                  <a:srgbClr val="FFD23B"/>
                </a:solidFill>
                <a:latin typeface="Roboto" pitchFamily="34" charset="0"/>
                <a:ea typeface="Roboto" pitchFamily="34" charset="-122"/>
                <a:cs typeface="Roboto" pitchFamily="34" charset="-120"/>
              </a:rPr>
              <a:t>Buổi 11 · Báo chí và KOL</a:t>
            </a:r>
            <a:endParaRPr lang="en-US" sz="2000" dirty="0"/>
          </a:p>
        </p:txBody>
      </p:sp>
      <p:sp>
        <p:nvSpPr>
          <p:cNvPr id="7" name="Text 4"/>
          <p:cNvSpPr txBox="1"/>
          <p:nvPr/>
        </p:nvSpPr>
        <p:spPr>
          <a:xfrm>
            <a:off x="822960" y="3200400"/>
            <a:ext cx="4937760" cy="2194560"/>
          </a:xfrm>
          <a:prstGeom prst="rect">
            <a:avLst/>
          </a:prstGeom>
          <a:noFill/>
          <a:ln/>
        </p:spPr>
        <p:txBody>
          <a:bodyPr wrap="square" lIns="635" tIns="635" rIns="635" bIns="635" rtlCol="0" anchor="t"/>
          <a:lstStyle/>
          <a:p>
            <a:pPr indent="0" marL="0">
              <a:buNone/>
            </a:pPr>
            <a:r>
              <a:rPr lang="en-US" sz="1700" dirty="0">
                <a:solidFill>
                  <a:srgbClr val="FBFAF4"/>
                </a:solidFill>
                <a:latin typeface="Roboto" pitchFamily="34" charset="0"/>
                <a:ea typeface="Roboto" pitchFamily="34" charset="-122"/>
                <a:cs typeface="Roboto" pitchFamily="34" charset="-120"/>
              </a:rPr>
              <a:t>Hôm nay ta chọn và quản lý những đối tác làm ra sự kiện. Buổi sau là những đối tác kể lại sự kiện: báo chí, KOL, influencer — và cách để họ kể đúng câu chuyện của Key Account.</a:t>
            </a:r>
            <a:endParaRPr lang="en-US" sz="1700" dirty="0"/>
          </a:p>
        </p:txBody>
      </p:sp>
      <p:sp>
        <p:nvSpPr>
          <p:cNvPr id="8" name="Shape 5"/>
          <p:cNvSpPr/>
          <p:nvPr/>
        </p:nvSpPr>
        <p:spPr>
          <a:xfrm>
            <a:off x="6263640" y="1828800"/>
            <a:ext cx="5376672" cy="3657600"/>
          </a:xfrm>
          <a:prstGeom prst="roundRect">
            <a:avLst>
              <a:gd name="adj" fmla="val 2000"/>
            </a:avLst>
          </a:prstGeom>
          <a:solidFill>
            <a:srgbClr val="22395F"/>
          </a:solidFill>
          <a:ln w="12700">
            <a:solidFill>
              <a:srgbClr val="22395F"/>
            </a:solidFill>
            <a:prstDash val="solid"/>
          </a:ln>
        </p:spPr>
      </p:sp>
      <p:sp>
        <p:nvSpPr>
          <p:cNvPr id="9" name="Shape 6"/>
          <p:cNvSpPr/>
          <p:nvPr/>
        </p:nvSpPr>
        <p:spPr>
          <a:xfrm>
            <a:off x="6537960" y="2103120"/>
            <a:ext cx="914400" cy="914400"/>
          </a:xfrm>
          <a:prstGeom prst="ellipse">
            <a:avLst/>
          </a:prstGeom>
          <a:solidFill>
            <a:srgbClr val="49B296"/>
          </a:solidFill>
          <a:ln w="12700">
            <a:solidFill>
              <a:srgbClr val="49B296"/>
            </a:solidFill>
            <a:prstDash val="solid"/>
          </a:ln>
        </p:spPr>
      </p:sp>
      <p:pic>
        <p:nvPicPr>
          <p:cNvPr id="10" name="Image 1" descr="preencoded.png">    </p:cNvPr>
          <p:cNvPicPr>
            <a:picLocks noChangeAspect="1"/>
          </p:cNvPicPr>
          <p:nvPr/>
        </p:nvPicPr>
        <p:blipFill>
          <a:blip r:embed="rId2"/>
          <a:stretch>
            <a:fillRect/>
          </a:stretch>
        </p:blipFill>
        <p:spPr>
          <a:xfrm>
            <a:off x="6739128" y="2304288"/>
            <a:ext cx="512064" cy="512064"/>
          </a:xfrm>
          <a:prstGeom prst="rect">
            <a:avLst/>
          </a:prstGeom>
        </p:spPr>
      </p:pic>
      <p:sp>
        <p:nvSpPr>
          <p:cNvPr id="11" name="Text 7"/>
          <p:cNvSpPr txBox="1"/>
          <p:nvPr/>
        </p:nvSpPr>
        <p:spPr>
          <a:xfrm>
            <a:off x="7635240" y="2103120"/>
            <a:ext cx="3840480" cy="914400"/>
          </a:xfrm>
          <a:prstGeom prst="rect">
            <a:avLst/>
          </a:prstGeom>
          <a:noFill/>
          <a:ln/>
        </p:spPr>
        <p:txBody>
          <a:bodyPr wrap="square" lIns="635" tIns="635" rIns="635" bIns="635" rtlCol="0" anchor="ctr"/>
          <a:lstStyle/>
          <a:p>
            <a:pPr indent="0" marL="0">
              <a:buNone/>
            </a:pPr>
            <a:r>
              <a:rPr lang="en-US" sz="2000" b="1" dirty="0">
                <a:solidFill>
                  <a:srgbClr val="49B296"/>
                </a:solidFill>
                <a:latin typeface="Roboto" pitchFamily="34" charset="0"/>
                <a:ea typeface="Roboto" pitchFamily="34" charset="-122"/>
                <a:cs typeface="Roboto" pitchFamily="34" charset="-120"/>
              </a:rPr>
              <a:t>Mang theo</a:t>
            </a:r>
            <a:endParaRPr lang="en-US" sz="2000" dirty="0"/>
          </a:p>
        </p:txBody>
      </p:sp>
      <p:sp>
        <p:nvSpPr>
          <p:cNvPr id="12" name="Text 8"/>
          <p:cNvSpPr txBox="1"/>
          <p:nvPr/>
        </p:nvSpPr>
        <p:spPr>
          <a:xfrm>
            <a:off x="6537960" y="3200400"/>
            <a:ext cx="4846320" cy="2194560"/>
          </a:xfrm>
          <a:prstGeom prst="rect">
            <a:avLst/>
          </a:prstGeom>
          <a:noFill/>
          <a:ln/>
        </p:spPr>
        <p:txBody>
          <a:bodyPr wrap="square" lIns="635" tIns="635" rIns="635" bIns="635" rtlCol="0" anchor="t"/>
          <a:lstStyle/>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Ảnh bảng chấm khách sạn và bảng phân bổ nhà cung cấp</a:t>
            </a:r>
            <a:endParaRPr lang="en-US" sz="1800" dirty="0"/>
          </a:p>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Hồ sơ dự án cũ (phần truyền thông, KOL nếu có)</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Tài liệu tham khảo</a:t>
            </a:r>
            <a:endParaRPr lang="en-US" sz="2800" dirty="0"/>
          </a:p>
        </p:txBody>
      </p:sp>
      <p:sp>
        <p:nvSpPr>
          <p:cNvPr id="3" name="Text 1"/>
          <p:cNvSpPr txBox="1"/>
          <p:nvPr/>
        </p:nvSpPr>
        <p:spPr>
          <a:xfrm>
            <a:off x="548640" y="1600200"/>
            <a:ext cx="11091672" cy="4663440"/>
          </a:xfrm>
          <a:prstGeom prst="rect">
            <a:avLst/>
          </a:prstGeom>
          <a:noFill/>
          <a:ln/>
        </p:spPr>
        <p:txBody>
          <a:bodyPr wrap="square" lIns="635" tIns="635" rIns="635" bIns="635" rtlCol="0" anchor="t"/>
          <a:lstStyle/>
          <a:p>
            <a:pPr indent="0" marL="0">
              <a:spcAft>
                <a:spcPts val="600"/>
              </a:spcAft>
              <a:buNone/>
            </a:pPr>
            <a:r>
              <a:rPr lang="en-US" sz="1400" dirty="0">
                <a:solidFill>
                  <a:srgbClr val="FBFAF4"/>
                </a:solidFill>
                <a:latin typeface="Roboto" pitchFamily="34" charset="0"/>
                <a:ea typeface="Roboto" pitchFamily="34" charset="-122"/>
                <a:cs typeface="Roboto" pitchFamily="34" charset="-120"/>
              </a:rPr>
              <a:t>Chartered Institute of Procurement &amp; Supply. (n.d.).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Tender evaluation</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https://www.cips.org</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Dowson, R., Albert, B., &amp; Lomax, D. (2023).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Event planning and management: Principles, planning and practice</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(3rd ed.). Kogan Page. (Chương 5, 9)</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Events Industry Council. (n.d.).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APEX RFP templates</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https://news.eventscouncil.org/apex/rfp-templates/</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Ho, W., Xu, X., &amp; Dey, P. K. (2010). Multi-criteria decision making approaches for supplier evaluation and selection: A literature review.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European Journal of Operational Research, 202</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(1), 16–24.</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Lemon, K. N., &amp; Verhoef, P. C. (2016). Understanding customer experience throughout the customer journey.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Journal of Marketing, 80</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(6), 69–96.</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Silvers, J. R. (2008).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Risk management for meetings and events</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Butterworth-Heinemann. (Chương 3, 7)</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Weber, C. A., Current, J. R., &amp; Benton, W. C. (1991). Vendor selection criteria and methods.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European Journal of Operational Research, 50</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(1), 2–18.</a:t>
            </a:r>
            <a:endParaRPr lang="en-US" sz="1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40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10: Chọn và quản lý nhà cung cấp, địa điểm</dc:title>
  <dc:subject>PptxGenJS Presentation</dc:subject>
  <dc:creator>Đoàn Nguyễn Bảo Quyên</dc:creator>
  <cp:lastModifiedBy>Đoàn Nguyễn Bảo Quyên</cp:lastModifiedBy>
  <cp:revision>1</cp:revision>
  <dcterms:created xsi:type="dcterms:W3CDTF">2026-10-04T13:56:02Z</dcterms:created>
  <dcterms:modified xsi:type="dcterms:W3CDTF">2026-10-04T13:56:02Z</dcterms:modified>
</cp:coreProperties>
</file>