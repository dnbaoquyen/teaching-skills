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3 — Bài 3: Hiểu thế giới của Key Account: môi trường của khách hàng, hành trình của khách hàng, và ai thật sự quyết định.
(GV: Mở đầu bằng 2–3 “điều còn mơ hồ” từ phiếu cuối giờ Buổi 2 (≤3 phút).)
Hỏi lớp: —
Chuyển ý: Bắt đầu bằng một tin kinh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Tin thật, VnEconomy ngày 11 tháng 1 năm 2026: Ngân hàng Nhà nước định hướng tín dụng toàn hệ thống tăng khoảng 15% năm 2026; chỉ tiêu cho từng ngân hàng dựa trên kết quả chấm điểm xếp hạng; và kiểm soát chặt tín dụng bất động sản. Nova là agency sự kiện. Nova có cần biết điều này không? Giơ tay.
(GV: Nguồn C05 (đã kiểm chứng chéo: VnEconomy, VnExpress, Pháp Luật TP.HCM, Pháp luật Việt Nam). Câu chốt: “Có — vì An Phát cần biết. Khi tín dụng bị giới hạn, ngân hàng phải giữ khách doanh nghiệp tốt bằng cách khác. Đó có thể chính là lý do An Phát cần một chương trình khách hàng.”)
Hỏi lớp: “Nova có cần biết tin này không? Vì sao?”
Chuyển ý: Hôm nay ta nhìn thế giới bằng mắt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nghiên cứu ở Cranfield với người làm KAM cho thấy phần được làm kém nhất trong nhiều kế hoạch Key Account chính là phần hiểu thế giới của khách hàng và chiến lược tương lai của họ. Nhiều người nói “tôi hiểu khách hàng rõ lắm” — nhưng thực tế thì không. Còn đây là lời một giám đốc cấp cao của khách hàng nói về nhà cung cấp tốt nhất: họ có thể bàn với tôi về cách giúp tôi tạo lợi thế cạnh tranh — khác xa kiểu “bán, bán, bán” tôi nhận được từ các nhà cung cấp khác.
(GV: Đã đối chiếu Marcos et al. (2018), Chương 3: research vignette (tr. 60) và “Voice of the practitioner” (tr. 61).)
Hỏi lớp: —
Chuyển ý: Vậy cần hiểu những gì? Có một công cụ gọi là bánh xe hiểu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Sue Holt ở Cranfield xây dựng Bánh xe hiểu khách hàng — Wheel of Customer Understanding — từ phỏng vấn hơn 50 người làm trong các quan hệ khách hàng – nhà cung cấp chiến lược, một nửa trong số đó chính là khách hàng. Ở trung tâm: hiểu khách hàng hơn chính họ. Tám nan: hiểu ngành và các động lực của ngành; chiến lược và mô hình kinh doanh của khách; đối thủ của khách; vận hành của khách; khách hàng và nhà cung cấp của họ; năng lực cốt lõi; địa bàn hoạt động; và biết người chủ chốt, văn hóa, chính trị nội bộ.
(GV: Đã đối chiếu Marcos et al. (2018), Hình 3.1 và đoạn giới thiệu tr. 60–61 (Holt 2003, cập nhật 2016; hơn 50 người, một nửa là khách hàng). Sách gọi là “nine key areas” — trung tâm và tám nan; bản trích xuất không giữ bố cục hình, cách xếp quanh vòng tròn là của người soạn. Điều này lấp khoảng trống C02 trong tư liệu Buổi 3 (trước đây chỉ biết tên công cụ). Nan “người chủ chốt, văn hóa, chính trị” sẽ là phần DMU/GRASP cuối buổi.)
Hỏi lớp: “Nan nào Nova đang biết ít nhất về An Phát?”
Chuyển ý: Đề cương mục 3.1 tập trung vào ba công cụ để đi những nan đầu tiên.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Value Planning Framework của Cranfield KAM Forum, bước đầu của kế hoạch Key Account là phân tích thế giới của khách hàng bằng ba công cụ: PESTEL của khách hàng — chính sách, kinh tế, xã hội, công nghệ, môi trường, pháp lý trong ngành của khách; đối thủ của khách hàng — ai đang giành khách hàng của họ; và nội bộ khách hàng — chiến lược, mục tiêu, cơ cấu, người ra quyết định. Ba lời khuyên: nghiên cứu tương xứng với tầm quan trọng của khách; thiếu dữ liệu thì đặt giả định và ghi rõ; và xác nhận lại với khách hàng.
(GV: Nguồn C01 (Davies, Cranfield KAM Forum) — đã đọc khi soạn tư liệu; cũng là khung A–E của Buổi 13 (Stage A = Value Insights).)
Hỏi lớp: —
Chuyển ý: Thử PESTEL cho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PESTEL trong KAM là PESTEL của khách hàng. P — chính sách nào ảnh hưởng ngân hàng? Tin thật: tín dụng khoảng 15% năm 2026, siết bất động sản. E — khách doanh nghiệp của An Phát lo gì? Giả định: chi phí vốn, dòng tiền. S — chủ doanh nghiệp thay đổi thế nào? Giả định: thế hệ trẻ, ưa trải nghiệm. T — ngân hàng số: khách ít đến chi nhánh. E — xu hướng xanh: tín dụng xanh. L — quy định nào ràng buộc cách An Phát làm sự kiện: ví dụ bảo vệ dữ liệu khách mời. Chỉ dòng đầu là dữ kiện thật; các dòng khác là giả định — và phải ghi rõ là giả định.
(GV: Bảng theo W03 lecture notes §1.2. Dòng L: [VERIFY: văn bản hiện hành về bảo vệ dữ liệu cá nhân trước khi nêu tên luật/nghị định với lớp].)
Hỏi lớp: —
Chuyển ý: Một dữ kiện chỉ có giá trị khi nó trở thành nhu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dữ kiện đến cơ hội. Dữ kiện: tín dụng bị giới hạn. Hệ quả cho An Phát: các ngân hàng cạnh tranh giữ khách doanh nghiệp tốt bằng dịch vụ và quan hệ, không chỉ bằng khoản vay. Nhu cầu: An Phát cần những sự kiện tạo giá trị thật cho khách doanh nghiệp, không chỉ một bữa tiệc. Cơ hội cho Nova: đề xuất chương trình khách hàng cả năm. Mẫu câu dùng trong thực hành: “Vì dữ kiện này và dữ kiện kia, An Phát cần…”.
(GV: Chuỗi suy luận là nhận định của người soạn (W03 lecture notes §1.2) — nói rõ đây là suy luận, cần kiểm chứng với khách hàng.)
Hỏi lớp: —
Chuyển ý: Còn đối thủ — đối thủ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Đối thủ ở đây là đối thủ của An Phát — các ngân hàng khác đang giành khách doanh nghiệp VIP của An Phát — chứ không phải các agency khác của Nova. Ví dụ giả định: ngân hàng X mở hội thảo chuyên đề hằng quý cho khách lớn. Thực ra ngay bản brief mà khách gửi cho agency cũng đã có phần này. Slide bộ môn mô tả cấu trúc một bản brief: phần I — thông tin công ty: thông tin cơ bản, khách hàng của họ, đối thủ cạnh tranh của họ; phần II — tổng quan dự án: mong muốn, quy mô, đối tượng, thời gian, địa điểm, mục đích, KPI; phần III — thông tin chi tiết: thông điệp, phong cách, ngân sách, deadline. Agency giỏi đọc kỹ phần I, không chỉ phần III.
(GV: Đã đối chiếu slide gốc Chương 2 (“Cấu trúc một bảng brief”, mục UNDERSTANDING). Lược bớt vài dòng (tone màu, loại hình, hình thức).)
Hỏi lớp: “Trong dự án cũ, nhóm có từng đọc phần ‘khách hàng và đối thủ’ trong brief không?”
Chuyển ý: Khi không có dữ liệu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PESTEL là để phân tích thị trường sự kiện. Không — trong KAM, ta phân tích ngành và đối thủ của khách hàng. Hai: không có số liệu thì bỏ qua. Không — đặt giả định, ghi rõ là giả định, và xác nhận lại với khách hàng. Không bịa số, không bỏ trống.
(GV: Theo W03 lecture notes §1.4 và C01.)
Hỏi lớp: —
Chuyển ý: Thực hành 1: thế giới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Bảy phút: xếp 8 thẻ dữ kiện vào sáu chữ cái PESTEL hoặc ô “đối thủ của An Phát”; thẻ nào thuộc hai ô thì ghi lý do. Tám phút: viết ba nhu cầu của An Phát năm tới, mỗi nhu cầu dựa trên ít nhất hai thẻ. Năm phút: chọn một nhu cầu — Nova giúp bằng chương trình gì — và ghi một giả định cần hỏi lại chị Hạnh. Thẻ 1 là dữ kiện thật; thẻ 2 đến 8 là giả định.
(GV: Phiếu W03_activity_S3_the_gioi_an_phat.md (cắt thẻ trước). Mốc phút 27–47. Chiếu slide 7 (mẫu câu)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47–55.)
Hỏi lớp: —
Chuyển ý: Sau giải lao: hành trình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khách VIP của An Phát. Từ lúc nhận thư mời đến sau đêm gala, người đó chạm vào An Phát bao nhiêu lần? Đề cương mục 3.2: vẽ bản đồ hành trình khách hàng.
Hỏi lớp: “Đếm thử: bạn kể được bao nhiêu điểm chạm?”
Chuyển ý: Hành trình có ba giai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Lemon và Verhoef, 2016, chia hành trình khách hàng thành ba giai đoạn: trước khi mua — prepurchase; trong khi mua — purchase; và sau khi mua — postpurchase. Slide bộ môn nói rõ: trong mỗi giai đoạn có một số điểm tiếp xúc giữa nhà cung cấp và khách hàng, và một số quan trọng hơn những cái khác. Mục tiêu đầu tiên là xác định tất cả các điểm tiếp xúc có liên quan và đánh giá tầm quan trọng tương đối của chúng trong toàn bộ hành trình.
(GV: Đã đối chiếu: C03 Lemon &amp; Verhoef (2016), Journal of Marketing 80(6) — đã đọc toàn văn khi soạn tư liệu; câu trích nguyên văn từ slide gốc Chương 3, mục “Yếu tố để có được MQH thành công”. Mô tả hoạt động mỗi giai đoạn (dòng nhỏ) là diễn giải cho bối cảnh sự kiện.)
Hỏi lớp: —
Chuyển ý: Điểm chạm lại chia theo ai sở hữu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Lemon và Verhoef chia điểm chạm thành bốn loại theo ai sở hữu và kiểm soát nó. Brand-owned — do thương hiệu sở hữu: thư mời của An Phát. Partner-owned — do đối tác làm: Nova đón khách tại khách sạn. Customer-owned — khách tự làm: khách tự chụp ảnh, tự xếp lịch. Social hoặc external — người khác, báo chí, mạng xã hội: đồng nghiệp kể về gala năm ngoái. Bài báo viết rõ: đối tác có thể bao gồm các agency marketing. Tức là Nova là một loại điểm chạm của thương hiệu An Phát.
(GV: C03, trích nguyên văn “Partners can include marketing agencies…”. Ví dụ là của môn (giả định).)
Hỏi lớp: —
Chuyển ý: Môn học dùng hai lớp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dùng hai lớp hành trình. Lớp một: hành trình của khách của Key Account — 600 lãnh đạo doanh nghiệp VIP của An Phát, từ lúc nhận thư mời đến sau gala; ta dùng ở Buổi 3, 5, 9 và 11. Lớp hai: hành trình của chính Key Account — An Phát mua dịch vụ của Nova: brief, đề xuất, hợp đồng, sự kiện, nghiệm thu; dùng ở Buổi 10. Hôm nay ta vẽ lớp một.
(GV: Hai lớp hành trình là quyết định GV 4 (tư liệu Buổi 3).)
Hỏi lớp: —
Chuyển ý: Một ví dụ hành trình lớp một.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Trước sự kiện: khách nhận thư mời của An Phát — brand-owned; nghe đồng nghiệp kể về gala năm ngoái — social. Trong sự kiện: được Nova đón tại khách sạn — partner-owned; tự chụp ảnh, đăng mạng — customer-owned. Sau sự kiện: nhận ảnh và thư cảm ơn — brand-owned, dù Nova làm hộ; đọc báo đưa tin — social. Hành trình bắt đầu từ thư mời, không phải từ cửa phòng tiệc.
(GV: Theo W03 lecture notes §2.3.)
Hỏi lớp: —
Chuyển ý: Một câu hỏi quan trọng: khách thấy điểm chạm đó là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Hỏi lại: Nova làm nhiều điểm chạm, nhưng khách thấy đó là của ai? Của An Phát. Nova thành công khi thương hiệu của khách hàng tỏa sáng, không phải khi tên Nova xuất hiện nhiều. Và hệ quả: một điểm chạm hỏng do Nova — livestream chậm, đón khách lộn xộn — là một điểm trừ cho An Phát trong mắt khách VIP.
(GV: Ví dụ livestream chậm nối với chị Lan (DMU) và Buổi 4 (chất lượng quan hệ).)
Hỏi lớp: “Trong dự án cũ, tên agency của nhóm xuất hiện ở đâu trong mắt khách tham dự?”
Chuyển ý: Kiểm tra nhanh một điểm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trước gala, một khách VIP nghe giám đốc tài chính công ty mình kể: “Gala An Phát năm ngoái có phiên hỏi đáp với chuyên gia rất đáng đi.” Điểm chạm này thuộc loại nào? Một ngón brand-owned, hai ngón partner-owned, ba ngón customer-owned, bốn ngón social hoặc external.
(GV: Đáp án: 4 — social/external (người khác nói về thương hiệu; An Phát và Nova không kiểm soát).)
Hỏi lớp: Giơ 1–4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social hoặc external. Người nói là đồng nghiệp, không phải An Phát hay Nova; ta không kiểm soát trực tiếp được. Nhưng có thể chuẩn bị: điểm chạm social năm nay được tạo ra bởi trải nghiệm năm ngoái. Đó là lý do quan hệ dài hạn quan trọng.
Hỏi lớp: —
Chuyển ý: Mục 3.3: ai trong An Phát quyết định chọn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Webster và Wind, 1972, xem hành vi mua của tổ chức là một quá trình ra quyết định của tổ chức — không phải của một người. Nhóm người tham gia gọi là trung tâm mua hay nhóm ra quyết định — DMU, decision-making unit. Slide bộ môn chỉ ra sáu vai: người khởi xướng — nêu nhu cầu; người dùng cuối — dùng dịch vụ; người ảnh hưởng — góp ý, đánh giá; người quyết định — chọn nhà cung cấp; người kiểm soát hay gatekeeper — lọc thông tin, giữ lịch hẹn; và người thực hiện quy trình mua — đấu thầu, hợp đồng, thanh toán. Một người có thể giữ nhiều vai.
(GV: Sáu vai đã đối chiếu slide gốc Chương 3 (sơ đồ: người khởi xướng, người dùng cuối, người kiểm soát/gatekeeper, người ảnh hưởng, người quyết định, người thực hiện quy trình mua). Quyết định Q4 (4/10/2026): dùng sáu vai của slide; khi gán cho Webster &amp; Wind (1972) giữ [VERIFY: danh sách vai trò trong toàn văn]. Dòng mô tả nhỏ là diễn giải của người soạn.)
Hỏi lớp: —
Chuyển ý: Năm người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người của An Phát liên quan đến quyết định chọn Nova — tình huống giả định. Chị Hạnh, Giám đốc Marketing: làm với Nova bốn năm, năm nay chịu áp lực đổi mới. Ông Tuấn, Phó Tổng Giám đốc khối Marketing – Truyền thông: chỉ bắt tay Nova ở gala, quan tâm giữ khách doanh nghiệp lớn. Anh Khoa, ngân sách – mua sắm: chỉ gửi hồ sơ thanh toán, khó tính về quy trình. Chị Lan, truyền thông nội bộ: lo livestream về 80 chi nhánh — năm ngoái bị chậm. Chị Vy, trưởng nhóm thương hiệu: chưa làm việc trực tiếp với Nova.
(GV: Nhân vật đã duyệt (tư liệu Buổi 3, quyết định 5), dùng xuyên suốt đến Buổi 13. Hỏi nhanh: mỗi người giữ vai nào trong sáu vai ở slide trước?)
Hỏi lớp: “Ai là người quyết định? Ai là gatekeeper?”
Chuyển ý: Để hiểu từng người, ta dùng GRASP.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GRASP — năm câu hỏi về từng thành viên trong nhóm ra quyết định, theo slide bộ môn. G — Goal: mục tiêu và kế hoạch hành động của chúng ta đối với thành viên này là gì? R — Role: vai trò của người này trong đơn vị ra quyết định. A — Appeal: điều gì hấp dẫn người này về phương án của ta? S — State: mối quan hệ của ta với người này hiện thế nào? P — Power: trình độ và quyền lực của người này. Chú ý chữ G: đó là mục tiêu của chúng ta với người đó — muốn đặt đúng mục tiêu thì trước hết phải hiểu người đó cần gì.
(GV: Đã đối chiếu nguyên văn slide gốc Chương 3 (GRASP). THAY ĐỔI so với gói W03 đã duyệt: định nghĩa làm việc cũ hiểu G là “mục tiêu của chính người đó (tổ chức và cá nhân)”; slide bộ môn định nghĩa G là “mục tiêu và kế hoạch hành động của chúng ta đối với thành viên DMU này”. Deck dùng bản slide bộ môn theo quyết định GV 2 (“GV có thể thay bằng định nghĩa trong giáo trình nội bộ”) và Q1 (được trích slide bộ môn). [NEEDS PROFESSOR INPUT: xác nhận dùng bản slide; nếu đồng ý, cột Goal trong phiếu S6 hiểu theo nghĩa mới, và câu 3 bài trắc nghiệm B1–B8 nên sửa chữ “Goal” thành “Appeal/mục tiêu của ông Tuấn”.])
Hỏi lớp: —
Chuyển ý: Áp GRASP cho chị Hạnh.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GRASP của chị Hạnh — giả định. G: Nova muốn chị Hạnh đồng ý đưa đề xuất chương trình cả năm lên ông Tuấn, qua một buổi họp riêng trước tháng 9. R: đầu mối chính, người khởi xướng và người ảnh hưởng; chị đề xuất lên lãnh đạo. A: chị bị hấp dẫn bởi ý tưởng mới nhưng an toàn cho thương hiệu ngân hàng. S: tin Nova sau bốn năm, nhưng đang chịu áp lực đổi mới. P: quyền lực cao trong khâu đề xuất, nhưng không phải người phê duyệt cuối — đó là ông Tuấn.
(GV: Ví dụ đã chỉnh theo định nghĩa G của slide bộ môn (W03 lecture notes §3.3 cũ ghi G là mục tiêu của chị Hạnh: hình ảnh ngân hàng, tỷ lệ tham dự — nay chuyển ý đó sang A).)
Hỏi lớp: —
Chuyển ý: Người ra quyết định thường ở cấp cao hơn người ta gặp hằng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vẽ cấu trúc phòng marketing điển hình ở phía khách hàng. Tuyến thương hiệu: Marketing Director, Senior Brand Manager hoặc Marketing Manager, Brand Manager, Assistant Brand Manager, rồi Marketing Executive hoặc Intern. Tuyến dịch vụ marketing: Research, Media, Digital, E-commerce, và Event/OOH — với Manager, Assistant, Executive. Agency thường làm việc hằng ngày với nhóm Event hoặc Executive — nhưng ngân sách và quyết định thường nằm ở Director. Hiểu lầm thường gặp: người liên hệ nhiều nhất là người quyết định.
(GV: Đã đối chiếu sơ đồ “Cấu trúc phòng marketing tại client” trong slide gốc Chương 3. Ở An Phát (ngân hàng) cơ cấu khác doanh nghiệp hàng tiêu dùng — dùng sơ đồ để minh họa nguyên tắc, không áp nguyên vào An Phát.)
Hỏi lớp: “Trong dự án cũ, nhóm làm việc với ai — và ai ký duyệt?”
Chuyển ý: Ba lỗi khi phân tích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làm PESTEL của ngành sự kiện thay vì của khách hàng. Hai: coi người liên hệ nhiều nhất là người quyết định — chị Hạnh liên hệ nhiều nhất, nhưng ông Tuấn phê duyệt, anh Khoa có thể chặn ở khâu mua sắm. Ba: chỉ làm hài lòng người quyết định, quên người dùng và gatekeeper. Chị Lan không ký hợp đồng — nhưng livestream chậm thì chị nhớ, và chị sẽ kể với chị Hạnh.
(GV: Theo W03 lecture notes §1.4 và §3.4. Ý “chị Lan kể với chị Hạnh” nối sang Buổi 4 (xung đột chức năng).)
Hỏi lớp: —
Chuyển ý: Một lưu ý đạo đức khi tìm hiểu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Hiểu khách hàng sâu không có nghĩa là moi thông tin. Nên: dùng báo cáo thường niên, tin tức, website; những gì khách chủ động chia sẻ; và hỏi lại khi không chắc. Không: dò thông tin nội bộ qua người quen; dùng danh sách khách mời ngoài mục đích được đồng ý; kể chuyện của khách này cho khách khác. Dữ liệu khách mời là của An Phát — Nova chỉ được dùng đúng việc An Phát đồng ý.
(GV: Nối CLO8 (đạo đức nghề nghiệp). [VERIFY: nếu nêu tên văn bản pháp luật về bảo vệ dữ liệu cá nhân, kiểm tra văn bản hiện hành trước.] Slide là nguyên tắc nghề nghiệp, không phải tư vấn pháp lý.)
Hỏi lớp: —
Chuyển ý: Thực hành 2: hành trình và DMU.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33 phút. Mười hai phút: nửa trái tờ A1, vẽ hành trình của một khách VIP qua ba giai đoạn, ít nhất sáu điểm chạm, ghi loại B, P, C hoặc S; khoanh dấu cảnh báo cho một điểm chạm dễ hỏng nhất. Bảy phút: nửa phải, bảng GRASP cho năm người của An Phát; mỗi người một việc Nova nên làm; nối mỗi người với điểm chạm họ quan tâm nhất. Tám phút: xoay trạm hai vòng, các bạn đóng vai chị Hạnh — để lại một câu hỏi và một “điều Nova hiểu sai về chúng tôi”. Ba phút: về bàn sửa một điểm. Nhớ: cột G là mục tiêu và kế hoạch của Nova với người đó.
(GV: Phiếu W03_activity_S6_hanh_trinh_va_dmu.md (thẻ nhân vật). Mốc phút 90–123. Nhắc nghĩa cột G theo slide bộ môn (xem ghi chú slide 22).)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3. Mục 3.1: PESTEL và đối thủ của khách hàng giúp tìm nhu cầu thật; thiếu dữ liệu thì ghi giả định. Mục 3.2: hành trình có ba giai đoạn, bốn loại điểm chạm; và hai lớp hành trình. Mục 3.3: quyết định do nhóm ra quyết định; GRASP giúp hiểu từng người — mục tiêu của ta với họ, vai trò, điều hấp dẫn, tình trạng quan hệ, quyền lực. Với kế hoạch cuối kỳ, đây là phần A — Value Insights.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một agency sự kiện cần biết chính sách tín dụng năm 2026? Hai: khác nhau giữa điểm chạm partner-owned và social hay external — mỗi loại một ví dụ. Ba: trong GRASP, chữ G hỏi về mục tiêu của ai?
(GV: Gợi ý: (1) vì nó tạo ra nhu cầu của khách hàng là ngân hàng; (2) partner do đối tác như agency làm thay thương hiệu; social do người khác, báo chí — không kiểm soát; (3) của chúng ta (agency) đối với người đó — theo slide bộ môn.)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một yếu tố PESTEL của khách hàng trong dự án cũ, và nó tạo ra nhu cầu gì cho khách hàng đó? Hai: người có quyền lực cao nhất trong DMU của khách hàng đó là ai — nhóm đã từng làm việc trực tiếp với người đó chưa?
(GV: Xem: PESTEL có là của khách hàng không; SV có phân biệt người liên hệ nhiều nhất với người quyết định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4: hiểu khách hàng rồi, làm sao biết quan hệ với họ đang tốt hay xấu? Đo bằng niềm tin, cam kết, và xung đột chức năng. Mang theo ảnh bản đồ hành trình, bảng GRASP và hồ sơ dự án cũ.
(GV: [NEEDS PROFESSOR INPUT: nếu AM2 có bài cho Buổi 3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3, theo APA 7. Chương 3 của Marcos và cộng sự là phần đọc thêm về Bánh xe hiểu khách hàng.
(GV: Hai mục slide bộ môn cùng tác giả và năm — theo APA 7 cần thêm a/b (2023a, 2023b) nếu trích trong bài; [VERIFY năm].)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3: Hiểu thế giới của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3</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Tín dụng ngân hàng năm 2026 có phải chuyện của một agency sự kiện?</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1005840" cy="100584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44245" y="2232965"/>
            <a:ext cx="563270" cy="563270"/>
          </a:xfrm>
          <a:prstGeom prst="rect">
            <a:avLst/>
          </a:prstGeom>
        </p:spPr>
      </p:pic>
      <p:sp>
        <p:nvSpPr>
          <p:cNvPr id="6" name="Text 3"/>
          <p:cNvSpPr txBox="1"/>
          <p:nvPr/>
        </p:nvSpPr>
        <p:spPr>
          <a:xfrm>
            <a:off x="2011680" y="2011680"/>
            <a:ext cx="5029200" cy="10058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Tin thật · VnEconomy, 11/1/2026</a:t>
            </a:r>
            <a:endParaRPr lang="en-US" sz="1600" dirty="0"/>
          </a:p>
        </p:txBody>
      </p:sp>
      <p:sp>
        <p:nvSpPr>
          <p:cNvPr id="7" name="Text 4"/>
          <p:cNvSpPr txBox="1"/>
          <p:nvPr/>
        </p:nvSpPr>
        <p:spPr>
          <a:xfrm>
            <a:off x="868680" y="3154680"/>
            <a:ext cx="617220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Ngân hàng Nhà nước định hướng tín dụng toàn hệ thống tăng khoảng 15% năm 2026</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Chỉ tiêu cho từng ngân hàng dựa trên chấm điểm xếp hạng</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Kiểm soát chặt tín dụng bất động sản</a:t>
            </a:r>
            <a:endParaRPr lang="en-US" sz="1800" dirty="0"/>
          </a:p>
        </p:txBody>
      </p:sp>
      <p:sp>
        <p:nvSpPr>
          <p:cNvPr id="8" name="Shape 5"/>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Roboto" pitchFamily="34" charset="0"/>
                <a:ea typeface="Roboto" pitchFamily="34" charset="-122"/>
                <a:cs typeface="Roboto" pitchFamily="34" charset="-120"/>
              </a:rPr>
              <a:t>Giơ tay: Nova có cần biết điều này không?</a:t>
            </a:r>
            <a:endParaRPr lang="en-US" sz="1800" dirty="0"/>
          </a:p>
        </p:txBody>
      </p:sp>
      <p:sp>
        <p:nvSpPr>
          <p:cNvPr id="10" name="Shape 7"/>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8"/>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Có</a:t>
            </a:r>
            <a:endParaRPr lang="en-US" sz="2200" dirty="0"/>
          </a:p>
        </p:txBody>
      </p:sp>
      <p:sp>
        <p:nvSpPr>
          <p:cNvPr id="12" name="Shape 9"/>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0"/>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Không</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Phần yếu nhất trong kế hoạch Key Account là hiểu thế giới của khách hàng</a:t>
            </a:r>
            <a:endParaRPr lang="en-US" sz="2800" dirty="0"/>
          </a:p>
        </p:txBody>
      </p:sp>
      <p:sp>
        <p:nvSpPr>
          <p:cNvPr id="3" name="Shape 1"/>
          <p:cNvSpPr/>
          <p:nvPr/>
        </p:nvSpPr>
        <p:spPr>
          <a:xfrm>
            <a:off x="548640" y="1783080"/>
            <a:ext cx="5120640" cy="3977640"/>
          </a:xfrm>
          <a:prstGeom prst="roundRect">
            <a:avLst>
              <a:gd name="adj" fmla="val 1839"/>
            </a:avLst>
          </a:prstGeom>
          <a:solidFill>
            <a:srgbClr val="FF5178"/>
          </a:solidFill>
          <a:ln w="12700">
            <a:solidFill>
              <a:srgbClr val="FF5178"/>
            </a:solidFill>
            <a:prstDash val="solid"/>
          </a:ln>
        </p:spPr>
      </p:sp>
      <p:sp>
        <p:nvSpPr>
          <p:cNvPr id="4" name="Shape 2"/>
          <p:cNvSpPr/>
          <p:nvPr/>
        </p:nvSpPr>
        <p:spPr>
          <a:xfrm>
            <a:off x="822960" y="201168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822960" y="3063240"/>
            <a:ext cx="4572000" cy="256032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Nghiên cứu ở Cranfield: phần được làm kém nhất trong nhiều kế hoạch Key Account là hiểu thế giới của khách hàng và chiến lược tương lai của họ.</a:t>
            </a:r>
            <a:endParaRPr lang="en-US" sz="1800" dirty="0"/>
          </a:p>
        </p:txBody>
      </p:sp>
      <p:sp>
        <p:nvSpPr>
          <p:cNvPr id="7" name="Shape 4"/>
          <p:cNvSpPr/>
          <p:nvPr/>
        </p:nvSpPr>
        <p:spPr>
          <a:xfrm>
            <a:off x="5943600" y="1783080"/>
            <a:ext cx="5696712" cy="3977640"/>
          </a:xfrm>
          <a:prstGeom prst="roundRect">
            <a:avLst>
              <a:gd name="adj" fmla="val 1839"/>
            </a:avLst>
          </a:prstGeom>
          <a:solidFill>
            <a:srgbClr val="22395F"/>
          </a:solidFill>
          <a:ln w="12700">
            <a:solidFill>
              <a:srgbClr val="22395F"/>
            </a:solidFill>
            <a:prstDash val="solid"/>
          </a:ln>
        </p:spPr>
      </p:sp>
      <p:sp>
        <p:nvSpPr>
          <p:cNvPr id="8" name="Text 5"/>
          <p:cNvSpPr txBox="1"/>
          <p:nvPr/>
        </p:nvSpPr>
        <p:spPr>
          <a:xfrm>
            <a:off x="6172200" y="1920240"/>
            <a:ext cx="5303520" cy="45720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Một khách hàng nói về nhà cung cấp tốt nhất:</a:t>
            </a:r>
            <a:endParaRPr lang="en-US" sz="1500" dirty="0"/>
          </a:p>
        </p:txBody>
      </p:sp>
      <p:sp>
        <p:nvSpPr>
          <p:cNvPr id="9" name="Text 6"/>
          <p:cNvSpPr txBox="1"/>
          <p:nvPr/>
        </p:nvSpPr>
        <p:spPr>
          <a:xfrm>
            <a:off x="6172200" y="2423160"/>
            <a:ext cx="5303520" cy="2377440"/>
          </a:xfrm>
          <a:prstGeom prst="rect">
            <a:avLst/>
          </a:prstGeom>
          <a:noFill/>
          <a:ln/>
        </p:spPr>
        <p:txBody>
          <a:bodyPr wrap="square" lIns="635" tIns="635" rIns="635" bIns="635" rtlCol="0" anchor="t"/>
          <a:lstStyle/>
          <a:p>
            <a:pPr indent="0" marL="0">
              <a:buNone/>
            </a:pPr>
            <a:r>
              <a:rPr lang="en-US" sz="1800" i="1" dirty="0">
                <a:solidFill>
                  <a:srgbClr val="FBFAF4"/>
                </a:solidFill>
                <a:latin typeface="Roboto" pitchFamily="34" charset="0"/>
                <a:ea typeface="Roboto" pitchFamily="34" charset="-122"/>
                <a:cs typeface="Roboto" pitchFamily="34" charset="-120"/>
              </a:rPr>
              <a:t>“They are able to have a discussion with me about how they can help me with my competitive advantage… This is miles away from the usual sell sell sell approach.”</a:t>
            </a:r>
            <a:endParaRPr lang="en-US" sz="1800" dirty="0"/>
          </a:p>
        </p:txBody>
      </p:sp>
      <p:sp>
        <p:nvSpPr>
          <p:cNvPr id="10" name="Text 7"/>
          <p:cNvSpPr txBox="1"/>
          <p:nvPr/>
        </p:nvSpPr>
        <p:spPr>
          <a:xfrm>
            <a:off x="6172200" y="4892040"/>
            <a:ext cx="5303520" cy="548640"/>
          </a:xfrm>
          <a:prstGeom prst="rect">
            <a:avLst/>
          </a:prstGeom>
          <a:noFill/>
          <a:ln/>
        </p:spPr>
        <p:txBody>
          <a:bodyPr wrap="square" lIns="635" tIns="635" rIns="635" bIns="635" rtlCol="0" anchor="ctr"/>
          <a:lstStyle/>
          <a:p>
            <a:pPr indent="0" marL="0">
              <a:buNone/>
            </a:pPr>
            <a:r>
              <a:rPr lang="en-US" sz="1400" dirty="0">
                <a:solidFill>
                  <a:srgbClr val="A9B6D3"/>
                </a:solidFill>
                <a:latin typeface="Roboto" pitchFamily="34" charset="0"/>
                <a:ea typeface="Roboto" pitchFamily="34" charset="-122"/>
                <a:cs typeface="Roboto" pitchFamily="34" charset="-120"/>
              </a:rPr>
              <a:t>— Giám đốc cấp cao, công ty kỹ thuật toàn cầu</a:t>
            </a:r>
            <a:endParaRPr lang="en-US" sz="14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60–61).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Bánh xe hiểu khách hàng: tám nan quanh một mục tiêu — hiểu khách hàng hơn chính họ</a:t>
            </a:r>
            <a:endParaRPr lang="en-US" sz="2800" dirty="0"/>
          </a:p>
        </p:txBody>
      </p:sp>
      <p:sp>
        <p:nvSpPr>
          <p:cNvPr id="3" name="Shape 1"/>
          <p:cNvSpPr/>
          <p:nvPr/>
        </p:nvSpPr>
        <p:spPr>
          <a:xfrm>
            <a:off x="4727448" y="274320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818888" y="2743200"/>
            <a:ext cx="2560320" cy="27432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Hiểu khách hàng hơn chính họ</a:t>
            </a:r>
            <a:endParaRPr lang="en-US" sz="1900" dirty="0"/>
          </a:p>
        </p:txBody>
      </p:sp>
      <p:sp>
        <p:nvSpPr>
          <p:cNvPr id="5" name="Shape 3"/>
          <p:cNvSpPr/>
          <p:nvPr/>
        </p:nvSpPr>
        <p:spPr>
          <a:xfrm>
            <a:off x="548640" y="1783080"/>
            <a:ext cx="3685032" cy="685800"/>
          </a:xfrm>
          <a:prstGeom prst="roundRect">
            <a:avLst>
              <a:gd name="adj" fmla="val 10667"/>
            </a:avLst>
          </a:prstGeom>
          <a:solidFill>
            <a:srgbClr val="49B296"/>
          </a:solidFill>
          <a:ln w="12700">
            <a:solidFill>
              <a:srgbClr val="49B296"/>
            </a:solidFill>
            <a:prstDash val="solid"/>
          </a:ln>
        </p:spPr>
      </p:sp>
      <p:sp>
        <p:nvSpPr>
          <p:cNvPr id="6" name="Text 4"/>
          <p:cNvSpPr txBox="1"/>
          <p:nvPr/>
        </p:nvSpPr>
        <p:spPr>
          <a:xfrm>
            <a:off x="685800" y="17830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Ngành và các động lực của ngành</a:t>
            </a:r>
            <a:endParaRPr lang="en-US" sz="1500" dirty="0"/>
          </a:p>
        </p:txBody>
      </p:sp>
      <p:sp>
        <p:nvSpPr>
          <p:cNvPr id="7" name="Shape 5"/>
          <p:cNvSpPr/>
          <p:nvPr/>
        </p:nvSpPr>
        <p:spPr>
          <a:xfrm>
            <a:off x="4251960" y="1600200"/>
            <a:ext cx="3685032" cy="685800"/>
          </a:xfrm>
          <a:prstGeom prst="roundRect">
            <a:avLst>
              <a:gd name="adj" fmla="val 10667"/>
            </a:avLst>
          </a:prstGeom>
          <a:solidFill>
            <a:srgbClr val="09A1E5"/>
          </a:solidFill>
          <a:ln w="12700">
            <a:solidFill>
              <a:srgbClr val="09A1E5"/>
            </a:solidFill>
            <a:prstDash val="solid"/>
          </a:ln>
        </p:spPr>
      </p:sp>
      <p:sp>
        <p:nvSpPr>
          <p:cNvPr id="8" name="Text 6"/>
          <p:cNvSpPr txBox="1"/>
          <p:nvPr/>
        </p:nvSpPr>
        <p:spPr>
          <a:xfrm>
            <a:off x="4389120" y="160020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Chiến lược và mô hình kinh doanh</a:t>
            </a:r>
            <a:endParaRPr lang="en-US" sz="1500" dirty="0"/>
          </a:p>
        </p:txBody>
      </p:sp>
      <p:sp>
        <p:nvSpPr>
          <p:cNvPr id="9" name="Shape 7"/>
          <p:cNvSpPr/>
          <p:nvPr/>
        </p:nvSpPr>
        <p:spPr>
          <a:xfrm>
            <a:off x="7955280" y="1783080"/>
            <a:ext cx="3685032" cy="685800"/>
          </a:xfrm>
          <a:prstGeom prst="roundRect">
            <a:avLst>
              <a:gd name="adj" fmla="val 10667"/>
            </a:avLst>
          </a:prstGeom>
          <a:solidFill>
            <a:srgbClr val="FF5178"/>
          </a:solidFill>
          <a:ln w="12700">
            <a:solidFill>
              <a:srgbClr val="FF5178"/>
            </a:solidFill>
            <a:prstDash val="solid"/>
          </a:ln>
        </p:spPr>
      </p:sp>
      <p:sp>
        <p:nvSpPr>
          <p:cNvPr id="10" name="Text 8"/>
          <p:cNvSpPr txBox="1"/>
          <p:nvPr/>
        </p:nvSpPr>
        <p:spPr>
          <a:xfrm>
            <a:off x="8092440" y="17830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Đối thủ của khách hàng</a:t>
            </a:r>
            <a:endParaRPr lang="en-US" sz="1500" dirty="0"/>
          </a:p>
        </p:txBody>
      </p:sp>
      <p:sp>
        <p:nvSpPr>
          <p:cNvPr id="11" name="Shape 9"/>
          <p:cNvSpPr/>
          <p:nvPr/>
        </p:nvSpPr>
        <p:spPr>
          <a:xfrm>
            <a:off x="7955280" y="3611880"/>
            <a:ext cx="3685032" cy="685800"/>
          </a:xfrm>
          <a:prstGeom prst="roundRect">
            <a:avLst>
              <a:gd name="adj" fmla="val 10667"/>
            </a:avLst>
          </a:prstGeom>
          <a:solidFill>
            <a:srgbClr val="FF9259"/>
          </a:solidFill>
          <a:ln w="12700">
            <a:solidFill>
              <a:srgbClr val="FF9259"/>
            </a:solidFill>
            <a:prstDash val="solid"/>
          </a:ln>
        </p:spPr>
      </p:sp>
      <p:sp>
        <p:nvSpPr>
          <p:cNvPr id="12" name="Text 10"/>
          <p:cNvSpPr txBox="1"/>
          <p:nvPr/>
        </p:nvSpPr>
        <p:spPr>
          <a:xfrm>
            <a:off x="8092440" y="36118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Vận hành của khách hàng</a:t>
            </a:r>
            <a:endParaRPr lang="en-US" sz="1500" dirty="0"/>
          </a:p>
        </p:txBody>
      </p:sp>
      <p:sp>
        <p:nvSpPr>
          <p:cNvPr id="13" name="Shape 11"/>
          <p:cNvSpPr/>
          <p:nvPr/>
        </p:nvSpPr>
        <p:spPr>
          <a:xfrm>
            <a:off x="7955280" y="5349240"/>
            <a:ext cx="3685032" cy="685800"/>
          </a:xfrm>
          <a:prstGeom prst="roundRect">
            <a:avLst>
              <a:gd name="adj" fmla="val 10667"/>
            </a:avLst>
          </a:prstGeom>
          <a:solidFill>
            <a:srgbClr val="49B296"/>
          </a:solidFill>
          <a:ln w="12700">
            <a:solidFill>
              <a:srgbClr val="49B296"/>
            </a:solidFill>
            <a:prstDash val="solid"/>
          </a:ln>
        </p:spPr>
      </p:sp>
      <p:sp>
        <p:nvSpPr>
          <p:cNvPr id="14" name="Text 12"/>
          <p:cNvSpPr txBox="1"/>
          <p:nvPr/>
        </p:nvSpPr>
        <p:spPr>
          <a:xfrm>
            <a:off x="8092440" y="534924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Khách hàng và nhà cung cấp của họ</a:t>
            </a:r>
            <a:endParaRPr lang="en-US" sz="1500" dirty="0"/>
          </a:p>
        </p:txBody>
      </p:sp>
      <p:sp>
        <p:nvSpPr>
          <p:cNvPr id="15" name="Shape 13"/>
          <p:cNvSpPr/>
          <p:nvPr/>
        </p:nvSpPr>
        <p:spPr>
          <a:xfrm>
            <a:off x="4251960" y="5623560"/>
            <a:ext cx="3685032" cy="685800"/>
          </a:xfrm>
          <a:prstGeom prst="roundRect">
            <a:avLst>
              <a:gd name="adj" fmla="val 10667"/>
            </a:avLst>
          </a:prstGeom>
          <a:solidFill>
            <a:srgbClr val="09A1E5"/>
          </a:solidFill>
          <a:ln w="12700">
            <a:solidFill>
              <a:srgbClr val="09A1E5"/>
            </a:solidFill>
            <a:prstDash val="solid"/>
          </a:ln>
        </p:spPr>
      </p:sp>
      <p:sp>
        <p:nvSpPr>
          <p:cNvPr id="16" name="Text 14"/>
          <p:cNvSpPr txBox="1"/>
          <p:nvPr/>
        </p:nvSpPr>
        <p:spPr>
          <a:xfrm>
            <a:off x="4389120" y="562356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Năng lực cốt lõi</a:t>
            </a:r>
            <a:endParaRPr lang="en-US" sz="1500" dirty="0"/>
          </a:p>
        </p:txBody>
      </p:sp>
      <p:sp>
        <p:nvSpPr>
          <p:cNvPr id="17" name="Shape 15"/>
          <p:cNvSpPr/>
          <p:nvPr/>
        </p:nvSpPr>
        <p:spPr>
          <a:xfrm>
            <a:off x="548640" y="5349240"/>
            <a:ext cx="3685032" cy="685800"/>
          </a:xfrm>
          <a:prstGeom prst="roundRect">
            <a:avLst>
              <a:gd name="adj" fmla="val 10667"/>
            </a:avLst>
          </a:prstGeom>
          <a:solidFill>
            <a:srgbClr val="FF5178"/>
          </a:solidFill>
          <a:ln w="12700">
            <a:solidFill>
              <a:srgbClr val="FF5178"/>
            </a:solidFill>
            <a:prstDash val="solid"/>
          </a:ln>
        </p:spPr>
      </p:sp>
      <p:sp>
        <p:nvSpPr>
          <p:cNvPr id="18" name="Text 16"/>
          <p:cNvSpPr txBox="1"/>
          <p:nvPr/>
        </p:nvSpPr>
        <p:spPr>
          <a:xfrm>
            <a:off x="685800" y="534924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Địa bàn hoạt động</a:t>
            </a:r>
            <a:endParaRPr lang="en-US" sz="1500" dirty="0"/>
          </a:p>
        </p:txBody>
      </p:sp>
      <p:sp>
        <p:nvSpPr>
          <p:cNvPr id="19" name="Shape 17"/>
          <p:cNvSpPr/>
          <p:nvPr/>
        </p:nvSpPr>
        <p:spPr>
          <a:xfrm>
            <a:off x="548640" y="3611880"/>
            <a:ext cx="3685032" cy="685800"/>
          </a:xfrm>
          <a:prstGeom prst="roundRect">
            <a:avLst>
              <a:gd name="adj" fmla="val 10667"/>
            </a:avLst>
          </a:prstGeom>
          <a:solidFill>
            <a:srgbClr val="FF9259"/>
          </a:solidFill>
          <a:ln w="12700">
            <a:solidFill>
              <a:srgbClr val="FF9259"/>
            </a:solidFill>
            <a:prstDash val="solid"/>
          </a:ln>
        </p:spPr>
      </p:sp>
      <p:sp>
        <p:nvSpPr>
          <p:cNvPr id="20" name="Text 18"/>
          <p:cNvSpPr txBox="1"/>
          <p:nvPr/>
        </p:nvSpPr>
        <p:spPr>
          <a:xfrm>
            <a:off x="685800" y="36118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Người chủ chốt, văn hóa, chính trị nội bộ</a:t>
            </a:r>
            <a:endParaRPr lang="en-US" sz="1500" dirty="0"/>
          </a:p>
        </p:txBody>
      </p:sp>
      <p:sp>
        <p:nvSpPr>
          <p:cNvPr id="21" name="Text 19"/>
          <p:cNvSpPr txBox="1"/>
          <p:nvPr/>
        </p:nvSpPr>
        <p:spPr>
          <a:xfrm>
            <a:off x="548640" y="6355080"/>
            <a:ext cx="822960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Holt (2003, cập nhật 2016), trong Marcos et al. (2018, Hình 3.1, tr. 61)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công cụ cho mục 3.1: PESTEL, đối thủ và nội bộ — tất cả là của khách hàng</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548640"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Roboto" pitchFamily="34" charset="0"/>
                <a:ea typeface="Roboto" pitchFamily="34" charset="-122"/>
                <a:cs typeface="Roboto" pitchFamily="34" charset="-120"/>
              </a:rPr>
              <a:t>PESTEL của khách hàng</a:t>
            </a:r>
            <a:endParaRPr lang="en-US" sz="1900" dirty="0"/>
          </a:p>
        </p:txBody>
      </p:sp>
      <p:sp>
        <p:nvSpPr>
          <p:cNvPr id="7" name="Text 4"/>
          <p:cNvSpPr txBox="1"/>
          <p:nvPr/>
        </p:nvSpPr>
        <p:spPr>
          <a:xfrm>
            <a:off x="777240"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chính sách, kinh tế, xã hội, công nghệ, môi trường, pháp lý của ngành khách hàng</a:t>
            </a:r>
            <a:endParaRPr lang="en-US" sz="1500" dirty="0"/>
          </a:p>
        </p:txBody>
      </p:sp>
      <p:sp>
        <p:nvSpPr>
          <p:cNvPr id="8" name="Shape 5"/>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325112"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Roboto" pitchFamily="34" charset="0"/>
                <a:ea typeface="Roboto" pitchFamily="34" charset="-122"/>
                <a:cs typeface="Roboto" pitchFamily="34" charset="-120"/>
              </a:rPr>
              <a:t>Đối thủ của khách hàng</a:t>
            </a:r>
            <a:endParaRPr lang="en-US" sz="1900" dirty="0"/>
          </a:p>
        </p:txBody>
      </p:sp>
      <p:sp>
        <p:nvSpPr>
          <p:cNvPr id="12" name="Text 8"/>
          <p:cNvSpPr txBox="1"/>
          <p:nvPr/>
        </p:nvSpPr>
        <p:spPr>
          <a:xfrm>
            <a:off x="4553712"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ai đang giành khách hàng của họ</a:t>
            </a:r>
            <a:endParaRPr lang="en-US" sz="1500" dirty="0"/>
          </a:p>
        </p:txBody>
      </p:sp>
      <p:sp>
        <p:nvSpPr>
          <p:cNvPr id="13" name="Shape 9"/>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101584"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09A1E5"/>
                </a:solidFill>
                <a:latin typeface="Roboto" pitchFamily="34" charset="0"/>
                <a:ea typeface="Roboto" pitchFamily="34" charset="-122"/>
                <a:cs typeface="Roboto" pitchFamily="34" charset="-120"/>
              </a:rPr>
              <a:t>Nội bộ khách hàng</a:t>
            </a:r>
            <a:endParaRPr lang="en-US" sz="1900" dirty="0"/>
          </a:p>
        </p:txBody>
      </p:sp>
      <p:sp>
        <p:nvSpPr>
          <p:cNvPr id="17" name="Text 12"/>
          <p:cNvSpPr txBox="1"/>
          <p:nvPr/>
        </p:nvSpPr>
        <p:spPr>
          <a:xfrm>
            <a:off x="8330184"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chiến lược, mục tiêu, cơ cấu, người ra quyết định</a:t>
            </a:r>
            <a:endParaRPr lang="en-US" sz="1500" dirty="0"/>
          </a:p>
        </p:txBody>
      </p:sp>
      <p:sp>
        <p:nvSpPr>
          <p:cNvPr id="18" name="Shape 13"/>
          <p:cNvSpPr/>
          <p:nvPr/>
        </p:nvSpPr>
        <p:spPr>
          <a:xfrm>
            <a:off x="548640" y="4754880"/>
            <a:ext cx="11091672" cy="1051560"/>
          </a:xfrm>
          <a:prstGeom prst="roundRect">
            <a:avLst>
              <a:gd name="adj" fmla="val 6957"/>
            </a:avLst>
          </a:prstGeom>
          <a:solidFill>
            <a:srgbClr val="FFD23B"/>
          </a:solidFill>
          <a:ln w="12700">
            <a:solidFill>
              <a:srgbClr val="FFD23B"/>
            </a:solidFill>
            <a:prstDash val="solid"/>
          </a:ln>
        </p:spPr>
      </p:sp>
      <p:sp>
        <p:nvSpPr>
          <p:cNvPr id="19" name="Text 14"/>
          <p:cNvSpPr txBox="1"/>
          <p:nvPr/>
        </p:nvSpPr>
        <p:spPr>
          <a:xfrm>
            <a:off x="777240" y="4754880"/>
            <a:ext cx="10698480" cy="105156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Lời khuyên: nghiên cứu tương xứng với tầm quan trọng của khách · thiếu dữ liệu thì đặt giả định và ghi rõ · xác nhận lại với khách hàng.</a:t>
            </a:r>
            <a:endParaRPr lang="en-US" sz="1700" dirty="0"/>
          </a:p>
        </p:txBody>
      </p:sp>
      <p:sp>
        <p:nvSpPr>
          <p:cNvPr id="20" name="Text 1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Davies (n.d.), Cranfield KAM Forum — Value Planning Framework, Stage 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PESTEL trong KAM là PESTEL của khách hàng, không phải của agency</a:t>
            </a:r>
            <a:endParaRPr lang="en-US" sz="2800" dirty="0"/>
          </a:p>
        </p:txBody>
      </p:sp>
      <p:sp>
        <p:nvSpPr>
          <p:cNvPr id="3" name="Shape 1"/>
          <p:cNvSpPr/>
          <p:nvPr/>
        </p:nvSpPr>
        <p:spPr>
          <a:xfrm>
            <a:off x="548640" y="1691640"/>
            <a:ext cx="68580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548640" y="16916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P</a:t>
            </a:r>
            <a:endParaRPr lang="en-US" sz="2000" dirty="0"/>
          </a:p>
        </p:txBody>
      </p:sp>
      <p:sp>
        <p:nvSpPr>
          <p:cNvPr id="5" name="Shape 3"/>
          <p:cNvSpPr/>
          <p:nvPr/>
        </p:nvSpPr>
        <p:spPr>
          <a:xfrm>
            <a:off x="1371600" y="1691640"/>
            <a:ext cx="4846320" cy="594360"/>
          </a:xfrm>
          <a:prstGeom prst="roundRect">
            <a:avLst>
              <a:gd name="adj" fmla="val 12308"/>
            </a:avLst>
          </a:prstGeom>
          <a:solidFill>
            <a:srgbClr val="22395F"/>
          </a:solidFill>
          <a:ln w="12700">
            <a:solidFill>
              <a:srgbClr val="22395F"/>
            </a:solidFill>
            <a:prstDash val="solid"/>
          </a:ln>
        </p:spPr>
      </p:sp>
      <p:sp>
        <p:nvSpPr>
          <p:cNvPr id="6" name="Text 4"/>
          <p:cNvSpPr txBox="1"/>
          <p:nvPr/>
        </p:nvSpPr>
        <p:spPr>
          <a:xfrm>
            <a:off x="1554480" y="16916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Chính sách nào ảnh hưởng ngân hàng?</a:t>
            </a:r>
            <a:endParaRPr lang="en-US" sz="1500" dirty="0"/>
          </a:p>
        </p:txBody>
      </p:sp>
      <p:sp>
        <p:nvSpPr>
          <p:cNvPr id="7" name="Shape 5"/>
          <p:cNvSpPr/>
          <p:nvPr/>
        </p:nvSpPr>
        <p:spPr>
          <a:xfrm>
            <a:off x="6355080" y="1691640"/>
            <a:ext cx="5285232" cy="594360"/>
          </a:xfrm>
          <a:prstGeom prst="roundRect">
            <a:avLst>
              <a:gd name="adj" fmla="val 12308"/>
            </a:avLst>
          </a:prstGeom>
          <a:solidFill>
            <a:srgbClr val="22395F"/>
          </a:solidFill>
          <a:ln w="12700">
            <a:solidFill>
              <a:srgbClr val="22395F"/>
            </a:solidFill>
            <a:prstDash val="solid"/>
          </a:ln>
        </p:spPr>
      </p:sp>
      <p:sp>
        <p:nvSpPr>
          <p:cNvPr id="8" name="Text 6"/>
          <p:cNvSpPr txBox="1"/>
          <p:nvPr/>
        </p:nvSpPr>
        <p:spPr>
          <a:xfrm>
            <a:off x="6537960" y="1691640"/>
            <a:ext cx="4937760" cy="59436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Tín dụng ~15% năm 2026, siết bất động sản (thật)</a:t>
            </a:r>
            <a:endParaRPr lang="en-US" sz="1500" dirty="0"/>
          </a:p>
        </p:txBody>
      </p:sp>
      <p:sp>
        <p:nvSpPr>
          <p:cNvPr id="9" name="Shape 7"/>
          <p:cNvSpPr/>
          <p:nvPr/>
        </p:nvSpPr>
        <p:spPr>
          <a:xfrm>
            <a:off x="548640" y="2377440"/>
            <a:ext cx="685800" cy="594360"/>
          </a:xfrm>
          <a:prstGeom prst="roundRect">
            <a:avLst>
              <a:gd name="adj" fmla="val 12308"/>
            </a:avLst>
          </a:prstGeom>
          <a:solidFill>
            <a:srgbClr val="FFD23B"/>
          </a:solidFill>
          <a:ln w="12700">
            <a:solidFill>
              <a:srgbClr val="FFD23B"/>
            </a:solidFill>
            <a:prstDash val="solid"/>
          </a:ln>
        </p:spPr>
      </p:sp>
      <p:sp>
        <p:nvSpPr>
          <p:cNvPr id="10" name="Text 8"/>
          <p:cNvSpPr txBox="1"/>
          <p:nvPr/>
        </p:nvSpPr>
        <p:spPr>
          <a:xfrm>
            <a:off x="548640" y="23774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E</a:t>
            </a:r>
            <a:endParaRPr lang="en-US" sz="2000" dirty="0"/>
          </a:p>
        </p:txBody>
      </p:sp>
      <p:sp>
        <p:nvSpPr>
          <p:cNvPr id="11" name="Shape 9"/>
          <p:cNvSpPr/>
          <p:nvPr/>
        </p:nvSpPr>
        <p:spPr>
          <a:xfrm>
            <a:off x="1371600" y="2377440"/>
            <a:ext cx="4846320" cy="594360"/>
          </a:xfrm>
          <a:prstGeom prst="roundRect">
            <a:avLst>
              <a:gd name="adj" fmla="val 12308"/>
            </a:avLst>
          </a:prstGeom>
          <a:solidFill>
            <a:srgbClr val="22395F"/>
          </a:solidFill>
          <a:ln w="12700">
            <a:solidFill>
              <a:srgbClr val="22395F"/>
            </a:solidFill>
            <a:prstDash val="solid"/>
          </a:ln>
        </p:spPr>
      </p:sp>
      <p:sp>
        <p:nvSpPr>
          <p:cNvPr id="12" name="Text 10"/>
          <p:cNvSpPr txBox="1"/>
          <p:nvPr/>
        </p:nvSpPr>
        <p:spPr>
          <a:xfrm>
            <a:off x="1554480" y="23774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Khách doanh nghiệp của An Phát lo gì?</a:t>
            </a:r>
            <a:endParaRPr lang="en-US" sz="1500" dirty="0"/>
          </a:p>
        </p:txBody>
      </p:sp>
      <p:sp>
        <p:nvSpPr>
          <p:cNvPr id="13" name="Shape 11"/>
          <p:cNvSpPr/>
          <p:nvPr/>
        </p:nvSpPr>
        <p:spPr>
          <a:xfrm>
            <a:off x="6355080" y="2377440"/>
            <a:ext cx="5285232" cy="594360"/>
          </a:xfrm>
          <a:prstGeom prst="roundRect">
            <a:avLst>
              <a:gd name="adj" fmla="val 12308"/>
            </a:avLst>
          </a:prstGeom>
          <a:solidFill>
            <a:srgbClr val="22395F"/>
          </a:solidFill>
          <a:ln w="12700">
            <a:solidFill>
              <a:srgbClr val="22395F"/>
            </a:solidFill>
            <a:prstDash val="solid"/>
          </a:ln>
        </p:spPr>
      </p:sp>
      <p:sp>
        <p:nvSpPr>
          <p:cNvPr id="14" name="Text 12"/>
          <p:cNvSpPr txBox="1"/>
          <p:nvPr/>
        </p:nvSpPr>
        <p:spPr>
          <a:xfrm>
            <a:off x="6537960" y="23774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Chi phí vốn, dòng tiền (giả định)</a:t>
            </a:r>
            <a:endParaRPr lang="en-US" sz="1500" dirty="0"/>
          </a:p>
        </p:txBody>
      </p:sp>
      <p:sp>
        <p:nvSpPr>
          <p:cNvPr id="15" name="Shape 13"/>
          <p:cNvSpPr/>
          <p:nvPr/>
        </p:nvSpPr>
        <p:spPr>
          <a:xfrm>
            <a:off x="548640" y="3063240"/>
            <a:ext cx="685800" cy="594360"/>
          </a:xfrm>
          <a:prstGeom prst="roundRect">
            <a:avLst>
              <a:gd name="adj" fmla="val 12308"/>
            </a:avLst>
          </a:prstGeom>
          <a:solidFill>
            <a:srgbClr val="FF5178"/>
          </a:solidFill>
          <a:ln w="12700">
            <a:solidFill>
              <a:srgbClr val="FF5178"/>
            </a:solidFill>
            <a:prstDash val="solid"/>
          </a:ln>
        </p:spPr>
      </p:sp>
      <p:sp>
        <p:nvSpPr>
          <p:cNvPr id="16" name="Text 14"/>
          <p:cNvSpPr txBox="1"/>
          <p:nvPr/>
        </p:nvSpPr>
        <p:spPr>
          <a:xfrm>
            <a:off x="548640" y="30632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S</a:t>
            </a:r>
            <a:endParaRPr lang="en-US" sz="2000" dirty="0"/>
          </a:p>
        </p:txBody>
      </p:sp>
      <p:sp>
        <p:nvSpPr>
          <p:cNvPr id="17" name="Shape 15"/>
          <p:cNvSpPr/>
          <p:nvPr/>
        </p:nvSpPr>
        <p:spPr>
          <a:xfrm>
            <a:off x="1371600" y="3063240"/>
            <a:ext cx="4846320" cy="594360"/>
          </a:xfrm>
          <a:prstGeom prst="roundRect">
            <a:avLst>
              <a:gd name="adj" fmla="val 12308"/>
            </a:avLst>
          </a:prstGeom>
          <a:solidFill>
            <a:srgbClr val="22395F"/>
          </a:solidFill>
          <a:ln w="12700">
            <a:solidFill>
              <a:srgbClr val="22395F"/>
            </a:solidFill>
            <a:prstDash val="solid"/>
          </a:ln>
        </p:spPr>
      </p:sp>
      <p:sp>
        <p:nvSpPr>
          <p:cNvPr id="18" name="Text 16"/>
          <p:cNvSpPr txBox="1"/>
          <p:nvPr/>
        </p:nvSpPr>
        <p:spPr>
          <a:xfrm>
            <a:off x="1554480" y="30632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Chủ doanh nghiệp thay đổi thế nào?</a:t>
            </a:r>
            <a:endParaRPr lang="en-US" sz="1500" dirty="0"/>
          </a:p>
        </p:txBody>
      </p:sp>
      <p:sp>
        <p:nvSpPr>
          <p:cNvPr id="19" name="Shape 17"/>
          <p:cNvSpPr/>
          <p:nvPr/>
        </p:nvSpPr>
        <p:spPr>
          <a:xfrm>
            <a:off x="6355080" y="3063240"/>
            <a:ext cx="5285232" cy="594360"/>
          </a:xfrm>
          <a:prstGeom prst="roundRect">
            <a:avLst>
              <a:gd name="adj" fmla="val 12308"/>
            </a:avLst>
          </a:prstGeom>
          <a:solidFill>
            <a:srgbClr val="22395F"/>
          </a:solidFill>
          <a:ln w="12700">
            <a:solidFill>
              <a:srgbClr val="22395F"/>
            </a:solidFill>
            <a:prstDash val="solid"/>
          </a:ln>
        </p:spPr>
      </p:sp>
      <p:sp>
        <p:nvSpPr>
          <p:cNvPr id="20" name="Text 18"/>
          <p:cNvSpPr txBox="1"/>
          <p:nvPr/>
        </p:nvSpPr>
        <p:spPr>
          <a:xfrm>
            <a:off x="6537960" y="30632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Thế hệ trẻ, ưa trải nghiệm (giả định)</a:t>
            </a:r>
            <a:endParaRPr lang="en-US" sz="1500" dirty="0"/>
          </a:p>
        </p:txBody>
      </p:sp>
      <p:sp>
        <p:nvSpPr>
          <p:cNvPr id="21" name="Shape 19"/>
          <p:cNvSpPr/>
          <p:nvPr/>
        </p:nvSpPr>
        <p:spPr>
          <a:xfrm>
            <a:off x="548640" y="3749040"/>
            <a:ext cx="685800" cy="594360"/>
          </a:xfrm>
          <a:prstGeom prst="roundRect">
            <a:avLst>
              <a:gd name="adj" fmla="val 12308"/>
            </a:avLst>
          </a:prstGeom>
          <a:solidFill>
            <a:srgbClr val="09A1E5"/>
          </a:solidFill>
          <a:ln w="12700">
            <a:solidFill>
              <a:srgbClr val="09A1E5"/>
            </a:solidFill>
            <a:prstDash val="solid"/>
          </a:ln>
        </p:spPr>
      </p:sp>
      <p:sp>
        <p:nvSpPr>
          <p:cNvPr id="22" name="Text 20"/>
          <p:cNvSpPr txBox="1"/>
          <p:nvPr/>
        </p:nvSpPr>
        <p:spPr>
          <a:xfrm>
            <a:off x="548640" y="37490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T</a:t>
            </a:r>
            <a:endParaRPr lang="en-US" sz="2000" dirty="0"/>
          </a:p>
        </p:txBody>
      </p:sp>
      <p:sp>
        <p:nvSpPr>
          <p:cNvPr id="23" name="Shape 21"/>
          <p:cNvSpPr/>
          <p:nvPr/>
        </p:nvSpPr>
        <p:spPr>
          <a:xfrm>
            <a:off x="1371600" y="3749040"/>
            <a:ext cx="4846320" cy="594360"/>
          </a:xfrm>
          <a:prstGeom prst="roundRect">
            <a:avLst>
              <a:gd name="adj" fmla="val 12308"/>
            </a:avLst>
          </a:prstGeom>
          <a:solidFill>
            <a:srgbClr val="22395F"/>
          </a:solidFill>
          <a:ln w="12700">
            <a:solidFill>
              <a:srgbClr val="22395F"/>
            </a:solidFill>
            <a:prstDash val="solid"/>
          </a:ln>
        </p:spPr>
      </p:sp>
      <p:sp>
        <p:nvSpPr>
          <p:cNvPr id="24" name="Text 22"/>
          <p:cNvSpPr txBox="1"/>
          <p:nvPr/>
        </p:nvSpPr>
        <p:spPr>
          <a:xfrm>
            <a:off x="1554480" y="37490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Ngân hàng số ảnh hưởng quan hệ ra sao?</a:t>
            </a:r>
            <a:endParaRPr lang="en-US" sz="1500" dirty="0"/>
          </a:p>
        </p:txBody>
      </p:sp>
      <p:sp>
        <p:nvSpPr>
          <p:cNvPr id="25" name="Shape 23"/>
          <p:cNvSpPr/>
          <p:nvPr/>
        </p:nvSpPr>
        <p:spPr>
          <a:xfrm>
            <a:off x="6355080" y="3749040"/>
            <a:ext cx="5285232" cy="594360"/>
          </a:xfrm>
          <a:prstGeom prst="roundRect">
            <a:avLst>
              <a:gd name="adj" fmla="val 12308"/>
            </a:avLst>
          </a:prstGeom>
          <a:solidFill>
            <a:srgbClr val="22395F"/>
          </a:solidFill>
          <a:ln w="12700">
            <a:solidFill>
              <a:srgbClr val="22395F"/>
            </a:solidFill>
            <a:prstDash val="solid"/>
          </a:ln>
        </p:spPr>
      </p:sp>
      <p:sp>
        <p:nvSpPr>
          <p:cNvPr id="26" name="Text 24"/>
          <p:cNvSpPr txBox="1"/>
          <p:nvPr/>
        </p:nvSpPr>
        <p:spPr>
          <a:xfrm>
            <a:off x="6537960" y="37490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Khách ít đến chi nhánh (giả định)</a:t>
            </a:r>
            <a:endParaRPr lang="en-US" sz="1500" dirty="0"/>
          </a:p>
        </p:txBody>
      </p:sp>
      <p:sp>
        <p:nvSpPr>
          <p:cNvPr id="27" name="Shape 25"/>
          <p:cNvSpPr/>
          <p:nvPr/>
        </p:nvSpPr>
        <p:spPr>
          <a:xfrm>
            <a:off x="548640" y="4434840"/>
            <a:ext cx="685800" cy="594360"/>
          </a:xfrm>
          <a:prstGeom prst="roundRect">
            <a:avLst>
              <a:gd name="adj" fmla="val 12308"/>
            </a:avLst>
          </a:prstGeom>
          <a:solidFill>
            <a:srgbClr val="FF9259"/>
          </a:solidFill>
          <a:ln w="12700">
            <a:solidFill>
              <a:srgbClr val="FF9259"/>
            </a:solidFill>
            <a:prstDash val="solid"/>
          </a:ln>
        </p:spPr>
      </p:sp>
      <p:sp>
        <p:nvSpPr>
          <p:cNvPr id="28" name="Text 26"/>
          <p:cNvSpPr txBox="1"/>
          <p:nvPr/>
        </p:nvSpPr>
        <p:spPr>
          <a:xfrm>
            <a:off x="548640" y="44348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E</a:t>
            </a:r>
            <a:endParaRPr lang="en-US" sz="2000" dirty="0"/>
          </a:p>
        </p:txBody>
      </p:sp>
      <p:sp>
        <p:nvSpPr>
          <p:cNvPr id="29" name="Shape 27"/>
          <p:cNvSpPr/>
          <p:nvPr/>
        </p:nvSpPr>
        <p:spPr>
          <a:xfrm>
            <a:off x="1371600" y="4434840"/>
            <a:ext cx="4846320" cy="594360"/>
          </a:xfrm>
          <a:prstGeom prst="roundRect">
            <a:avLst>
              <a:gd name="adj" fmla="val 12308"/>
            </a:avLst>
          </a:prstGeom>
          <a:solidFill>
            <a:srgbClr val="22395F"/>
          </a:solidFill>
          <a:ln w="12700">
            <a:solidFill>
              <a:srgbClr val="22395F"/>
            </a:solidFill>
            <a:prstDash val="solid"/>
          </a:ln>
        </p:spPr>
      </p:sp>
      <p:sp>
        <p:nvSpPr>
          <p:cNvPr id="30" name="Text 28"/>
          <p:cNvSpPr txBox="1"/>
          <p:nvPr/>
        </p:nvSpPr>
        <p:spPr>
          <a:xfrm>
            <a:off x="1554480" y="44348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Xu hướng xanh?</a:t>
            </a:r>
            <a:endParaRPr lang="en-US" sz="1500" dirty="0"/>
          </a:p>
        </p:txBody>
      </p:sp>
      <p:sp>
        <p:nvSpPr>
          <p:cNvPr id="31" name="Shape 29"/>
          <p:cNvSpPr/>
          <p:nvPr/>
        </p:nvSpPr>
        <p:spPr>
          <a:xfrm>
            <a:off x="6355080" y="4434840"/>
            <a:ext cx="5285232" cy="594360"/>
          </a:xfrm>
          <a:prstGeom prst="roundRect">
            <a:avLst>
              <a:gd name="adj" fmla="val 12308"/>
            </a:avLst>
          </a:prstGeom>
          <a:solidFill>
            <a:srgbClr val="22395F"/>
          </a:solidFill>
          <a:ln w="12700">
            <a:solidFill>
              <a:srgbClr val="22395F"/>
            </a:solidFill>
            <a:prstDash val="solid"/>
          </a:ln>
        </p:spPr>
      </p:sp>
      <p:sp>
        <p:nvSpPr>
          <p:cNvPr id="32" name="Text 30"/>
          <p:cNvSpPr txBox="1"/>
          <p:nvPr/>
        </p:nvSpPr>
        <p:spPr>
          <a:xfrm>
            <a:off x="6537960" y="44348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Tín dụng xanh (giả định)</a:t>
            </a:r>
            <a:endParaRPr lang="en-US" sz="1500" dirty="0"/>
          </a:p>
        </p:txBody>
      </p:sp>
      <p:sp>
        <p:nvSpPr>
          <p:cNvPr id="33" name="Shape 31"/>
          <p:cNvSpPr/>
          <p:nvPr/>
        </p:nvSpPr>
        <p:spPr>
          <a:xfrm>
            <a:off x="548640" y="5120640"/>
            <a:ext cx="685800" cy="594360"/>
          </a:xfrm>
          <a:prstGeom prst="roundRect">
            <a:avLst>
              <a:gd name="adj" fmla="val 12308"/>
            </a:avLst>
          </a:prstGeom>
          <a:solidFill>
            <a:srgbClr val="962B7C"/>
          </a:solidFill>
          <a:ln w="12700">
            <a:solidFill>
              <a:srgbClr val="962B7C"/>
            </a:solidFill>
            <a:prstDash val="solid"/>
          </a:ln>
        </p:spPr>
      </p:sp>
      <p:sp>
        <p:nvSpPr>
          <p:cNvPr id="34" name="Text 32"/>
          <p:cNvSpPr txBox="1"/>
          <p:nvPr/>
        </p:nvSpPr>
        <p:spPr>
          <a:xfrm>
            <a:off x="548640" y="5120640"/>
            <a:ext cx="685800" cy="59436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Roboto" pitchFamily="34" charset="0"/>
                <a:ea typeface="Roboto" pitchFamily="34" charset="-122"/>
                <a:cs typeface="Roboto" pitchFamily="34" charset="-120"/>
              </a:rPr>
              <a:t>L</a:t>
            </a:r>
            <a:endParaRPr lang="en-US" sz="2000" dirty="0"/>
          </a:p>
        </p:txBody>
      </p:sp>
      <p:sp>
        <p:nvSpPr>
          <p:cNvPr id="35" name="Shape 33"/>
          <p:cNvSpPr/>
          <p:nvPr/>
        </p:nvSpPr>
        <p:spPr>
          <a:xfrm>
            <a:off x="1371600" y="5120640"/>
            <a:ext cx="4846320" cy="594360"/>
          </a:xfrm>
          <a:prstGeom prst="roundRect">
            <a:avLst>
              <a:gd name="adj" fmla="val 12308"/>
            </a:avLst>
          </a:prstGeom>
          <a:solidFill>
            <a:srgbClr val="22395F"/>
          </a:solidFill>
          <a:ln w="12700">
            <a:solidFill>
              <a:srgbClr val="22395F"/>
            </a:solidFill>
            <a:prstDash val="solid"/>
          </a:ln>
        </p:spPr>
      </p:sp>
      <p:sp>
        <p:nvSpPr>
          <p:cNvPr id="36" name="Text 34"/>
          <p:cNvSpPr txBox="1"/>
          <p:nvPr/>
        </p:nvSpPr>
        <p:spPr>
          <a:xfrm>
            <a:off x="1554480" y="51206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Quy định nào ràng buộc sự kiện?</a:t>
            </a:r>
            <a:endParaRPr lang="en-US" sz="1500" dirty="0"/>
          </a:p>
        </p:txBody>
      </p:sp>
      <p:sp>
        <p:nvSpPr>
          <p:cNvPr id="37" name="Shape 35"/>
          <p:cNvSpPr/>
          <p:nvPr/>
        </p:nvSpPr>
        <p:spPr>
          <a:xfrm>
            <a:off x="6355080" y="5120640"/>
            <a:ext cx="5285232" cy="594360"/>
          </a:xfrm>
          <a:prstGeom prst="roundRect">
            <a:avLst>
              <a:gd name="adj" fmla="val 12308"/>
            </a:avLst>
          </a:prstGeom>
          <a:solidFill>
            <a:srgbClr val="22395F"/>
          </a:solidFill>
          <a:ln w="12700">
            <a:solidFill>
              <a:srgbClr val="22395F"/>
            </a:solidFill>
            <a:prstDash val="solid"/>
          </a:ln>
        </p:spPr>
      </p:sp>
      <p:sp>
        <p:nvSpPr>
          <p:cNvPr id="38" name="Text 36"/>
          <p:cNvSpPr txBox="1"/>
          <p:nvPr/>
        </p:nvSpPr>
        <p:spPr>
          <a:xfrm>
            <a:off x="6537960" y="51206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Bảo vệ dữ liệu khách mời (giả định)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Dữ kiện chỉ có giá trị khi thành nhu cầu của khách hàng — và cơ hội cho agency</a:t>
            </a:r>
            <a:endParaRPr lang="en-US" sz="2800" dirty="0"/>
          </a:p>
        </p:txBody>
      </p:sp>
      <p:sp>
        <p:nvSpPr>
          <p:cNvPr id="3" name="Shape 1"/>
          <p:cNvSpPr/>
          <p:nvPr/>
        </p:nvSpPr>
        <p:spPr>
          <a:xfrm>
            <a:off x="548640" y="2011680"/>
            <a:ext cx="2514600" cy="2743200"/>
          </a:xfrm>
          <a:prstGeom prst="roundRect">
            <a:avLst>
              <a:gd name="adj" fmla="val 2909"/>
            </a:avLst>
          </a:prstGeom>
          <a:solidFill>
            <a:srgbClr val="49B296"/>
          </a:solidFill>
          <a:ln w="12700">
            <a:solidFill>
              <a:srgbClr val="49B296"/>
            </a:solidFill>
            <a:prstDash val="solid"/>
          </a:ln>
        </p:spPr>
      </p:sp>
      <p:sp>
        <p:nvSpPr>
          <p:cNvPr id="4" name="Text 2"/>
          <p:cNvSpPr txBox="1"/>
          <p:nvPr/>
        </p:nvSpPr>
        <p:spPr>
          <a:xfrm>
            <a:off x="685800"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dữ kiện</a:t>
            </a:r>
            <a:endParaRPr lang="en-US" sz="1400" dirty="0"/>
          </a:p>
        </p:txBody>
      </p:sp>
      <p:sp>
        <p:nvSpPr>
          <p:cNvPr id="5" name="Text 3"/>
          <p:cNvSpPr txBox="1"/>
          <p:nvPr/>
        </p:nvSpPr>
        <p:spPr>
          <a:xfrm>
            <a:off x="685800"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Tín dụng bị giới hạn</a:t>
            </a:r>
            <a:endParaRPr lang="en-US" sz="1800" dirty="0"/>
          </a:p>
        </p:txBody>
      </p:sp>
      <p:sp>
        <p:nvSpPr>
          <p:cNvPr id="6" name="Shape 4"/>
          <p:cNvSpPr/>
          <p:nvPr/>
        </p:nvSpPr>
        <p:spPr>
          <a:xfrm>
            <a:off x="3108960" y="3200400"/>
            <a:ext cx="292608" cy="411480"/>
          </a:xfrm>
          <a:prstGeom prst="rightArrow">
            <a:avLst/>
          </a:prstGeom>
          <a:solidFill>
            <a:srgbClr val="A9B6D3"/>
          </a:solidFill>
          <a:ln w="12700">
            <a:solidFill>
              <a:srgbClr val="A9B6D3"/>
            </a:solidFill>
            <a:prstDash val="solid"/>
          </a:ln>
        </p:spPr>
      </p:sp>
      <p:sp>
        <p:nvSpPr>
          <p:cNvPr id="7" name="Shape 5"/>
          <p:cNvSpPr/>
          <p:nvPr/>
        </p:nvSpPr>
        <p:spPr>
          <a:xfrm>
            <a:off x="3447288" y="2011680"/>
            <a:ext cx="2514600" cy="2743200"/>
          </a:xfrm>
          <a:prstGeom prst="roundRect">
            <a:avLst>
              <a:gd name="adj" fmla="val 2909"/>
            </a:avLst>
          </a:prstGeom>
          <a:solidFill>
            <a:srgbClr val="FFD23B"/>
          </a:solidFill>
          <a:ln w="12700">
            <a:solidFill>
              <a:srgbClr val="FFD23B"/>
            </a:solidFill>
            <a:prstDash val="solid"/>
          </a:ln>
        </p:spPr>
      </p:sp>
      <p:sp>
        <p:nvSpPr>
          <p:cNvPr id="8" name="Text 6"/>
          <p:cNvSpPr txBox="1"/>
          <p:nvPr/>
        </p:nvSpPr>
        <p:spPr>
          <a:xfrm>
            <a:off x="3584448"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hệ quả cho An Phát</a:t>
            </a:r>
            <a:endParaRPr lang="en-US" sz="1400" dirty="0"/>
          </a:p>
        </p:txBody>
      </p:sp>
      <p:sp>
        <p:nvSpPr>
          <p:cNvPr id="9" name="Text 7"/>
          <p:cNvSpPr txBox="1"/>
          <p:nvPr/>
        </p:nvSpPr>
        <p:spPr>
          <a:xfrm>
            <a:off x="3584448"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Ngân hàng cạnh tranh giữ khách tốt bằng dịch vụ và quan hệ</a:t>
            </a:r>
            <a:endParaRPr lang="en-US" sz="1800" dirty="0"/>
          </a:p>
        </p:txBody>
      </p:sp>
      <p:sp>
        <p:nvSpPr>
          <p:cNvPr id="10" name="Shape 8"/>
          <p:cNvSpPr/>
          <p:nvPr/>
        </p:nvSpPr>
        <p:spPr>
          <a:xfrm>
            <a:off x="6007608" y="3200400"/>
            <a:ext cx="292608" cy="411480"/>
          </a:xfrm>
          <a:prstGeom prst="rightArrow">
            <a:avLst/>
          </a:prstGeom>
          <a:solidFill>
            <a:srgbClr val="A9B6D3"/>
          </a:solidFill>
          <a:ln w="12700">
            <a:solidFill>
              <a:srgbClr val="A9B6D3"/>
            </a:solidFill>
            <a:prstDash val="solid"/>
          </a:ln>
        </p:spPr>
      </p:sp>
      <p:sp>
        <p:nvSpPr>
          <p:cNvPr id="11" name="Shape 9"/>
          <p:cNvSpPr/>
          <p:nvPr/>
        </p:nvSpPr>
        <p:spPr>
          <a:xfrm>
            <a:off x="6345936" y="2011680"/>
            <a:ext cx="2514600" cy="2743200"/>
          </a:xfrm>
          <a:prstGeom prst="roundRect">
            <a:avLst>
              <a:gd name="adj" fmla="val 2909"/>
            </a:avLst>
          </a:prstGeom>
          <a:solidFill>
            <a:srgbClr val="FF5178"/>
          </a:solidFill>
          <a:ln w="12700">
            <a:solidFill>
              <a:srgbClr val="FF5178"/>
            </a:solidFill>
            <a:prstDash val="solid"/>
          </a:ln>
        </p:spPr>
      </p:sp>
      <p:sp>
        <p:nvSpPr>
          <p:cNvPr id="12" name="Text 10"/>
          <p:cNvSpPr txBox="1"/>
          <p:nvPr/>
        </p:nvSpPr>
        <p:spPr>
          <a:xfrm>
            <a:off x="6483096"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nhu cầu</a:t>
            </a:r>
            <a:endParaRPr lang="en-US" sz="1400" dirty="0"/>
          </a:p>
        </p:txBody>
      </p:sp>
      <p:sp>
        <p:nvSpPr>
          <p:cNvPr id="13" name="Text 11"/>
          <p:cNvSpPr txBox="1"/>
          <p:nvPr/>
        </p:nvSpPr>
        <p:spPr>
          <a:xfrm>
            <a:off x="6483096"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An Phát cần sự kiện tạo giá trị thật cho khách doanh nghiệp</a:t>
            </a:r>
            <a:endParaRPr lang="en-US" sz="1800" dirty="0"/>
          </a:p>
        </p:txBody>
      </p:sp>
      <p:sp>
        <p:nvSpPr>
          <p:cNvPr id="14" name="Shape 12"/>
          <p:cNvSpPr/>
          <p:nvPr/>
        </p:nvSpPr>
        <p:spPr>
          <a:xfrm>
            <a:off x="8906256" y="3200400"/>
            <a:ext cx="292608" cy="411480"/>
          </a:xfrm>
          <a:prstGeom prst="rightArrow">
            <a:avLst/>
          </a:prstGeom>
          <a:solidFill>
            <a:srgbClr val="A9B6D3"/>
          </a:solidFill>
          <a:ln w="12700">
            <a:solidFill>
              <a:srgbClr val="A9B6D3"/>
            </a:solidFill>
            <a:prstDash val="solid"/>
          </a:ln>
        </p:spPr>
      </p:sp>
      <p:sp>
        <p:nvSpPr>
          <p:cNvPr id="15" name="Shape 13"/>
          <p:cNvSpPr/>
          <p:nvPr/>
        </p:nvSpPr>
        <p:spPr>
          <a:xfrm>
            <a:off x="9244584" y="2011680"/>
            <a:ext cx="2514600" cy="2743200"/>
          </a:xfrm>
          <a:prstGeom prst="roundRect">
            <a:avLst>
              <a:gd name="adj" fmla="val 2909"/>
            </a:avLst>
          </a:prstGeom>
          <a:solidFill>
            <a:srgbClr val="09A1E5"/>
          </a:solidFill>
          <a:ln w="12700">
            <a:solidFill>
              <a:srgbClr val="09A1E5"/>
            </a:solidFill>
            <a:prstDash val="solid"/>
          </a:ln>
        </p:spPr>
      </p:sp>
      <p:sp>
        <p:nvSpPr>
          <p:cNvPr id="16" name="Text 14"/>
          <p:cNvSpPr txBox="1"/>
          <p:nvPr/>
        </p:nvSpPr>
        <p:spPr>
          <a:xfrm>
            <a:off x="9381744"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cơ hội cho Nova</a:t>
            </a:r>
            <a:endParaRPr lang="en-US" sz="1400" dirty="0"/>
          </a:p>
        </p:txBody>
      </p:sp>
      <p:sp>
        <p:nvSpPr>
          <p:cNvPr id="17" name="Text 15"/>
          <p:cNvSpPr txBox="1"/>
          <p:nvPr/>
        </p:nvSpPr>
        <p:spPr>
          <a:xfrm>
            <a:off x="9381744"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Nova đề xuất chương trình khách hàng cả năm</a:t>
            </a:r>
            <a:endParaRPr lang="en-US" sz="1800" dirty="0"/>
          </a:p>
        </p:txBody>
      </p:sp>
      <p:sp>
        <p:nvSpPr>
          <p:cNvPr id="18" name="Text 16"/>
          <p:cNvSpPr txBox="1"/>
          <p:nvPr/>
        </p:nvSpPr>
        <p:spPr>
          <a:xfrm>
            <a:off x="548640" y="5120640"/>
            <a:ext cx="11091672" cy="54864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Mẫu câu: “Vì [dữ kiện] và [dữ kiện], An Phát cần …”</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Đối thủ của An Phát là ngân hàng khác — và ngay bản brief đã hỏi về điều đó</a:t>
            </a:r>
            <a:endParaRPr lang="en-US" sz="2800" dirty="0"/>
          </a:p>
        </p:txBody>
      </p:sp>
      <p:sp>
        <p:nvSpPr>
          <p:cNvPr id="3" name="Shape 1"/>
          <p:cNvSpPr/>
          <p:nvPr/>
        </p:nvSpPr>
        <p:spPr>
          <a:xfrm>
            <a:off x="548640" y="1783080"/>
            <a:ext cx="5120640" cy="3977640"/>
          </a:xfrm>
          <a:prstGeom prst="roundRect">
            <a:avLst>
              <a:gd name="adj" fmla="val 1839"/>
            </a:avLst>
          </a:prstGeom>
          <a:solidFill>
            <a:srgbClr val="22395F"/>
          </a:solidFill>
          <a:ln w="12700">
            <a:solidFill>
              <a:srgbClr val="22395F"/>
            </a:solidFill>
            <a:prstDash val="solid"/>
          </a:ln>
        </p:spPr>
      </p:sp>
      <p:sp>
        <p:nvSpPr>
          <p:cNvPr id="4" name="Shape 2"/>
          <p:cNvSpPr/>
          <p:nvPr/>
        </p:nvSpPr>
        <p:spPr>
          <a:xfrm>
            <a:off x="777240" y="201168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92731"/>
            <a:ext cx="460858" cy="460858"/>
          </a:xfrm>
          <a:prstGeom prst="rect">
            <a:avLst/>
          </a:prstGeom>
        </p:spPr>
      </p:pic>
      <p:sp>
        <p:nvSpPr>
          <p:cNvPr id="6" name="Text 3"/>
          <p:cNvSpPr txBox="1"/>
          <p:nvPr/>
        </p:nvSpPr>
        <p:spPr>
          <a:xfrm>
            <a:off x="1783080" y="2011680"/>
            <a:ext cx="3657600" cy="82296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Đối thủ của ai?</a:t>
            </a:r>
            <a:endParaRPr lang="en-US" sz="2000" dirty="0"/>
          </a:p>
        </p:txBody>
      </p:sp>
      <p:sp>
        <p:nvSpPr>
          <p:cNvPr id="7" name="Text 4"/>
          <p:cNvSpPr txBox="1"/>
          <p:nvPr/>
        </p:nvSpPr>
        <p:spPr>
          <a:xfrm>
            <a:off x="822960" y="3017520"/>
            <a:ext cx="466344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Không phải agency khác của Nova</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Là ngân hàng khác đang giành khách doanh nghiệp VIP của An Phát</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Ví dụ (giả định): ngân hàng X mở hội thảo chuyên đề hằng quý cho khách lớn</a:t>
            </a:r>
            <a:endParaRPr lang="en-US" sz="1600" dirty="0"/>
          </a:p>
        </p:txBody>
      </p:sp>
      <p:sp>
        <p:nvSpPr>
          <p:cNvPr id="8" name="Shape 5"/>
          <p:cNvSpPr/>
          <p:nvPr/>
        </p:nvSpPr>
        <p:spPr>
          <a:xfrm>
            <a:off x="5943600" y="1783080"/>
            <a:ext cx="5696712" cy="3977640"/>
          </a:xfrm>
          <a:prstGeom prst="roundRect">
            <a:avLst>
              <a:gd name="adj" fmla="val 1839"/>
            </a:avLst>
          </a:prstGeom>
          <a:solidFill>
            <a:srgbClr val="22395F"/>
          </a:solidFill>
          <a:ln w="12700">
            <a:solidFill>
              <a:srgbClr val="22395F"/>
            </a:solidFill>
            <a:prstDash val="solid"/>
          </a:ln>
        </p:spPr>
      </p:sp>
      <p:sp>
        <p:nvSpPr>
          <p:cNvPr id="9" name="Shape 6"/>
          <p:cNvSpPr/>
          <p:nvPr/>
        </p:nvSpPr>
        <p:spPr>
          <a:xfrm>
            <a:off x="6172200" y="2011680"/>
            <a:ext cx="822960" cy="82296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353251" y="2192731"/>
            <a:ext cx="460858" cy="460858"/>
          </a:xfrm>
          <a:prstGeom prst="rect">
            <a:avLst/>
          </a:prstGeom>
        </p:spPr>
      </p:pic>
      <p:sp>
        <p:nvSpPr>
          <p:cNvPr id="11" name="Text 7"/>
          <p:cNvSpPr txBox="1"/>
          <p:nvPr/>
        </p:nvSpPr>
        <p:spPr>
          <a:xfrm>
            <a:off x="7178040" y="2011680"/>
            <a:ext cx="4297680" cy="82296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Cấu trúc một bản brief</a:t>
            </a:r>
            <a:endParaRPr lang="en-US" sz="2000" dirty="0"/>
          </a:p>
        </p:txBody>
      </p:sp>
      <p:sp>
        <p:nvSpPr>
          <p:cNvPr id="12" name="Text 8"/>
          <p:cNvSpPr txBox="1"/>
          <p:nvPr/>
        </p:nvSpPr>
        <p:spPr>
          <a:xfrm>
            <a:off x="6217920" y="3017520"/>
            <a:ext cx="5212080" cy="2651760"/>
          </a:xfrm>
          <a:prstGeom prst="rect">
            <a:avLst/>
          </a:prstGeom>
          <a:noFill/>
          <a:ln/>
        </p:spPr>
        <p:txBody>
          <a:bodyPr wrap="square" lIns="635" tIns="635" rIns="635" bIns="635" rtlCol="0" anchor="t"/>
          <a:lstStyle/>
          <a:p>
            <a:pPr indent="0" marL="0">
              <a:spcAft>
                <a:spcPts val="800"/>
              </a:spcAft>
              <a:buNone/>
            </a:pPr>
            <a:r>
              <a:rPr lang="en-US" sz="1500" b="1" dirty="0">
                <a:solidFill>
                  <a:srgbClr val="FFD23B"/>
                </a:solidFill>
                <a:latin typeface="Roboto" pitchFamily="34" charset="0"/>
                <a:ea typeface="Roboto" pitchFamily="34" charset="-122"/>
                <a:cs typeface="Roboto" pitchFamily="34" charset="-120"/>
              </a:rPr>
              <a:t>I. Thông tin công ty: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thông tin cơ bản · khách hàng · đối thủ cạnh tranh</a:t>
            </a:r>
            <a:endParaRPr lang="en-US" sz="1500" dirty="0"/>
          </a:p>
          <a:p>
            <a:pPr indent="0" marL="0">
              <a:spcAft>
                <a:spcPts val="800"/>
              </a:spcAft>
              <a:buNone/>
            </a:pPr>
            <a:r>
              <a:rPr lang="en-US" sz="1500" b="1" dirty="0">
                <a:solidFill>
                  <a:srgbClr val="FFD23B"/>
                </a:solidFill>
                <a:latin typeface="Roboto" pitchFamily="34" charset="0"/>
                <a:ea typeface="Roboto" pitchFamily="34" charset="-122"/>
                <a:cs typeface="Roboto" pitchFamily="34" charset="-120"/>
              </a:rPr>
              <a:t>II. Tổng quan dự án: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mong muốn, quy mô, đối tượng, thời gian, địa điểm, mục đích, KPI</a:t>
            </a:r>
            <a:endParaRPr lang="en-US" sz="1500" dirty="0"/>
          </a:p>
          <a:p>
            <a:pPr indent="0" marL="0">
              <a:spcAft>
                <a:spcPts val="800"/>
              </a:spcAft>
              <a:buNone/>
            </a:pPr>
            <a:r>
              <a:rPr lang="en-US" sz="1500" b="1" dirty="0">
                <a:solidFill>
                  <a:srgbClr val="FFD23B"/>
                </a:solidFill>
                <a:latin typeface="Roboto" pitchFamily="34" charset="0"/>
                <a:ea typeface="Roboto" pitchFamily="34" charset="-122"/>
                <a:cs typeface="Roboto" pitchFamily="34" charset="-120"/>
              </a:rPr>
              <a:t>III. Thông tin chi tiết: </a:t>
            </a:r>
            <a:pPr indent="0" marL="0">
              <a:spcAft>
                <a:spcPts val="800"/>
              </a:spcAft>
              <a:buNone/>
            </a:pPr>
            <a:r>
              <a:rPr lang="en-US" sz="1500" dirty="0">
                <a:solidFill>
                  <a:srgbClr val="FBFAF4"/>
                </a:solidFill>
                <a:latin typeface="Roboto" pitchFamily="34" charset="0"/>
                <a:ea typeface="Roboto" pitchFamily="34" charset="-122"/>
                <a:cs typeface="Roboto" pitchFamily="34" charset="-120"/>
              </a:rPr>
              <a:t>thông điệp, phong cách, ngân sách, deadline</a:t>
            </a:r>
            <a:endParaRPr lang="en-US" sz="15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2 — cấu trúc một bảng brief.</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Thiếu dữ liệu thì ghi giả định và kiểm chứng sau — không bịa, không bỏ qua</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“PESTEL là để phân tích thị trường sự kiện”</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Trong KAM, phân tích ngành và đối thủ của khách hàng</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“Không có số liệu thì bỏ qua”</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Đặt giả định, ghi rõ, xác nhận lại với khách hàng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thế giới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Xếp 8 thẻ dữ kiện vào P · E · S · T · E · L hoặc “đối thủ của An Phát”; thẻ thuộc hai ô thì ghi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3 nhu cầu của An Phát năm tới, mỗi nhu cầu dựa trên ít nhất 2 thẻ</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Với 1 nhu cầu: Nova giúp bằng chương trình gì? Ghi 1 giả định cần hỏi chị Hạnh</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A3 — mẫu cho phần A. Value Insights của kế hoạch</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Thẻ 1 là dữ kiện thật; thẻ 2–8 là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khách VIP, một đêm gala</a:t>
            </a:r>
            <a:endParaRPr lang="en-US" sz="2800" dirty="0"/>
          </a:p>
        </p:txBody>
      </p:sp>
      <p:sp>
        <p:nvSpPr>
          <p:cNvPr id="3" name="Shape 1"/>
          <p:cNvSpPr/>
          <p:nvPr/>
        </p:nvSpPr>
        <p:spPr>
          <a:xfrm>
            <a:off x="5184648" y="1737360"/>
            <a:ext cx="1828800" cy="182880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Từ lúc nhận thư mời đến sau gala, khách chạm vào An Phát bao nhiêu lần?</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3.2: Customer journey mapping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Hành trình có ba giai đoạn; việc đầu tiên là liệt kê đủ điểm chạm và xếp hạng tầm quan trọng</a:t>
            </a:r>
            <a:endParaRPr lang="en-US" sz="2800" dirty="0"/>
          </a:p>
        </p:txBody>
      </p:sp>
      <p:sp>
        <p:nvSpPr>
          <p:cNvPr id="3" name="Shape 1"/>
          <p:cNvSpPr/>
          <p:nvPr/>
        </p:nvSpPr>
        <p:spPr>
          <a:xfrm>
            <a:off x="548640" y="1783080"/>
            <a:ext cx="3566160" cy="2377440"/>
          </a:xfrm>
          <a:prstGeom prst="roundRect">
            <a:avLst>
              <a:gd name="adj" fmla="val 3077"/>
            </a:avLst>
          </a:prstGeom>
          <a:solidFill>
            <a:srgbClr val="49B296"/>
          </a:solidFill>
          <a:ln w="12700">
            <a:solidFill>
              <a:srgbClr val="49B296"/>
            </a:solidFill>
            <a:prstDash val="solid"/>
          </a:ln>
        </p:spPr>
      </p:sp>
      <p:sp>
        <p:nvSpPr>
          <p:cNvPr id="4" name="Text 2"/>
          <p:cNvSpPr txBox="1"/>
          <p:nvPr/>
        </p:nvSpPr>
        <p:spPr>
          <a:xfrm>
            <a:off x="731520"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Trước khi mua</a:t>
            </a:r>
            <a:endParaRPr lang="en-US" sz="2200" dirty="0"/>
          </a:p>
        </p:txBody>
      </p:sp>
      <p:sp>
        <p:nvSpPr>
          <p:cNvPr id="5" name="Text 3"/>
          <p:cNvSpPr txBox="1"/>
          <p:nvPr/>
        </p:nvSpPr>
        <p:spPr>
          <a:xfrm>
            <a:off x="731520"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Roboto" pitchFamily="34" charset="0"/>
                <a:ea typeface="Roboto" pitchFamily="34" charset="-122"/>
                <a:cs typeface="Roboto" pitchFamily="34" charset="-120"/>
              </a:rPr>
              <a:t>Prepurchase</a:t>
            </a:r>
            <a:endParaRPr lang="en-US" sz="1500" dirty="0"/>
          </a:p>
        </p:txBody>
      </p:sp>
      <p:sp>
        <p:nvSpPr>
          <p:cNvPr id="6" name="Text 4"/>
          <p:cNvSpPr txBox="1"/>
          <p:nvPr/>
        </p:nvSpPr>
        <p:spPr>
          <a:xfrm>
            <a:off x="731520"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nhận biết, tìm hiểu, cân nhắc</a:t>
            </a:r>
            <a:endParaRPr lang="en-US" sz="1600" dirty="0"/>
          </a:p>
        </p:txBody>
      </p:sp>
      <p:sp>
        <p:nvSpPr>
          <p:cNvPr id="7" name="Shape 5"/>
          <p:cNvSpPr/>
          <p:nvPr/>
        </p:nvSpPr>
        <p:spPr>
          <a:xfrm>
            <a:off x="4133088" y="2788920"/>
            <a:ext cx="182880" cy="365760"/>
          </a:xfrm>
          <a:prstGeom prst="rightArrow">
            <a:avLst/>
          </a:prstGeom>
          <a:solidFill>
            <a:srgbClr val="A9B6D3"/>
          </a:solidFill>
          <a:ln w="12700">
            <a:solidFill>
              <a:srgbClr val="A9B6D3"/>
            </a:solidFill>
            <a:prstDash val="solid"/>
          </a:ln>
        </p:spPr>
      </p:sp>
      <p:sp>
        <p:nvSpPr>
          <p:cNvPr id="8" name="Shape 6"/>
          <p:cNvSpPr/>
          <p:nvPr/>
        </p:nvSpPr>
        <p:spPr>
          <a:xfrm>
            <a:off x="4325112" y="1783080"/>
            <a:ext cx="3566160" cy="2377440"/>
          </a:xfrm>
          <a:prstGeom prst="roundRect">
            <a:avLst>
              <a:gd name="adj" fmla="val 3077"/>
            </a:avLst>
          </a:prstGeom>
          <a:solidFill>
            <a:srgbClr val="FFD23B"/>
          </a:solidFill>
          <a:ln w="12700">
            <a:solidFill>
              <a:srgbClr val="FFD23B"/>
            </a:solidFill>
            <a:prstDash val="solid"/>
          </a:ln>
        </p:spPr>
      </p:sp>
      <p:sp>
        <p:nvSpPr>
          <p:cNvPr id="9" name="Text 7"/>
          <p:cNvSpPr txBox="1"/>
          <p:nvPr/>
        </p:nvSpPr>
        <p:spPr>
          <a:xfrm>
            <a:off x="4507992"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Trong khi mua</a:t>
            </a:r>
            <a:endParaRPr lang="en-US" sz="2200" dirty="0"/>
          </a:p>
        </p:txBody>
      </p:sp>
      <p:sp>
        <p:nvSpPr>
          <p:cNvPr id="10" name="Text 8"/>
          <p:cNvSpPr txBox="1"/>
          <p:nvPr/>
        </p:nvSpPr>
        <p:spPr>
          <a:xfrm>
            <a:off x="4507992"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Roboto" pitchFamily="34" charset="0"/>
                <a:ea typeface="Roboto" pitchFamily="34" charset="-122"/>
                <a:cs typeface="Roboto" pitchFamily="34" charset="-120"/>
              </a:rPr>
              <a:t>Purchase</a:t>
            </a:r>
            <a:endParaRPr lang="en-US" sz="1500" dirty="0"/>
          </a:p>
        </p:txBody>
      </p:sp>
      <p:sp>
        <p:nvSpPr>
          <p:cNvPr id="11" name="Text 9"/>
          <p:cNvSpPr txBox="1"/>
          <p:nvPr/>
        </p:nvSpPr>
        <p:spPr>
          <a:xfrm>
            <a:off x="4507992"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lựa chọn, đặt, thanh toán, tham dự</a:t>
            </a:r>
            <a:endParaRPr lang="en-US" sz="1600" dirty="0"/>
          </a:p>
        </p:txBody>
      </p:sp>
      <p:sp>
        <p:nvSpPr>
          <p:cNvPr id="12" name="Shape 10"/>
          <p:cNvSpPr/>
          <p:nvPr/>
        </p:nvSpPr>
        <p:spPr>
          <a:xfrm>
            <a:off x="7909560" y="2788920"/>
            <a:ext cx="182880" cy="365760"/>
          </a:xfrm>
          <a:prstGeom prst="rightArrow">
            <a:avLst/>
          </a:prstGeom>
          <a:solidFill>
            <a:srgbClr val="A9B6D3"/>
          </a:solidFill>
          <a:ln w="12700">
            <a:solidFill>
              <a:srgbClr val="A9B6D3"/>
            </a:solidFill>
            <a:prstDash val="solid"/>
          </a:ln>
        </p:spPr>
      </p:sp>
      <p:sp>
        <p:nvSpPr>
          <p:cNvPr id="13" name="Shape 11"/>
          <p:cNvSpPr/>
          <p:nvPr/>
        </p:nvSpPr>
        <p:spPr>
          <a:xfrm>
            <a:off x="8101584" y="1783080"/>
            <a:ext cx="3566160" cy="2377440"/>
          </a:xfrm>
          <a:prstGeom prst="roundRect">
            <a:avLst>
              <a:gd name="adj" fmla="val 3077"/>
            </a:avLst>
          </a:prstGeom>
          <a:solidFill>
            <a:srgbClr val="FF5178"/>
          </a:solidFill>
          <a:ln w="12700">
            <a:solidFill>
              <a:srgbClr val="FF5178"/>
            </a:solidFill>
            <a:prstDash val="solid"/>
          </a:ln>
        </p:spPr>
      </p:sp>
      <p:sp>
        <p:nvSpPr>
          <p:cNvPr id="14" name="Text 12"/>
          <p:cNvSpPr txBox="1"/>
          <p:nvPr/>
        </p:nvSpPr>
        <p:spPr>
          <a:xfrm>
            <a:off x="8284464"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Sau khi mua</a:t>
            </a:r>
            <a:endParaRPr lang="en-US" sz="2200" dirty="0"/>
          </a:p>
        </p:txBody>
      </p:sp>
      <p:sp>
        <p:nvSpPr>
          <p:cNvPr id="15" name="Text 13"/>
          <p:cNvSpPr txBox="1"/>
          <p:nvPr/>
        </p:nvSpPr>
        <p:spPr>
          <a:xfrm>
            <a:off x="8284464"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Roboto" pitchFamily="34" charset="0"/>
                <a:ea typeface="Roboto" pitchFamily="34" charset="-122"/>
                <a:cs typeface="Roboto" pitchFamily="34" charset="-120"/>
              </a:rPr>
              <a:t>Postpurchase</a:t>
            </a:r>
            <a:endParaRPr lang="en-US" sz="1500" dirty="0"/>
          </a:p>
        </p:txBody>
      </p:sp>
      <p:sp>
        <p:nvSpPr>
          <p:cNvPr id="16" name="Text 14"/>
          <p:cNvSpPr txBox="1"/>
          <p:nvPr/>
        </p:nvSpPr>
        <p:spPr>
          <a:xfrm>
            <a:off x="8284464"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Roboto" pitchFamily="34" charset="0"/>
                <a:ea typeface="Roboto" pitchFamily="34" charset="-122"/>
                <a:cs typeface="Roboto" pitchFamily="34" charset="-120"/>
              </a:rPr>
              <a:t>sử dụng, đánh giá, quay lại, giới thiệu</a:t>
            </a:r>
            <a:endParaRPr lang="en-US" sz="1600" dirty="0"/>
          </a:p>
        </p:txBody>
      </p:sp>
      <p:sp>
        <p:nvSpPr>
          <p:cNvPr id="17" name="Shape 15"/>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18" name="Text 16"/>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700" i="1" dirty="0">
                <a:solidFill>
                  <a:srgbClr val="FBFAF4"/>
                </a:solidFill>
                <a:latin typeface="Roboto" pitchFamily="34" charset="0"/>
                <a:ea typeface="Roboto" pitchFamily="34" charset="-122"/>
                <a:cs typeface="Roboto" pitchFamily="34" charset="-120"/>
              </a:rPr>
              <a:t>“Mục tiêu đầu tiên là xác định tất cả các điểm tiếp xúc có liên quan và đánh giá tầm quan trọng tương đối của chúng trong toàn bộ hành trình của khách hàng.”</a:t>
            </a:r>
            <a:endParaRPr lang="en-US" sz="17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Lemon &amp; Verhoef (2016); Trần Nguyễn Huỳnh Như (2023), Chương 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Điểm chạm có bốn loại — theo ai sở hữu và kiểm soát nó</a:t>
            </a:r>
            <a:endParaRPr lang="en-US" sz="2800" dirty="0"/>
          </a:p>
        </p:txBody>
      </p:sp>
      <p:sp>
        <p:nvSpPr>
          <p:cNvPr id="3" name="Shape 1"/>
          <p:cNvSpPr/>
          <p:nvPr/>
        </p:nvSpPr>
        <p:spPr>
          <a:xfrm>
            <a:off x="548640" y="1783080"/>
            <a:ext cx="2633472" cy="3749040"/>
          </a:xfrm>
          <a:prstGeom prst="roundRect">
            <a:avLst>
              <a:gd name="adj" fmla="val 2778"/>
            </a:avLst>
          </a:prstGeom>
          <a:solidFill>
            <a:srgbClr val="22395F"/>
          </a:solidFill>
          <a:ln w="12700">
            <a:solidFill>
              <a:srgbClr val="22395F"/>
            </a:solidFill>
            <a:prstDash val="solid"/>
          </a:ln>
        </p:spPr>
      </p:sp>
      <p:sp>
        <p:nvSpPr>
          <p:cNvPr id="4" name="Shape 2"/>
          <p:cNvSpPr/>
          <p:nvPr/>
        </p:nvSpPr>
        <p:spPr>
          <a:xfrm>
            <a:off x="1408176"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09344" y="2167128"/>
            <a:ext cx="512064" cy="512064"/>
          </a:xfrm>
          <a:prstGeom prst="rect">
            <a:avLst/>
          </a:prstGeom>
        </p:spPr>
      </p:pic>
      <p:sp>
        <p:nvSpPr>
          <p:cNvPr id="6" name="Text 3"/>
          <p:cNvSpPr txBox="1"/>
          <p:nvPr/>
        </p:nvSpPr>
        <p:spPr>
          <a:xfrm>
            <a:off x="54864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Brand-owned</a:t>
            </a:r>
            <a:endParaRPr lang="en-US" sz="1800" dirty="0"/>
          </a:p>
        </p:txBody>
      </p:sp>
      <p:sp>
        <p:nvSpPr>
          <p:cNvPr id="7" name="Text 4"/>
          <p:cNvSpPr txBox="1"/>
          <p:nvPr/>
        </p:nvSpPr>
        <p:spPr>
          <a:xfrm>
            <a:off x="68580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do thương hiệu sở hữu</a:t>
            </a:r>
            <a:endParaRPr lang="en-US" sz="1500" dirty="0"/>
          </a:p>
        </p:txBody>
      </p:sp>
      <p:sp>
        <p:nvSpPr>
          <p:cNvPr id="8" name="Text 5"/>
          <p:cNvSpPr txBox="1"/>
          <p:nvPr/>
        </p:nvSpPr>
        <p:spPr>
          <a:xfrm>
            <a:off x="68580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VD: thư mời của An Phát</a:t>
            </a:r>
            <a:endParaRPr lang="en-US" sz="1500" dirty="0"/>
          </a:p>
        </p:txBody>
      </p:sp>
      <p:sp>
        <p:nvSpPr>
          <p:cNvPr id="9" name="Shape 6"/>
          <p:cNvSpPr/>
          <p:nvPr/>
        </p:nvSpPr>
        <p:spPr>
          <a:xfrm>
            <a:off x="3383280" y="1783080"/>
            <a:ext cx="2633472" cy="3749040"/>
          </a:xfrm>
          <a:prstGeom prst="roundRect">
            <a:avLst>
              <a:gd name="adj" fmla="val 2778"/>
            </a:avLst>
          </a:prstGeom>
          <a:solidFill>
            <a:srgbClr val="22395F"/>
          </a:solidFill>
          <a:ln w="12700">
            <a:solidFill>
              <a:srgbClr val="22395F"/>
            </a:solidFill>
            <a:prstDash val="solid"/>
          </a:ln>
        </p:spPr>
      </p:sp>
      <p:sp>
        <p:nvSpPr>
          <p:cNvPr id="10" name="Shape 7"/>
          <p:cNvSpPr/>
          <p:nvPr/>
        </p:nvSpPr>
        <p:spPr>
          <a:xfrm>
            <a:off x="4242816" y="1965960"/>
            <a:ext cx="914400" cy="91440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443984" y="2167128"/>
            <a:ext cx="512064" cy="512064"/>
          </a:xfrm>
          <a:prstGeom prst="rect">
            <a:avLst/>
          </a:prstGeom>
        </p:spPr>
      </p:pic>
      <p:sp>
        <p:nvSpPr>
          <p:cNvPr id="12" name="Text 8"/>
          <p:cNvSpPr txBox="1"/>
          <p:nvPr/>
        </p:nvSpPr>
        <p:spPr>
          <a:xfrm>
            <a:off x="338328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Partner-owned</a:t>
            </a:r>
            <a:endParaRPr lang="en-US" sz="1800" dirty="0"/>
          </a:p>
        </p:txBody>
      </p:sp>
      <p:sp>
        <p:nvSpPr>
          <p:cNvPr id="13" name="Text 9"/>
          <p:cNvSpPr txBox="1"/>
          <p:nvPr/>
        </p:nvSpPr>
        <p:spPr>
          <a:xfrm>
            <a:off x="352044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do đối tác làm</a:t>
            </a:r>
            <a:endParaRPr lang="en-US" sz="1500" dirty="0"/>
          </a:p>
        </p:txBody>
      </p:sp>
      <p:sp>
        <p:nvSpPr>
          <p:cNvPr id="14" name="Text 10"/>
          <p:cNvSpPr txBox="1"/>
          <p:nvPr/>
        </p:nvSpPr>
        <p:spPr>
          <a:xfrm>
            <a:off x="352044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VD: Nova đón khách tại khách sạn</a:t>
            </a:r>
            <a:endParaRPr lang="en-US" sz="1500" dirty="0"/>
          </a:p>
        </p:txBody>
      </p:sp>
      <p:sp>
        <p:nvSpPr>
          <p:cNvPr id="15" name="Shape 11"/>
          <p:cNvSpPr/>
          <p:nvPr/>
        </p:nvSpPr>
        <p:spPr>
          <a:xfrm>
            <a:off x="6217920" y="1783080"/>
            <a:ext cx="2633472" cy="3749040"/>
          </a:xfrm>
          <a:prstGeom prst="roundRect">
            <a:avLst>
              <a:gd name="adj" fmla="val 2778"/>
            </a:avLst>
          </a:prstGeom>
          <a:solidFill>
            <a:srgbClr val="22395F"/>
          </a:solidFill>
          <a:ln w="12700">
            <a:solidFill>
              <a:srgbClr val="22395F"/>
            </a:solidFill>
            <a:prstDash val="solid"/>
          </a:ln>
        </p:spPr>
      </p:sp>
      <p:sp>
        <p:nvSpPr>
          <p:cNvPr id="16" name="Shape 12"/>
          <p:cNvSpPr/>
          <p:nvPr/>
        </p:nvSpPr>
        <p:spPr>
          <a:xfrm>
            <a:off x="7077456" y="1965960"/>
            <a:ext cx="914400" cy="9144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7278624" y="2167128"/>
            <a:ext cx="512064" cy="512064"/>
          </a:xfrm>
          <a:prstGeom prst="rect">
            <a:avLst/>
          </a:prstGeom>
        </p:spPr>
      </p:pic>
      <p:sp>
        <p:nvSpPr>
          <p:cNvPr id="18" name="Text 13"/>
          <p:cNvSpPr txBox="1"/>
          <p:nvPr/>
        </p:nvSpPr>
        <p:spPr>
          <a:xfrm>
            <a:off x="621792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Customer-owned</a:t>
            </a:r>
            <a:endParaRPr lang="en-US" sz="1800" dirty="0"/>
          </a:p>
        </p:txBody>
      </p:sp>
      <p:sp>
        <p:nvSpPr>
          <p:cNvPr id="19" name="Text 14"/>
          <p:cNvSpPr txBox="1"/>
          <p:nvPr/>
        </p:nvSpPr>
        <p:spPr>
          <a:xfrm>
            <a:off x="635508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khách tự làm</a:t>
            </a:r>
            <a:endParaRPr lang="en-US" sz="1500" dirty="0"/>
          </a:p>
        </p:txBody>
      </p:sp>
      <p:sp>
        <p:nvSpPr>
          <p:cNvPr id="20" name="Text 15"/>
          <p:cNvSpPr txBox="1"/>
          <p:nvPr/>
        </p:nvSpPr>
        <p:spPr>
          <a:xfrm>
            <a:off x="635508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VD: khách tự chụp ảnh, tự xếp lịch</a:t>
            </a:r>
            <a:endParaRPr lang="en-US" sz="1500" dirty="0"/>
          </a:p>
        </p:txBody>
      </p:sp>
      <p:sp>
        <p:nvSpPr>
          <p:cNvPr id="21" name="Shape 16"/>
          <p:cNvSpPr/>
          <p:nvPr/>
        </p:nvSpPr>
        <p:spPr>
          <a:xfrm>
            <a:off x="9052560" y="1783080"/>
            <a:ext cx="2633472" cy="3749040"/>
          </a:xfrm>
          <a:prstGeom prst="roundRect">
            <a:avLst>
              <a:gd name="adj" fmla="val 2778"/>
            </a:avLst>
          </a:prstGeom>
          <a:solidFill>
            <a:srgbClr val="22395F"/>
          </a:solidFill>
          <a:ln w="12700">
            <a:solidFill>
              <a:srgbClr val="22395F"/>
            </a:solidFill>
            <a:prstDash val="solid"/>
          </a:ln>
        </p:spPr>
      </p:sp>
      <p:sp>
        <p:nvSpPr>
          <p:cNvPr id="22" name="Shape 17"/>
          <p:cNvSpPr/>
          <p:nvPr/>
        </p:nvSpPr>
        <p:spPr>
          <a:xfrm>
            <a:off x="9912096" y="196596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10113264" y="2167128"/>
            <a:ext cx="512064" cy="512064"/>
          </a:xfrm>
          <a:prstGeom prst="rect">
            <a:avLst/>
          </a:prstGeom>
        </p:spPr>
      </p:pic>
      <p:sp>
        <p:nvSpPr>
          <p:cNvPr id="24" name="Text 18"/>
          <p:cNvSpPr txBox="1"/>
          <p:nvPr/>
        </p:nvSpPr>
        <p:spPr>
          <a:xfrm>
            <a:off x="905256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Roboto" pitchFamily="34" charset="0"/>
                <a:ea typeface="Roboto" pitchFamily="34" charset="-122"/>
                <a:cs typeface="Roboto" pitchFamily="34" charset="-120"/>
              </a:rPr>
              <a:t>Social / external</a:t>
            </a:r>
            <a:endParaRPr lang="en-US" sz="1800" dirty="0"/>
          </a:p>
        </p:txBody>
      </p:sp>
      <p:sp>
        <p:nvSpPr>
          <p:cNvPr id="25" name="Text 19"/>
          <p:cNvSpPr txBox="1"/>
          <p:nvPr/>
        </p:nvSpPr>
        <p:spPr>
          <a:xfrm>
            <a:off x="918972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Roboto" pitchFamily="34" charset="0"/>
                <a:ea typeface="Roboto" pitchFamily="34" charset="-122"/>
                <a:cs typeface="Roboto" pitchFamily="34" charset="-120"/>
              </a:rPr>
              <a:t>người khác, báo chí, mạng xã hội</a:t>
            </a:r>
            <a:endParaRPr lang="en-US" sz="1500" dirty="0"/>
          </a:p>
        </p:txBody>
      </p:sp>
      <p:sp>
        <p:nvSpPr>
          <p:cNvPr id="26" name="Text 20"/>
          <p:cNvSpPr txBox="1"/>
          <p:nvPr/>
        </p:nvSpPr>
        <p:spPr>
          <a:xfrm>
            <a:off x="918972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Roboto" pitchFamily="34" charset="0"/>
                <a:ea typeface="Roboto" pitchFamily="34" charset="-122"/>
                <a:cs typeface="Roboto" pitchFamily="34" charset="-120"/>
              </a:rPr>
              <a:t>VD: đồng nghiệp kể về gala năm ngoái</a:t>
            </a:r>
            <a:endParaRPr lang="en-US" sz="1500" dirty="0"/>
          </a:p>
        </p:txBody>
      </p:sp>
      <p:sp>
        <p:nvSpPr>
          <p:cNvPr id="27"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“Partners can include marketing agencies…” — agency là một loại điểm chạm của thương hiệu.</a:t>
            </a:r>
            <a:endParaRPr lang="en-US" sz="1600" dirty="0"/>
          </a:p>
        </p:txBody>
      </p:sp>
      <p:sp>
        <p:nvSpPr>
          <p:cNvPr id="28" name="Text 22"/>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Lemon &amp; Verhoef (2016).</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Môn học có hai lớp hành trình: khách của Key Account, và chính Key Account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2011680"/>
            <a:ext cx="731520" cy="731520"/>
          </a:xfrm>
          <a:prstGeom prst="ellipse">
            <a:avLst/>
          </a:prstGeom>
          <a:solidFill>
            <a:srgbClr val="49B296"/>
          </a:solidFill>
          <a:ln w="12700">
            <a:solidFill>
              <a:srgbClr val="49B296"/>
            </a:solidFill>
            <a:prstDash val="solid"/>
          </a:ln>
        </p:spPr>
      </p:sp>
      <p:sp>
        <p:nvSpPr>
          <p:cNvPr id="5" name="Text 3"/>
          <p:cNvSpPr txBox="1"/>
          <p:nvPr/>
        </p:nvSpPr>
        <p:spPr>
          <a:xfrm>
            <a:off x="777240" y="20116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1691640" y="2011680"/>
            <a:ext cx="4114800" cy="73152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Khách của Key Account</a:t>
            </a:r>
            <a:endParaRPr lang="en-US" sz="2000" dirty="0"/>
          </a:p>
        </p:txBody>
      </p:sp>
      <p:sp>
        <p:nvSpPr>
          <p:cNvPr id="7" name="Text 5"/>
          <p:cNvSpPr txBox="1"/>
          <p:nvPr/>
        </p:nvSpPr>
        <p:spPr>
          <a:xfrm>
            <a:off x="822960" y="2926080"/>
            <a:ext cx="4937760" cy="146304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600 lãnh đạo doanh nghiệp VIP của An Phát: từ nhận thư mời đến sau gala</a:t>
            </a:r>
            <a:endParaRPr lang="en-US" sz="1700" dirty="0"/>
          </a:p>
        </p:txBody>
      </p:sp>
      <p:sp>
        <p:nvSpPr>
          <p:cNvPr id="8" name="Text 6"/>
          <p:cNvSpPr txBox="1"/>
          <p:nvPr/>
        </p:nvSpPr>
        <p:spPr>
          <a:xfrm>
            <a:off x="822960" y="4846320"/>
            <a:ext cx="4937760" cy="54864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Dùng ở Buổi 3, 5, 9, 11</a:t>
            </a:r>
            <a:endParaRPr lang="en-US" sz="1500" dirty="0"/>
          </a:p>
        </p:txBody>
      </p:sp>
      <p:sp>
        <p:nvSpPr>
          <p:cNvPr id="9" name="Shape 7"/>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10" name="Shape 8"/>
          <p:cNvSpPr/>
          <p:nvPr/>
        </p:nvSpPr>
        <p:spPr>
          <a:xfrm>
            <a:off x="6492240" y="2011680"/>
            <a:ext cx="731520" cy="731520"/>
          </a:xfrm>
          <a:prstGeom prst="ellipse">
            <a:avLst/>
          </a:prstGeom>
          <a:solidFill>
            <a:srgbClr val="FFD23B"/>
          </a:solidFill>
          <a:ln w="12700">
            <a:solidFill>
              <a:srgbClr val="FFD23B"/>
            </a:solidFill>
            <a:prstDash val="solid"/>
          </a:ln>
        </p:spPr>
      </p:sp>
      <p:sp>
        <p:nvSpPr>
          <p:cNvPr id="11" name="Text 9"/>
          <p:cNvSpPr txBox="1"/>
          <p:nvPr/>
        </p:nvSpPr>
        <p:spPr>
          <a:xfrm>
            <a:off x="6492240" y="20116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2" name="Text 10"/>
          <p:cNvSpPr txBox="1"/>
          <p:nvPr/>
        </p:nvSpPr>
        <p:spPr>
          <a:xfrm>
            <a:off x="7406640" y="2011680"/>
            <a:ext cx="4023360" cy="73152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Chính Key Account</a:t>
            </a:r>
            <a:endParaRPr lang="en-US" sz="2000" dirty="0"/>
          </a:p>
        </p:txBody>
      </p:sp>
      <p:sp>
        <p:nvSpPr>
          <p:cNvPr id="13" name="Text 11"/>
          <p:cNvSpPr txBox="1"/>
          <p:nvPr/>
        </p:nvSpPr>
        <p:spPr>
          <a:xfrm>
            <a:off x="6537960" y="2926080"/>
            <a:ext cx="4846320" cy="146304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An Phát mua dịch vụ của Nova: brief → đề xuất → hợp đồng → sự kiện → nghiệm thu</a:t>
            </a:r>
            <a:endParaRPr lang="en-US" sz="1700" dirty="0"/>
          </a:p>
        </p:txBody>
      </p:sp>
      <p:sp>
        <p:nvSpPr>
          <p:cNvPr id="14" name="Text 12"/>
          <p:cNvSpPr txBox="1"/>
          <p:nvPr/>
        </p:nvSpPr>
        <p:spPr>
          <a:xfrm>
            <a:off x="6537960" y="4846320"/>
            <a:ext cx="4846320" cy="548640"/>
          </a:xfrm>
          <a:prstGeom prst="rect">
            <a:avLst/>
          </a:prstGeom>
          <a:noFill/>
          <a:ln/>
        </p:spPr>
        <p:txBody>
          <a:bodyPr wrap="square" lIns="635" tIns="635" rIns="635" bIns="635" rtlCol="0" anchor="ctr"/>
          <a:lstStyle/>
          <a:p>
            <a:pPr indent="0" marL="0">
              <a:buNone/>
            </a:pPr>
            <a:r>
              <a:rPr lang="en-US" sz="1500" dirty="0">
                <a:solidFill>
                  <a:srgbClr val="A9B6D3"/>
                </a:solidFill>
                <a:latin typeface="Roboto" pitchFamily="34" charset="0"/>
                <a:ea typeface="Roboto" pitchFamily="34" charset="-122"/>
                <a:cs typeface="Roboto" pitchFamily="34" charset="-120"/>
              </a:rPr>
              <a:t>Dùng ở Buổi 10</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Hành trình của một khách VIP bắt đầu từ thư mời, không phải từ cửa phòng tiệc</a:t>
            </a:r>
            <a:endParaRPr lang="en-US" sz="2800" dirty="0"/>
          </a:p>
        </p:txBody>
      </p:sp>
      <p:sp>
        <p:nvSpPr>
          <p:cNvPr id="3" name="Shape 1"/>
          <p:cNvSpPr/>
          <p:nvPr/>
        </p:nvSpPr>
        <p:spPr>
          <a:xfrm>
            <a:off x="822960" y="3291840"/>
            <a:ext cx="10607040" cy="0"/>
          </a:xfrm>
          <a:prstGeom prst="line">
            <a:avLst/>
          </a:prstGeom>
          <a:noFill/>
          <a:ln w="38100">
            <a:solidFill>
              <a:srgbClr val="A9B6D3"/>
            </a:solidFill>
            <a:prstDash val="solid"/>
          </a:ln>
        </p:spPr>
      </p:sp>
      <p:sp>
        <p:nvSpPr>
          <p:cNvPr id="4" name="Text 2"/>
          <p:cNvSpPr txBox="1"/>
          <p:nvPr/>
        </p:nvSpPr>
        <p:spPr>
          <a:xfrm>
            <a:off x="54864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Trước</a:t>
            </a:r>
            <a:endParaRPr lang="en-US" sz="1400" dirty="0"/>
          </a:p>
        </p:txBody>
      </p:sp>
      <p:sp>
        <p:nvSpPr>
          <p:cNvPr id="5" name="Shape 3"/>
          <p:cNvSpPr/>
          <p:nvPr/>
        </p:nvSpPr>
        <p:spPr>
          <a:xfrm>
            <a:off x="1097280" y="2971800"/>
            <a:ext cx="640080" cy="640080"/>
          </a:xfrm>
          <a:prstGeom prst="ellipse">
            <a:avLst/>
          </a:prstGeom>
          <a:solidFill>
            <a:srgbClr val="49B296"/>
          </a:solidFill>
          <a:ln w="12700">
            <a:solidFill>
              <a:srgbClr val="49B296"/>
            </a:solidFill>
            <a:prstDash val="solid"/>
          </a:ln>
        </p:spPr>
      </p:sp>
      <p:sp>
        <p:nvSpPr>
          <p:cNvPr id="6" name="Text 4"/>
          <p:cNvSpPr txBox="1"/>
          <p:nvPr/>
        </p:nvSpPr>
        <p:spPr>
          <a:xfrm>
            <a:off x="109728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B</a:t>
            </a:r>
            <a:endParaRPr lang="en-US" sz="1800" dirty="0"/>
          </a:p>
        </p:txBody>
      </p:sp>
      <p:sp>
        <p:nvSpPr>
          <p:cNvPr id="7" name="Shape 5"/>
          <p:cNvSpPr/>
          <p:nvPr/>
        </p:nvSpPr>
        <p:spPr>
          <a:xfrm>
            <a:off x="548640" y="3840480"/>
            <a:ext cx="1737360" cy="1463040"/>
          </a:xfrm>
          <a:prstGeom prst="roundRect">
            <a:avLst>
              <a:gd name="adj" fmla="val 5000"/>
            </a:avLst>
          </a:prstGeom>
          <a:solidFill>
            <a:srgbClr val="22395F"/>
          </a:solidFill>
          <a:ln w="12700">
            <a:solidFill>
              <a:srgbClr val="22395F"/>
            </a:solidFill>
            <a:prstDash val="solid"/>
          </a:ln>
        </p:spPr>
      </p:sp>
      <p:sp>
        <p:nvSpPr>
          <p:cNvPr id="8" name="Text 6"/>
          <p:cNvSpPr txBox="1"/>
          <p:nvPr/>
        </p:nvSpPr>
        <p:spPr>
          <a:xfrm>
            <a:off x="64008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Nhận thư mời</a:t>
            </a:r>
            <a:endParaRPr lang="en-US" sz="1500" dirty="0"/>
          </a:p>
        </p:txBody>
      </p:sp>
      <p:sp>
        <p:nvSpPr>
          <p:cNvPr id="9" name="Text 7"/>
          <p:cNvSpPr txBox="1"/>
          <p:nvPr/>
        </p:nvSpPr>
        <p:spPr>
          <a:xfrm>
            <a:off x="242316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Trước</a:t>
            </a:r>
            <a:endParaRPr lang="en-US" sz="1400" dirty="0"/>
          </a:p>
        </p:txBody>
      </p:sp>
      <p:sp>
        <p:nvSpPr>
          <p:cNvPr id="10" name="Shape 8"/>
          <p:cNvSpPr/>
          <p:nvPr/>
        </p:nvSpPr>
        <p:spPr>
          <a:xfrm>
            <a:off x="2971800" y="2971800"/>
            <a:ext cx="640080" cy="640080"/>
          </a:xfrm>
          <a:prstGeom prst="ellipse">
            <a:avLst/>
          </a:prstGeom>
          <a:solidFill>
            <a:srgbClr val="09A1E5"/>
          </a:solidFill>
          <a:ln w="12700">
            <a:solidFill>
              <a:srgbClr val="09A1E5"/>
            </a:solidFill>
            <a:prstDash val="solid"/>
          </a:ln>
        </p:spPr>
      </p:sp>
      <p:sp>
        <p:nvSpPr>
          <p:cNvPr id="11" name="Text 9"/>
          <p:cNvSpPr txBox="1"/>
          <p:nvPr/>
        </p:nvSpPr>
        <p:spPr>
          <a:xfrm>
            <a:off x="297180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S</a:t>
            </a:r>
            <a:endParaRPr lang="en-US" sz="1800" dirty="0"/>
          </a:p>
        </p:txBody>
      </p:sp>
      <p:sp>
        <p:nvSpPr>
          <p:cNvPr id="12" name="Shape 10"/>
          <p:cNvSpPr/>
          <p:nvPr/>
        </p:nvSpPr>
        <p:spPr>
          <a:xfrm>
            <a:off x="2423160" y="3840480"/>
            <a:ext cx="1737360" cy="1463040"/>
          </a:xfrm>
          <a:prstGeom prst="roundRect">
            <a:avLst>
              <a:gd name="adj" fmla="val 5000"/>
            </a:avLst>
          </a:prstGeom>
          <a:solidFill>
            <a:srgbClr val="22395F"/>
          </a:solidFill>
          <a:ln w="12700">
            <a:solidFill>
              <a:srgbClr val="22395F"/>
            </a:solidFill>
            <a:prstDash val="solid"/>
          </a:ln>
        </p:spPr>
      </p:sp>
      <p:sp>
        <p:nvSpPr>
          <p:cNvPr id="13" name="Text 11"/>
          <p:cNvSpPr txBox="1"/>
          <p:nvPr/>
        </p:nvSpPr>
        <p:spPr>
          <a:xfrm>
            <a:off x="251460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Đồng nghiệp kể về gala năm ngoái</a:t>
            </a:r>
            <a:endParaRPr lang="en-US" sz="1500" dirty="0"/>
          </a:p>
        </p:txBody>
      </p:sp>
      <p:sp>
        <p:nvSpPr>
          <p:cNvPr id="14" name="Text 12"/>
          <p:cNvSpPr txBox="1"/>
          <p:nvPr/>
        </p:nvSpPr>
        <p:spPr>
          <a:xfrm>
            <a:off x="429768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Trong</a:t>
            </a:r>
            <a:endParaRPr lang="en-US" sz="1400" dirty="0"/>
          </a:p>
        </p:txBody>
      </p:sp>
      <p:sp>
        <p:nvSpPr>
          <p:cNvPr id="15" name="Shape 13"/>
          <p:cNvSpPr/>
          <p:nvPr/>
        </p:nvSpPr>
        <p:spPr>
          <a:xfrm>
            <a:off x="4846320" y="2971800"/>
            <a:ext cx="640080" cy="640080"/>
          </a:xfrm>
          <a:prstGeom prst="ellipse">
            <a:avLst/>
          </a:prstGeom>
          <a:solidFill>
            <a:srgbClr val="FFD23B"/>
          </a:solidFill>
          <a:ln w="12700">
            <a:solidFill>
              <a:srgbClr val="FFD23B"/>
            </a:solidFill>
            <a:prstDash val="solid"/>
          </a:ln>
        </p:spPr>
      </p:sp>
      <p:sp>
        <p:nvSpPr>
          <p:cNvPr id="16" name="Text 14"/>
          <p:cNvSpPr txBox="1"/>
          <p:nvPr/>
        </p:nvSpPr>
        <p:spPr>
          <a:xfrm>
            <a:off x="484632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P</a:t>
            </a:r>
            <a:endParaRPr lang="en-US" sz="1800" dirty="0"/>
          </a:p>
        </p:txBody>
      </p:sp>
      <p:sp>
        <p:nvSpPr>
          <p:cNvPr id="17" name="Shape 15"/>
          <p:cNvSpPr/>
          <p:nvPr/>
        </p:nvSpPr>
        <p:spPr>
          <a:xfrm>
            <a:off x="4297680" y="3840480"/>
            <a:ext cx="1737360"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438912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Được đón tại khách sạn</a:t>
            </a:r>
            <a:endParaRPr lang="en-US" sz="1500" dirty="0"/>
          </a:p>
        </p:txBody>
      </p:sp>
      <p:sp>
        <p:nvSpPr>
          <p:cNvPr id="19" name="Text 17"/>
          <p:cNvSpPr txBox="1"/>
          <p:nvPr/>
        </p:nvSpPr>
        <p:spPr>
          <a:xfrm>
            <a:off x="617220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Trong</a:t>
            </a:r>
            <a:endParaRPr lang="en-US" sz="1400" dirty="0"/>
          </a:p>
        </p:txBody>
      </p:sp>
      <p:sp>
        <p:nvSpPr>
          <p:cNvPr id="20" name="Shape 18"/>
          <p:cNvSpPr/>
          <p:nvPr/>
        </p:nvSpPr>
        <p:spPr>
          <a:xfrm>
            <a:off x="6720840" y="2971800"/>
            <a:ext cx="640080" cy="640080"/>
          </a:xfrm>
          <a:prstGeom prst="ellipse">
            <a:avLst/>
          </a:prstGeom>
          <a:solidFill>
            <a:srgbClr val="FF5178"/>
          </a:solidFill>
          <a:ln w="12700">
            <a:solidFill>
              <a:srgbClr val="FF5178"/>
            </a:solidFill>
            <a:prstDash val="solid"/>
          </a:ln>
        </p:spPr>
      </p:sp>
      <p:sp>
        <p:nvSpPr>
          <p:cNvPr id="21" name="Text 19"/>
          <p:cNvSpPr txBox="1"/>
          <p:nvPr/>
        </p:nvSpPr>
        <p:spPr>
          <a:xfrm>
            <a:off x="672084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C</a:t>
            </a:r>
            <a:endParaRPr lang="en-US" sz="1800" dirty="0"/>
          </a:p>
        </p:txBody>
      </p:sp>
      <p:sp>
        <p:nvSpPr>
          <p:cNvPr id="22" name="Shape 20"/>
          <p:cNvSpPr/>
          <p:nvPr/>
        </p:nvSpPr>
        <p:spPr>
          <a:xfrm>
            <a:off x="6172200" y="3840480"/>
            <a:ext cx="1737360" cy="1463040"/>
          </a:xfrm>
          <a:prstGeom prst="roundRect">
            <a:avLst>
              <a:gd name="adj" fmla="val 5000"/>
            </a:avLst>
          </a:prstGeom>
          <a:solidFill>
            <a:srgbClr val="22395F"/>
          </a:solidFill>
          <a:ln w="12700">
            <a:solidFill>
              <a:srgbClr val="22395F"/>
            </a:solidFill>
            <a:prstDash val="solid"/>
          </a:ln>
        </p:spPr>
      </p:sp>
      <p:sp>
        <p:nvSpPr>
          <p:cNvPr id="23" name="Text 21"/>
          <p:cNvSpPr txBox="1"/>
          <p:nvPr/>
        </p:nvSpPr>
        <p:spPr>
          <a:xfrm>
            <a:off x="626364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Tự chụp ảnh, đăng mạng</a:t>
            </a:r>
            <a:endParaRPr lang="en-US" sz="1500" dirty="0"/>
          </a:p>
        </p:txBody>
      </p:sp>
      <p:sp>
        <p:nvSpPr>
          <p:cNvPr id="24" name="Text 22"/>
          <p:cNvSpPr txBox="1"/>
          <p:nvPr/>
        </p:nvSpPr>
        <p:spPr>
          <a:xfrm>
            <a:off x="804672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Sau</a:t>
            </a:r>
            <a:endParaRPr lang="en-US" sz="1400" dirty="0"/>
          </a:p>
        </p:txBody>
      </p:sp>
      <p:sp>
        <p:nvSpPr>
          <p:cNvPr id="25" name="Shape 23"/>
          <p:cNvSpPr/>
          <p:nvPr/>
        </p:nvSpPr>
        <p:spPr>
          <a:xfrm>
            <a:off x="8595360" y="2971800"/>
            <a:ext cx="640080" cy="640080"/>
          </a:xfrm>
          <a:prstGeom prst="ellipse">
            <a:avLst/>
          </a:prstGeom>
          <a:solidFill>
            <a:srgbClr val="49B296"/>
          </a:solidFill>
          <a:ln w="12700">
            <a:solidFill>
              <a:srgbClr val="49B296"/>
            </a:solidFill>
            <a:prstDash val="solid"/>
          </a:ln>
        </p:spPr>
      </p:sp>
      <p:sp>
        <p:nvSpPr>
          <p:cNvPr id="26" name="Text 24"/>
          <p:cNvSpPr txBox="1"/>
          <p:nvPr/>
        </p:nvSpPr>
        <p:spPr>
          <a:xfrm>
            <a:off x="859536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B</a:t>
            </a:r>
            <a:endParaRPr lang="en-US" sz="1800" dirty="0"/>
          </a:p>
        </p:txBody>
      </p:sp>
      <p:sp>
        <p:nvSpPr>
          <p:cNvPr id="27" name="Shape 25"/>
          <p:cNvSpPr/>
          <p:nvPr/>
        </p:nvSpPr>
        <p:spPr>
          <a:xfrm>
            <a:off x="8046720" y="3840480"/>
            <a:ext cx="1737360" cy="1463040"/>
          </a:xfrm>
          <a:prstGeom prst="roundRect">
            <a:avLst>
              <a:gd name="adj" fmla="val 5000"/>
            </a:avLst>
          </a:prstGeom>
          <a:solidFill>
            <a:srgbClr val="22395F"/>
          </a:solidFill>
          <a:ln w="12700">
            <a:solidFill>
              <a:srgbClr val="22395F"/>
            </a:solidFill>
            <a:prstDash val="solid"/>
          </a:ln>
        </p:spPr>
      </p:sp>
      <p:sp>
        <p:nvSpPr>
          <p:cNvPr id="28" name="Text 26"/>
          <p:cNvSpPr txBox="1"/>
          <p:nvPr/>
        </p:nvSpPr>
        <p:spPr>
          <a:xfrm>
            <a:off x="813816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Nhận ảnh, thư cảm ơn</a:t>
            </a:r>
            <a:endParaRPr lang="en-US" sz="1500" dirty="0"/>
          </a:p>
        </p:txBody>
      </p:sp>
      <p:sp>
        <p:nvSpPr>
          <p:cNvPr id="29" name="Text 27"/>
          <p:cNvSpPr txBox="1"/>
          <p:nvPr/>
        </p:nvSpPr>
        <p:spPr>
          <a:xfrm>
            <a:off x="992124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Roboto" pitchFamily="34" charset="0"/>
                <a:ea typeface="Roboto" pitchFamily="34" charset="-122"/>
                <a:cs typeface="Roboto" pitchFamily="34" charset="-120"/>
              </a:rPr>
              <a:t>Sau</a:t>
            </a:r>
            <a:endParaRPr lang="en-US" sz="1400" dirty="0"/>
          </a:p>
        </p:txBody>
      </p:sp>
      <p:sp>
        <p:nvSpPr>
          <p:cNvPr id="30" name="Shape 28"/>
          <p:cNvSpPr/>
          <p:nvPr/>
        </p:nvSpPr>
        <p:spPr>
          <a:xfrm>
            <a:off x="10469880" y="2971800"/>
            <a:ext cx="640080" cy="640080"/>
          </a:xfrm>
          <a:prstGeom prst="ellipse">
            <a:avLst/>
          </a:prstGeom>
          <a:solidFill>
            <a:srgbClr val="09A1E5"/>
          </a:solidFill>
          <a:ln w="12700">
            <a:solidFill>
              <a:srgbClr val="09A1E5"/>
            </a:solidFill>
            <a:prstDash val="solid"/>
          </a:ln>
        </p:spPr>
      </p:sp>
      <p:sp>
        <p:nvSpPr>
          <p:cNvPr id="31" name="Text 29"/>
          <p:cNvSpPr txBox="1"/>
          <p:nvPr/>
        </p:nvSpPr>
        <p:spPr>
          <a:xfrm>
            <a:off x="1046988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S</a:t>
            </a:r>
            <a:endParaRPr lang="en-US" sz="1800" dirty="0"/>
          </a:p>
        </p:txBody>
      </p:sp>
      <p:sp>
        <p:nvSpPr>
          <p:cNvPr id="32" name="Shape 30"/>
          <p:cNvSpPr/>
          <p:nvPr/>
        </p:nvSpPr>
        <p:spPr>
          <a:xfrm>
            <a:off x="9921240" y="3840480"/>
            <a:ext cx="1737360" cy="1463040"/>
          </a:xfrm>
          <a:prstGeom prst="roundRect">
            <a:avLst>
              <a:gd name="adj" fmla="val 5000"/>
            </a:avLst>
          </a:prstGeom>
          <a:solidFill>
            <a:srgbClr val="22395F"/>
          </a:solidFill>
          <a:ln w="12700">
            <a:solidFill>
              <a:srgbClr val="22395F"/>
            </a:solidFill>
            <a:prstDash val="solid"/>
          </a:ln>
        </p:spPr>
      </p:sp>
      <p:sp>
        <p:nvSpPr>
          <p:cNvPr id="33" name="Text 31"/>
          <p:cNvSpPr txBox="1"/>
          <p:nvPr/>
        </p:nvSpPr>
        <p:spPr>
          <a:xfrm>
            <a:off x="1001268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Roboto" pitchFamily="34" charset="0"/>
                <a:ea typeface="Roboto" pitchFamily="34" charset="-122"/>
                <a:cs typeface="Roboto" pitchFamily="34" charset="-120"/>
              </a:rPr>
              <a:t>Đọc báo đưa tin</a:t>
            </a:r>
            <a:endParaRPr lang="en-US" sz="1500" dirty="0"/>
          </a:p>
        </p:txBody>
      </p:sp>
      <p:sp>
        <p:nvSpPr>
          <p:cNvPr id="34" name="Text 32"/>
          <p:cNvSpPr txBox="1"/>
          <p:nvPr/>
        </p:nvSpPr>
        <p:spPr>
          <a:xfrm>
            <a:off x="548640" y="5486400"/>
            <a:ext cx="8686800" cy="457200"/>
          </a:xfrm>
          <a:prstGeom prst="rect">
            <a:avLst/>
          </a:prstGeom>
          <a:noFill/>
          <a:ln/>
        </p:spPr>
        <p:txBody>
          <a:bodyPr wrap="square" lIns="635" tIns="635" rIns="635" bIns="635" rtlCol="0" anchor="ctr"/>
          <a:lstStyle/>
          <a:p>
            <a:pPr indent="0" marL="0">
              <a:buNone/>
            </a:pPr>
            <a:r>
              <a:rPr lang="en-US" sz="1400" dirty="0">
                <a:solidFill>
                  <a:srgbClr val="A9B6D3"/>
                </a:solidFill>
                <a:latin typeface="Roboto" pitchFamily="34" charset="0"/>
                <a:ea typeface="Roboto" pitchFamily="34" charset="-122"/>
                <a:cs typeface="Roboto" pitchFamily="34" charset="-120"/>
              </a:rPr>
              <a:t>B brand-owned · P partner-owned · C customer-owned · S social/external</a:t>
            </a:r>
            <a:endParaRPr lang="en-US" sz="1400" dirty="0"/>
          </a:p>
        </p:txBody>
      </p:sp>
      <p:sp>
        <p:nvSpPr>
          <p:cNvPr id="35" name="Text 33"/>
          <p:cNvSpPr txBox="1"/>
          <p:nvPr/>
        </p:nvSpPr>
        <p:spPr>
          <a:xfrm>
            <a:off x="9966960" y="5486400"/>
            <a:ext cx="1645920" cy="45720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Nova làm, nhưng khách thấy An Phát</a:t>
            </a:r>
            <a:endParaRPr lang="en-US" sz="2800" dirty="0"/>
          </a:p>
        </p:txBody>
      </p:sp>
      <p:sp>
        <p:nvSpPr>
          <p:cNvPr id="3" name="Shape 1"/>
          <p:cNvSpPr/>
          <p:nvPr/>
        </p:nvSpPr>
        <p:spPr>
          <a:xfrm>
            <a:off x="548640" y="1828800"/>
            <a:ext cx="1463040" cy="1463040"/>
          </a:xfrm>
          <a:prstGeom prst="ellipse">
            <a:avLst/>
          </a:prstGeom>
          <a:solidFill>
            <a:srgbClr val="FFD23B"/>
          </a:solidFill>
          <a:ln w="12700">
            <a:solidFill>
              <a:srgbClr val="FFD23B"/>
            </a:solidFill>
            <a:prstDash val="solid"/>
          </a:ln>
        </p:spPr>
      </p:sp>
      <p:pic>
        <p:nvPicPr>
          <p:cNvPr id="4" name="Image 0" descr="preencoded.png">    </p:cNvPr>
          <p:cNvPicPr>
            <a:picLocks noChangeAspect="1"/>
          </p:cNvPicPr>
          <p:nvPr/>
        </p:nvPicPr>
        <p:blipFill>
          <a:blip r:embed="rId1"/>
          <a:stretch>
            <a:fillRect/>
          </a:stretch>
        </p:blipFill>
        <p:spPr>
          <a:xfrm>
            <a:off x="870509" y="2150669"/>
            <a:ext cx="819302" cy="819302"/>
          </a:xfrm>
          <a:prstGeom prst="rect">
            <a:avLst/>
          </a:prstGeom>
        </p:spPr>
      </p:pic>
      <p:sp>
        <p:nvSpPr>
          <p:cNvPr id="5" name="Text 2"/>
          <p:cNvSpPr txBox="1"/>
          <p:nvPr/>
        </p:nvSpPr>
        <p:spPr>
          <a:xfrm>
            <a:off x="2286000" y="1783080"/>
            <a:ext cx="9326880" cy="1828800"/>
          </a:xfrm>
          <a:prstGeom prst="rect">
            <a:avLst/>
          </a:prstGeom>
          <a:noFill/>
          <a:ln/>
        </p:spPr>
        <p:txBody>
          <a:bodyPr wrap="square" lIns="635" tIns="635" rIns="635" bIns="635" rtlCol="0" anchor="ctr"/>
          <a:lstStyle/>
          <a:p>
            <a:pPr indent="0" marL="0">
              <a:buNone/>
            </a:pPr>
            <a:r>
              <a:rPr lang="en-US" sz="2200" b="1" dirty="0">
                <a:solidFill>
                  <a:srgbClr val="FBFAF4"/>
                </a:solidFill>
                <a:latin typeface="Roboto" pitchFamily="34" charset="0"/>
                <a:ea typeface="Roboto" pitchFamily="34" charset="-122"/>
                <a:cs typeface="Roboto" pitchFamily="34" charset="-120"/>
              </a:rPr>
              <a:t>Phần lớn điểm chạm Nova làm mang tên An Phát. Nova thành công khi thương hiệu của khách hàng tỏa sáng — không phải khi tên Nova xuất hiện nhiều.</a:t>
            </a:r>
            <a:endParaRPr lang="en-US" sz="2200" dirty="0"/>
          </a:p>
        </p:txBody>
      </p:sp>
      <p:sp>
        <p:nvSpPr>
          <p:cNvPr id="6" name="Shape 3"/>
          <p:cNvSpPr/>
          <p:nvPr/>
        </p:nvSpPr>
        <p:spPr>
          <a:xfrm>
            <a:off x="548640" y="3931920"/>
            <a:ext cx="11091672" cy="1463040"/>
          </a:xfrm>
          <a:prstGeom prst="roundRect">
            <a:avLst>
              <a:gd name="adj" fmla="val 5000"/>
            </a:avLst>
          </a:prstGeom>
          <a:solidFill>
            <a:srgbClr val="22395F"/>
          </a:solidFill>
          <a:ln w="12700">
            <a:solidFill>
              <a:srgbClr val="22395F"/>
            </a:solidFill>
            <a:prstDash val="solid"/>
          </a:ln>
        </p:spPr>
      </p:sp>
      <p:sp>
        <p:nvSpPr>
          <p:cNvPr id="7" name="Text 4"/>
          <p:cNvSpPr txBox="1"/>
          <p:nvPr/>
        </p:nvSpPr>
        <p:spPr>
          <a:xfrm>
            <a:off x="777240" y="3931920"/>
            <a:ext cx="10698480" cy="1463040"/>
          </a:xfrm>
          <a:prstGeom prst="rect">
            <a:avLst/>
          </a:prstGeom>
          <a:noFill/>
          <a:ln/>
        </p:spPr>
        <p:txBody>
          <a:bodyPr wrap="square" lIns="635" tIns="635" rIns="635" bIns="635" rtlCol="0" anchor="ctr"/>
          <a:lstStyle/>
          <a:p>
            <a:pPr indent="0" marL="0">
              <a:buNone/>
            </a:pPr>
            <a:r>
              <a:rPr lang="en-US" sz="1900" dirty="0">
                <a:solidFill>
                  <a:srgbClr val="FFD23B"/>
                </a:solidFill>
                <a:latin typeface="Roboto" pitchFamily="34" charset="0"/>
                <a:ea typeface="Roboto" pitchFamily="34" charset="-122"/>
                <a:cs typeface="Roboto" pitchFamily="34" charset="-120"/>
              </a:rPr>
              <a:t>Hệ quả: một điểm chạm hỏng do Nova (livestream chậm, đón khách lộn xộn) là một điểm trừ cho An Phát trong mắt khách VIP.</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1–4 ngón: điểm chạm này thuộc loại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65176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Trước gala, một khách VIP nghe giám đốc tài chính của công ty bạn kể: “Gala An Phát năm ngoái có phiên hỏi đáp với chuyên gia rất đáng đi.”</a:t>
            </a:r>
            <a:endParaRPr lang="en-US" sz="1800" dirty="0"/>
          </a:p>
        </p:txBody>
      </p:sp>
      <p:sp>
        <p:nvSpPr>
          <p:cNvPr id="7" name="Text 4"/>
          <p:cNvSpPr txBox="1"/>
          <p:nvPr/>
        </p:nvSpPr>
        <p:spPr>
          <a:xfrm>
            <a:off x="822960" y="43891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8" name="Shape 5"/>
          <p:cNvSpPr/>
          <p:nvPr/>
        </p:nvSpPr>
        <p:spPr>
          <a:xfrm>
            <a:off x="7498080" y="1783080"/>
            <a:ext cx="640080" cy="640080"/>
          </a:xfrm>
          <a:prstGeom prst="ellipse">
            <a:avLst/>
          </a:prstGeom>
          <a:solidFill>
            <a:srgbClr val="49B296"/>
          </a:solidFill>
          <a:ln w="12700">
            <a:solidFill>
              <a:srgbClr val="49B296"/>
            </a:solidFill>
            <a:prstDash val="solid"/>
          </a:ln>
        </p:spPr>
      </p:sp>
      <p:sp>
        <p:nvSpPr>
          <p:cNvPr id="9" name="Text 6"/>
          <p:cNvSpPr txBox="1"/>
          <p:nvPr/>
        </p:nvSpPr>
        <p:spPr>
          <a:xfrm>
            <a:off x="7498080" y="17830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10" name="Shape 7"/>
          <p:cNvSpPr/>
          <p:nvPr/>
        </p:nvSpPr>
        <p:spPr>
          <a:xfrm>
            <a:off x="8321040" y="1783080"/>
            <a:ext cx="3319272" cy="640080"/>
          </a:xfrm>
          <a:prstGeom prst="roundRect">
            <a:avLst>
              <a:gd name="adj" fmla="val 11429"/>
            </a:avLst>
          </a:prstGeom>
          <a:solidFill>
            <a:srgbClr val="22395F"/>
          </a:solidFill>
          <a:ln w="12700">
            <a:solidFill>
              <a:srgbClr val="22395F"/>
            </a:solidFill>
            <a:prstDash val="solid"/>
          </a:ln>
        </p:spPr>
      </p:sp>
      <p:sp>
        <p:nvSpPr>
          <p:cNvPr id="11" name="Text 8"/>
          <p:cNvSpPr txBox="1"/>
          <p:nvPr/>
        </p:nvSpPr>
        <p:spPr>
          <a:xfrm>
            <a:off x="8503920" y="178308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Brand-owned</a:t>
            </a:r>
            <a:endParaRPr lang="en-US" sz="1900" dirty="0"/>
          </a:p>
        </p:txBody>
      </p:sp>
      <p:sp>
        <p:nvSpPr>
          <p:cNvPr id="12" name="Shape 9"/>
          <p:cNvSpPr/>
          <p:nvPr/>
        </p:nvSpPr>
        <p:spPr>
          <a:xfrm>
            <a:off x="7498080" y="2560320"/>
            <a:ext cx="640080" cy="640080"/>
          </a:xfrm>
          <a:prstGeom prst="ellipse">
            <a:avLst/>
          </a:prstGeom>
          <a:solidFill>
            <a:srgbClr val="FFD23B"/>
          </a:solidFill>
          <a:ln w="12700">
            <a:solidFill>
              <a:srgbClr val="FFD23B"/>
            </a:solidFill>
            <a:prstDash val="solid"/>
          </a:ln>
        </p:spPr>
      </p:sp>
      <p:sp>
        <p:nvSpPr>
          <p:cNvPr id="13" name="Text 10"/>
          <p:cNvSpPr txBox="1"/>
          <p:nvPr/>
        </p:nvSpPr>
        <p:spPr>
          <a:xfrm>
            <a:off x="7498080" y="256032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4" name="Shape 11"/>
          <p:cNvSpPr/>
          <p:nvPr/>
        </p:nvSpPr>
        <p:spPr>
          <a:xfrm>
            <a:off x="8321040" y="2560320"/>
            <a:ext cx="3319272" cy="640080"/>
          </a:xfrm>
          <a:prstGeom prst="roundRect">
            <a:avLst>
              <a:gd name="adj" fmla="val 11429"/>
            </a:avLst>
          </a:prstGeom>
          <a:solidFill>
            <a:srgbClr val="22395F"/>
          </a:solidFill>
          <a:ln w="12700">
            <a:solidFill>
              <a:srgbClr val="22395F"/>
            </a:solidFill>
            <a:prstDash val="solid"/>
          </a:ln>
        </p:spPr>
      </p:sp>
      <p:sp>
        <p:nvSpPr>
          <p:cNvPr id="15" name="Text 12"/>
          <p:cNvSpPr txBox="1"/>
          <p:nvPr/>
        </p:nvSpPr>
        <p:spPr>
          <a:xfrm>
            <a:off x="8503920" y="256032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Partner-owned</a:t>
            </a:r>
            <a:endParaRPr lang="en-US" sz="1900" dirty="0"/>
          </a:p>
        </p:txBody>
      </p:sp>
      <p:sp>
        <p:nvSpPr>
          <p:cNvPr id="16" name="Shape 13"/>
          <p:cNvSpPr/>
          <p:nvPr/>
        </p:nvSpPr>
        <p:spPr>
          <a:xfrm>
            <a:off x="7498080" y="3337560"/>
            <a:ext cx="640080" cy="640080"/>
          </a:xfrm>
          <a:prstGeom prst="ellipse">
            <a:avLst/>
          </a:prstGeom>
          <a:solidFill>
            <a:srgbClr val="FF5178"/>
          </a:solidFill>
          <a:ln w="12700">
            <a:solidFill>
              <a:srgbClr val="FF5178"/>
            </a:solidFill>
            <a:prstDash val="solid"/>
          </a:ln>
        </p:spPr>
      </p:sp>
      <p:sp>
        <p:nvSpPr>
          <p:cNvPr id="17" name="Text 14"/>
          <p:cNvSpPr txBox="1"/>
          <p:nvPr/>
        </p:nvSpPr>
        <p:spPr>
          <a:xfrm>
            <a:off x="7498080" y="33375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8" name="Shape 15"/>
          <p:cNvSpPr/>
          <p:nvPr/>
        </p:nvSpPr>
        <p:spPr>
          <a:xfrm>
            <a:off x="8321040" y="3337560"/>
            <a:ext cx="3319272" cy="640080"/>
          </a:xfrm>
          <a:prstGeom prst="roundRect">
            <a:avLst>
              <a:gd name="adj" fmla="val 11429"/>
            </a:avLst>
          </a:prstGeom>
          <a:solidFill>
            <a:srgbClr val="22395F"/>
          </a:solidFill>
          <a:ln w="12700">
            <a:solidFill>
              <a:srgbClr val="22395F"/>
            </a:solidFill>
            <a:prstDash val="solid"/>
          </a:ln>
        </p:spPr>
      </p:sp>
      <p:sp>
        <p:nvSpPr>
          <p:cNvPr id="19" name="Text 16"/>
          <p:cNvSpPr txBox="1"/>
          <p:nvPr/>
        </p:nvSpPr>
        <p:spPr>
          <a:xfrm>
            <a:off x="8503920" y="333756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Customer-owned</a:t>
            </a:r>
            <a:endParaRPr lang="en-US" sz="1900" dirty="0"/>
          </a:p>
        </p:txBody>
      </p:sp>
      <p:sp>
        <p:nvSpPr>
          <p:cNvPr id="20" name="Shape 17"/>
          <p:cNvSpPr/>
          <p:nvPr/>
        </p:nvSpPr>
        <p:spPr>
          <a:xfrm>
            <a:off x="7498080" y="4114800"/>
            <a:ext cx="640080" cy="640080"/>
          </a:xfrm>
          <a:prstGeom prst="ellipse">
            <a:avLst/>
          </a:prstGeom>
          <a:solidFill>
            <a:srgbClr val="09A1E5"/>
          </a:solidFill>
          <a:ln w="12700">
            <a:solidFill>
              <a:srgbClr val="09A1E5"/>
            </a:solidFill>
            <a:prstDash val="solid"/>
          </a:ln>
        </p:spPr>
      </p:sp>
      <p:sp>
        <p:nvSpPr>
          <p:cNvPr id="21" name="Text 18"/>
          <p:cNvSpPr txBox="1"/>
          <p:nvPr/>
        </p:nvSpPr>
        <p:spPr>
          <a:xfrm>
            <a:off x="7498080" y="4114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22" name="Shape 19"/>
          <p:cNvSpPr/>
          <p:nvPr/>
        </p:nvSpPr>
        <p:spPr>
          <a:xfrm>
            <a:off x="8321040" y="4114800"/>
            <a:ext cx="3319272" cy="640080"/>
          </a:xfrm>
          <a:prstGeom prst="roundRect">
            <a:avLst>
              <a:gd name="adj" fmla="val 11429"/>
            </a:avLst>
          </a:prstGeom>
          <a:solidFill>
            <a:srgbClr val="22395F"/>
          </a:solidFill>
          <a:ln w="12700">
            <a:solidFill>
              <a:srgbClr val="22395F"/>
            </a:solidFill>
            <a:prstDash val="solid"/>
          </a:ln>
        </p:spPr>
      </p:sp>
      <p:sp>
        <p:nvSpPr>
          <p:cNvPr id="23" name="Text 20"/>
          <p:cNvSpPr txBox="1"/>
          <p:nvPr/>
        </p:nvSpPr>
        <p:spPr>
          <a:xfrm>
            <a:off x="8503920" y="411480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Social / external</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social / external — An Phát không kiểm soát, nhưng ảnh hưởng của nó rất lớn</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822960" y="1920240"/>
            <a:ext cx="6126480" cy="274320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Người nói là đồng nghiệp, không phải An Phát hay Nova</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Không kiểm soát trực tiếp được</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Nhưng có thể chuẩn bị: làm phiên hỏi đáp năm ngoái thật đáng nhớ</a:t>
            </a:r>
            <a:endParaRPr lang="en-US" sz="1800" dirty="0"/>
          </a:p>
        </p:txBody>
      </p:sp>
      <p:sp>
        <p:nvSpPr>
          <p:cNvPr id="5" name="Shape 3"/>
          <p:cNvSpPr/>
          <p:nvPr/>
        </p:nvSpPr>
        <p:spPr>
          <a:xfrm>
            <a:off x="7498080" y="1783080"/>
            <a:ext cx="4142232" cy="3017520"/>
          </a:xfrm>
          <a:prstGeom prst="roundRect">
            <a:avLst>
              <a:gd name="adj" fmla="val 2424"/>
            </a:avLst>
          </a:prstGeom>
          <a:solidFill>
            <a:srgbClr val="FFD23B"/>
          </a:solidFill>
          <a:ln w="12700">
            <a:solidFill>
              <a:srgbClr val="FFD23B"/>
            </a:solidFill>
            <a:prstDash val="solid"/>
          </a:ln>
        </p:spPr>
      </p:sp>
      <p:sp>
        <p:nvSpPr>
          <p:cNvPr id="6" name="Text 4"/>
          <p:cNvSpPr txBox="1"/>
          <p:nvPr/>
        </p:nvSpPr>
        <p:spPr>
          <a:xfrm>
            <a:off x="7726680" y="1783080"/>
            <a:ext cx="3703320" cy="30175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Điểm chạm social năm nay được tạo ra bởi trải nghiệm năm ngoái.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Quyết định mua của một tổ chức do nhiều người: sáu vai trong nhóm ra quyết định (DMU)</a:t>
            </a:r>
            <a:endParaRPr lang="en-US" sz="2800" dirty="0"/>
          </a:p>
        </p:txBody>
      </p:sp>
      <p:sp>
        <p:nvSpPr>
          <p:cNvPr id="3" name="Shape 1"/>
          <p:cNvSpPr/>
          <p:nvPr/>
        </p:nvSpPr>
        <p:spPr>
          <a:xfrm>
            <a:off x="548640" y="1783080"/>
            <a:ext cx="3566160" cy="1691640"/>
          </a:xfrm>
          <a:prstGeom prst="roundRect">
            <a:avLst>
              <a:gd name="adj" fmla="val 4324"/>
            </a:avLst>
          </a:prstGeom>
          <a:solidFill>
            <a:srgbClr val="49B296"/>
          </a:solidFill>
          <a:ln w="12700">
            <a:solidFill>
              <a:srgbClr val="49B296"/>
            </a:solidFill>
            <a:prstDash val="solid"/>
          </a:ln>
        </p:spPr>
      </p:sp>
      <p:sp>
        <p:nvSpPr>
          <p:cNvPr id="4" name="Text 2"/>
          <p:cNvSpPr txBox="1"/>
          <p:nvPr/>
        </p:nvSpPr>
        <p:spPr>
          <a:xfrm>
            <a:off x="731520"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Người khởi xướng</a:t>
            </a:r>
            <a:endParaRPr lang="en-US" sz="1800" dirty="0"/>
          </a:p>
        </p:txBody>
      </p:sp>
      <p:sp>
        <p:nvSpPr>
          <p:cNvPr id="5" name="Text 3"/>
          <p:cNvSpPr txBox="1"/>
          <p:nvPr/>
        </p:nvSpPr>
        <p:spPr>
          <a:xfrm>
            <a:off x="731520"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nêu nhu cầu</a:t>
            </a:r>
            <a:endParaRPr lang="en-US" sz="1500" dirty="0"/>
          </a:p>
        </p:txBody>
      </p:sp>
      <p:sp>
        <p:nvSpPr>
          <p:cNvPr id="6" name="Shape 4"/>
          <p:cNvSpPr/>
          <p:nvPr/>
        </p:nvSpPr>
        <p:spPr>
          <a:xfrm>
            <a:off x="4325112" y="1783080"/>
            <a:ext cx="3566160" cy="1691640"/>
          </a:xfrm>
          <a:prstGeom prst="roundRect">
            <a:avLst>
              <a:gd name="adj" fmla="val 4324"/>
            </a:avLst>
          </a:prstGeom>
          <a:solidFill>
            <a:srgbClr val="FFD23B"/>
          </a:solidFill>
          <a:ln w="12700">
            <a:solidFill>
              <a:srgbClr val="FFD23B"/>
            </a:solidFill>
            <a:prstDash val="solid"/>
          </a:ln>
        </p:spPr>
      </p:sp>
      <p:sp>
        <p:nvSpPr>
          <p:cNvPr id="7" name="Text 5"/>
          <p:cNvSpPr txBox="1"/>
          <p:nvPr/>
        </p:nvSpPr>
        <p:spPr>
          <a:xfrm>
            <a:off x="4507992"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Người dùng cuối</a:t>
            </a:r>
            <a:endParaRPr lang="en-US" sz="1800" dirty="0"/>
          </a:p>
        </p:txBody>
      </p:sp>
      <p:sp>
        <p:nvSpPr>
          <p:cNvPr id="8" name="Text 6"/>
          <p:cNvSpPr txBox="1"/>
          <p:nvPr/>
        </p:nvSpPr>
        <p:spPr>
          <a:xfrm>
            <a:off x="4507992"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dùng dịch vụ</a:t>
            </a:r>
            <a:endParaRPr lang="en-US" sz="1500" dirty="0"/>
          </a:p>
        </p:txBody>
      </p:sp>
      <p:sp>
        <p:nvSpPr>
          <p:cNvPr id="9" name="Shape 7"/>
          <p:cNvSpPr/>
          <p:nvPr/>
        </p:nvSpPr>
        <p:spPr>
          <a:xfrm>
            <a:off x="8101584" y="1783080"/>
            <a:ext cx="3566160" cy="1691640"/>
          </a:xfrm>
          <a:prstGeom prst="roundRect">
            <a:avLst>
              <a:gd name="adj" fmla="val 4324"/>
            </a:avLst>
          </a:prstGeom>
          <a:solidFill>
            <a:srgbClr val="FF9259"/>
          </a:solidFill>
          <a:ln w="12700">
            <a:solidFill>
              <a:srgbClr val="FF9259"/>
            </a:solidFill>
            <a:prstDash val="solid"/>
          </a:ln>
        </p:spPr>
      </p:sp>
      <p:sp>
        <p:nvSpPr>
          <p:cNvPr id="10" name="Text 8"/>
          <p:cNvSpPr txBox="1"/>
          <p:nvPr/>
        </p:nvSpPr>
        <p:spPr>
          <a:xfrm>
            <a:off x="8284464"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Người ảnh hưởng</a:t>
            </a:r>
            <a:endParaRPr lang="en-US" sz="1800" dirty="0"/>
          </a:p>
        </p:txBody>
      </p:sp>
      <p:sp>
        <p:nvSpPr>
          <p:cNvPr id="11" name="Text 9"/>
          <p:cNvSpPr txBox="1"/>
          <p:nvPr/>
        </p:nvSpPr>
        <p:spPr>
          <a:xfrm>
            <a:off x="8284464"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góp ý, đánh giá</a:t>
            </a:r>
            <a:endParaRPr lang="en-US" sz="1500" dirty="0"/>
          </a:p>
        </p:txBody>
      </p:sp>
      <p:sp>
        <p:nvSpPr>
          <p:cNvPr id="12" name="Shape 10"/>
          <p:cNvSpPr/>
          <p:nvPr/>
        </p:nvSpPr>
        <p:spPr>
          <a:xfrm>
            <a:off x="548640" y="3657600"/>
            <a:ext cx="3566160" cy="1691640"/>
          </a:xfrm>
          <a:prstGeom prst="roundRect">
            <a:avLst>
              <a:gd name="adj" fmla="val 4324"/>
            </a:avLst>
          </a:prstGeom>
          <a:solidFill>
            <a:srgbClr val="FF5178"/>
          </a:solidFill>
          <a:ln w="12700">
            <a:solidFill>
              <a:srgbClr val="FF5178"/>
            </a:solidFill>
            <a:prstDash val="solid"/>
          </a:ln>
        </p:spPr>
      </p:sp>
      <p:sp>
        <p:nvSpPr>
          <p:cNvPr id="13" name="Text 11"/>
          <p:cNvSpPr txBox="1"/>
          <p:nvPr/>
        </p:nvSpPr>
        <p:spPr>
          <a:xfrm>
            <a:off x="731520" y="379476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Người quyết định</a:t>
            </a:r>
            <a:endParaRPr lang="en-US" sz="1800" dirty="0"/>
          </a:p>
        </p:txBody>
      </p:sp>
      <p:sp>
        <p:nvSpPr>
          <p:cNvPr id="14" name="Text 12"/>
          <p:cNvSpPr txBox="1"/>
          <p:nvPr/>
        </p:nvSpPr>
        <p:spPr>
          <a:xfrm>
            <a:off x="731520" y="466344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chọn nhà cung cấp</a:t>
            </a:r>
            <a:endParaRPr lang="en-US" sz="1500" dirty="0"/>
          </a:p>
        </p:txBody>
      </p:sp>
      <p:sp>
        <p:nvSpPr>
          <p:cNvPr id="15" name="Shape 13"/>
          <p:cNvSpPr/>
          <p:nvPr/>
        </p:nvSpPr>
        <p:spPr>
          <a:xfrm>
            <a:off x="4325112" y="3657600"/>
            <a:ext cx="3566160" cy="1691640"/>
          </a:xfrm>
          <a:prstGeom prst="roundRect">
            <a:avLst>
              <a:gd name="adj" fmla="val 4324"/>
            </a:avLst>
          </a:prstGeom>
          <a:solidFill>
            <a:srgbClr val="09A1E5"/>
          </a:solidFill>
          <a:ln w="12700">
            <a:solidFill>
              <a:srgbClr val="09A1E5"/>
            </a:solidFill>
            <a:prstDash val="solid"/>
          </a:ln>
        </p:spPr>
      </p:sp>
      <p:sp>
        <p:nvSpPr>
          <p:cNvPr id="16" name="Text 14"/>
          <p:cNvSpPr txBox="1"/>
          <p:nvPr/>
        </p:nvSpPr>
        <p:spPr>
          <a:xfrm>
            <a:off x="4507992" y="379476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Roboto" pitchFamily="34" charset="0"/>
                <a:ea typeface="Roboto" pitchFamily="34" charset="-122"/>
                <a:cs typeface="Roboto" pitchFamily="34" charset="-120"/>
              </a:rPr>
              <a:t>Người kiểm soát (gatekeeper)</a:t>
            </a:r>
            <a:endParaRPr lang="en-US" sz="1800" dirty="0"/>
          </a:p>
        </p:txBody>
      </p:sp>
      <p:sp>
        <p:nvSpPr>
          <p:cNvPr id="17" name="Text 15"/>
          <p:cNvSpPr txBox="1"/>
          <p:nvPr/>
        </p:nvSpPr>
        <p:spPr>
          <a:xfrm>
            <a:off x="4507992" y="466344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lọc thông tin, lịch hẹn</a:t>
            </a:r>
            <a:endParaRPr lang="en-US" sz="1500" dirty="0"/>
          </a:p>
        </p:txBody>
      </p:sp>
      <p:sp>
        <p:nvSpPr>
          <p:cNvPr id="18" name="Shape 16"/>
          <p:cNvSpPr/>
          <p:nvPr/>
        </p:nvSpPr>
        <p:spPr>
          <a:xfrm>
            <a:off x="8101584" y="3657600"/>
            <a:ext cx="3566160" cy="1691640"/>
          </a:xfrm>
          <a:prstGeom prst="roundRect">
            <a:avLst>
              <a:gd name="adj" fmla="val 4324"/>
            </a:avLst>
          </a:prstGeom>
          <a:solidFill>
            <a:srgbClr val="962B7C"/>
          </a:solidFill>
          <a:ln w="12700">
            <a:solidFill>
              <a:srgbClr val="962B7C"/>
            </a:solidFill>
            <a:prstDash val="solid"/>
          </a:ln>
        </p:spPr>
      </p:sp>
      <p:sp>
        <p:nvSpPr>
          <p:cNvPr id="19" name="Text 17"/>
          <p:cNvSpPr txBox="1"/>
          <p:nvPr/>
        </p:nvSpPr>
        <p:spPr>
          <a:xfrm>
            <a:off x="8284464" y="3794760"/>
            <a:ext cx="3200400" cy="822960"/>
          </a:xfrm>
          <a:prstGeom prst="rect">
            <a:avLst/>
          </a:prstGeom>
          <a:noFill/>
          <a:ln/>
        </p:spPr>
        <p:txBody>
          <a:bodyPr wrap="square" lIns="635" tIns="635" rIns="635" bIns="635" rtlCol="0" anchor="t"/>
          <a:lstStyle/>
          <a:p>
            <a:pPr indent="0" marL="0">
              <a:buNone/>
            </a:pPr>
            <a:r>
              <a:rPr lang="en-US" sz="1800" b="1" dirty="0">
                <a:solidFill>
                  <a:srgbClr val="FBFAF4"/>
                </a:solidFill>
                <a:latin typeface="Roboto" pitchFamily="34" charset="0"/>
                <a:ea typeface="Roboto" pitchFamily="34" charset="-122"/>
                <a:cs typeface="Roboto" pitchFamily="34" charset="-120"/>
              </a:rPr>
              <a:t>Người thực hiện quy trình mua</a:t>
            </a:r>
            <a:endParaRPr lang="en-US" sz="1800" dirty="0"/>
          </a:p>
        </p:txBody>
      </p:sp>
      <p:sp>
        <p:nvSpPr>
          <p:cNvPr id="20" name="Text 18"/>
          <p:cNvSpPr txBox="1"/>
          <p:nvPr/>
        </p:nvSpPr>
        <p:spPr>
          <a:xfrm>
            <a:off x="8284464" y="4663440"/>
            <a:ext cx="320040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đấu thầu, hợp đồng, thanh toán</a:t>
            </a:r>
            <a:endParaRPr lang="en-US" sz="1500" dirty="0"/>
          </a:p>
        </p:txBody>
      </p:sp>
      <p:sp>
        <p:nvSpPr>
          <p:cNvPr id="21" name="Text 19"/>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3; nền tảng: Webster &amp; Wind (1972) — buying center.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người của An Phát liên quan đến quyết định chọn Nova</a:t>
            </a:r>
            <a:endParaRPr lang="en-US" sz="2800" dirty="0"/>
          </a:p>
        </p:txBody>
      </p:sp>
      <p:sp>
        <p:nvSpPr>
          <p:cNvPr id="3" name="Shape 1"/>
          <p:cNvSpPr/>
          <p:nvPr/>
        </p:nvSpPr>
        <p:spPr>
          <a:xfrm>
            <a:off x="548640" y="1783080"/>
            <a:ext cx="2057400" cy="393192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16736" y="2167128"/>
            <a:ext cx="512064" cy="512064"/>
          </a:xfrm>
          <a:prstGeom prst="rect">
            <a:avLst/>
          </a:prstGeom>
        </p:spPr>
      </p:pic>
      <p:sp>
        <p:nvSpPr>
          <p:cNvPr id="6" name="Text 3"/>
          <p:cNvSpPr txBox="1"/>
          <p:nvPr/>
        </p:nvSpPr>
        <p:spPr>
          <a:xfrm>
            <a:off x="640080"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Chị Hạnh</a:t>
            </a:r>
            <a:endParaRPr lang="en-US" sz="1800" dirty="0"/>
          </a:p>
        </p:txBody>
      </p:sp>
      <p:sp>
        <p:nvSpPr>
          <p:cNvPr id="7" name="Text 4"/>
          <p:cNvSpPr txBox="1"/>
          <p:nvPr/>
        </p:nvSpPr>
        <p:spPr>
          <a:xfrm>
            <a:off x="640080"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Roboto" pitchFamily="34" charset="0"/>
                <a:ea typeface="Roboto" pitchFamily="34" charset="-122"/>
                <a:cs typeface="Roboto" pitchFamily="34" charset="-120"/>
              </a:rPr>
              <a:t>GĐ Marketing</a:t>
            </a:r>
            <a:endParaRPr lang="en-US" sz="1300" dirty="0"/>
          </a:p>
        </p:txBody>
      </p:sp>
      <p:sp>
        <p:nvSpPr>
          <p:cNvPr id="8" name="Text 5"/>
          <p:cNvSpPr txBox="1"/>
          <p:nvPr/>
        </p:nvSpPr>
        <p:spPr>
          <a:xfrm>
            <a:off x="640080"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làm với Nova 4 năm; chịu áp lực đổi mới</a:t>
            </a:r>
            <a:endParaRPr lang="en-US" sz="1400" dirty="0"/>
          </a:p>
        </p:txBody>
      </p:sp>
      <p:sp>
        <p:nvSpPr>
          <p:cNvPr id="9" name="Shape 6"/>
          <p:cNvSpPr/>
          <p:nvPr/>
        </p:nvSpPr>
        <p:spPr>
          <a:xfrm>
            <a:off x="2807208" y="1783080"/>
            <a:ext cx="2057400" cy="3931920"/>
          </a:xfrm>
          <a:prstGeom prst="roundRect">
            <a:avLst>
              <a:gd name="adj" fmla="val 3556"/>
            </a:avLst>
          </a:prstGeom>
          <a:solidFill>
            <a:srgbClr val="22395F"/>
          </a:solidFill>
          <a:ln w="12700">
            <a:solidFill>
              <a:srgbClr val="22395F"/>
            </a:solidFill>
            <a:prstDash val="solid"/>
          </a:ln>
        </p:spPr>
      </p:sp>
      <p:sp>
        <p:nvSpPr>
          <p:cNvPr id="10" name="Shape 7"/>
          <p:cNvSpPr/>
          <p:nvPr/>
        </p:nvSpPr>
        <p:spPr>
          <a:xfrm>
            <a:off x="3374136" y="1965960"/>
            <a:ext cx="914400" cy="914400"/>
          </a:xfrm>
          <a:prstGeom prst="ellipse">
            <a:avLst/>
          </a:prstGeom>
          <a:solidFill>
            <a:srgbClr val="FF5178"/>
          </a:solidFill>
          <a:ln w="12700">
            <a:solidFill>
              <a:srgbClr val="FF5178"/>
            </a:solidFill>
            <a:prstDash val="solid"/>
          </a:ln>
        </p:spPr>
      </p:sp>
      <p:pic>
        <p:nvPicPr>
          <p:cNvPr id="11" name="Image 1" descr="preencoded.png">    </p:cNvPr>
          <p:cNvPicPr>
            <a:picLocks noChangeAspect="1"/>
          </p:cNvPicPr>
          <p:nvPr/>
        </p:nvPicPr>
        <p:blipFill>
          <a:blip r:embed="rId2"/>
          <a:stretch>
            <a:fillRect/>
          </a:stretch>
        </p:blipFill>
        <p:spPr>
          <a:xfrm>
            <a:off x="3575304" y="2167128"/>
            <a:ext cx="512064" cy="512064"/>
          </a:xfrm>
          <a:prstGeom prst="rect">
            <a:avLst/>
          </a:prstGeom>
        </p:spPr>
      </p:pic>
      <p:sp>
        <p:nvSpPr>
          <p:cNvPr id="12" name="Text 8"/>
          <p:cNvSpPr txBox="1"/>
          <p:nvPr/>
        </p:nvSpPr>
        <p:spPr>
          <a:xfrm>
            <a:off x="2898648"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Roboto" pitchFamily="34" charset="0"/>
                <a:ea typeface="Roboto" pitchFamily="34" charset="-122"/>
                <a:cs typeface="Roboto" pitchFamily="34" charset="-120"/>
              </a:rPr>
              <a:t>Ông Tuấn</a:t>
            </a:r>
            <a:endParaRPr lang="en-US" sz="1800" dirty="0"/>
          </a:p>
        </p:txBody>
      </p:sp>
      <p:sp>
        <p:nvSpPr>
          <p:cNvPr id="13" name="Text 9"/>
          <p:cNvSpPr txBox="1"/>
          <p:nvPr/>
        </p:nvSpPr>
        <p:spPr>
          <a:xfrm>
            <a:off x="2898648"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Roboto" pitchFamily="34" charset="0"/>
                <a:ea typeface="Roboto" pitchFamily="34" charset="-122"/>
                <a:cs typeface="Roboto" pitchFamily="34" charset="-120"/>
              </a:rPr>
              <a:t>Phó TGĐ khối Marketing – Truyền thông</a:t>
            </a:r>
            <a:endParaRPr lang="en-US" sz="1300" dirty="0"/>
          </a:p>
        </p:txBody>
      </p:sp>
      <p:sp>
        <p:nvSpPr>
          <p:cNvPr id="14" name="Text 10"/>
          <p:cNvSpPr txBox="1"/>
          <p:nvPr/>
        </p:nvSpPr>
        <p:spPr>
          <a:xfrm>
            <a:off x="2898648"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chỉ bắt tay Nova ở gala; quan tâm giữ khách lớn</a:t>
            </a:r>
            <a:endParaRPr lang="en-US" sz="1400" dirty="0"/>
          </a:p>
        </p:txBody>
      </p:sp>
      <p:sp>
        <p:nvSpPr>
          <p:cNvPr id="15" name="Shape 11"/>
          <p:cNvSpPr/>
          <p:nvPr/>
        </p:nvSpPr>
        <p:spPr>
          <a:xfrm>
            <a:off x="5065776" y="1783080"/>
            <a:ext cx="2057400" cy="3931920"/>
          </a:xfrm>
          <a:prstGeom prst="roundRect">
            <a:avLst>
              <a:gd name="adj" fmla="val 3556"/>
            </a:avLst>
          </a:prstGeom>
          <a:solidFill>
            <a:srgbClr val="22395F"/>
          </a:solidFill>
          <a:ln w="12700">
            <a:solidFill>
              <a:srgbClr val="22395F"/>
            </a:solidFill>
            <a:prstDash val="solid"/>
          </a:ln>
        </p:spPr>
      </p:sp>
      <p:sp>
        <p:nvSpPr>
          <p:cNvPr id="16" name="Shape 12"/>
          <p:cNvSpPr/>
          <p:nvPr/>
        </p:nvSpPr>
        <p:spPr>
          <a:xfrm>
            <a:off x="5632704" y="1965960"/>
            <a:ext cx="914400" cy="91440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5833872" y="2167128"/>
            <a:ext cx="512064" cy="512064"/>
          </a:xfrm>
          <a:prstGeom prst="rect">
            <a:avLst/>
          </a:prstGeom>
        </p:spPr>
      </p:pic>
      <p:sp>
        <p:nvSpPr>
          <p:cNvPr id="18" name="Text 13"/>
          <p:cNvSpPr txBox="1"/>
          <p:nvPr/>
        </p:nvSpPr>
        <p:spPr>
          <a:xfrm>
            <a:off x="5157216"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Anh Khoa</a:t>
            </a:r>
            <a:endParaRPr lang="en-US" sz="1800" dirty="0"/>
          </a:p>
        </p:txBody>
      </p:sp>
      <p:sp>
        <p:nvSpPr>
          <p:cNvPr id="19" name="Text 14"/>
          <p:cNvSpPr txBox="1"/>
          <p:nvPr/>
        </p:nvSpPr>
        <p:spPr>
          <a:xfrm>
            <a:off x="5157216"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Roboto" pitchFamily="34" charset="0"/>
                <a:ea typeface="Roboto" pitchFamily="34" charset="-122"/>
                <a:cs typeface="Roboto" pitchFamily="34" charset="-120"/>
              </a:rPr>
              <a:t>Ngân sách – mua sắm</a:t>
            </a:r>
            <a:endParaRPr lang="en-US" sz="1300" dirty="0"/>
          </a:p>
        </p:txBody>
      </p:sp>
      <p:sp>
        <p:nvSpPr>
          <p:cNvPr id="20" name="Text 15"/>
          <p:cNvSpPr txBox="1"/>
          <p:nvPr/>
        </p:nvSpPr>
        <p:spPr>
          <a:xfrm>
            <a:off x="5157216"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chỉ gửi hồ sơ thanh toán; khó tính về quy trình</a:t>
            </a:r>
            <a:endParaRPr lang="en-US" sz="1400" dirty="0"/>
          </a:p>
        </p:txBody>
      </p:sp>
      <p:sp>
        <p:nvSpPr>
          <p:cNvPr id="21" name="Shape 16"/>
          <p:cNvSpPr/>
          <p:nvPr/>
        </p:nvSpPr>
        <p:spPr>
          <a:xfrm>
            <a:off x="7324344" y="1783080"/>
            <a:ext cx="2057400" cy="3931920"/>
          </a:xfrm>
          <a:prstGeom prst="roundRect">
            <a:avLst>
              <a:gd name="adj" fmla="val 3556"/>
            </a:avLst>
          </a:prstGeom>
          <a:solidFill>
            <a:srgbClr val="22395F"/>
          </a:solidFill>
          <a:ln w="12700">
            <a:solidFill>
              <a:srgbClr val="22395F"/>
            </a:solidFill>
            <a:prstDash val="solid"/>
          </a:ln>
        </p:spPr>
      </p:sp>
      <p:sp>
        <p:nvSpPr>
          <p:cNvPr id="22" name="Shape 17"/>
          <p:cNvSpPr/>
          <p:nvPr/>
        </p:nvSpPr>
        <p:spPr>
          <a:xfrm>
            <a:off x="7891272" y="196596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8092440" y="2167128"/>
            <a:ext cx="512064" cy="512064"/>
          </a:xfrm>
          <a:prstGeom prst="rect">
            <a:avLst/>
          </a:prstGeom>
        </p:spPr>
      </p:pic>
      <p:sp>
        <p:nvSpPr>
          <p:cNvPr id="24" name="Text 18"/>
          <p:cNvSpPr txBox="1"/>
          <p:nvPr/>
        </p:nvSpPr>
        <p:spPr>
          <a:xfrm>
            <a:off x="7415784"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Roboto" pitchFamily="34" charset="0"/>
                <a:ea typeface="Roboto" pitchFamily="34" charset="-122"/>
                <a:cs typeface="Roboto" pitchFamily="34" charset="-120"/>
              </a:rPr>
              <a:t>Chị Lan</a:t>
            </a:r>
            <a:endParaRPr lang="en-US" sz="1800" dirty="0"/>
          </a:p>
        </p:txBody>
      </p:sp>
      <p:sp>
        <p:nvSpPr>
          <p:cNvPr id="25" name="Text 19"/>
          <p:cNvSpPr txBox="1"/>
          <p:nvPr/>
        </p:nvSpPr>
        <p:spPr>
          <a:xfrm>
            <a:off x="7415784"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Roboto" pitchFamily="34" charset="0"/>
                <a:ea typeface="Roboto" pitchFamily="34" charset="-122"/>
                <a:cs typeface="Roboto" pitchFamily="34" charset="-120"/>
              </a:rPr>
              <a:t>Truyền thông nội bộ</a:t>
            </a:r>
            <a:endParaRPr lang="en-US" sz="1300" dirty="0"/>
          </a:p>
        </p:txBody>
      </p:sp>
      <p:sp>
        <p:nvSpPr>
          <p:cNvPr id="26" name="Text 20"/>
          <p:cNvSpPr txBox="1"/>
          <p:nvPr/>
        </p:nvSpPr>
        <p:spPr>
          <a:xfrm>
            <a:off x="7415784"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lo livestream 80 chi nhánh; năm ngoái bị chậm</a:t>
            </a:r>
            <a:endParaRPr lang="en-US" sz="1400" dirty="0"/>
          </a:p>
        </p:txBody>
      </p:sp>
      <p:sp>
        <p:nvSpPr>
          <p:cNvPr id="27" name="Shape 21"/>
          <p:cNvSpPr/>
          <p:nvPr/>
        </p:nvSpPr>
        <p:spPr>
          <a:xfrm>
            <a:off x="9582912" y="1783080"/>
            <a:ext cx="2057400" cy="3931920"/>
          </a:xfrm>
          <a:prstGeom prst="roundRect">
            <a:avLst>
              <a:gd name="adj" fmla="val 3556"/>
            </a:avLst>
          </a:prstGeom>
          <a:solidFill>
            <a:srgbClr val="22395F"/>
          </a:solidFill>
          <a:ln w="12700">
            <a:solidFill>
              <a:srgbClr val="22395F"/>
            </a:solidFill>
            <a:prstDash val="solid"/>
          </a:ln>
        </p:spPr>
      </p:sp>
      <p:sp>
        <p:nvSpPr>
          <p:cNvPr id="28" name="Shape 22"/>
          <p:cNvSpPr/>
          <p:nvPr/>
        </p:nvSpPr>
        <p:spPr>
          <a:xfrm>
            <a:off x="10149840" y="1965960"/>
            <a:ext cx="914400" cy="914400"/>
          </a:xfrm>
          <a:prstGeom prst="ellipse">
            <a:avLst/>
          </a:prstGeom>
          <a:solidFill>
            <a:srgbClr val="FF9259"/>
          </a:solidFill>
          <a:ln w="12700">
            <a:solidFill>
              <a:srgbClr val="FF9259"/>
            </a:solidFill>
            <a:prstDash val="solid"/>
          </a:ln>
        </p:spPr>
      </p:sp>
      <p:pic>
        <p:nvPicPr>
          <p:cNvPr id="29" name="Image 4" descr="preencoded.png">    </p:cNvPr>
          <p:cNvPicPr>
            <a:picLocks noChangeAspect="1"/>
          </p:cNvPicPr>
          <p:nvPr/>
        </p:nvPicPr>
        <p:blipFill>
          <a:blip r:embed="rId5"/>
          <a:stretch>
            <a:fillRect/>
          </a:stretch>
        </p:blipFill>
        <p:spPr>
          <a:xfrm>
            <a:off x="10351008" y="2167128"/>
            <a:ext cx="512064" cy="512064"/>
          </a:xfrm>
          <a:prstGeom prst="rect">
            <a:avLst/>
          </a:prstGeom>
        </p:spPr>
      </p:pic>
      <p:sp>
        <p:nvSpPr>
          <p:cNvPr id="30" name="Text 23"/>
          <p:cNvSpPr txBox="1"/>
          <p:nvPr/>
        </p:nvSpPr>
        <p:spPr>
          <a:xfrm>
            <a:off x="9674352"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9259"/>
                </a:solidFill>
                <a:latin typeface="Roboto" pitchFamily="34" charset="0"/>
                <a:ea typeface="Roboto" pitchFamily="34" charset="-122"/>
                <a:cs typeface="Roboto" pitchFamily="34" charset="-120"/>
              </a:rPr>
              <a:t>Chị Vy</a:t>
            </a:r>
            <a:endParaRPr lang="en-US" sz="1800" dirty="0"/>
          </a:p>
        </p:txBody>
      </p:sp>
      <p:sp>
        <p:nvSpPr>
          <p:cNvPr id="31" name="Text 24"/>
          <p:cNvSpPr txBox="1"/>
          <p:nvPr/>
        </p:nvSpPr>
        <p:spPr>
          <a:xfrm>
            <a:off x="9674352"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Roboto" pitchFamily="34" charset="0"/>
                <a:ea typeface="Roboto" pitchFamily="34" charset="-122"/>
                <a:cs typeface="Roboto" pitchFamily="34" charset="-120"/>
              </a:rPr>
              <a:t>Trưởng nhóm Thương hiệu</a:t>
            </a:r>
            <a:endParaRPr lang="en-US" sz="1300" dirty="0"/>
          </a:p>
        </p:txBody>
      </p:sp>
      <p:sp>
        <p:nvSpPr>
          <p:cNvPr id="32" name="Text 25"/>
          <p:cNvSpPr txBox="1"/>
          <p:nvPr/>
        </p:nvSpPr>
        <p:spPr>
          <a:xfrm>
            <a:off x="9674352"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Roboto" pitchFamily="34" charset="0"/>
                <a:ea typeface="Roboto" pitchFamily="34" charset="-122"/>
                <a:cs typeface="Roboto" pitchFamily="34" charset="-120"/>
              </a:rPr>
              <a:t>chưa làm việc trực tiếp với Nova</a:t>
            </a:r>
            <a:endParaRPr lang="en-US" sz="1400" dirty="0"/>
          </a:p>
        </p:txBody>
      </p:sp>
      <p:sp>
        <p:nvSpPr>
          <p:cNvPr id="33" name="Text 26"/>
          <p:cNvSpPr txBox="1"/>
          <p:nvPr/>
        </p:nvSpPr>
        <p:spPr>
          <a:xfrm>
            <a:off x="9966960" y="585216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GRASP: năm câu hỏi về từng thành viên của DMU</a:t>
            </a:r>
            <a:endParaRPr lang="en-US" sz="2800" dirty="0"/>
          </a:p>
        </p:txBody>
      </p:sp>
      <p:sp>
        <p:nvSpPr>
          <p:cNvPr id="3" name="Shape 1"/>
          <p:cNvSpPr/>
          <p:nvPr/>
        </p:nvSpPr>
        <p:spPr>
          <a:xfrm>
            <a:off x="548640" y="1691640"/>
            <a:ext cx="777240" cy="713232"/>
          </a:xfrm>
          <a:prstGeom prst="roundRect">
            <a:avLst>
              <a:gd name="adj" fmla="val 10256"/>
            </a:avLst>
          </a:prstGeom>
          <a:solidFill>
            <a:srgbClr val="49B296"/>
          </a:solidFill>
          <a:ln w="12700">
            <a:solidFill>
              <a:srgbClr val="49B296"/>
            </a:solidFill>
            <a:prstDash val="solid"/>
          </a:ln>
        </p:spPr>
      </p:sp>
      <p:sp>
        <p:nvSpPr>
          <p:cNvPr id="4" name="Text 2"/>
          <p:cNvSpPr txBox="1"/>
          <p:nvPr/>
        </p:nvSpPr>
        <p:spPr>
          <a:xfrm>
            <a:off x="548640" y="169164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G</a:t>
            </a:r>
            <a:endParaRPr lang="en-US" sz="2400" dirty="0"/>
          </a:p>
        </p:txBody>
      </p:sp>
      <p:sp>
        <p:nvSpPr>
          <p:cNvPr id="5" name="Shape 3"/>
          <p:cNvSpPr/>
          <p:nvPr/>
        </p:nvSpPr>
        <p:spPr>
          <a:xfrm>
            <a:off x="1463040" y="1691640"/>
            <a:ext cx="10177272"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645920" y="1691640"/>
            <a:ext cx="2743200" cy="713232"/>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Goal · Mục tiêu</a:t>
            </a:r>
            <a:endParaRPr lang="en-US" sz="1700" dirty="0"/>
          </a:p>
        </p:txBody>
      </p:sp>
      <p:sp>
        <p:nvSpPr>
          <p:cNvPr id="7" name="Text 5"/>
          <p:cNvSpPr txBox="1"/>
          <p:nvPr/>
        </p:nvSpPr>
        <p:spPr>
          <a:xfrm>
            <a:off x="4389120" y="169164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Mục tiêu và kế hoạch hành động của chúng ta đối với thành viên DMU này là gì?</a:t>
            </a:r>
            <a:endParaRPr lang="en-US" sz="1600" dirty="0"/>
          </a:p>
        </p:txBody>
      </p:sp>
      <p:sp>
        <p:nvSpPr>
          <p:cNvPr id="8" name="Shape 6"/>
          <p:cNvSpPr/>
          <p:nvPr/>
        </p:nvSpPr>
        <p:spPr>
          <a:xfrm>
            <a:off x="548640" y="2514600"/>
            <a:ext cx="777240" cy="713232"/>
          </a:xfrm>
          <a:prstGeom prst="roundRect">
            <a:avLst>
              <a:gd name="adj" fmla="val 10256"/>
            </a:avLst>
          </a:prstGeom>
          <a:solidFill>
            <a:srgbClr val="FFD23B"/>
          </a:solidFill>
          <a:ln w="12700">
            <a:solidFill>
              <a:srgbClr val="FFD23B"/>
            </a:solidFill>
            <a:prstDash val="solid"/>
          </a:ln>
        </p:spPr>
      </p:sp>
      <p:sp>
        <p:nvSpPr>
          <p:cNvPr id="9" name="Text 7"/>
          <p:cNvSpPr txBox="1"/>
          <p:nvPr/>
        </p:nvSpPr>
        <p:spPr>
          <a:xfrm>
            <a:off x="548640" y="251460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R</a:t>
            </a:r>
            <a:endParaRPr lang="en-US" sz="2400" dirty="0"/>
          </a:p>
        </p:txBody>
      </p:sp>
      <p:sp>
        <p:nvSpPr>
          <p:cNvPr id="10" name="Shape 8"/>
          <p:cNvSpPr/>
          <p:nvPr/>
        </p:nvSpPr>
        <p:spPr>
          <a:xfrm>
            <a:off x="1463040" y="2514600"/>
            <a:ext cx="10177272" cy="713232"/>
          </a:xfrm>
          <a:prstGeom prst="roundRect">
            <a:avLst>
              <a:gd name="adj" fmla="val 10256"/>
            </a:avLst>
          </a:prstGeom>
          <a:solidFill>
            <a:srgbClr val="22395F"/>
          </a:solidFill>
          <a:ln w="12700">
            <a:solidFill>
              <a:srgbClr val="22395F"/>
            </a:solidFill>
            <a:prstDash val="solid"/>
          </a:ln>
        </p:spPr>
      </p:sp>
      <p:sp>
        <p:nvSpPr>
          <p:cNvPr id="11" name="Text 9"/>
          <p:cNvSpPr txBox="1"/>
          <p:nvPr/>
        </p:nvSpPr>
        <p:spPr>
          <a:xfrm>
            <a:off x="1645920" y="2514600"/>
            <a:ext cx="2743200" cy="713232"/>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Role · Vai trò</a:t>
            </a:r>
            <a:endParaRPr lang="en-US" sz="1700" dirty="0"/>
          </a:p>
        </p:txBody>
      </p:sp>
      <p:sp>
        <p:nvSpPr>
          <p:cNvPr id="12" name="Text 10"/>
          <p:cNvSpPr txBox="1"/>
          <p:nvPr/>
        </p:nvSpPr>
        <p:spPr>
          <a:xfrm>
            <a:off x="4389120" y="251460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Vai trò của thành viên này trong đơn vị ra quyết định?</a:t>
            </a:r>
            <a:endParaRPr lang="en-US" sz="1600" dirty="0"/>
          </a:p>
        </p:txBody>
      </p:sp>
      <p:sp>
        <p:nvSpPr>
          <p:cNvPr id="13" name="Shape 11"/>
          <p:cNvSpPr/>
          <p:nvPr/>
        </p:nvSpPr>
        <p:spPr>
          <a:xfrm>
            <a:off x="548640" y="3337560"/>
            <a:ext cx="777240" cy="713232"/>
          </a:xfrm>
          <a:prstGeom prst="roundRect">
            <a:avLst>
              <a:gd name="adj" fmla="val 10256"/>
            </a:avLst>
          </a:prstGeom>
          <a:solidFill>
            <a:srgbClr val="FF9259"/>
          </a:solidFill>
          <a:ln w="12700">
            <a:solidFill>
              <a:srgbClr val="FF9259"/>
            </a:solidFill>
            <a:prstDash val="solid"/>
          </a:ln>
        </p:spPr>
      </p:sp>
      <p:sp>
        <p:nvSpPr>
          <p:cNvPr id="14" name="Text 12"/>
          <p:cNvSpPr txBox="1"/>
          <p:nvPr/>
        </p:nvSpPr>
        <p:spPr>
          <a:xfrm>
            <a:off x="548640" y="333756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A</a:t>
            </a:r>
            <a:endParaRPr lang="en-US" sz="2400" dirty="0"/>
          </a:p>
        </p:txBody>
      </p:sp>
      <p:sp>
        <p:nvSpPr>
          <p:cNvPr id="15" name="Shape 13"/>
          <p:cNvSpPr/>
          <p:nvPr/>
        </p:nvSpPr>
        <p:spPr>
          <a:xfrm>
            <a:off x="1463040" y="3337560"/>
            <a:ext cx="10177272" cy="713232"/>
          </a:xfrm>
          <a:prstGeom prst="roundRect">
            <a:avLst>
              <a:gd name="adj" fmla="val 10256"/>
            </a:avLst>
          </a:prstGeom>
          <a:solidFill>
            <a:srgbClr val="22395F"/>
          </a:solidFill>
          <a:ln w="12700">
            <a:solidFill>
              <a:srgbClr val="22395F"/>
            </a:solidFill>
            <a:prstDash val="solid"/>
          </a:ln>
        </p:spPr>
      </p:sp>
      <p:sp>
        <p:nvSpPr>
          <p:cNvPr id="16" name="Text 14"/>
          <p:cNvSpPr txBox="1"/>
          <p:nvPr/>
        </p:nvSpPr>
        <p:spPr>
          <a:xfrm>
            <a:off x="1645920" y="3337560"/>
            <a:ext cx="2743200" cy="713232"/>
          </a:xfrm>
          <a:prstGeom prst="rect">
            <a:avLst/>
          </a:prstGeom>
          <a:noFill/>
          <a:ln/>
        </p:spPr>
        <p:txBody>
          <a:bodyPr wrap="square" lIns="635" tIns="635" rIns="635" bIns="635" rtlCol="0" anchor="ctr"/>
          <a:lstStyle/>
          <a:p>
            <a:pPr indent="0" marL="0">
              <a:buNone/>
            </a:pPr>
            <a:r>
              <a:rPr lang="en-US" sz="1700" b="1" dirty="0">
                <a:solidFill>
                  <a:srgbClr val="FF9259"/>
                </a:solidFill>
                <a:latin typeface="Roboto" pitchFamily="34" charset="0"/>
                <a:ea typeface="Roboto" pitchFamily="34" charset="-122"/>
                <a:cs typeface="Roboto" pitchFamily="34" charset="-120"/>
              </a:rPr>
              <a:t>Appeal · Hấp dẫn</a:t>
            </a:r>
            <a:endParaRPr lang="en-US" sz="1700" dirty="0"/>
          </a:p>
        </p:txBody>
      </p:sp>
      <p:sp>
        <p:nvSpPr>
          <p:cNvPr id="17" name="Text 15"/>
          <p:cNvSpPr txBox="1"/>
          <p:nvPr/>
        </p:nvSpPr>
        <p:spPr>
          <a:xfrm>
            <a:off x="4389120" y="333756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Điều gì hấp dẫn thành viên này về phương án?</a:t>
            </a:r>
            <a:endParaRPr lang="en-US" sz="1600" dirty="0"/>
          </a:p>
        </p:txBody>
      </p:sp>
      <p:sp>
        <p:nvSpPr>
          <p:cNvPr id="18" name="Shape 16"/>
          <p:cNvSpPr/>
          <p:nvPr/>
        </p:nvSpPr>
        <p:spPr>
          <a:xfrm>
            <a:off x="548640" y="4160520"/>
            <a:ext cx="777240" cy="713232"/>
          </a:xfrm>
          <a:prstGeom prst="roundRect">
            <a:avLst>
              <a:gd name="adj" fmla="val 10256"/>
            </a:avLst>
          </a:prstGeom>
          <a:solidFill>
            <a:srgbClr val="09A1E5"/>
          </a:solidFill>
          <a:ln w="12700">
            <a:solidFill>
              <a:srgbClr val="09A1E5"/>
            </a:solidFill>
            <a:prstDash val="solid"/>
          </a:ln>
        </p:spPr>
      </p:sp>
      <p:sp>
        <p:nvSpPr>
          <p:cNvPr id="19" name="Text 17"/>
          <p:cNvSpPr txBox="1"/>
          <p:nvPr/>
        </p:nvSpPr>
        <p:spPr>
          <a:xfrm>
            <a:off x="548640" y="416052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S</a:t>
            </a:r>
            <a:endParaRPr lang="en-US" sz="2400" dirty="0"/>
          </a:p>
        </p:txBody>
      </p:sp>
      <p:sp>
        <p:nvSpPr>
          <p:cNvPr id="20" name="Shape 18"/>
          <p:cNvSpPr/>
          <p:nvPr/>
        </p:nvSpPr>
        <p:spPr>
          <a:xfrm>
            <a:off x="1463040" y="4160520"/>
            <a:ext cx="10177272" cy="713232"/>
          </a:xfrm>
          <a:prstGeom prst="roundRect">
            <a:avLst>
              <a:gd name="adj" fmla="val 10256"/>
            </a:avLst>
          </a:prstGeom>
          <a:solidFill>
            <a:srgbClr val="22395F"/>
          </a:solidFill>
          <a:ln w="12700">
            <a:solidFill>
              <a:srgbClr val="22395F"/>
            </a:solidFill>
            <a:prstDash val="solid"/>
          </a:ln>
        </p:spPr>
      </p:sp>
      <p:sp>
        <p:nvSpPr>
          <p:cNvPr id="21" name="Text 19"/>
          <p:cNvSpPr txBox="1"/>
          <p:nvPr/>
        </p:nvSpPr>
        <p:spPr>
          <a:xfrm>
            <a:off x="1645920" y="4160520"/>
            <a:ext cx="2743200" cy="713232"/>
          </a:xfrm>
          <a:prstGeom prst="rect">
            <a:avLst/>
          </a:prstGeom>
          <a:noFill/>
          <a:ln/>
        </p:spPr>
        <p:txBody>
          <a:bodyPr wrap="square" lIns="635" tIns="635" rIns="635" bIns="635" rtlCol="0" anchor="ctr"/>
          <a:lstStyle/>
          <a:p>
            <a:pPr indent="0" marL="0">
              <a:buNone/>
            </a:pPr>
            <a:r>
              <a:rPr lang="en-US" sz="1700" b="1" dirty="0">
                <a:solidFill>
                  <a:srgbClr val="09A1E5"/>
                </a:solidFill>
                <a:latin typeface="Roboto" pitchFamily="34" charset="0"/>
                <a:ea typeface="Roboto" pitchFamily="34" charset="-122"/>
                <a:cs typeface="Roboto" pitchFamily="34" charset="-120"/>
              </a:rPr>
              <a:t>State · Tình trạng</a:t>
            </a:r>
            <a:endParaRPr lang="en-US" sz="1700" dirty="0"/>
          </a:p>
        </p:txBody>
      </p:sp>
      <p:sp>
        <p:nvSpPr>
          <p:cNvPr id="22" name="Text 20"/>
          <p:cNvSpPr txBox="1"/>
          <p:nvPr/>
        </p:nvSpPr>
        <p:spPr>
          <a:xfrm>
            <a:off x="4389120" y="416052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Mối quan hệ với thành viên này như thế nào?</a:t>
            </a:r>
            <a:endParaRPr lang="en-US" sz="1600" dirty="0"/>
          </a:p>
        </p:txBody>
      </p:sp>
      <p:sp>
        <p:nvSpPr>
          <p:cNvPr id="23" name="Shape 21"/>
          <p:cNvSpPr/>
          <p:nvPr/>
        </p:nvSpPr>
        <p:spPr>
          <a:xfrm>
            <a:off x="548640" y="4983480"/>
            <a:ext cx="777240" cy="713232"/>
          </a:xfrm>
          <a:prstGeom prst="roundRect">
            <a:avLst>
              <a:gd name="adj" fmla="val 10256"/>
            </a:avLst>
          </a:prstGeom>
          <a:solidFill>
            <a:srgbClr val="FF5178"/>
          </a:solidFill>
          <a:ln w="12700">
            <a:solidFill>
              <a:srgbClr val="FF5178"/>
            </a:solidFill>
            <a:prstDash val="solid"/>
          </a:ln>
        </p:spPr>
      </p:sp>
      <p:sp>
        <p:nvSpPr>
          <p:cNvPr id="24" name="Text 22"/>
          <p:cNvSpPr txBox="1"/>
          <p:nvPr/>
        </p:nvSpPr>
        <p:spPr>
          <a:xfrm>
            <a:off x="548640" y="498348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P</a:t>
            </a:r>
            <a:endParaRPr lang="en-US" sz="2400" dirty="0"/>
          </a:p>
        </p:txBody>
      </p:sp>
      <p:sp>
        <p:nvSpPr>
          <p:cNvPr id="25" name="Shape 23"/>
          <p:cNvSpPr/>
          <p:nvPr/>
        </p:nvSpPr>
        <p:spPr>
          <a:xfrm>
            <a:off x="1463040" y="4983480"/>
            <a:ext cx="10177272"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1645920" y="4983480"/>
            <a:ext cx="2743200" cy="713232"/>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Power · Quyền lực</a:t>
            </a:r>
            <a:endParaRPr lang="en-US" sz="1700" dirty="0"/>
          </a:p>
        </p:txBody>
      </p:sp>
      <p:sp>
        <p:nvSpPr>
          <p:cNvPr id="27" name="Text 25"/>
          <p:cNvSpPr txBox="1"/>
          <p:nvPr/>
        </p:nvSpPr>
        <p:spPr>
          <a:xfrm>
            <a:off x="4389120" y="498348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Trình độ và quyền lực của thành viên này như thế nào?</a:t>
            </a:r>
            <a:endParaRPr lang="en-US" sz="160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3 — Phương pháp GRASP để phân tích DMU.</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GRASP của chị Hạnh: người ta gặp nhiều nhất chưa phải người quyết định cuối</a:t>
            </a:r>
            <a:endParaRPr lang="en-US" sz="2800" dirty="0"/>
          </a:p>
        </p:txBody>
      </p:sp>
      <p:sp>
        <p:nvSpPr>
          <p:cNvPr id="3" name="Shape 1"/>
          <p:cNvSpPr/>
          <p:nvPr/>
        </p:nvSpPr>
        <p:spPr>
          <a:xfrm>
            <a:off x="548640" y="1691640"/>
            <a:ext cx="777240" cy="713232"/>
          </a:xfrm>
          <a:prstGeom prst="roundRect">
            <a:avLst>
              <a:gd name="adj" fmla="val 10256"/>
            </a:avLst>
          </a:prstGeom>
          <a:solidFill>
            <a:srgbClr val="49B296"/>
          </a:solidFill>
          <a:ln w="12700">
            <a:solidFill>
              <a:srgbClr val="49B296"/>
            </a:solidFill>
            <a:prstDash val="solid"/>
          </a:ln>
        </p:spPr>
      </p:sp>
      <p:sp>
        <p:nvSpPr>
          <p:cNvPr id="4" name="Text 2"/>
          <p:cNvSpPr txBox="1"/>
          <p:nvPr/>
        </p:nvSpPr>
        <p:spPr>
          <a:xfrm>
            <a:off x="548640" y="169164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G</a:t>
            </a:r>
            <a:endParaRPr lang="en-US" sz="2400" dirty="0"/>
          </a:p>
        </p:txBody>
      </p:sp>
      <p:sp>
        <p:nvSpPr>
          <p:cNvPr id="5" name="Shape 3"/>
          <p:cNvSpPr/>
          <p:nvPr/>
        </p:nvSpPr>
        <p:spPr>
          <a:xfrm>
            <a:off x="1463040" y="1691640"/>
            <a:ext cx="10177272"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645920" y="169164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Nova muốn chị Hạnh đồng ý đưa đề xuất chương trình cả năm lên ông Tuấn — họp riêng trước tháng 9</a:t>
            </a:r>
            <a:endParaRPr lang="en-US" sz="1700" dirty="0"/>
          </a:p>
        </p:txBody>
      </p:sp>
      <p:sp>
        <p:nvSpPr>
          <p:cNvPr id="7" name="Shape 5"/>
          <p:cNvSpPr/>
          <p:nvPr/>
        </p:nvSpPr>
        <p:spPr>
          <a:xfrm>
            <a:off x="548640" y="2514600"/>
            <a:ext cx="777240" cy="713232"/>
          </a:xfrm>
          <a:prstGeom prst="roundRect">
            <a:avLst>
              <a:gd name="adj" fmla="val 10256"/>
            </a:avLst>
          </a:prstGeom>
          <a:solidFill>
            <a:srgbClr val="FFD23B"/>
          </a:solidFill>
          <a:ln w="12700">
            <a:solidFill>
              <a:srgbClr val="FFD23B"/>
            </a:solidFill>
            <a:prstDash val="solid"/>
          </a:ln>
        </p:spPr>
      </p:sp>
      <p:sp>
        <p:nvSpPr>
          <p:cNvPr id="8" name="Text 6"/>
          <p:cNvSpPr txBox="1"/>
          <p:nvPr/>
        </p:nvSpPr>
        <p:spPr>
          <a:xfrm>
            <a:off x="548640" y="251460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R</a:t>
            </a:r>
            <a:endParaRPr lang="en-US" sz="2400" dirty="0"/>
          </a:p>
        </p:txBody>
      </p:sp>
      <p:sp>
        <p:nvSpPr>
          <p:cNvPr id="9" name="Shape 7"/>
          <p:cNvSpPr/>
          <p:nvPr/>
        </p:nvSpPr>
        <p:spPr>
          <a:xfrm>
            <a:off x="1463040" y="2514600"/>
            <a:ext cx="10177272"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1645920" y="251460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Đầu mối chính, người khởi xướng và ảnh hưởng; đề xuất lên lãnh đạo</a:t>
            </a:r>
            <a:endParaRPr lang="en-US" sz="1700" dirty="0"/>
          </a:p>
        </p:txBody>
      </p:sp>
      <p:sp>
        <p:nvSpPr>
          <p:cNvPr id="11" name="Shape 9"/>
          <p:cNvSpPr/>
          <p:nvPr/>
        </p:nvSpPr>
        <p:spPr>
          <a:xfrm>
            <a:off x="548640" y="3337560"/>
            <a:ext cx="777240" cy="713232"/>
          </a:xfrm>
          <a:prstGeom prst="roundRect">
            <a:avLst>
              <a:gd name="adj" fmla="val 10256"/>
            </a:avLst>
          </a:prstGeom>
          <a:solidFill>
            <a:srgbClr val="FF9259"/>
          </a:solidFill>
          <a:ln w="12700">
            <a:solidFill>
              <a:srgbClr val="FF9259"/>
            </a:solidFill>
            <a:prstDash val="solid"/>
          </a:ln>
        </p:spPr>
      </p:sp>
      <p:sp>
        <p:nvSpPr>
          <p:cNvPr id="12" name="Text 10"/>
          <p:cNvSpPr txBox="1"/>
          <p:nvPr/>
        </p:nvSpPr>
        <p:spPr>
          <a:xfrm>
            <a:off x="548640" y="333756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A</a:t>
            </a:r>
            <a:endParaRPr lang="en-US" sz="2400" dirty="0"/>
          </a:p>
        </p:txBody>
      </p:sp>
      <p:sp>
        <p:nvSpPr>
          <p:cNvPr id="13" name="Shape 11"/>
          <p:cNvSpPr/>
          <p:nvPr/>
        </p:nvSpPr>
        <p:spPr>
          <a:xfrm>
            <a:off x="1463040" y="3337560"/>
            <a:ext cx="10177272"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1645920" y="333756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Ý tưởng mới nhưng an toàn cho thương hiệu ngân hàng</a:t>
            </a:r>
            <a:endParaRPr lang="en-US" sz="1700" dirty="0"/>
          </a:p>
        </p:txBody>
      </p:sp>
      <p:sp>
        <p:nvSpPr>
          <p:cNvPr id="15" name="Shape 13"/>
          <p:cNvSpPr/>
          <p:nvPr/>
        </p:nvSpPr>
        <p:spPr>
          <a:xfrm>
            <a:off x="548640" y="4160520"/>
            <a:ext cx="777240" cy="713232"/>
          </a:xfrm>
          <a:prstGeom prst="roundRect">
            <a:avLst>
              <a:gd name="adj" fmla="val 10256"/>
            </a:avLst>
          </a:prstGeom>
          <a:solidFill>
            <a:srgbClr val="09A1E5"/>
          </a:solidFill>
          <a:ln w="12700">
            <a:solidFill>
              <a:srgbClr val="09A1E5"/>
            </a:solidFill>
            <a:prstDash val="solid"/>
          </a:ln>
        </p:spPr>
      </p:sp>
      <p:sp>
        <p:nvSpPr>
          <p:cNvPr id="16" name="Text 14"/>
          <p:cNvSpPr txBox="1"/>
          <p:nvPr/>
        </p:nvSpPr>
        <p:spPr>
          <a:xfrm>
            <a:off x="548640" y="416052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S</a:t>
            </a:r>
            <a:endParaRPr lang="en-US" sz="2400" dirty="0"/>
          </a:p>
        </p:txBody>
      </p:sp>
      <p:sp>
        <p:nvSpPr>
          <p:cNvPr id="17" name="Shape 15"/>
          <p:cNvSpPr/>
          <p:nvPr/>
        </p:nvSpPr>
        <p:spPr>
          <a:xfrm>
            <a:off x="1463040" y="4160520"/>
            <a:ext cx="10177272"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1645920" y="416052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Tin Nova sau 4 năm, nhưng đang chịu áp lực đổi mới</a:t>
            </a:r>
            <a:endParaRPr lang="en-US" sz="1700" dirty="0"/>
          </a:p>
        </p:txBody>
      </p:sp>
      <p:sp>
        <p:nvSpPr>
          <p:cNvPr id="19" name="Shape 17"/>
          <p:cNvSpPr/>
          <p:nvPr/>
        </p:nvSpPr>
        <p:spPr>
          <a:xfrm>
            <a:off x="548640" y="4983480"/>
            <a:ext cx="777240" cy="713232"/>
          </a:xfrm>
          <a:prstGeom prst="roundRect">
            <a:avLst>
              <a:gd name="adj" fmla="val 10256"/>
            </a:avLst>
          </a:prstGeom>
          <a:solidFill>
            <a:srgbClr val="FF5178"/>
          </a:solidFill>
          <a:ln w="12700">
            <a:solidFill>
              <a:srgbClr val="FF5178"/>
            </a:solidFill>
            <a:prstDash val="solid"/>
          </a:ln>
        </p:spPr>
      </p:sp>
      <p:sp>
        <p:nvSpPr>
          <p:cNvPr id="20" name="Text 18"/>
          <p:cNvSpPr txBox="1"/>
          <p:nvPr/>
        </p:nvSpPr>
        <p:spPr>
          <a:xfrm>
            <a:off x="548640" y="498348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P</a:t>
            </a:r>
            <a:endParaRPr lang="en-US" sz="2400" dirty="0"/>
          </a:p>
        </p:txBody>
      </p:sp>
      <p:sp>
        <p:nvSpPr>
          <p:cNvPr id="21" name="Shape 19"/>
          <p:cNvSpPr/>
          <p:nvPr/>
        </p:nvSpPr>
        <p:spPr>
          <a:xfrm>
            <a:off x="1463040" y="4983480"/>
            <a:ext cx="10177272" cy="713232"/>
          </a:xfrm>
          <a:prstGeom prst="roundRect">
            <a:avLst>
              <a:gd name="adj" fmla="val 10256"/>
            </a:avLst>
          </a:prstGeom>
          <a:solidFill>
            <a:srgbClr val="22395F"/>
          </a:solidFill>
          <a:ln w="12700">
            <a:solidFill>
              <a:srgbClr val="22395F"/>
            </a:solidFill>
            <a:prstDash val="solid"/>
          </a:ln>
        </p:spPr>
      </p:sp>
      <p:sp>
        <p:nvSpPr>
          <p:cNvPr id="22" name="Text 20"/>
          <p:cNvSpPr txBox="1"/>
          <p:nvPr/>
        </p:nvSpPr>
        <p:spPr>
          <a:xfrm>
            <a:off x="1645920" y="498348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Cao trong khâu đề xuất; không phải người phê duyệt cuối</a:t>
            </a:r>
            <a:endParaRPr lang="en-US" sz="1700" dirty="0"/>
          </a:p>
        </p:txBody>
      </p:sp>
      <p:sp>
        <p:nvSpPr>
          <p:cNvPr id="23" name="Text 21"/>
          <p:cNvSpPr txBox="1"/>
          <p:nvPr/>
        </p:nvSpPr>
        <p:spPr>
          <a:xfrm>
            <a:off x="9966960" y="589788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Ở phía khách hàng, quyết định thường nằm cao hơn người ta gặp hằng ngày</a:t>
            </a:r>
            <a:endParaRPr lang="en-US" sz="2800" dirty="0"/>
          </a:p>
        </p:txBody>
      </p:sp>
      <p:sp>
        <p:nvSpPr>
          <p:cNvPr id="3" name="Shape 1"/>
          <p:cNvSpPr/>
          <p:nvPr/>
        </p:nvSpPr>
        <p:spPr>
          <a:xfrm>
            <a:off x="548640" y="1783080"/>
            <a:ext cx="5669280" cy="640080"/>
          </a:xfrm>
          <a:prstGeom prst="roundRect">
            <a:avLst>
              <a:gd name="adj" fmla="val 11429"/>
            </a:avLst>
          </a:prstGeom>
          <a:solidFill>
            <a:srgbClr val="FF5178"/>
          </a:solidFill>
          <a:ln w="12700">
            <a:solidFill>
              <a:srgbClr val="FF5178"/>
            </a:solidFill>
            <a:prstDash val="solid"/>
          </a:ln>
        </p:spPr>
      </p:sp>
      <p:sp>
        <p:nvSpPr>
          <p:cNvPr id="4" name="Text 2"/>
          <p:cNvSpPr txBox="1"/>
          <p:nvPr/>
        </p:nvSpPr>
        <p:spPr>
          <a:xfrm>
            <a:off x="685800" y="1783080"/>
            <a:ext cx="539496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Marketing Director</a:t>
            </a:r>
            <a:endParaRPr lang="en-US" sz="1500" dirty="0"/>
          </a:p>
        </p:txBody>
      </p:sp>
      <p:sp>
        <p:nvSpPr>
          <p:cNvPr id="5" name="Shape 3"/>
          <p:cNvSpPr/>
          <p:nvPr/>
        </p:nvSpPr>
        <p:spPr>
          <a:xfrm>
            <a:off x="822960" y="2560320"/>
            <a:ext cx="5120640" cy="640080"/>
          </a:xfrm>
          <a:prstGeom prst="roundRect">
            <a:avLst>
              <a:gd name="adj" fmla="val 11429"/>
            </a:avLst>
          </a:prstGeom>
          <a:solidFill>
            <a:srgbClr val="FF9259"/>
          </a:solidFill>
          <a:ln w="12700">
            <a:solidFill>
              <a:srgbClr val="FF9259"/>
            </a:solidFill>
            <a:prstDash val="solid"/>
          </a:ln>
        </p:spPr>
      </p:sp>
      <p:sp>
        <p:nvSpPr>
          <p:cNvPr id="6" name="Text 4"/>
          <p:cNvSpPr txBox="1"/>
          <p:nvPr/>
        </p:nvSpPr>
        <p:spPr>
          <a:xfrm>
            <a:off x="960120" y="2560320"/>
            <a:ext cx="484632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Senior Brand Manager / Marketing Manager</a:t>
            </a:r>
            <a:endParaRPr lang="en-US" sz="1500" dirty="0"/>
          </a:p>
        </p:txBody>
      </p:sp>
      <p:sp>
        <p:nvSpPr>
          <p:cNvPr id="7" name="Shape 5"/>
          <p:cNvSpPr/>
          <p:nvPr/>
        </p:nvSpPr>
        <p:spPr>
          <a:xfrm>
            <a:off x="1097280" y="3337560"/>
            <a:ext cx="457200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1234440" y="3337560"/>
            <a:ext cx="429768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Brand Manager</a:t>
            </a:r>
            <a:endParaRPr lang="en-US" sz="1500" dirty="0"/>
          </a:p>
        </p:txBody>
      </p:sp>
      <p:sp>
        <p:nvSpPr>
          <p:cNvPr id="9" name="Shape 7"/>
          <p:cNvSpPr/>
          <p:nvPr/>
        </p:nvSpPr>
        <p:spPr>
          <a:xfrm>
            <a:off x="1371600" y="4114800"/>
            <a:ext cx="4023360" cy="640080"/>
          </a:xfrm>
          <a:prstGeom prst="roundRect">
            <a:avLst>
              <a:gd name="adj" fmla="val 11429"/>
            </a:avLst>
          </a:prstGeom>
          <a:solidFill>
            <a:srgbClr val="49B296"/>
          </a:solidFill>
          <a:ln w="12700">
            <a:solidFill>
              <a:srgbClr val="49B296"/>
            </a:solidFill>
            <a:prstDash val="solid"/>
          </a:ln>
        </p:spPr>
      </p:sp>
      <p:sp>
        <p:nvSpPr>
          <p:cNvPr id="10" name="Text 8"/>
          <p:cNvSpPr txBox="1"/>
          <p:nvPr/>
        </p:nvSpPr>
        <p:spPr>
          <a:xfrm>
            <a:off x="1508760" y="4114800"/>
            <a:ext cx="374904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Assistant Brand Manager</a:t>
            </a:r>
            <a:endParaRPr lang="en-US" sz="1500" dirty="0"/>
          </a:p>
        </p:txBody>
      </p:sp>
      <p:sp>
        <p:nvSpPr>
          <p:cNvPr id="11" name="Shape 9"/>
          <p:cNvSpPr/>
          <p:nvPr/>
        </p:nvSpPr>
        <p:spPr>
          <a:xfrm>
            <a:off x="1645920" y="4892040"/>
            <a:ext cx="3474720" cy="640080"/>
          </a:xfrm>
          <a:prstGeom prst="roundRect">
            <a:avLst>
              <a:gd name="adj" fmla="val 11429"/>
            </a:avLst>
          </a:prstGeom>
          <a:solidFill>
            <a:srgbClr val="09A1E5"/>
          </a:solidFill>
          <a:ln w="12700">
            <a:solidFill>
              <a:srgbClr val="09A1E5"/>
            </a:solidFill>
            <a:prstDash val="solid"/>
          </a:ln>
        </p:spPr>
      </p:sp>
      <p:sp>
        <p:nvSpPr>
          <p:cNvPr id="12" name="Text 10"/>
          <p:cNvSpPr txBox="1"/>
          <p:nvPr/>
        </p:nvSpPr>
        <p:spPr>
          <a:xfrm>
            <a:off x="1783080" y="4892040"/>
            <a:ext cx="320040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Marketing Executive / Intern</a:t>
            </a:r>
            <a:endParaRPr lang="en-US" sz="1500" dirty="0"/>
          </a:p>
        </p:txBody>
      </p:sp>
      <p:sp>
        <p:nvSpPr>
          <p:cNvPr id="13" name="Shape 11"/>
          <p:cNvSpPr/>
          <p:nvPr/>
        </p:nvSpPr>
        <p:spPr>
          <a:xfrm>
            <a:off x="6675120" y="1783080"/>
            <a:ext cx="4965192" cy="3840480"/>
          </a:xfrm>
          <a:prstGeom prst="roundRect">
            <a:avLst>
              <a:gd name="adj" fmla="val 1905"/>
            </a:avLst>
          </a:prstGeom>
          <a:solidFill>
            <a:srgbClr val="22395F"/>
          </a:solidFill>
          <a:ln w="12700">
            <a:solidFill>
              <a:srgbClr val="22395F"/>
            </a:solidFill>
            <a:prstDash val="solid"/>
          </a:ln>
        </p:spPr>
      </p:sp>
      <p:sp>
        <p:nvSpPr>
          <p:cNvPr id="14" name="Text 12"/>
          <p:cNvSpPr txBox="1"/>
          <p:nvPr/>
        </p:nvSpPr>
        <p:spPr>
          <a:xfrm>
            <a:off x="6903720" y="1920240"/>
            <a:ext cx="45720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Marketing service</a:t>
            </a:r>
            <a:endParaRPr lang="en-US" sz="1800" dirty="0"/>
          </a:p>
        </p:txBody>
      </p:sp>
      <p:sp>
        <p:nvSpPr>
          <p:cNvPr id="15" name="Text 13"/>
          <p:cNvSpPr txBox="1"/>
          <p:nvPr/>
        </p:nvSpPr>
        <p:spPr>
          <a:xfrm>
            <a:off x="6949440" y="2468880"/>
            <a:ext cx="4480560" cy="30175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Research</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Media</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Digital</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E-commerce</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Event / OOH: Manager → Assistant → Executive</a:t>
            </a:r>
            <a:endParaRPr lang="en-US" sz="160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3 — Cấu trúc phòng Marketing tại client.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 tìm hiểu khách hàng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Làm PESTEL của ngành sự kiện thay vì của khách hàng</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Coi người liên hệ nhiều nhất là người quyết định</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Chỉ làm hài lòng người quyết định, quên người dùng và gatekeeper</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Chị Lan không ký hợp đồng — nhưng livestream chậm thì chị nhớ.</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Hiểu khách hàng bằng nguồn công khai và điều khách chia sẻ — không moi, không lạm dụng dữ liệu</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Báo cáo thường niên, tin tức, website</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Điều khách chủ động chia sẻ</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Hỏi lại khi không chắc</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Dò thông tin nội bộ qua người quen</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Dùng danh sách khách mời ngoài mục đích được đồng ý</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Kể chuyện khách này cho khách khác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Dữ liệu khách mời là của An Phát — Nova chỉ được dùng đúng việc An Phát đồng ý.</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33 phút: hành trình của khách An Phát và GRASP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12’</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Nửa trái A1: hành trình 1 khách VIP qua 3 giai đoạn, ≥6 điểm chạm, ghi loại B/P/C/S; khoanh ⚠ 1 điểm dễ hỏng nhất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Nửa phải: bảng GRASP cho 5 người; mỗi người 1 việc Nova nên làm; nối người với điểm chạm họ quan tâm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2 vòng, vai chị Hạnh: 1 câu hỏi (note vàng) + 1 “điều Nova hiểu sai về chúng tôi”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một điểm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 đồ hành trình + bảng GRASP — mẫu cho phần A của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Cột G: mục tiêu và kế hoạch của Nova với người đó.</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3 — và phần A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PESTEL và đối thủ của khách hàng → nhu cầu thật; thiếu dữ liệu thì ghi giả định</a:t>
            </a:r>
            <a:endParaRPr lang="en-US" sz="18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Ba giai đoạn, bốn loại điểm chạm; hai lớp hành trình — khách của khách hàng, và chính khách hàng</a:t>
            </a:r>
            <a:endParaRPr lang="en-US" sz="18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Quyết định do DMU; GRASP: mục tiêu của ta, vai trò, điều hấp dẫn, tình trạng quan hệ, quyền lực</a:t>
            </a:r>
            <a:endParaRPr lang="en-US" sz="18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Kế hoạch cuối kỳ: đây là phần A. Value Insights cho khách hàng từ dự án cũ (Buổi 13).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một agency sự kiện cần biết chính sách tín dụng năm 2026?</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Khác nhau giữa điểm chạm partner-owned và social/external là gì? Mỗi loại một ví dụ.</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Trong GRASP, chữ G hỏi về mục tiêu của ai?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Một yếu tố PESTEL của khách hàng trong dự án cũ, và nó tạo ra nhu cầu gì cho khách hàng đó?</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Người có quyền lực cao nhất trong DMU của khách hàng đó là ai? Nhóm đã từng làm việc trực tiếp với người đó chưa?</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4: quan hệ với Key Account đang tốt hay xấu?</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4 · Chất lượng quan hệ</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Hiểu khách hàng rồi, làm sao biết quan hệ đang tốt hay xấu? Đo bằng niềm tin, cam kết — và xung đột chức năng.</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 đồ hành trình và bảng GRASP</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Davies,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The value planning framework for key accounts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Key Account Management Forum.</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80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(6), 69–96.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2: Khách hàng trọng yếu trong sự kiện</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3: Xây dựng mối quan hệ với khách hàng trọng yếu</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VnEconomy. (2026, January 11).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Năm 2026, tín dụng dự kiến tăng thêm 2,79 triệu tỷ đồng, giảm 183.000 tỷ so với 2025</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Webster, F. E., Jr., &amp; Wind, Y. (1972). A general model for understanding organizational buying behavior.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36</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12–19.</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3: Hiểu thế giới của Key Account</dc:title>
  <dc:subject>PptxGenJS Presentation</dc:subject>
  <dc:creator>Đoàn Nguyễn Bảo Quyên</dc:creator>
  <cp:lastModifiedBy>Đoàn Nguyễn Bảo Quyên</cp:lastModifiedBy>
  <cp:revision>1</cp:revision>
  <dcterms:created xsi:type="dcterms:W3CDTF">2026-10-04T04:47:00Z</dcterms:created>
  <dcterms:modified xsi:type="dcterms:W3CDTF">2026-10-04T04:47:01Z</dcterms:modified>
</cp:coreProperties>
</file>