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Đây là học phần EVM1110E Quản trị mối quan hệ trong tổ chức sự kiện, Buổi 1 — Bài 1: Hệ sinh thái các bên liên quan bên ngoài của sự kiện. Giảng viên: Đoàn Nguyễn Bảo Quyên.
(GV: Chưa giới thiệu môn. Chuyển ngay sang slide 2. Kiểm tra nhanh các nhóm đã ngồi theo 6 nhóm chia sẵn chưa.)
Hỏi lớp: —
Chuyển ý: Tôi bắt đầu bằng một câu chuyện có thật ở 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Tháng 12 năm 2011, thành phố cảng Fremantle ở Tây Úc tổ chức Giải vô địch thuyền buồm thế giới ISAF: 789 vận động viên từ 76 quốc gia. Sự kiện tốn 17,6 triệu đô Úc tiền thuế. Sau sự kiện, Bộ trưởng Du lịch bang nói có hơn 7.800 người đến, đem lại 38,6 triệu đô lợi ích kinh tế. Giám đốc sự kiện nói: những người phàn nàn chỉ là những người muốn kiếm tiền từ sự kiện. Nhưng một chủ quầy pizza trong lễ hội đi kèm đã đóng quầy và nói: họ hứa với chúng tôi 200.000 đến 250.000 người trong 16 ngày — họ đâu rồi? Ông lỗ khoảng bốn, năm nghìn đô. Vậy: sự kiện này thành công — với ai?
(GV: Nguồn đã đối chiếu trực tiếp: Holmes et al. (2015), Events and Sustainability, Routledge, tr. 29–31 (NotebookLM ghi nhầm là Getz &amp; Page, 2012). Các con số là phát biểu của từng bên trong sách, không phải số liệu kiểm toán — chưa kiểm chứng chéo, đừng trình bày như sự thật đã đo. Câu trả lời mong đợi: thành công với ban tổ chức và chính quyền bang, thất bại với người bán hàng và doanh nghiệp địa phương; sự kiện có nhiều bên với mục tiêu khác nhau. Ghi lên bảng: “thành công với ai?”.)
Hỏi lớp: “Sự kiện này thành công hay thất bại? Thành công với ai, thất bại với ai?” — 1 phút nghĩ một mình, 1 phút trao đổi với bạn bên cạnh, gọi 2–3 bạn.
Chuyển ý: Các bạn vừa chỉ ra: thành công của một sự kiện phụ thuộc vào nhiều bên, và họ không cùng một mục tiêu.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công ty tổ chức sự kiện — agency — không tự làm ra sự kiện. Địa điểm là của khách sạn hay trung tâm hội nghị. Tiền là của khách hàng và nhà tài trợ. Sự chú ý là của báo chí và KOL. Giấy phép là của cơ quan quản lý. Thiết bị là của nhà cung cấp âm thanh, ánh sáng, màn LED. Nghề agency là điều phối những bên mình không quản lý để sự kiện xảy ra — và khách hàng quay lại.
(GV: Ý chính của cả môn. Nói chậm câu màu vàng.)
Hỏi lớp: —
Chuyển ý: Vì vậy môn học này chỉ tập trung vào một vùng: các bên nằm ngoài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Môn học này chỉ xét các bên liên quan bên ngoài agency: khách hàng — Key Account, nhà đầu tư và nhà tài trợ, nhà cung cấp và địa điểm, báo chí và KOL, khách mời, công chúng, cộng đồng, và cơ quan quản lý. Không thuộc môn này: nhân sự, crew, tình nguyện viên — đó là môn Quản lý đội nhóm trong tổ chức sự kiện; và quản lý, an toàn đám đông — đó là môn Quản trị rủi ro sự kiện.
(GV: Phạm vi “chỉ bên ngoài” là quyết định GV đã ghi trong passport (CLO4 bỏ chữ “nội bộ”). Nhắc lại phạm vi này mỗi khi SV liệt kê nhân sự.)
Hỏi lớp: —
Chuyển ý: Trong các bên ngoài đó, có một bên là trục của cả môn.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Hãy hình dung khách hàng ở giữa — Key Account, khách hàng trọng yếu. Phần 1, Buổi 1: nền tảng — nhìn thấy toàn bộ hệ sinh thái. Phần 2, Buổi 2 đến 8: quản trị quan hệ với Key Account — đây là trục của môn, vì khách hàng là bên quyết định doanh thu năm sau của agency. Phần 3, Buổi 9 đến 12: điều phối nhà tài trợ, nhà cung cấp, địa điểm, truyền thông — mỗi bên được gắn vào một điểm chạm trên hành trình của khách hàng. Phần 4, Buổi 13 đến 15: hoàn thiện và bảo vệ kế hoạch.
(GV: Lịch học: 13 buổi lên lớp + Buổi 14–15 bảo vệ (passport W14, W15).)
Hỏi lớp: —
Chuyển ý: Vậy hết học phần, các bạn làm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Kết thúc học phần, nhóm các bạn có thể: một, phân tích hệ sinh thái và quyền lực của các bên liên quan; hai, xây dựng và đo lường quan hệ với Key Account; ba, điều phối nhà tài trợ, nhà cung cấp, địa điểm, truyền thông quanh hành trình khách hàng; bốn, trình bày và bảo vệ kế hoạch bằng thuật ngữ chuyên môn, có đạo đức nghề nghiệp. Chi tiết trong đề cương trên LMS.
(GV: Đây là CLO1–9 viết lại bằng lời của SV: dòng 1 ≈ CLO2, CLO4; dòng 2 ≈ CLO1; dòng 3 ≈ CLO2, CLO3, CLO5, CLO6; dòng 4 ≈ CLO7, CLO8, CLO9. Không đọc CLO nguyên văn.)
Hỏi lớp: —
Chuyển ý: Cách để đạt được: mỗi buổi thêm một mảnh vào một kế hoạch duy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Bài cuối kỳ là một Stakeholder Management Plan — kế hoạch quản trị các bên liên quan — cho một khách hàng từ dự án sự kiện nhóm đã làm ở môn trước. Không làm dự án mới. Mỗi buổi thêm một mảnh: Buổi 1 bản đồ bên liên quan; Buổi 2 chọn Key Account; Buổi 3 người ra quyết định và hành trình khách hàng; Buổi 4 chất lượng quan hệ; Buổi 5 đề xuất giá trị và đồng kiến tạo; Buổi 6 giá trị vòng đời và chi phí phục vụ; Buổi 7 nhà cung cấp và đàm phán; Buổi 8 cấu trúc quan hệ và đo lường; Buổi 9 nhà đầu tư và nhà tài trợ; Buổi 10 nhà cung ứng và địa điểm; Buổi 11 truyền thông và KOL; Buổi 12 xung đột trong mạng lưới; Buổi 13 ráp kế hoạch theo khung A đến E; Buổi 14–15 bảo vệ trước “Customer Board” — hội đồng khách hàng. Giữa kỳ là thuyết trình và đánh giá làm việc nhóm, tổ chức ngoài giờ hoặc trên LMS.
(GV: Giữa kỳ A3 ngoài giờ/LMS là quyết định GV (passport). [NEEDS PROFESSOR INPUT: ngày giữa kỳ và hạn nộp SMP; quy định nộp trễ.])
Hỏi lớp: —
Chuyển ý: Điểm của học phần được chia như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Chuyên cần 10%. Bài tập nộp LMS 20%. Giữa kỳ: thuyết trình và làm việc nhóm 20%. Cuối kỳ: Stakeholder Management Plan và bảo vệ, 50%. Một nửa số điểm nằm ở kế hoạch cuối kỳ — và kế hoạch đó được xây dần từ hôm nay. Bài làm trên lớp không tính điểm, nhưng là nguyên liệu cho kế hoạch.
(GV: Trọng số theo passport/đề cương (AM1 10, AM2 20, AM3+AM9 20, AM7+AM9 50). [NEEDS PROFESSOR INPUT: nội dung AM2 — bài tập nộp LMS gồm những gì, vì các buổi không giao bài về nhà; quy định chuyên cần.])
Hỏi lớp: —
Chuyển ý: Hai quy ước dùng suốt học phần: AI và trích dẫn.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Với bài cuối kỳ, các bạn được dùng AI, nhưng phải có phụ lục khai báo: dùng công cụ nào, dùng vào việc gì, nhóm đã sửa gì. Phần bảo vệ trực tiếp trước hội đồng mới là phần quyết định — nếu nhóm không giải thích được điều mình viết, kế hoạch không đứng vững. Và tự kiểm chứng mọi số liệu, mọi trích dẫn. Trích dẫn theo APA 7: trong danh mục ghi đủ tác giả và năm — ví dụ Holmes, Hughes, Mair và Carlsen, 2015; trong bài viết ngắn — Holmes và cộng sự, 2015.
(GV: Chính sách AI mức D (cho phép kèm công bố) đã được GV duyệt ở tư liệu Buổi 13; chưa ghi vào passport. Không dùng và không nhắc đến công cụ “phát hiện AI” như một biện pháp liêm chính (shared/ai_era_integrity.md).)
Hỏi lớp: —
Chuyển ý: Giờ vào bài. Tôi hỏi các bạn một câu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khi đọc định nghĩa, hãy đoán: theo bạn, ai là “bên liên quan” của một sự kiện?
(GV: Cho 30 giây. Gọi 3–4 SV. Ghi từ khóa lên bảng. Hay gặp: “người trả tiền”, “người tham dự”. Giữ lại để đối chiếu ở slide sau.)
Hỏi lớp: “Ai là bên liên quan của một sự kiện? Kể nhanh một bên.”
Chuyển ý: Xem ba nguồn định nghĩa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nguồn, ba cách nói. Freeman, năm 1984 — người đặt nền cho lý thuyết bên liên quan: bất kỳ nhóm hoặc cá nhân nào có thể ảnh hưởng đến, hoặc bị ảnh hưởng bởi, việc đạt mục tiêu của tổ chức. Reid và Arcodia, 2002, viết riêng cho sự kiện: nhóm hoặc cá nhân bị ảnh hưởng hoặc có thể bị ảnh hưởng bởi sự tồn tại của sự kiện. Slide bộ môn: cá nhân hoặc nhóm cá nhân có thể gây ảnh hưởng hoặc bị ảnh hưởng bởi các hành động của doanh nghiệp. Cùng một ý: định nghĩa có hai chiều — có thể ảnh hưởng, như nhà tài trợ rút tiền; hoặc bị ảnh hưởng, như cư dân chịu tiếng ồn. So với các bạn đoán lúc nãy: bên liên quan không chỉ là người trả tiền.
(GV: Đã đối chiếu: câu Reid &amp; Arcodia (2002, tr. 346) trích nguyên văn trong Holmes et al. (2015, tr. 24) — “Groups or individuals who are affected or could be affected by an event's existence”. Câu slide bộ môn: Chương 2, mục 2.2.1 (ThS. Trần Nguyễn Huỳnh Như; năm ghi theo ngày tạo file 2023 — [NEEDS PROFESSOR INPUT: xác nhận năm]). Freeman (1984) là định nghĩa kinh điển (dịch ý).)
Hỏi lớp: “Định nghĩa nào gần với điều bạn đoán nhất? Định nghĩa nào rộng hơn điều bạn đoán?”
Chuyển ý: Môn học gom các ý này thành một định nghĩa làm việc cho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Môn học dùng một định nghĩa làm việc: hệ sinh thái bên liên quan bên ngoài là mạng lưới các tổ chức, cá nhân ngoài agency cùng góp nguồn lực, nhận giá trị, chịu tác động hoặc có quyền cho phép sự kiện — và phụ thuộc lẫn nhau. Bốn thành tố: một, ngoài agency; hai, có “phần” trong sự kiện — góp nguồn lực, nhận giá trị, chịu tác động, hoặc có quyền cho phép; ba, phụ thuộc lẫn nhau; bốn, thay đổi theo giai đoạn.
(GV: Định nghĩa làm việc đã được GV duyệt (tư liệu Buổi 1, A05), dựng từ Freeman (1984), Van Niekerk &amp; Getz (2019), Getz, Andersson &amp; Larson (2006). Không trình bày như định nghĩa của một tác giả. Thành tố 4 thêm cho khớp slide 18. Câu NotebookLM đưa ra “The environment for events is analogous to an ecosystem…” (gán Getz &amp; Page 2012, tr. 192) KHÔNG tìm thấy trong sách — không dùng.)
Hỏi lớp: —
Chuyển ý: Chữ “hệ sinh thái” khác chữ “danh sách”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danh sách liệt kê từng bên riêng lẻ: khách hàng, khách sạn, nhà tài trợ, báo chí, KOL. Một hệ sinh thái nhìn thêm những sợi dây nối họ: nhà tài trợ quan tâm vì báo chí đưa tin; báo chí đến vì có KOL; KOL nhận lời vì thương hiệu của khách hàng. Kéo một sợi dây, cả mạng rung. Thử nhé: khách sạn đột ngột đổi sang phòng nhỏ hơn — những bên nào bị ảnh hưởng dây chuyền?
(GV: Vẽ nhanh chuỗi ảnh hưởng lên bảng khi SV trả lời. Câu trả lời mong đợi: khách mời (chỗ ngồi), nhà cung cấp AV/LED (kích thước màn), nhà tài trợ (gian trưng bày), khách hàng (hình ảnh), có khi cả cơ quan quản lý (sức chứa).)
Hỏi lớp: “Khách sạn đổi sang phòng nhỏ hơn: những bên nào bị ảnh hưởng dây chuyền?”
Chuyển ý: Hệ sinh thái của sự kiện có sáu đặc điểm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Sáu đặc điểm. Một, tạm thời, theo dự án: mạng lưới tập hợp quanh một sự kiện rồi tan. Hai, phụ thuộc lẫn nhau: một mắt xích hỏng kéo cả chuỗi. Ba, mục tiêu có thể xung đột: khách hàng muốn tiết kiệm, nhà cung cấp muốn lợi nhuận, nhà tài trợ muốn hiển thị tối đa, cư dân muốn yên tĩnh — như vụ Fremantle. Bốn, trao đổi giá trị: mỗi bên góp nguồn lực để nhận lợi ích. Năm, thay đổi theo giai đoạn: trước, trong, sau sự kiện. Sáu, công khai, lây lan danh tiếng: sự kiện diễn ra trước công chúng, sự cố của một bên — ví dụ KOL dính scandal — lan sang khách hàng và agency.
(GV: Sáu đặc điểm là tổng hợp của người soạn (W01 lecture notes §1.3), không phải danh sách của một tác giả. [VERIFY: nếu muốn gọi tên “pulsating organisation” (Toffler, 1990; Hanlon &amp; Cuskelly, 2002) cho đặc điểm 1 thì kiểm tra trích dẫn trước.])
Hỏi lớp: “Đặc điểm nào đã xuất hiện trong vụ Fremantle?” (mong đợi: 3 — xung đột mục tiêu; 6 — lây lan danh tiếng: tranh cãi thương hiệu Perth – Fremantle).
Chuyển ý: Một sự kiện lớn có bao nhiêu bên? Xem Olympic London 2012.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Đây là các bên liên quan của Thế vận hội London 2012, quanh ban tổ chức LOCOG: chính phủ, truyền thông, thể thao, các nhà đóng góp và tài trợ, nội bộ, các quốc gia và vùng, thành phố và cộng đồng, và các nhóm khác. Sách viết: quản lý tất cả các bên này là không thể — nhưng điều đó không có nghĩa là bỏ qua mối quan tâm của họ.
(GV: Đã đối chiếu Holmes et al. (2015, tr. 24–25, Hình 2.3). Câu gốc: “Managing all of these stakeholders would be impossible but that does not mean that their concerns should not be considered.” Nhóm “Nội bộ” nằm ngoài phạm vi môn — nhắc nhanh.)
Hỏi lớp: —
Chuyển ý: Với một agency tổ chức sự kiện cho doanh nghiệp, slide bộ môn gom thành sáu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chia các bên liên quan của sự kiện thành sáu nhóm: khách mời và người tham gia; nhà cung cấp — vendors: sân khấu, âm thanh ánh sáng, vận chuyển, quà tặng; chính quyền và cơ quan cấp phép; nhà tài trợ; truyền thông và PR; và đối tác nội dung — diễn giả, nghệ sĩ, KOL, KOC, mentor. Với góc nhìn agency, đặt khách hàng — Key Account — ở giữa: sáu nhóm còn lại được huy động để phục vụ sự kiện của khách hàng.
(GV: Đã đối chiếu slide gốc Chương 2 trên Drive. Lưu ý sửa khi dạy: slide gốc mục 2.3.2 ghi hoán đổi chức năng Cục Nghệ thuật biểu diễn và Cục An toàn vệ sinh lao động — không dùng mục đó (xem source_map.md mục 4). Đặt “khách hàng ở giữa” là cách trình bày của môn.)
Hỏi lớp: —
Chuyển ý: Nhưng một bên không chỉ ở một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Getz, Andersson và Larson phân loại bên liên quan theo quan hệ với sự kiện, không theo chức năng: đồng minh và cộng tác; đồng sản xuất; bên tạo điều kiện — như nhà tài trợ, bên cấp vốn; nhà cung cấp và địa điểm; bên chịu tác động — như khán giả, cư dân; và bên quản lý. Điều quan trọng: một bên có thể giữ nhiều vai. Chính quyền địa phương có thể vừa cấp kinh phí, vừa cho thuê địa điểm công, vừa cấp phép. Trong tình huống của chúng ta, khách sạn vừa là địa điểm, vừa cung cấp tiệc, vừa có dịch vụ AV nội bộ, lại vừa là láng giềng của khu dân cư.
(GV: Đã đối chiếu Holmes et al. (2015, tr. 26): sáu vai và ví dụ chính quyền (theo Getz, 2012). Holmes ghi năm Getz, Andersson &amp; Larson là 2007; bài gốc trên Event Management thường ghi 2006 — giữ 2006 như W01, [VERIFY năm/số tạp chí]. Ý “một bên nhiều vai” sẽ quay lại ở Buổi 12 (xung đột lợi ích). Ví dụ khách sạn là giả định của môn; AV nội bộ nối sang Buổi 7 (Bottleneck).)
Hỏi lớp: “Trong dự án cũ của nhóm, có bên nào giữ hai vai cùng lúc không?”
Chuyển ý: Vai trò quan trọng nhất còn thay đổi theo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sự kiện: khách hàng, nhà tài trợ, địa điểm, cơ quan cấp phép nổi bật. Trong sự kiện: nhà cung cấp kỹ thuật, khách mời, diễn giả, KOL. Sau sự kiện: báo chí, khách hàng — người đánh giá và quyết định tái ký — và nhà tài trợ chờ báo cáo. Vì vậy bản đồ bên liên quan là ảnh chụp tại một thời điểm — cần vẽ lại theo giai đoạn.
(GV: Ví dụ minh họa thêm (video Boateng, 2021 — chưa đối chiếu, chỉ nói miệng nếu cần): nhà tài trợ “gấp” nhất ở giai đoạn chuẩn bị vì logo phải lên truyền thông sớm.)
Hỏi lớp: —
Chuyển ý: Giờ là cách phân nhóm đầu tiên theo đề cương: primary và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1.2: phân nhóm ảnh hưởng thành primary và secondary. Primary — bên liên quan chính: những người và tổ chức mà thiếu sự hỗ trợ của họ, sự kiện sẽ không diễn ra. Ví dụ: khách hàng, địa điểm. Secondary — bên liên quan thứ yếu: nhóm hoặc cá nhân không trực tiếp tham gia sự kiện nhưng vẫn có thể tác động đáng kể đến thành công của nó. Ví dụ: báo chí, các nhóm lợi ích. Câu kiểm tra nhanh: không có họ, sự kiện có diễn ra được không? Không → primary. Có → thường là secondary.
(GV: Đã đối chiếu nguyên văn Holmes et al. (2015, tr. 24): “primary stakeholders – people and organisations without whose support the event would not take place – and secondary stakeholders – groups or individuals not directly involved in the event but nonetheless can still have a significant impact on its success”. Sách KHÔNG gán câu này cho Clarkson (NotebookLM gán sai). Định nghĩa gốc của Clarkson (1995) cho doanh nghiệp: primary là bên mà thiếu sự tham gia liên tục của họ tổ chức không thể tồn tại; secondary ảnh hưởng hoặc bị ảnh hưởng nhưng không giao dịch và không thiết yếu — [VERIFY số trang 106–107]. Nhắc: nhân sự, TNV thường được xếp primary trong sách nhưng nằm ngoài phạm vi môn.)
Hỏi lớp: —
Chuyển ý: Thử ngay với tình huống của môn.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của môn — giả định: Nova Events tổ chức Hội nghị khách hàng thường niên cho Ngân hàng An Phát, 600 khách VIP, tại một khách sạn 5 sao. Tôi đọc từng bên, các bạn giơ tay: một ngón là primary, hai ngón là secondary. Một: Ngân hàng An Phát. Hai: khách sạn. Ba: công ty bảo hiểm tài trợ. Bốn: báo tài chính. Năm: cư dân khu phố cạnh khách sạn.
(GV: Đếm nhanh từng bên, ghi tỷ lệ lên bảng. Bên số 3 thường chia đôi lớp — đó là chủ đích. Tình huống giả định; quy mô 600 khách thống nhất với Buổi 7–13.)
Hỏi lớp: Giơ tay cho từng bên 1–5.
Chuyển ý: Xem đáp án — và vì sao có một bên không có đáp án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Ngân hàng An Phát: primary — người đặt hàng và trả tiền; không có họ, không có sự kiện. Khách sạn: primary — đổi địa điểm phút chót gần như bất khả. Công ty bảo hiểm: tùy bối cảnh — primary nếu ngân sách sự kiện phụ thuộc vào khoản tài trợ; secondary nếu đó chỉ là phần cộng thêm. Báo tài chính: secondary — sự kiện vẫn diễn ra nếu báo không đến, nhưng họ ảnh hưởng hình ảnh sau sự kiện. Cư dân lân cận: secondary — không giao dịch, nhưng có thể trở nên rất quan trọng; tôi sẽ quay lại với họ sau giờ giải lao.
(GV: Theo W01 lecture notes §2.3. Cư dân để dành làm ví dụ tính động của Salience Model (slide 34).)
Hỏi lớp: —
Chuyển ý: Điều này dẫn tới một nguyên tắc.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Cùng là báo chí. Trong hội nghị khách hàng, mục tiêu là chăm sóc 600 khách VIP, bài báo là phần cộng thêm — báo chí là secondary. Trong một sự kiện ra mắt sản phẩm mà KPI hợp đồng là lượng tin bài, không có báo chí thì sự kiện thất bại — báo chí là primary. Phân loại là một quyết định có lập luận, không phải tra bảng. Luôn ghi một câu lý do cạnh mỗi nhãn P hay S.
(GV: Nói to lập luận — đây là mẫu cho Thực hành 1.)
Hỏi lớp: —
Chuyển ý: Đến lượt các bạn: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15 phút. Một phút đọc tình huống trên phiếu. Chín phút: trên giấy A0, vẽ sơ đồ — Nova Events ở giữa, ít nhất 10 bên liên quan bên ngoài tỏa ra xung quanh; đánh dấu P hoặc S; với 3 bên nhóm tranh luận nhiều nhất, viết 1 câu lý do; vẽ ít nhất 2 mũi tên thể hiện quan hệ giữa các bên với nhau, không qua Nova. Năm phút cuối: hai nhóm phân loại khác nhau về cùng một bên sẽ trình bày. Sản phẩm: sơ đồ A0, giữ lại để đối chiếu ở Thực hành 2. Lưu ý: không liệt kê nhân sự, crew, tình nguyện viên của Nova.
(GV: Phiếu: W01_activity_S4_phan_loai_ben_lien_quan.md (in 6 bản). Mốc: phút 40–55. Gợi ý cho nhóm bí: đi theo ba “dòng” — tiền, không gian, sự chú ý. Không nộp, không chấm điểm.)
Hỏi lớp: —
Chuyển ý: Sau Thực hành 1, nghỉ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Quay lại lúc — tôi sẽ ghi giờ cụ thể lên bảng. Các bạn để nguyên sơ đồ A0 trên bàn.
(GV: [NEEDS PROFESSOR INPUT: giờ quay lại cụ thể theo lịch phòng học.] Giáo án: phút 55–63.)
Hỏi lớp: —
Chuyển ý: Sau giải lao: danh sách các bạn có 12–15 bên — không thể chăm sóc tất cả như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Danh sách của các bạn ở Thực hành 1 có 12 đến 15 bên. Thời gian và ngân sách có hạn: không thể chăm sóc tất cả như nhau. Câu hỏi: ai được ưu tiên — và ưu tiên bằng cách nào? Đề cương mục 1.3 cho chúng ta hai công cụ đo quyền lực.
Hỏi lớp: “Nếu chỉ được gọi điện cho 3 bên mỗi tuần, bạn chọn ai?”
Chuyển ý: Công cụ thứ nhất: ma trận quyền lực – mức độ quan tâm.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trục: quyền lực — khả năng tác động đến sự kiện; và mức độ quan tâm — mức độ họ để ý hoặc chịu ảnh hưởng bởi sự kiện. Bốn ô. Quyền lực cao, quan tâm cao: Manage closely — quản lý chặt: tham vấn mọi quyết định lớn, họp định kỳ. Quyền lực cao, quan tâm thấp: Keep satisfied — giữ hài lòng: đáp ứng yêu cầu, không làm phiền quá mức, gặp khi có việc quan trọng. Quyền lực thấp, quan tâm cao: Keep informed — thông tin đầy đủ: cập nhật định kỳ, lắng nghe, trả lời câu hỏi. Quyền lực thấp, quan tâm thấp: Monitor — theo dõi, nỗ lực tối thiểu. Ô Manage closely còn được gọi là Key players; ô Monitor còn gọi là Minimal effort.
(GV: Nguồn đã xác minh: Mendelow (1981), ICIS 1981 Proceedings — lưới 2×2 là dạng được giáo trình chiến lược phổ biến lại; ghi “phát triển từ Mendelow”. Tên Key players / Keep satisfied / Keep informed / Minimal effort và các việc cụ thể từng ô lấy từ video Mark N (2019) qua NotebookLM — chưa đối chiếu bản gốc, chỉ dùng làm gợi ý. Giữ tên ô như phiếu S6 để thống nhất.)
Hỏi lớp: —
Chuyển ý: Áp dụng ngay cho tình huống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với tình huống An Phát. Ngân hàng An Phát: quyền lực cao — ký hợp đồng, trả tiền; quan tâm cao — sự kiện mang thương hiệu của họ: Manage closely — họp tiến độ hằng tuần với chị Hạnh, xin ý kiến mọi thay đổi kịch bản. Khách sạn: quyền lực cao — kiểm soát không gian, giờ giấc, quy định; quan tâm vừa phải — đây là một hợp đồng trong nhiều hợp đồng: Keep satisfied — họp kỹ thuật và an toàn trước sự kiện, gọi điện riêng khi đổi kế hoạch. Báo tài chính: quan tâm nếu có câu chuyện, quyền lực trực tiếp thấp: Keep informed — thông cáo, lịch phỏng vấn, ảnh sau sự kiện. Cư dân lân cận: lúc này quyền lực và quan tâm đều thấp: Monitor — thông báo giờ kết thúc 22 giờ và số điện thoại liên hệ. Mỗi ô phải có một việc cụ thể, không phải “giao tiếp tốt”.
(GV: Ví dụ mẫu theo W01 lecture notes §3.1; việc cụ thể từng ô phỏng theo gợi ý thực hành trong video Mark N (2019) (website/FAQ, bản tin email, họp cộng đồng, họp an toàn, gọi 1-1). Chị Hạnh là GĐ Marketing An Phát ở Buổi 1–7.)
Hỏi lớp: “Có ai đặt cư dân ở ô khác không? Vì sao?”
Chuyển ý: Grid dễ dùng — nhưng nó có điểm mù.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hạn chế của Grid. Một, chỉ có hai chiều. Hai, tĩnh: vị trí thay đổi theo thời gian. Ba, chủ quan: phụ thuộc vào đánh giá của người vẽ, nên cần bằng chứng cho mỗi vị trí. Bốn, không nói gì về tính chính đáng của yêu cầu. Một mẹo: chấm mỗi bên thành một điểm trên lưới, đừng chỉ xếp vào ô — để thấy bên nào sát ranh giới, sắp chuyển ô.
(GV: Mẹo “chấm điểm trên lưới” từ video Mark N (2019) — nhận định thực hành, không cần trích nguồn trên slide.)
Hỏi lớp: “Grid bỏ sót điều gì?”
Chuyển ý: Công cụ thứ hai bù vào điểm mù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 hình mức độ nổi bật — Stakeholder Salience Model — của Mitchell, Agle và Wood, 1997, đo ba thuộc tính. Power — quyền lực: khả năng áp đặt ý chí của mình. Legitimacy — tính chính đáng: hành động hay yêu cầu của họ được nhìn nhận là phù hợp — theo hợp đồng, luật, chuẩn mực xã hội. Urgency — tính cấp bách: mối quan tâm của họ đòi hỏi phản hồi ngay. Mô hình trả lời câu hỏi: nhà quản lý nên quan tâm đến bên nào nhiều nhất.
(GV: Đã đối chiếu nguyên văn Holmes et al. (2015, tr. 25): “Power – the ability of the stakeholder to impose their will; Legitimacy – the perception that the stakeholder's actions are appropriate; Urgency – the immediacy of the stakeholder's concerns.” Bài gốc: Mitchell, Agle &amp; Wood (1997), AMR 22(4), 853–886.)
Hỏi lớp: —
Chuyển ý: Một bên có thể có một, hai hoặc cả ba thuộc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vòng tròn giao nhau tạo bảy loại. Một thuộc tính — nhóm tiềm ẩn: Dormant — ngủ yên, chỉ có quyền lực; Discretionary — tùy nghi, chỉ có tính chính đáng; Demanding — đòi hỏi, chỉ có tính cấp bách. Hai thuộc tính — nhóm kỳ vọng: Dominant — chi phối, quyền lực và chính đáng; Dangerous — nguy hiểm, quyền lực và cấp bách; Dependent — phụ thuộc, chính đáng và cấp bách. Ba thuộc tính — Definitive, bên quyết định. Càng nhiều thuộc tính, bên liên quan càng nổi bật — càng cần ưu tiên.
(GV: Tên bảy loại theo Mitchell, Agle &amp; Wood (1997). Holmes et al. (2015) chỉ nêu ba thuộc tính và “most salient = đủ cả ba”, không liệt kê bảy tên — tên lấy từ bài gốc (đã có trong W01, kinh điển).)
Hỏi lớp: —
Chuyển ý: Mỗi loại có một ví dụ trong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Dormant: cơ quan quản lý khi mọi thủ tục đã ổn — có quyền lực nhưng đang “ngủ”. Discretionary: một hội đoàn từ thiện muốn được mời tham dự — chính đáng, nhưng không có quyền lực và không gấp. Demanding: một người liên tục phàn nàn trên mạng xã hội nhưng ít ảnh hưởng. Dominant: nhà tài trợ chính có hợp đồng. Dangerous: nhà cung cấp dọa ngừng thi công ngay trước giờ G để ép giá. Dependent: cư dân quanh địa điểm phản ánh tiếng ồn. Definitive: khách hàng yêu cầu đổi kịch bản 48 giờ trước sự kiện.
(GV: Ví dụ minh họa của người soạn (W01 lecture notes §3.2), không trích từ nguồn.)
Hỏi lớp: —
Chuyển ý: Kiểm tra nhanh một tình huống.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đơn vị LED duy nhất có màn đúng kích thước dọa dừng lắp đặt 6 giờ trước giờ G nếu Nova không trả thêm 30% ngoài hợp đồng. Họ thuộc loại nào? Giơ 1 ngón: Dominant; 2 ngón: Dangerous; 3 ngón: Dependent; 4 ngón: Definitive.
(GV: Đáp án: 2 — Dangerous. Đếm nhanh. Nếu nhiều bạn chọn 4: hỏi “yêu cầu trả thêm ngoài hợp đồng có chính đáng không?”.)
Hỏi lớp: Giơ 1–4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Dangerous — nguy hiểm. Có quyền lực: chỉ họ có màn phù hợp. Có tính cấp bách: 6 giờ trước giờ G. Nhưng thiếu tính chính đáng: đòi thêm ngoài hợp đồng. Hiểu lầm thường gặp: quyền lực cao thì phải chiều theo. Không: với nhóm Dangerous, chiến lược là không nhượng bộ ngay — bảo vệ bằng điều khoản hợp đồng và phương án dự phòng, chuẩn bị từ trước. Buổi 7 và Buổi 10 sẽ học kỹ.
(GV: Nối sang Buổi 7 (Bottleneck, back-to-back) và Buổi 10.)
Hỏi lớp: —
Chuyển ý: Bảy loại không đứng yên: một bên có thể “lên hạng”.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Điểm mạnh của Salience Model: nó động. Cư dân quanh địa điểm phản ánh tiếng ồn: chính đáng và cấp bách, nhưng chưa có quyền lực — Dependent. Rồi một bài báo đưa tin, phường vào cuộc kiểm tra: họ “mượn” được quyền lực — trở thành Definitive. Và người cấp bách nhất không nhất thiết là người quyền lực nhất: sách của Holmes và cộng sự viết, bên quyền lực nhất có thể là khách hàng, chính quyền, truyền thông — nhưng bên cấp bách nhất có thể là một loài chim quý làm tổ ngay tại địa điểm.
(GV: Đã đối chiếu Holmes et al. (2015, tr. 26): “the most powerful stakeholders could be the client, government and the media but that does not necessarily make them the most urgent – that could be a rare species of birds that happen to nest at the event site.” Nghiên cứu thực chứng của Parent &amp; Deephouse (2007) cho thấy quyền lực ảnh hưởng mạnh nhất tới độ nổi bật, sau đó đến cấp bách và chính đáng [VERIFY: chưa đọc bản gốc, dẫn qua Bazzanella et al., 2019] — chỉ nói thêm nếu lớp hỏi.)
Hỏi lớp: “Nova Events nên làm gì từ khi cư dân còn là Dependent, để không phải đối mặt khi họ đã là Definitive?”
Chuyển ý: Đặt hai công cụ cạnh nhau, ta có một tín hiệu cảnh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Grid hỏi: họ quan tâm bao nhiêu. Salience hỏi: yêu cầu của họ có chính đáng và có gấp không. Khi hai công cụ cho kết quả khác nhau, đó là tín hiệu cảnh báo sớm. Cư dân lân cận: Monitor trên Grid, nhưng Dependent trên Salience — chỉ cần mượn được quyền lực là thành Definitive. Nhà cung cấp độc quyền: Keep satisfied, nhưng thành Dangerous khi đòi tăng giá — cần điều khoản hợp đồng và phương án B. KOL dẫn chương trình: Keep informed, nhưng có quyền lực biểu tượng — một bài đăng tiêu cực lan rất nhanh. Ở Thực hành 2, các bạn đánh dấu ngôi sao cho một bên “không khớp” như vậy.
(GV: Theo phiếu S6 phần GV (các “không khớp” thường gặp). KOL nối sang Buổi 11.)
Hỏi lớp: —
Chuyển ý: Hai công cụ là bước đầu của một việc làm liên tục.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Quản trị bên liên quan là một vòng lặp năm việc. Một, nhận diện các bên. Hai, phân tích và ưu tiên — bằng Grid và Salience vừa học. Ba, chọn cách ứng xử cho từng nhóm. Bốn, giao tiếp hai chiều — không chỉ gửi thông tin, mà lắng nghe. Năm, theo dõi, đánh giá và vẽ lại bản đồ. Rồi lặp lại theo từng giai đoạn của sự kiện.
(GV: Năm bước theo Van Niekerk &amp; Getz (2019) qua video Mark N (2019) trên NotebookLM — [VERIFY: đối chiếu sách Van Niekerk &amp; Getz, 2019, tài liệu tham khảo chính] trước khi gán tên tác giả trước lớp. Trên slide không ghi tác giả.)
Hỏi lớp: —
Chuyển ý: Ba lỗi khiến bản đồ bên liên quan vô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liệt kê nhân sự, crew, tình nguyện viên của chính agency — ngoài phạm vi môn. Hai: nghĩ rằng bên liên quan là người trả tiền cho mình — định nghĩa gồm cả người bị ảnh hưởng và người có quyền ngăn cản. Ba: nghĩ rằng quyền lực cao thì phải chiều mọi yêu cầu — nhóm Dangerous có quyền lực nhưng thiếu chính đáng. Bản đồ tốt không phải danh sách dài: mỗi bên có nhãn, có lý do, có việc cụ thể.
(GV: Theo W01 lecture notes, mục “Hiểu lầm thường gặp”.)
Hỏi lớp: —
Chuyển ý: Một điều về trách nhiệm với các bên liên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điều về đạo đức nghề nghiệp. Có hai loại cam kết với bên liên quan. Có hợp đồng: quyền lợi ghi rõ, bên kia có thể đòi theo luật. Chỉ là lời hứa: không kiện được, nhưng mất uy tín — như chủ quầy pizza ở Fremantle: “Họ hứa 200.000 người…”. Uy tín mất rồi thì sự kiện sau không ai tham gia. Nguyên tắc: chỉ hứa điều mình kiểm soát được, và ghi lại điều đã hứa.
(GV: Ý “legal stake / moral stake” lấy từ video Boateng (2021) qua NotebookLM — chưa đối chiếu, dùng ở mức ý tưởng, không trích tên. Nối CLO8 (đạo đức và trách nhiệm nghề nghiệp). Không rõ trong sách ai đã hứa con số 200.000 với người bán hàng — đừng khẳng định đó là ban tổ chức.)
Hỏi lớp: “Trong dự án cũ, nhóm đã từng hứa điều gì với một bên mà không chắc làm được?”
Chuyển ý: Giờ áp dụng tất cả lên khách hàng thật của nhóm: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33 phút, trên khách hàng thật của nhóm. Ba phút: chọn một khách hàng từ dự án sự kiện nhóm đã làm ở môn trước — mã hóa tên nếu cần bảo mật. Mười tám phút: poster A0 chia ba khu vực: A — danh sách ít nhất 8 bên bên ngoài, đánh dấu P hoặc S; B — Power-Interest Grid, mỗi ô ghi một việc cụ thể nhóm sẽ làm; C — Salience Model, ba vòng tròn. Đánh dấu ngôi sao cho một bên mà Grid và Salience không khớp, và viết một câu: điều đó cảnh báo gì. Mười hai phút: để poster trên bàn, cả nhóm xoay trạm theo chiều kim đồng hồ; mỗi poster nhận một câu hỏi trên giấy note vàng và một phản biện trên giấy note hồng. Không chấp nhận phản biện kiểu “đẹp quá”, “tốt lắm”. Sản phẩm là trang 1 của kế hoạch cuối kỳ.
(GV: Phiếu: W01_activity_S6_ban_do_quyen_luc.md. Mốc: phút 85–118. Phòng không dán được poster → mỗi bàn là một trạm. Nhóm không có dự án cũ: dùng tình huống An Phát + biến cố “nhà tài trợ bảo hiểm rút lui 2 tuần trước sự kiện”.)
Hỏi lớp: —
Chuyển ý: Nhận phản biện xong — sửa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phút: mỗi nhóm về poster của mình, sửa ngay theo phản biện vừa nhận. Ghi ở góc poster: sửa gì, vì sao. Chụp ảnh lưu lại — không cần nộp. Poster này là trang 1 của Stakeholder Management Plan. Buổi 2 đến 8: đi sâu vào một bên — khách hàng. Buổi 9 đến 12: quay lại điều phối các bên còn lại quanh hành trình của khách hàng đó. Buổi 13: ráp kế hoạch. Buổi 14–15: bảo vệ.
(GV: Giáo án S7, phút 118–125. Chiếu nửa trái trước (sửa poster), nói nửa phải sau.)
Hỏi lớp: —
Chuyển ý: Trước khi về,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hỏi kiểm tra nhanh. Một: vì sao cùng một nhà tài trợ có thể là primary ở sự kiện này, secondary ở sự kiện khác? Hai: cư dân lân cận nằm ở ô Monitor trên Grid nhưng là Dependent trên Salience — điều đó cảnh báo gì? Ba: kể một bên có tính cấp bách cao nhưng không có quyền lực trong một sự kiện bạn biết.
(GV: Đáp án gợi ý: (1) phân loại theo bối cảnh — ngân sách có phụ thuộc khoản tài trợ không; (2) họ có chính đáng và cấp bách, chỉ thiếu quyền lực — một bài báo hay cơ quan chức năng vào cuộc là thành Definitive; cần chủ động trước; (3) ví dụ cư dân phản ánh tiếng ồn, loài chim làm tổ ở địa điểm, khách khuyết tật cần lối đi. Hỏi miệng, gọi ngẫu nhiên; nếu thiếu giờ bỏ câu 3.)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khi về, mỗi bạn trả lời hai câu trên phiếu cuối giờ. Một: trong dự án cũ của nhóm, bên liên quan nào bạn đã đánh giá thấp? Theo Salience Model, nó thiếu thuộc tính nào — và điều gì có thể khiến nó có thêm thuộc tính đó? Hai: điều bạn còn mơ hồ nhất sau buổi hôm nay là gì? Không chấm điểm. Tôi sẽ đọc và mở đầu Buổi 2 bằng vài điều còn mơ hồ nhiều nhất.
(GV: Phiếu giấy hoặc Google Form (giáo án S8, phút 125–132). Xem: SV có dùng đúng power/legitimacy/urgency không; còn liệt kê nhân sự nội bộ không.)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Buổi 2: trong tất cả các bên liên quan, có một bên mà nếu mất, agency mất luôn doanh thu năm sau — khách hàng. Nhưng không phải khách hàng nào cũng là Key Account, cũng đáng đầu tư như nhau. Buổi sau mang theo ảnh poster hôm nay và hồ sơ dự án cũ: brief, kế hoạch, báo cáo.
(GV: Môn không giao bài về nhà (thiết kế đã duyệt). [NEEDS PROFESSOR INPUT: nếu AM2 “bài tập nộp LMS” có bài cho Buổi 1 thì thêm vào đây.])
Hỏi lớp: —
Chuyển ý: Tài liệu tham khảo của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Đây là tài liệu tham khảo của buổi học, trình bày theo APA 7. Tài liệu tham khảo chính của học phần là Van Niekerk và Getz, 2019; giáo trình chính là tài liệu nội bộ.
(GV: Sửa nguồn so với NotebookLM: “Events and sustainability-1.pdf” là Holmes et al. (2015), không phải Getz &amp; Page (2012). [VERIFY: số tạp chí của Getz et al. (2006) — 10(2) hay 10(2–3); năm và tên chính thức của slide bộ môn; NEEDS PROFESSOR INPUT: tên đơn vị phát hành slide.] Reid &amp; Arcodia (2002) và Theodoraki (2007) dẫn qua Holmes et al. (2015) nên không liệt kê riêng.)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2.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2.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1: Hệ sinh thái các bên liên quan bên ngoài của sự kiện</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1</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sự kiện, hai kết luận: ban tổ chức nói thành công, người bán hàng nói lỗ</a:t>
            </a:r>
            <a:endParaRPr lang="en-US" sz="2800" dirty="0"/>
          </a:p>
        </p:txBody>
      </p:sp>
      <p:sp>
        <p:nvSpPr>
          <p:cNvPr id="3" name="Shape 1"/>
          <p:cNvSpPr/>
          <p:nvPr/>
        </p:nvSpPr>
        <p:spPr>
          <a:xfrm>
            <a:off x="822960" y="1828800"/>
            <a:ext cx="1737360" cy="1737360"/>
          </a:xfrm>
          <a:prstGeom prst="ellipse">
            <a:avLst/>
          </a:prstGeom>
          <a:solidFill>
            <a:srgbClr val="09A1E5"/>
          </a:solidFill>
          <a:ln w="12700">
            <a:solidFill>
              <a:srgbClr val="09A1E5"/>
            </a:solidFill>
            <a:prstDash val="solid"/>
          </a:ln>
        </p:spPr>
      </p:sp>
      <p:pic>
        <p:nvPicPr>
          <p:cNvPr id="4" name="Image 0" descr="preencoded.png">    </p:cNvPr>
          <p:cNvPicPr>
            <a:picLocks noChangeAspect="1"/>
          </p:cNvPicPr>
          <p:nvPr/>
        </p:nvPicPr>
        <p:blipFill>
          <a:blip r:embed="rId1"/>
          <a:stretch>
            <a:fillRect/>
          </a:stretch>
        </p:blipFill>
        <p:spPr>
          <a:xfrm>
            <a:off x="1205179" y="2211019"/>
            <a:ext cx="972922" cy="972922"/>
          </a:xfrm>
          <a:prstGeom prst="rect">
            <a:avLst/>
          </a:prstGeom>
        </p:spPr>
      </p:pic>
      <p:sp>
        <p:nvSpPr>
          <p:cNvPr id="5" name="Text 2"/>
          <p:cNvSpPr txBox="1"/>
          <p:nvPr/>
        </p:nvSpPr>
        <p:spPr>
          <a:xfrm>
            <a:off x="2651760" y="2331720"/>
            <a:ext cx="822960" cy="731520"/>
          </a:xfrm>
          <a:prstGeom prst="rect">
            <a:avLst/>
          </a:prstGeom>
          <a:noFill/>
          <a:ln/>
        </p:spPr>
        <p:txBody>
          <a:bodyPr wrap="square" lIns="635" tIns="635" rIns="635" bIns="635" rtlCol="0" anchor="ctr"/>
          <a:lstStyle/>
          <a:p>
            <a:pPr algn="ctr" indent="0" marL="0">
              <a:buNone/>
            </a:pPr>
            <a:r>
              <a:rPr lang="en-US" sz="2400" b="1" dirty="0">
                <a:solidFill>
                  <a:srgbClr val="A9B6D3"/>
                </a:solidFill>
                <a:latin typeface="Alexandria" pitchFamily="34" charset="0"/>
                <a:ea typeface="Alexandria" pitchFamily="34" charset="-122"/>
                <a:cs typeface="Alexandria" pitchFamily="34" charset="-120"/>
              </a:rPr>
              <a:t>vs</a:t>
            </a:r>
            <a:endParaRPr lang="en-US" sz="2400" dirty="0"/>
          </a:p>
        </p:txBody>
      </p:sp>
      <p:sp>
        <p:nvSpPr>
          <p:cNvPr id="6" name="Shape 3"/>
          <p:cNvSpPr/>
          <p:nvPr/>
        </p:nvSpPr>
        <p:spPr>
          <a:xfrm>
            <a:off x="3474720" y="1828800"/>
            <a:ext cx="1737360" cy="1737360"/>
          </a:xfrm>
          <a:prstGeom prst="ellipse">
            <a:avLst/>
          </a:prstGeom>
          <a:solidFill>
            <a:srgbClr val="FF5178"/>
          </a:solidFill>
          <a:ln w="12700">
            <a:solidFill>
              <a:srgbClr val="FF5178"/>
            </a:solidFill>
            <a:prstDash val="solid"/>
          </a:ln>
        </p:spPr>
      </p:sp>
      <p:pic>
        <p:nvPicPr>
          <p:cNvPr id="7" name="Image 1" descr="preencoded.png">    </p:cNvPr>
          <p:cNvPicPr>
            <a:picLocks noChangeAspect="1"/>
          </p:cNvPicPr>
          <p:nvPr/>
        </p:nvPicPr>
        <p:blipFill>
          <a:blip r:embed="rId2"/>
          <a:stretch>
            <a:fillRect/>
          </a:stretch>
        </p:blipFill>
        <p:spPr>
          <a:xfrm>
            <a:off x="3856939" y="2211019"/>
            <a:ext cx="972922" cy="972922"/>
          </a:xfrm>
          <a:prstGeom prst="rect">
            <a:avLst/>
          </a:prstGeom>
        </p:spPr>
      </p:pic>
      <p:sp>
        <p:nvSpPr>
          <p:cNvPr id="8" name="Text 4"/>
          <p:cNvSpPr txBox="1"/>
          <p:nvPr/>
        </p:nvSpPr>
        <p:spPr>
          <a:xfrm>
            <a:off x="548640" y="3657600"/>
            <a:ext cx="2286000" cy="457200"/>
          </a:xfrm>
          <a:prstGeom prst="rect">
            <a:avLst/>
          </a:prstGeom>
          <a:noFill/>
          <a:ln/>
        </p:spPr>
        <p:txBody>
          <a:bodyPr wrap="square" lIns="635" tIns="635" rIns="635" bIns="635" rtlCol="0" anchor="ctr"/>
          <a:lstStyle/>
          <a:p>
            <a:pPr algn="ctr" indent="0" marL="0">
              <a:buNone/>
            </a:pPr>
            <a:r>
              <a:rPr lang="en-US" sz="1800" b="1" dirty="0">
                <a:solidFill>
                  <a:srgbClr val="09A1E5"/>
                </a:solidFill>
                <a:latin typeface="Alexandria" pitchFamily="34" charset="0"/>
                <a:ea typeface="Alexandria" pitchFamily="34" charset="-122"/>
                <a:cs typeface="Alexandria" pitchFamily="34" charset="-120"/>
              </a:rPr>
              <a:t>Ban tổ chức</a:t>
            </a:r>
            <a:endParaRPr lang="en-US" sz="1800" dirty="0"/>
          </a:p>
        </p:txBody>
      </p:sp>
      <p:sp>
        <p:nvSpPr>
          <p:cNvPr id="9" name="Text 5"/>
          <p:cNvSpPr txBox="1"/>
          <p:nvPr/>
        </p:nvSpPr>
        <p:spPr>
          <a:xfrm>
            <a:off x="3108960" y="3657600"/>
            <a:ext cx="2468880" cy="45720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Alexandria" pitchFamily="34" charset="0"/>
                <a:ea typeface="Alexandria" pitchFamily="34" charset="-122"/>
                <a:cs typeface="Alexandria" pitchFamily="34" charset="-120"/>
              </a:rPr>
              <a:t>Quầy hàng ở lễ hội</a:t>
            </a:r>
            <a:endParaRPr lang="en-US" sz="1800" dirty="0"/>
          </a:p>
        </p:txBody>
      </p:sp>
      <p:sp>
        <p:nvSpPr>
          <p:cNvPr id="10" name="Shape 6"/>
          <p:cNvSpPr/>
          <p:nvPr/>
        </p:nvSpPr>
        <p:spPr>
          <a:xfrm>
            <a:off x="5943600" y="1737360"/>
            <a:ext cx="640080" cy="640080"/>
          </a:xfrm>
          <a:prstGeom prst="ellipse">
            <a:avLst/>
          </a:prstGeom>
          <a:solidFill>
            <a:srgbClr val="09A1E5"/>
          </a:solidFill>
          <a:ln w="12700">
            <a:solidFill>
              <a:srgbClr val="09A1E5"/>
            </a:solidFill>
            <a:prstDash val="solid"/>
          </a:ln>
        </p:spPr>
      </p:sp>
      <p:sp>
        <p:nvSpPr>
          <p:cNvPr id="11" name="Text 7"/>
          <p:cNvSpPr txBox="1"/>
          <p:nvPr/>
        </p:nvSpPr>
        <p:spPr>
          <a:xfrm>
            <a:off x="5943600" y="173736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a:t>
            </a:r>
            <a:endParaRPr lang="en-US" sz="1800" dirty="0"/>
          </a:p>
        </p:txBody>
      </p:sp>
      <p:sp>
        <p:nvSpPr>
          <p:cNvPr id="12" name="Text 8"/>
          <p:cNvSpPr txBox="1"/>
          <p:nvPr/>
        </p:nvSpPr>
        <p:spPr>
          <a:xfrm>
            <a:off x="6766560" y="1645920"/>
            <a:ext cx="4937760" cy="86868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Giải thuyền buồm thế giới ISAF, Fremantle (Úc), 12/2011: 789 vận động viên, 76 quốc gia</a:t>
            </a:r>
            <a:endParaRPr lang="en-US" sz="1700" dirty="0"/>
          </a:p>
        </p:txBody>
      </p:sp>
      <p:sp>
        <p:nvSpPr>
          <p:cNvPr id="13" name="Shape 9"/>
          <p:cNvSpPr/>
          <p:nvPr/>
        </p:nvSpPr>
        <p:spPr>
          <a:xfrm>
            <a:off x="5943600" y="2697480"/>
            <a:ext cx="640080" cy="640080"/>
          </a:xfrm>
          <a:prstGeom prst="ellipse">
            <a:avLst/>
          </a:prstGeom>
          <a:solidFill>
            <a:srgbClr val="962B7C"/>
          </a:solidFill>
          <a:ln w="12700">
            <a:solidFill>
              <a:srgbClr val="962B7C"/>
            </a:solidFill>
            <a:prstDash val="solid"/>
          </a:ln>
        </p:spPr>
      </p:sp>
      <p:sp>
        <p:nvSpPr>
          <p:cNvPr id="14" name="Text 10"/>
          <p:cNvSpPr txBox="1"/>
          <p:nvPr/>
        </p:nvSpPr>
        <p:spPr>
          <a:xfrm>
            <a:off x="5943600" y="269748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2</a:t>
            </a:r>
            <a:endParaRPr lang="en-US" sz="1800" dirty="0"/>
          </a:p>
        </p:txBody>
      </p:sp>
      <p:sp>
        <p:nvSpPr>
          <p:cNvPr id="15" name="Text 11"/>
          <p:cNvSpPr txBox="1"/>
          <p:nvPr/>
        </p:nvSpPr>
        <p:spPr>
          <a:xfrm>
            <a:off x="6766560" y="2606040"/>
            <a:ext cx="4937760" cy="86868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Tốn AU$17,6 triệu tiền thuế. Bộ trưởng Du lịch: hơn 7.800 người đến, lợi ích AU$38,6 triệu</a:t>
            </a:r>
            <a:endParaRPr lang="en-US" sz="1700" dirty="0"/>
          </a:p>
        </p:txBody>
      </p:sp>
      <p:sp>
        <p:nvSpPr>
          <p:cNvPr id="16" name="Shape 12"/>
          <p:cNvSpPr/>
          <p:nvPr/>
        </p:nvSpPr>
        <p:spPr>
          <a:xfrm>
            <a:off x="5943600" y="3657600"/>
            <a:ext cx="640080" cy="640080"/>
          </a:xfrm>
          <a:prstGeom prst="ellipse">
            <a:avLst/>
          </a:prstGeom>
          <a:solidFill>
            <a:srgbClr val="FF9259"/>
          </a:solidFill>
          <a:ln w="12700">
            <a:solidFill>
              <a:srgbClr val="FF9259"/>
            </a:solidFill>
            <a:prstDash val="solid"/>
          </a:ln>
        </p:spPr>
      </p:sp>
      <p:sp>
        <p:nvSpPr>
          <p:cNvPr id="17" name="Text 13"/>
          <p:cNvSpPr txBox="1"/>
          <p:nvPr/>
        </p:nvSpPr>
        <p:spPr>
          <a:xfrm>
            <a:off x="5943600" y="36576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3</a:t>
            </a:r>
            <a:endParaRPr lang="en-US" sz="1800" dirty="0"/>
          </a:p>
        </p:txBody>
      </p:sp>
      <p:sp>
        <p:nvSpPr>
          <p:cNvPr id="18" name="Text 14"/>
          <p:cNvSpPr txBox="1"/>
          <p:nvPr/>
        </p:nvSpPr>
        <p:spPr>
          <a:xfrm>
            <a:off x="6766560" y="3566160"/>
            <a:ext cx="4937760" cy="86868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Chủ quầy pizza: “Họ hứa 200.000–250.000 người. Họ đâu rồi?” — lỗ khoảng 4–5 nghìn AU$</a:t>
            </a:r>
            <a:endParaRPr lang="en-US" sz="1700" dirty="0"/>
          </a:p>
        </p:txBody>
      </p:sp>
      <p:sp>
        <p:nvSpPr>
          <p:cNvPr id="19" name="Shape 15"/>
          <p:cNvSpPr/>
          <p:nvPr/>
        </p:nvSpPr>
        <p:spPr>
          <a:xfrm>
            <a:off x="5943600" y="4709160"/>
            <a:ext cx="5696712" cy="914400"/>
          </a:xfrm>
          <a:prstGeom prst="roundRect">
            <a:avLst>
              <a:gd name="adj" fmla="val 8000"/>
            </a:avLst>
          </a:prstGeom>
          <a:solidFill>
            <a:srgbClr val="FFD23B"/>
          </a:solidFill>
          <a:ln w="12700">
            <a:solidFill>
              <a:srgbClr val="FFD23B"/>
            </a:solidFill>
            <a:prstDash val="solid"/>
          </a:ln>
        </p:spPr>
      </p:sp>
      <p:sp>
        <p:nvSpPr>
          <p:cNvPr id="20" name="Text 16"/>
          <p:cNvSpPr txBox="1"/>
          <p:nvPr/>
        </p:nvSpPr>
        <p:spPr>
          <a:xfrm>
            <a:off x="6217920" y="4709160"/>
            <a:ext cx="5212080" cy="914400"/>
          </a:xfrm>
          <a:prstGeom prst="rect">
            <a:avLst/>
          </a:prstGeom>
          <a:noFill/>
          <a:ln/>
        </p:spPr>
        <p:txBody>
          <a:bodyPr wrap="square" lIns="635" tIns="635" rIns="635" bIns="635" rtlCol="0" anchor="ctr"/>
          <a:lstStyle/>
          <a:p>
            <a:pPr indent="0" marL="0">
              <a:buNone/>
            </a:pPr>
            <a:r>
              <a:rPr lang="en-US" sz="2400" b="1" dirty="0">
                <a:solidFill>
                  <a:srgbClr val="172849"/>
                </a:solidFill>
                <a:latin typeface="Alexandria" pitchFamily="34" charset="0"/>
                <a:ea typeface="Alexandria" pitchFamily="34" charset="-122"/>
                <a:cs typeface="Alexandria" pitchFamily="34" charset="-120"/>
              </a:rPr>
              <a:t>Sự kiện này thành công — với ai?</a:t>
            </a:r>
            <a:endParaRPr lang="en-US" sz="2400" dirty="0"/>
          </a:p>
        </p:txBody>
      </p:sp>
      <p:sp>
        <p:nvSpPr>
          <p:cNvPr id="21"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Holmes, Hughes, Mair &amp; Carlsen (2015, tr. 29–30). Số liệu là phát biểu của các bên, chưa kiểm chứng chéo.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Sự kiện thành hay bại phụ thuộc vào những bên ta không trực tiếp quản lý</a:t>
            </a:r>
            <a:endParaRPr lang="en-US" sz="2800" dirty="0"/>
          </a:p>
        </p:txBody>
      </p:sp>
      <p:sp>
        <p:nvSpPr>
          <p:cNvPr id="3" name="Shape 1"/>
          <p:cNvSpPr/>
          <p:nvPr/>
        </p:nvSpPr>
        <p:spPr>
          <a:xfrm>
            <a:off x="548640" y="1783080"/>
            <a:ext cx="2057400" cy="2926080"/>
          </a:xfrm>
          <a:prstGeom prst="roundRect">
            <a:avLst>
              <a:gd name="adj" fmla="val 3556"/>
            </a:avLst>
          </a:prstGeom>
          <a:solidFill>
            <a:srgbClr val="22395F"/>
          </a:solidFill>
          <a:ln w="12700">
            <a:solidFill>
              <a:srgbClr val="22395F"/>
            </a:solidFill>
            <a:prstDash val="solid"/>
          </a:ln>
        </p:spPr>
      </p:sp>
      <p:sp>
        <p:nvSpPr>
          <p:cNvPr id="4" name="Shape 2"/>
          <p:cNvSpPr/>
          <p:nvPr/>
        </p:nvSpPr>
        <p:spPr>
          <a:xfrm>
            <a:off x="1097280" y="2011680"/>
            <a:ext cx="960120" cy="96012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308506" y="2222906"/>
            <a:ext cx="537667" cy="537667"/>
          </a:xfrm>
          <a:prstGeom prst="rect">
            <a:avLst/>
          </a:prstGeom>
        </p:spPr>
      </p:pic>
      <p:sp>
        <p:nvSpPr>
          <p:cNvPr id="6" name="Text 3"/>
          <p:cNvSpPr txBox="1"/>
          <p:nvPr/>
        </p:nvSpPr>
        <p:spPr>
          <a:xfrm>
            <a:off x="640080" y="3108960"/>
            <a:ext cx="1874520" cy="54864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Alexandria" pitchFamily="34" charset="0"/>
                <a:ea typeface="Alexandria" pitchFamily="34" charset="-122"/>
                <a:cs typeface="Alexandria" pitchFamily="34" charset="-120"/>
              </a:rPr>
              <a:t>Địa điểm</a:t>
            </a:r>
            <a:endParaRPr lang="en-US" sz="2000" dirty="0"/>
          </a:p>
        </p:txBody>
      </p:sp>
      <p:sp>
        <p:nvSpPr>
          <p:cNvPr id="7" name="Text 4"/>
          <p:cNvSpPr txBox="1"/>
          <p:nvPr/>
        </p:nvSpPr>
        <p:spPr>
          <a:xfrm>
            <a:off x="640080" y="3657600"/>
            <a:ext cx="1874520" cy="822960"/>
          </a:xfrm>
          <a:prstGeom prst="rect">
            <a:avLst/>
          </a:prstGeom>
          <a:noFill/>
          <a:ln/>
        </p:spPr>
        <p:txBody>
          <a:bodyPr wrap="square" lIns="635" tIns="635" rIns="635" bIns="635" rtlCol="0" anchor="t"/>
          <a:lstStyle/>
          <a:p>
            <a:pPr algn="ctr" indent="0" marL="0">
              <a:buNone/>
            </a:pPr>
            <a:r>
              <a:rPr lang="en-US" sz="1500" dirty="0">
                <a:solidFill>
                  <a:srgbClr val="A9B6D3"/>
                </a:solidFill>
                <a:latin typeface="Alexandria" pitchFamily="34" charset="0"/>
                <a:ea typeface="Alexandria" pitchFamily="34" charset="-122"/>
                <a:cs typeface="Alexandria" pitchFamily="34" charset="-120"/>
              </a:rPr>
              <a:t>khách sạn, trung tâm hội nghị</a:t>
            </a:r>
            <a:endParaRPr lang="en-US" sz="1500" dirty="0"/>
          </a:p>
        </p:txBody>
      </p:sp>
      <p:sp>
        <p:nvSpPr>
          <p:cNvPr id="8" name="Shape 5"/>
          <p:cNvSpPr/>
          <p:nvPr/>
        </p:nvSpPr>
        <p:spPr>
          <a:xfrm>
            <a:off x="2807208" y="1783080"/>
            <a:ext cx="2057400" cy="2926080"/>
          </a:xfrm>
          <a:prstGeom prst="roundRect">
            <a:avLst>
              <a:gd name="adj" fmla="val 3556"/>
            </a:avLst>
          </a:prstGeom>
          <a:solidFill>
            <a:srgbClr val="22395F"/>
          </a:solidFill>
          <a:ln w="12700">
            <a:solidFill>
              <a:srgbClr val="22395F"/>
            </a:solidFill>
            <a:prstDash val="solid"/>
          </a:ln>
        </p:spPr>
      </p:sp>
      <p:sp>
        <p:nvSpPr>
          <p:cNvPr id="9" name="Shape 6"/>
          <p:cNvSpPr/>
          <p:nvPr/>
        </p:nvSpPr>
        <p:spPr>
          <a:xfrm>
            <a:off x="3355848" y="2011680"/>
            <a:ext cx="960120" cy="96012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3567074" y="2222906"/>
            <a:ext cx="537667" cy="537667"/>
          </a:xfrm>
          <a:prstGeom prst="rect">
            <a:avLst/>
          </a:prstGeom>
        </p:spPr>
      </p:pic>
      <p:sp>
        <p:nvSpPr>
          <p:cNvPr id="11" name="Text 7"/>
          <p:cNvSpPr txBox="1"/>
          <p:nvPr/>
        </p:nvSpPr>
        <p:spPr>
          <a:xfrm>
            <a:off x="2898648" y="3108960"/>
            <a:ext cx="1874520" cy="54864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Alexandria" pitchFamily="34" charset="0"/>
                <a:ea typeface="Alexandria" pitchFamily="34" charset="-122"/>
                <a:cs typeface="Alexandria" pitchFamily="34" charset="-120"/>
              </a:rPr>
              <a:t>Tiền</a:t>
            </a:r>
            <a:endParaRPr lang="en-US" sz="2000" dirty="0"/>
          </a:p>
        </p:txBody>
      </p:sp>
      <p:sp>
        <p:nvSpPr>
          <p:cNvPr id="12" name="Text 8"/>
          <p:cNvSpPr txBox="1"/>
          <p:nvPr/>
        </p:nvSpPr>
        <p:spPr>
          <a:xfrm>
            <a:off x="2898648" y="3657600"/>
            <a:ext cx="1874520" cy="822960"/>
          </a:xfrm>
          <a:prstGeom prst="rect">
            <a:avLst/>
          </a:prstGeom>
          <a:noFill/>
          <a:ln/>
        </p:spPr>
        <p:txBody>
          <a:bodyPr wrap="square" lIns="635" tIns="635" rIns="635" bIns="635" rtlCol="0" anchor="t"/>
          <a:lstStyle/>
          <a:p>
            <a:pPr algn="ctr" indent="0" marL="0">
              <a:buNone/>
            </a:pPr>
            <a:r>
              <a:rPr lang="en-US" sz="1500" dirty="0">
                <a:solidFill>
                  <a:srgbClr val="A9B6D3"/>
                </a:solidFill>
                <a:latin typeface="Alexandria" pitchFamily="34" charset="0"/>
                <a:ea typeface="Alexandria" pitchFamily="34" charset="-122"/>
                <a:cs typeface="Alexandria" pitchFamily="34" charset="-120"/>
              </a:rPr>
              <a:t>khách hàng, nhà tài trợ</a:t>
            </a:r>
            <a:endParaRPr lang="en-US" sz="1500" dirty="0"/>
          </a:p>
        </p:txBody>
      </p:sp>
      <p:sp>
        <p:nvSpPr>
          <p:cNvPr id="13" name="Shape 9"/>
          <p:cNvSpPr/>
          <p:nvPr/>
        </p:nvSpPr>
        <p:spPr>
          <a:xfrm>
            <a:off x="5065776" y="1783080"/>
            <a:ext cx="2057400" cy="2926080"/>
          </a:xfrm>
          <a:prstGeom prst="roundRect">
            <a:avLst>
              <a:gd name="adj" fmla="val 3556"/>
            </a:avLst>
          </a:prstGeom>
          <a:solidFill>
            <a:srgbClr val="22395F"/>
          </a:solidFill>
          <a:ln w="12700">
            <a:solidFill>
              <a:srgbClr val="22395F"/>
            </a:solidFill>
            <a:prstDash val="solid"/>
          </a:ln>
        </p:spPr>
      </p:sp>
      <p:sp>
        <p:nvSpPr>
          <p:cNvPr id="14" name="Shape 10"/>
          <p:cNvSpPr/>
          <p:nvPr/>
        </p:nvSpPr>
        <p:spPr>
          <a:xfrm>
            <a:off x="5614416" y="2011680"/>
            <a:ext cx="960120" cy="96012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5825642" y="2222906"/>
            <a:ext cx="537667" cy="537667"/>
          </a:xfrm>
          <a:prstGeom prst="rect">
            <a:avLst/>
          </a:prstGeom>
        </p:spPr>
      </p:pic>
      <p:sp>
        <p:nvSpPr>
          <p:cNvPr id="16" name="Text 11"/>
          <p:cNvSpPr txBox="1"/>
          <p:nvPr/>
        </p:nvSpPr>
        <p:spPr>
          <a:xfrm>
            <a:off x="5157216" y="3108960"/>
            <a:ext cx="1874520" cy="54864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Alexandria" pitchFamily="34" charset="0"/>
                <a:ea typeface="Alexandria" pitchFamily="34" charset="-122"/>
                <a:cs typeface="Alexandria" pitchFamily="34" charset="-120"/>
              </a:rPr>
              <a:t>Sự chú ý</a:t>
            </a:r>
            <a:endParaRPr lang="en-US" sz="2000" dirty="0"/>
          </a:p>
        </p:txBody>
      </p:sp>
      <p:sp>
        <p:nvSpPr>
          <p:cNvPr id="17" name="Text 12"/>
          <p:cNvSpPr txBox="1"/>
          <p:nvPr/>
        </p:nvSpPr>
        <p:spPr>
          <a:xfrm>
            <a:off x="5157216" y="3657600"/>
            <a:ext cx="1874520" cy="822960"/>
          </a:xfrm>
          <a:prstGeom prst="rect">
            <a:avLst/>
          </a:prstGeom>
          <a:noFill/>
          <a:ln/>
        </p:spPr>
        <p:txBody>
          <a:bodyPr wrap="square" lIns="635" tIns="635" rIns="635" bIns="635" rtlCol="0" anchor="t"/>
          <a:lstStyle/>
          <a:p>
            <a:pPr algn="ctr" indent="0" marL="0">
              <a:buNone/>
            </a:pPr>
            <a:r>
              <a:rPr lang="en-US" sz="1500" dirty="0">
                <a:solidFill>
                  <a:srgbClr val="A9B6D3"/>
                </a:solidFill>
                <a:latin typeface="Alexandria" pitchFamily="34" charset="0"/>
                <a:ea typeface="Alexandria" pitchFamily="34" charset="-122"/>
                <a:cs typeface="Alexandria" pitchFamily="34" charset="-120"/>
              </a:rPr>
              <a:t>báo chí, KOL</a:t>
            </a:r>
            <a:endParaRPr lang="en-US" sz="1500" dirty="0"/>
          </a:p>
        </p:txBody>
      </p:sp>
      <p:sp>
        <p:nvSpPr>
          <p:cNvPr id="18" name="Shape 13"/>
          <p:cNvSpPr/>
          <p:nvPr/>
        </p:nvSpPr>
        <p:spPr>
          <a:xfrm>
            <a:off x="7324344" y="1783080"/>
            <a:ext cx="2057400" cy="2926080"/>
          </a:xfrm>
          <a:prstGeom prst="roundRect">
            <a:avLst>
              <a:gd name="adj" fmla="val 3556"/>
            </a:avLst>
          </a:prstGeom>
          <a:solidFill>
            <a:srgbClr val="22395F"/>
          </a:solidFill>
          <a:ln w="12700">
            <a:solidFill>
              <a:srgbClr val="22395F"/>
            </a:solidFill>
            <a:prstDash val="solid"/>
          </a:ln>
        </p:spPr>
      </p:sp>
      <p:sp>
        <p:nvSpPr>
          <p:cNvPr id="19" name="Shape 14"/>
          <p:cNvSpPr/>
          <p:nvPr/>
        </p:nvSpPr>
        <p:spPr>
          <a:xfrm>
            <a:off x="7872984" y="2011680"/>
            <a:ext cx="960120" cy="960120"/>
          </a:xfrm>
          <a:prstGeom prst="ellipse">
            <a:avLst/>
          </a:prstGeom>
          <a:solidFill>
            <a:srgbClr val="09A1E5"/>
          </a:solidFill>
          <a:ln w="12700">
            <a:solidFill>
              <a:srgbClr val="09A1E5"/>
            </a:solidFill>
            <a:prstDash val="solid"/>
          </a:ln>
        </p:spPr>
      </p:sp>
      <p:pic>
        <p:nvPicPr>
          <p:cNvPr id="20" name="Image 3" descr="preencoded.png">    </p:cNvPr>
          <p:cNvPicPr>
            <a:picLocks noChangeAspect="1"/>
          </p:cNvPicPr>
          <p:nvPr/>
        </p:nvPicPr>
        <p:blipFill>
          <a:blip r:embed="rId4"/>
          <a:stretch>
            <a:fillRect/>
          </a:stretch>
        </p:blipFill>
        <p:spPr>
          <a:xfrm>
            <a:off x="8084210" y="2222906"/>
            <a:ext cx="537667" cy="537667"/>
          </a:xfrm>
          <a:prstGeom prst="rect">
            <a:avLst/>
          </a:prstGeom>
        </p:spPr>
      </p:pic>
      <p:sp>
        <p:nvSpPr>
          <p:cNvPr id="21" name="Text 15"/>
          <p:cNvSpPr txBox="1"/>
          <p:nvPr/>
        </p:nvSpPr>
        <p:spPr>
          <a:xfrm>
            <a:off x="7415784" y="3108960"/>
            <a:ext cx="1874520" cy="54864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Alexandria" pitchFamily="34" charset="0"/>
                <a:ea typeface="Alexandria" pitchFamily="34" charset="-122"/>
                <a:cs typeface="Alexandria" pitchFamily="34" charset="-120"/>
              </a:rPr>
              <a:t>Giấy phép</a:t>
            </a:r>
            <a:endParaRPr lang="en-US" sz="2000" dirty="0"/>
          </a:p>
        </p:txBody>
      </p:sp>
      <p:sp>
        <p:nvSpPr>
          <p:cNvPr id="22" name="Text 16"/>
          <p:cNvSpPr txBox="1"/>
          <p:nvPr/>
        </p:nvSpPr>
        <p:spPr>
          <a:xfrm>
            <a:off x="7415784" y="3657600"/>
            <a:ext cx="1874520" cy="822960"/>
          </a:xfrm>
          <a:prstGeom prst="rect">
            <a:avLst/>
          </a:prstGeom>
          <a:noFill/>
          <a:ln/>
        </p:spPr>
        <p:txBody>
          <a:bodyPr wrap="square" lIns="635" tIns="635" rIns="635" bIns="635" rtlCol="0" anchor="t"/>
          <a:lstStyle/>
          <a:p>
            <a:pPr algn="ctr" indent="0" marL="0">
              <a:buNone/>
            </a:pPr>
            <a:r>
              <a:rPr lang="en-US" sz="1500" dirty="0">
                <a:solidFill>
                  <a:srgbClr val="A9B6D3"/>
                </a:solidFill>
                <a:latin typeface="Alexandria" pitchFamily="34" charset="0"/>
                <a:ea typeface="Alexandria" pitchFamily="34" charset="-122"/>
                <a:cs typeface="Alexandria" pitchFamily="34" charset="-120"/>
              </a:rPr>
              <a:t>cơ quan quản lý</a:t>
            </a:r>
            <a:endParaRPr lang="en-US" sz="1500" dirty="0"/>
          </a:p>
        </p:txBody>
      </p:sp>
      <p:sp>
        <p:nvSpPr>
          <p:cNvPr id="23" name="Shape 17"/>
          <p:cNvSpPr/>
          <p:nvPr/>
        </p:nvSpPr>
        <p:spPr>
          <a:xfrm>
            <a:off x="9582912" y="1783080"/>
            <a:ext cx="2057400" cy="2926080"/>
          </a:xfrm>
          <a:prstGeom prst="roundRect">
            <a:avLst>
              <a:gd name="adj" fmla="val 3556"/>
            </a:avLst>
          </a:prstGeom>
          <a:solidFill>
            <a:srgbClr val="22395F"/>
          </a:solidFill>
          <a:ln w="12700">
            <a:solidFill>
              <a:srgbClr val="22395F"/>
            </a:solidFill>
            <a:prstDash val="solid"/>
          </a:ln>
        </p:spPr>
      </p:sp>
      <p:sp>
        <p:nvSpPr>
          <p:cNvPr id="24" name="Shape 18"/>
          <p:cNvSpPr/>
          <p:nvPr/>
        </p:nvSpPr>
        <p:spPr>
          <a:xfrm>
            <a:off x="10131552" y="2011680"/>
            <a:ext cx="960120" cy="960120"/>
          </a:xfrm>
          <a:prstGeom prst="ellipse">
            <a:avLst/>
          </a:prstGeom>
          <a:solidFill>
            <a:srgbClr val="FF9259"/>
          </a:solidFill>
          <a:ln w="12700">
            <a:solidFill>
              <a:srgbClr val="FF9259"/>
            </a:solidFill>
            <a:prstDash val="solid"/>
          </a:ln>
        </p:spPr>
      </p:sp>
      <p:pic>
        <p:nvPicPr>
          <p:cNvPr id="25" name="Image 4" descr="preencoded.png">    </p:cNvPr>
          <p:cNvPicPr>
            <a:picLocks noChangeAspect="1"/>
          </p:cNvPicPr>
          <p:nvPr/>
        </p:nvPicPr>
        <p:blipFill>
          <a:blip r:embed="rId5"/>
          <a:stretch>
            <a:fillRect/>
          </a:stretch>
        </p:blipFill>
        <p:spPr>
          <a:xfrm>
            <a:off x="10342778" y="2222906"/>
            <a:ext cx="537667" cy="537667"/>
          </a:xfrm>
          <a:prstGeom prst="rect">
            <a:avLst/>
          </a:prstGeom>
        </p:spPr>
      </p:pic>
      <p:sp>
        <p:nvSpPr>
          <p:cNvPr id="26" name="Text 19"/>
          <p:cNvSpPr txBox="1"/>
          <p:nvPr/>
        </p:nvSpPr>
        <p:spPr>
          <a:xfrm>
            <a:off x="9674352" y="3108960"/>
            <a:ext cx="1874520" cy="54864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Alexandria" pitchFamily="34" charset="0"/>
                <a:ea typeface="Alexandria" pitchFamily="34" charset="-122"/>
                <a:cs typeface="Alexandria" pitchFamily="34" charset="-120"/>
              </a:rPr>
              <a:t>Thiết bị</a:t>
            </a:r>
            <a:endParaRPr lang="en-US" sz="2000" dirty="0"/>
          </a:p>
        </p:txBody>
      </p:sp>
      <p:sp>
        <p:nvSpPr>
          <p:cNvPr id="27" name="Text 20"/>
          <p:cNvSpPr txBox="1"/>
          <p:nvPr/>
        </p:nvSpPr>
        <p:spPr>
          <a:xfrm>
            <a:off x="9674352" y="3657600"/>
            <a:ext cx="1874520" cy="822960"/>
          </a:xfrm>
          <a:prstGeom prst="rect">
            <a:avLst/>
          </a:prstGeom>
          <a:noFill/>
          <a:ln/>
        </p:spPr>
        <p:txBody>
          <a:bodyPr wrap="square" lIns="635" tIns="635" rIns="635" bIns="635" rtlCol="0" anchor="t"/>
          <a:lstStyle/>
          <a:p>
            <a:pPr algn="ctr" indent="0" marL="0">
              <a:buNone/>
            </a:pPr>
            <a:r>
              <a:rPr lang="en-US" sz="1500" dirty="0">
                <a:solidFill>
                  <a:srgbClr val="A9B6D3"/>
                </a:solidFill>
                <a:latin typeface="Alexandria" pitchFamily="34" charset="0"/>
                <a:ea typeface="Alexandria" pitchFamily="34" charset="-122"/>
                <a:cs typeface="Alexandria" pitchFamily="34" charset="-120"/>
              </a:rPr>
              <a:t>nhà cung cấp AV, LED</a:t>
            </a:r>
            <a:endParaRPr lang="en-US" sz="1500" dirty="0"/>
          </a:p>
        </p:txBody>
      </p:sp>
      <p:sp>
        <p:nvSpPr>
          <p:cNvPr id="28" name="Text 21"/>
          <p:cNvSpPr txBox="1"/>
          <p:nvPr/>
        </p:nvSpPr>
        <p:spPr>
          <a:xfrm>
            <a:off x="548640" y="5029200"/>
            <a:ext cx="11091672" cy="82296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Nghề agency: điều phối những bên mình không quản lý để sự kiện xảy ra — và khách hàng quay lại.</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Môn học chỉ xét các bên liên quan bên ngoài agency</a:t>
            </a:r>
            <a:endParaRPr lang="en-US" sz="2800" dirty="0"/>
          </a:p>
        </p:txBody>
      </p:sp>
      <p:sp>
        <p:nvSpPr>
          <p:cNvPr id="3" name="Shape 1"/>
          <p:cNvSpPr/>
          <p:nvPr/>
        </p:nvSpPr>
        <p:spPr>
          <a:xfrm>
            <a:off x="548640" y="1737360"/>
            <a:ext cx="5486400" cy="4206240"/>
          </a:xfrm>
          <a:prstGeom prst="roundRect">
            <a:avLst>
              <a:gd name="adj" fmla="val 1739"/>
            </a:avLst>
          </a:prstGeom>
          <a:solidFill>
            <a:srgbClr val="22395F"/>
          </a:solidFill>
          <a:ln w="12700">
            <a:solidFill>
              <a:srgbClr val="22395F"/>
            </a:solidFill>
            <a:prstDash val="solid"/>
          </a:ln>
        </p:spPr>
      </p:sp>
      <p:sp>
        <p:nvSpPr>
          <p:cNvPr id="4" name="Shape 2"/>
          <p:cNvSpPr/>
          <p:nvPr/>
        </p:nvSpPr>
        <p:spPr>
          <a:xfrm>
            <a:off x="548640" y="1737360"/>
            <a:ext cx="5486400" cy="640080"/>
          </a:xfrm>
          <a:prstGeom prst="roundRect">
            <a:avLst>
              <a:gd name="adj" fmla="val 11429"/>
            </a:avLst>
          </a:prstGeom>
          <a:solidFill>
            <a:srgbClr val="49B296"/>
          </a:solidFill>
          <a:ln w="12700">
            <a:solidFill>
              <a:srgbClr val="49B296"/>
            </a:solidFill>
            <a:prstDash val="solid"/>
          </a:ln>
        </p:spPr>
      </p:sp>
      <p:sp>
        <p:nvSpPr>
          <p:cNvPr id="5" name="Text 3"/>
          <p:cNvSpPr txBox="1"/>
          <p:nvPr/>
        </p:nvSpPr>
        <p:spPr>
          <a:xfrm>
            <a:off x="777240" y="173736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Trong môn này</a:t>
            </a:r>
            <a:endParaRPr lang="en-US" sz="2000" dirty="0"/>
          </a:p>
        </p:txBody>
      </p:sp>
      <p:sp>
        <p:nvSpPr>
          <p:cNvPr id="6" name="Text 4"/>
          <p:cNvSpPr txBox="1"/>
          <p:nvPr/>
        </p:nvSpPr>
        <p:spPr>
          <a:xfrm>
            <a:off x="822960" y="2514600"/>
            <a:ext cx="5029200" cy="3291840"/>
          </a:xfrm>
          <a:prstGeom prst="rect">
            <a:avLst/>
          </a:prstGeom>
          <a:noFill/>
          <a:ln/>
        </p:spPr>
        <p:txBody>
          <a:bodyPr wrap="square" lIns="635" tIns="635" rIns="635" bIns="635" rtlCol="0" anchor="t"/>
          <a:lstStyle/>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Khách hàng (Key Account)</a:t>
            </a:r>
            <a:endParaRPr lang="en-US" sz="1800" dirty="0"/>
          </a:p>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Nhà đầu tư, nhà tài trợ</a:t>
            </a:r>
            <a:endParaRPr lang="en-US" sz="1800" dirty="0"/>
          </a:p>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Nhà cung cấp, địa điểm</a:t>
            </a:r>
            <a:endParaRPr lang="en-US" sz="1800" dirty="0"/>
          </a:p>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Báo chí, KOL/influencer</a:t>
            </a:r>
            <a:endParaRPr lang="en-US" sz="1800" dirty="0"/>
          </a:p>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Khách mời, công chúng, cộng đồng</a:t>
            </a:r>
            <a:endParaRPr lang="en-US" sz="1800" dirty="0"/>
          </a:p>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Cơ quan quản lý</a:t>
            </a:r>
            <a:endParaRPr lang="en-US" sz="1800" dirty="0"/>
          </a:p>
        </p:txBody>
      </p:sp>
      <p:sp>
        <p:nvSpPr>
          <p:cNvPr id="7" name="Shape 5"/>
          <p:cNvSpPr/>
          <p:nvPr/>
        </p:nvSpPr>
        <p:spPr>
          <a:xfrm>
            <a:off x="6263640" y="1737360"/>
            <a:ext cx="5376672" cy="4206240"/>
          </a:xfrm>
          <a:prstGeom prst="roundRect">
            <a:avLst>
              <a:gd name="adj" fmla="val 1739"/>
            </a:avLst>
          </a:prstGeom>
          <a:solidFill>
            <a:srgbClr val="22395F"/>
          </a:solidFill>
          <a:ln w="12700">
            <a:solidFill>
              <a:srgbClr val="22395F"/>
            </a:solidFill>
            <a:prstDash val="solid"/>
          </a:ln>
        </p:spPr>
      </p:sp>
      <p:sp>
        <p:nvSpPr>
          <p:cNvPr id="8" name="Shape 6"/>
          <p:cNvSpPr/>
          <p:nvPr/>
        </p:nvSpPr>
        <p:spPr>
          <a:xfrm>
            <a:off x="6263640" y="1737360"/>
            <a:ext cx="5376672" cy="640080"/>
          </a:xfrm>
          <a:prstGeom prst="roundRect">
            <a:avLst>
              <a:gd name="adj" fmla="val 11429"/>
            </a:avLst>
          </a:prstGeom>
          <a:solidFill>
            <a:srgbClr val="FF5178"/>
          </a:solidFill>
          <a:ln w="12700">
            <a:solidFill>
              <a:srgbClr val="FF5178"/>
            </a:solidFill>
            <a:prstDash val="solid"/>
          </a:ln>
        </p:spPr>
      </p:sp>
      <p:sp>
        <p:nvSpPr>
          <p:cNvPr id="9" name="Text 7"/>
          <p:cNvSpPr txBox="1"/>
          <p:nvPr/>
        </p:nvSpPr>
        <p:spPr>
          <a:xfrm>
            <a:off x="6492240" y="1737360"/>
            <a:ext cx="493776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Không thuộc môn này</a:t>
            </a:r>
            <a:endParaRPr lang="en-US" sz="2000" dirty="0"/>
          </a:p>
        </p:txBody>
      </p:sp>
      <p:sp>
        <p:nvSpPr>
          <p:cNvPr id="10" name="Text 8"/>
          <p:cNvSpPr txBox="1"/>
          <p:nvPr/>
        </p:nvSpPr>
        <p:spPr>
          <a:xfrm>
            <a:off x="6537960" y="2606040"/>
            <a:ext cx="4937760" cy="45720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Nhân sự, crew, tình nguyện viên</a:t>
            </a:r>
            <a:endParaRPr lang="en-US" sz="1800" dirty="0"/>
          </a:p>
        </p:txBody>
      </p:sp>
      <p:sp>
        <p:nvSpPr>
          <p:cNvPr id="11" name="Text 9"/>
          <p:cNvSpPr txBox="1"/>
          <p:nvPr/>
        </p:nvSpPr>
        <p:spPr>
          <a:xfrm>
            <a:off x="6537960" y="3063240"/>
            <a:ext cx="493776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 môn Quản lý đội nhóm trong tổ chức sự kiện</a:t>
            </a:r>
            <a:endParaRPr lang="en-US" sz="1600" dirty="0"/>
          </a:p>
        </p:txBody>
      </p:sp>
      <p:sp>
        <p:nvSpPr>
          <p:cNvPr id="12" name="Text 10"/>
          <p:cNvSpPr txBox="1"/>
          <p:nvPr/>
        </p:nvSpPr>
        <p:spPr>
          <a:xfrm>
            <a:off x="6537960" y="3840480"/>
            <a:ext cx="4937760" cy="45720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Quản lý, an toàn đám đông</a:t>
            </a:r>
            <a:endParaRPr lang="en-US" sz="1800" dirty="0"/>
          </a:p>
        </p:txBody>
      </p:sp>
      <p:sp>
        <p:nvSpPr>
          <p:cNvPr id="13" name="Text 11"/>
          <p:cNvSpPr txBox="1"/>
          <p:nvPr/>
        </p:nvSpPr>
        <p:spPr>
          <a:xfrm>
            <a:off x="6537960" y="4297680"/>
            <a:ext cx="493776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 môn Quản trị rủi ro sự kiện</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Khách hàng là trục; mọi bên khác phục vụ hành trình của khách hàng</a:t>
            </a:r>
            <a:endParaRPr lang="en-US" sz="2800" dirty="0"/>
          </a:p>
        </p:txBody>
      </p:sp>
      <p:sp>
        <p:nvSpPr>
          <p:cNvPr id="3" name="Shape 1"/>
          <p:cNvSpPr/>
          <p:nvPr/>
        </p:nvSpPr>
        <p:spPr>
          <a:xfrm>
            <a:off x="4727448" y="2606040"/>
            <a:ext cx="2743200" cy="2743200"/>
          </a:xfrm>
          <a:prstGeom prst="ellipse">
            <a:avLst/>
          </a:prstGeom>
          <a:solidFill>
            <a:srgbClr val="FFD23B"/>
          </a:solidFill>
          <a:ln w="12700">
            <a:solidFill>
              <a:srgbClr val="FFD23B"/>
            </a:solidFill>
            <a:prstDash val="solid"/>
          </a:ln>
        </p:spPr>
      </p:sp>
      <p:sp>
        <p:nvSpPr>
          <p:cNvPr id="4" name="Text 2"/>
          <p:cNvSpPr txBox="1"/>
          <p:nvPr/>
        </p:nvSpPr>
        <p:spPr>
          <a:xfrm>
            <a:off x="4727448" y="2606040"/>
            <a:ext cx="2743200" cy="274320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Key Account</a:t>
            </a:r>
            <a:endParaRPr lang="en-US" sz="2000" dirty="0"/>
          </a:p>
          <a:p>
            <a:pPr algn="ctr" indent="0" marL="0">
              <a:buNone/>
            </a:pPr>
            <a:r>
              <a:rPr lang="en-US" sz="2000" b="1" dirty="0">
                <a:solidFill>
                  <a:srgbClr val="172849"/>
                </a:solidFill>
                <a:latin typeface="Alexandria" pitchFamily="34" charset="0"/>
                <a:ea typeface="Alexandria" pitchFamily="34" charset="-122"/>
                <a:cs typeface="Alexandria" pitchFamily="34" charset="-120"/>
              </a:rPr>
              <a:t>(khách hàng trọng yếu)</a:t>
            </a:r>
            <a:endParaRPr lang="en-US" sz="2000" dirty="0"/>
          </a:p>
        </p:txBody>
      </p:sp>
      <p:sp>
        <p:nvSpPr>
          <p:cNvPr id="5" name="Shape 3"/>
          <p:cNvSpPr/>
          <p:nvPr/>
        </p:nvSpPr>
        <p:spPr>
          <a:xfrm>
            <a:off x="548640" y="1783080"/>
            <a:ext cx="3657600" cy="1691640"/>
          </a:xfrm>
          <a:prstGeom prst="roundRect">
            <a:avLst>
              <a:gd name="adj" fmla="val 4324"/>
            </a:avLst>
          </a:prstGeom>
          <a:solidFill>
            <a:srgbClr val="22395F"/>
          </a:solidFill>
          <a:ln w="12700">
            <a:solidFill>
              <a:srgbClr val="22395F"/>
            </a:solidFill>
            <a:prstDash val="solid"/>
          </a:ln>
        </p:spPr>
      </p:sp>
      <p:sp>
        <p:nvSpPr>
          <p:cNvPr id="6" name="Text 4"/>
          <p:cNvSpPr txBox="1"/>
          <p:nvPr/>
        </p:nvSpPr>
        <p:spPr>
          <a:xfrm>
            <a:off x="777240" y="1920240"/>
            <a:ext cx="3291840" cy="45720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Phần 1 · Buổi 1</a:t>
            </a:r>
            <a:endParaRPr lang="en-US" sz="1800" dirty="0"/>
          </a:p>
        </p:txBody>
      </p:sp>
      <p:sp>
        <p:nvSpPr>
          <p:cNvPr id="7" name="Text 5"/>
          <p:cNvSpPr txBox="1"/>
          <p:nvPr/>
        </p:nvSpPr>
        <p:spPr>
          <a:xfrm>
            <a:off x="777240" y="2377440"/>
            <a:ext cx="3291840" cy="96012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Nền tảng: nhìn thấy hệ sinh thái</a:t>
            </a:r>
            <a:endParaRPr lang="en-US" sz="1700" dirty="0"/>
          </a:p>
        </p:txBody>
      </p:sp>
      <p:sp>
        <p:nvSpPr>
          <p:cNvPr id="8" name="Shape 6"/>
          <p:cNvSpPr/>
          <p:nvPr/>
        </p:nvSpPr>
        <p:spPr>
          <a:xfrm>
            <a:off x="8001000" y="1783080"/>
            <a:ext cx="3657600" cy="1691640"/>
          </a:xfrm>
          <a:prstGeom prst="roundRect">
            <a:avLst>
              <a:gd name="adj" fmla="val 4324"/>
            </a:avLst>
          </a:prstGeom>
          <a:solidFill>
            <a:srgbClr val="22395F"/>
          </a:solidFill>
          <a:ln w="12700">
            <a:solidFill>
              <a:srgbClr val="22395F"/>
            </a:solidFill>
            <a:prstDash val="solid"/>
          </a:ln>
        </p:spPr>
      </p:sp>
      <p:sp>
        <p:nvSpPr>
          <p:cNvPr id="9" name="Text 7"/>
          <p:cNvSpPr txBox="1"/>
          <p:nvPr/>
        </p:nvSpPr>
        <p:spPr>
          <a:xfrm>
            <a:off x="8229600" y="1920240"/>
            <a:ext cx="3291840" cy="45720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Phần 2 · Buổi 2–8</a:t>
            </a:r>
            <a:endParaRPr lang="en-US" sz="1800" dirty="0"/>
          </a:p>
        </p:txBody>
      </p:sp>
      <p:sp>
        <p:nvSpPr>
          <p:cNvPr id="10" name="Text 8"/>
          <p:cNvSpPr txBox="1"/>
          <p:nvPr/>
        </p:nvSpPr>
        <p:spPr>
          <a:xfrm>
            <a:off x="8229600" y="2377440"/>
            <a:ext cx="3291840" cy="96012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Quản trị quan hệ với Key Account (KAM)</a:t>
            </a:r>
            <a:endParaRPr lang="en-US" sz="1700" dirty="0"/>
          </a:p>
        </p:txBody>
      </p:sp>
      <p:sp>
        <p:nvSpPr>
          <p:cNvPr id="11" name="Shape 9"/>
          <p:cNvSpPr/>
          <p:nvPr/>
        </p:nvSpPr>
        <p:spPr>
          <a:xfrm>
            <a:off x="548640" y="4206240"/>
            <a:ext cx="3657600" cy="1691640"/>
          </a:xfrm>
          <a:prstGeom prst="roundRect">
            <a:avLst>
              <a:gd name="adj" fmla="val 4324"/>
            </a:avLst>
          </a:prstGeom>
          <a:solidFill>
            <a:srgbClr val="22395F"/>
          </a:solidFill>
          <a:ln w="12700">
            <a:solidFill>
              <a:srgbClr val="22395F"/>
            </a:solidFill>
            <a:prstDash val="solid"/>
          </a:ln>
        </p:spPr>
      </p:sp>
      <p:sp>
        <p:nvSpPr>
          <p:cNvPr id="12" name="Text 10"/>
          <p:cNvSpPr txBox="1"/>
          <p:nvPr/>
        </p:nvSpPr>
        <p:spPr>
          <a:xfrm>
            <a:off x="777240" y="4343400"/>
            <a:ext cx="3291840" cy="45720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Phần 3 · Buổi 9–12</a:t>
            </a:r>
            <a:endParaRPr lang="en-US" sz="1800" dirty="0"/>
          </a:p>
        </p:txBody>
      </p:sp>
      <p:sp>
        <p:nvSpPr>
          <p:cNvPr id="13" name="Text 11"/>
          <p:cNvSpPr txBox="1"/>
          <p:nvPr/>
        </p:nvSpPr>
        <p:spPr>
          <a:xfrm>
            <a:off x="777240" y="4800600"/>
            <a:ext cx="3291840" cy="96012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Điều phối nhà tài trợ, nhà cung cấp, địa điểm, truyền thông</a:t>
            </a:r>
            <a:endParaRPr lang="en-US" sz="1700" dirty="0"/>
          </a:p>
        </p:txBody>
      </p:sp>
      <p:sp>
        <p:nvSpPr>
          <p:cNvPr id="14" name="Shape 12"/>
          <p:cNvSpPr/>
          <p:nvPr/>
        </p:nvSpPr>
        <p:spPr>
          <a:xfrm>
            <a:off x="8001000" y="4206240"/>
            <a:ext cx="3657600" cy="1691640"/>
          </a:xfrm>
          <a:prstGeom prst="roundRect">
            <a:avLst>
              <a:gd name="adj" fmla="val 4324"/>
            </a:avLst>
          </a:prstGeom>
          <a:solidFill>
            <a:srgbClr val="22395F"/>
          </a:solidFill>
          <a:ln w="12700">
            <a:solidFill>
              <a:srgbClr val="22395F"/>
            </a:solidFill>
            <a:prstDash val="solid"/>
          </a:ln>
        </p:spPr>
      </p:sp>
      <p:sp>
        <p:nvSpPr>
          <p:cNvPr id="15" name="Text 13"/>
          <p:cNvSpPr txBox="1"/>
          <p:nvPr/>
        </p:nvSpPr>
        <p:spPr>
          <a:xfrm>
            <a:off x="8229600" y="4343400"/>
            <a:ext cx="3291840" cy="457200"/>
          </a:xfrm>
          <a:prstGeom prst="rect">
            <a:avLst/>
          </a:prstGeom>
          <a:noFill/>
          <a:ln/>
        </p:spPr>
        <p:txBody>
          <a:bodyPr wrap="square" lIns="635" tIns="635" rIns="635" bIns="635" rtlCol="0" anchor="ctr"/>
          <a:lstStyle/>
          <a:p>
            <a:pPr indent="0" marL="0">
              <a:buNone/>
            </a:pPr>
            <a:r>
              <a:rPr lang="en-US" sz="1800" b="1" dirty="0">
                <a:solidFill>
                  <a:srgbClr val="FF9259"/>
                </a:solidFill>
                <a:latin typeface="Alexandria" pitchFamily="34" charset="0"/>
                <a:ea typeface="Alexandria" pitchFamily="34" charset="-122"/>
                <a:cs typeface="Alexandria" pitchFamily="34" charset="-120"/>
              </a:rPr>
              <a:t>Phần 4 · Buổi 13–15</a:t>
            </a:r>
            <a:endParaRPr lang="en-US" sz="1800" dirty="0"/>
          </a:p>
        </p:txBody>
      </p:sp>
      <p:sp>
        <p:nvSpPr>
          <p:cNvPr id="16" name="Text 14"/>
          <p:cNvSpPr txBox="1"/>
          <p:nvPr/>
        </p:nvSpPr>
        <p:spPr>
          <a:xfrm>
            <a:off x="8229600" y="4800600"/>
            <a:ext cx="3291840" cy="96012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Hoàn thiện và bảo vệ kế hoạch</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Hết học phần, nhóm bạn lập và bảo vệ được một kế hoạch quản trị các bên liên quan cho khách hàng thật</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pic>
        <p:nvPicPr>
          <p:cNvPr id="4" name="Image 0" descr="preencoded.png">    </p:cNvPr>
          <p:cNvPicPr>
            <a:picLocks noChangeAspect="1"/>
          </p:cNvPicPr>
          <p:nvPr/>
        </p:nvPicPr>
        <p:blipFill>
          <a:blip r:embed="rId1"/>
          <a:stretch>
            <a:fillRect/>
          </a:stretch>
        </p:blipFill>
        <p:spPr>
          <a:xfrm>
            <a:off x="739750" y="2019910"/>
            <a:ext cx="486461" cy="486461"/>
          </a:xfrm>
          <a:prstGeom prst="rect">
            <a:avLst/>
          </a:prstGeom>
        </p:spPr>
      </p:pic>
      <p:sp>
        <p:nvSpPr>
          <p:cNvPr id="5" name="Text 2"/>
          <p:cNvSpPr txBox="1"/>
          <p:nvPr/>
        </p:nvSpPr>
        <p:spPr>
          <a:xfrm>
            <a:off x="1737360" y="1828800"/>
            <a:ext cx="9692640" cy="868680"/>
          </a:xfrm>
          <a:prstGeom prst="rect">
            <a:avLst/>
          </a:prstGeom>
          <a:noFill/>
          <a:ln/>
        </p:spPr>
        <p:txBody>
          <a:bodyPr wrap="square" lIns="635" tIns="635" rIns="635" bIns="635" rtlCol="0" anchor="ctr"/>
          <a:lstStyle/>
          <a:p>
            <a:pPr indent="0" marL="0">
              <a:buNone/>
            </a:pPr>
            <a:r>
              <a:rPr lang="en-US" sz="2000" dirty="0">
                <a:solidFill>
                  <a:srgbClr val="FBFAF4"/>
                </a:solidFill>
                <a:latin typeface="Alexandria" pitchFamily="34" charset="0"/>
                <a:ea typeface="Alexandria" pitchFamily="34" charset="-122"/>
                <a:cs typeface="Alexandria" pitchFamily="34" charset="-120"/>
              </a:rPr>
              <a:t>Phân tích hệ sinh thái và quyền lực của các bên liên quan</a:t>
            </a:r>
            <a:endParaRPr lang="en-US" sz="2000" dirty="0"/>
          </a:p>
        </p:txBody>
      </p:sp>
      <p:sp>
        <p:nvSpPr>
          <p:cNvPr id="6" name="Shape 3"/>
          <p:cNvSpPr/>
          <p:nvPr/>
        </p:nvSpPr>
        <p:spPr>
          <a:xfrm>
            <a:off x="548640" y="2907792"/>
            <a:ext cx="868680" cy="868680"/>
          </a:xfrm>
          <a:prstGeom prst="ellipse">
            <a:avLst/>
          </a:prstGeom>
          <a:solidFill>
            <a:srgbClr val="FFD23B"/>
          </a:solidFill>
          <a:ln w="12700">
            <a:solidFill>
              <a:srgbClr val="FFD23B"/>
            </a:solidFill>
            <a:prstDash val="solid"/>
          </a:ln>
        </p:spPr>
      </p:sp>
      <p:pic>
        <p:nvPicPr>
          <p:cNvPr id="7" name="Image 1" descr="preencoded.png">    </p:cNvPr>
          <p:cNvPicPr>
            <a:picLocks noChangeAspect="1"/>
          </p:cNvPicPr>
          <p:nvPr/>
        </p:nvPicPr>
        <p:blipFill>
          <a:blip r:embed="rId2"/>
          <a:stretch>
            <a:fillRect/>
          </a:stretch>
        </p:blipFill>
        <p:spPr>
          <a:xfrm>
            <a:off x="739750" y="3098902"/>
            <a:ext cx="486461" cy="486461"/>
          </a:xfrm>
          <a:prstGeom prst="rect">
            <a:avLst/>
          </a:prstGeom>
        </p:spPr>
      </p:pic>
      <p:sp>
        <p:nvSpPr>
          <p:cNvPr id="8" name="Text 4"/>
          <p:cNvSpPr txBox="1"/>
          <p:nvPr/>
        </p:nvSpPr>
        <p:spPr>
          <a:xfrm>
            <a:off x="1737360" y="2907792"/>
            <a:ext cx="9692640" cy="868680"/>
          </a:xfrm>
          <a:prstGeom prst="rect">
            <a:avLst/>
          </a:prstGeom>
          <a:noFill/>
          <a:ln/>
        </p:spPr>
        <p:txBody>
          <a:bodyPr wrap="square" lIns="635" tIns="635" rIns="635" bIns="635" rtlCol="0" anchor="ctr"/>
          <a:lstStyle/>
          <a:p>
            <a:pPr indent="0" marL="0">
              <a:buNone/>
            </a:pPr>
            <a:r>
              <a:rPr lang="en-US" sz="2000" dirty="0">
                <a:solidFill>
                  <a:srgbClr val="FBFAF4"/>
                </a:solidFill>
                <a:latin typeface="Alexandria" pitchFamily="34" charset="0"/>
                <a:ea typeface="Alexandria" pitchFamily="34" charset="-122"/>
                <a:cs typeface="Alexandria" pitchFamily="34" charset="-120"/>
              </a:rPr>
              <a:t>Xây dựng và đo lường quan hệ với Key Account</a:t>
            </a:r>
            <a:endParaRPr lang="en-US" sz="2000" dirty="0"/>
          </a:p>
        </p:txBody>
      </p:sp>
      <p:sp>
        <p:nvSpPr>
          <p:cNvPr id="9" name="Shape 5"/>
          <p:cNvSpPr/>
          <p:nvPr/>
        </p:nvSpPr>
        <p:spPr>
          <a:xfrm>
            <a:off x="548640" y="3986784"/>
            <a:ext cx="868680" cy="868680"/>
          </a:xfrm>
          <a:prstGeom prst="ellipse">
            <a:avLst/>
          </a:prstGeom>
          <a:solidFill>
            <a:srgbClr val="09A1E5"/>
          </a:solidFill>
          <a:ln w="12700">
            <a:solidFill>
              <a:srgbClr val="09A1E5"/>
            </a:solidFill>
            <a:prstDash val="solid"/>
          </a:ln>
        </p:spPr>
      </p:sp>
      <p:pic>
        <p:nvPicPr>
          <p:cNvPr id="10" name="Image 2" descr="preencoded.png">    </p:cNvPr>
          <p:cNvPicPr>
            <a:picLocks noChangeAspect="1"/>
          </p:cNvPicPr>
          <p:nvPr/>
        </p:nvPicPr>
        <p:blipFill>
          <a:blip r:embed="rId3"/>
          <a:stretch>
            <a:fillRect/>
          </a:stretch>
        </p:blipFill>
        <p:spPr>
          <a:xfrm>
            <a:off x="739750" y="4177894"/>
            <a:ext cx="486461" cy="486461"/>
          </a:xfrm>
          <a:prstGeom prst="rect">
            <a:avLst/>
          </a:prstGeom>
        </p:spPr>
      </p:pic>
      <p:sp>
        <p:nvSpPr>
          <p:cNvPr id="11" name="Text 6"/>
          <p:cNvSpPr txBox="1"/>
          <p:nvPr/>
        </p:nvSpPr>
        <p:spPr>
          <a:xfrm>
            <a:off x="1737360" y="3986784"/>
            <a:ext cx="9692640" cy="868680"/>
          </a:xfrm>
          <a:prstGeom prst="rect">
            <a:avLst/>
          </a:prstGeom>
          <a:noFill/>
          <a:ln/>
        </p:spPr>
        <p:txBody>
          <a:bodyPr wrap="square" lIns="635" tIns="635" rIns="635" bIns="635" rtlCol="0" anchor="ctr"/>
          <a:lstStyle/>
          <a:p>
            <a:pPr indent="0" marL="0">
              <a:buNone/>
            </a:pPr>
            <a:r>
              <a:rPr lang="en-US" sz="2000" dirty="0">
                <a:solidFill>
                  <a:srgbClr val="FBFAF4"/>
                </a:solidFill>
                <a:latin typeface="Alexandria" pitchFamily="34" charset="0"/>
                <a:ea typeface="Alexandria" pitchFamily="34" charset="-122"/>
                <a:cs typeface="Alexandria" pitchFamily="34" charset="-120"/>
              </a:rPr>
              <a:t>Điều phối nhà tài trợ, nhà cung cấp, địa điểm, truyền thông quanh hành trình khách hàng</a:t>
            </a:r>
            <a:endParaRPr lang="en-US" sz="2000" dirty="0"/>
          </a:p>
        </p:txBody>
      </p:sp>
      <p:sp>
        <p:nvSpPr>
          <p:cNvPr id="12" name="Shape 7"/>
          <p:cNvSpPr/>
          <p:nvPr/>
        </p:nvSpPr>
        <p:spPr>
          <a:xfrm>
            <a:off x="548640" y="5065776"/>
            <a:ext cx="868680" cy="868680"/>
          </a:xfrm>
          <a:prstGeom prst="ellipse">
            <a:avLst/>
          </a:prstGeom>
          <a:solidFill>
            <a:srgbClr val="FF9259"/>
          </a:solidFill>
          <a:ln w="12700">
            <a:solidFill>
              <a:srgbClr val="FF9259"/>
            </a:solidFill>
            <a:prstDash val="solid"/>
          </a:ln>
        </p:spPr>
      </p:sp>
      <p:pic>
        <p:nvPicPr>
          <p:cNvPr id="13" name="Image 3" descr="preencoded.png">    </p:cNvPr>
          <p:cNvPicPr>
            <a:picLocks noChangeAspect="1"/>
          </p:cNvPicPr>
          <p:nvPr/>
        </p:nvPicPr>
        <p:blipFill>
          <a:blip r:embed="rId4"/>
          <a:stretch>
            <a:fillRect/>
          </a:stretch>
        </p:blipFill>
        <p:spPr>
          <a:xfrm>
            <a:off x="739750" y="5256886"/>
            <a:ext cx="486461" cy="486461"/>
          </a:xfrm>
          <a:prstGeom prst="rect">
            <a:avLst/>
          </a:prstGeom>
        </p:spPr>
      </p:pic>
      <p:sp>
        <p:nvSpPr>
          <p:cNvPr id="14" name="Text 8"/>
          <p:cNvSpPr txBox="1"/>
          <p:nvPr/>
        </p:nvSpPr>
        <p:spPr>
          <a:xfrm>
            <a:off x="1737360" y="5065776"/>
            <a:ext cx="9692640" cy="868680"/>
          </a:xfrm>
          <a:prstGeom prst="rect">
            <a:avLst/>
          </a:prstGeom>
          <a:noFill/>
          <a:ln/>
        </p:spPr>
        <p:txBody>
          <a:bodyPr wrap="square" lIns="635" tIns="635" rIns="635" bIns="635" rtlCol="0" anchor="ctr"/>
          <a:lstStyle/>
          <a:p>
            <a:pPr indent="0" marL="0">
              <a:buNone/>
            </a:pPr>
            <a:r>
              <a:rPr lang="en-US" sz="2000" dirty="0">
                <a:solidFill>
                  <a:srgbClr val="FBFAF4"/>
                </a:solidFill>
                <a:latin typeface="Alexandria" pitchFamily="34" charset="0"/>
                <a:ea typeface="Alexandria" pitchFamily="34" charset="-122"/>
                <a:cs typeface="Alexandria" pitchFamily="34" charset="-120"/>
              </a:rPr>
              <a:t>Trình bày và bảo vệ kế hoạch bằng thuật ngữ chuyên môn, có đạo đức nghề nghiệp</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Mỗi buổi thêm một mảnh: đến Buổi 13 nhóm đã có gần đủ kế hoạch</a:t>
            </a:r>
            <a:endParaRPr lang="en-US" sz="2800" dirty="0"/>
          </a:p>
        </p:txBody>
      </p:sp>
      <p:sp>
        <p:nvSpPr>
          <p:cNvPr id="3" name="Shape 1"/>
          <p:cNvSpPr/>
          <p:nvPr/>
        </p:nvSpPr>
        <p:spPr>
          <a:xfrm>
            <a:off x="548640" y="1737360"/>
            <a:ext cx="1481328" cy="1508760"/>
          </a:xfrm>
          <a:prstGeom prst="roundRect">
            <a:avLst>
              <a:gd name="adj" fmla="val 4938"/>
            </a:avLst>
          </a:prstGeom>
          <a:solidFill>
            <a:srgbClr val="22395F"/>
          </a:solidFill>
          <a:ln w="12700">
            <a:solidFill>
              <a:srgbClr val="22395F"/>
            </a:solidFill>
            <a:prstDash val="solid"/>
          </a:ln>
        </p:spPr>
      </p:sp>
      <p:sp>
        <p:nvSpPr>
          <p:cNvPr id="4" name="Text 2"/>
          <p:cNvSpPr txBox="1"/>
          <p:nvPr/>
        </p:nvSpPr>
        <p:spPr>
          <a:xfrm>
            <a:off x="658368" y="1828800"/>
            <a:ext cx="1280160" cy="41148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B1</a:t>
            </a:r>
            <a:endParaRPr lang="en-US" sz="1800" dirty="0"/>
          </a:p>
        </p:txBody>
      </p:sp>
      <p:sp>
        <p:nvSpPr>
          <p:cNvPr id="5" name="Text 3"/>
          <p:cNvSpPr txBox="1"/>
          <p:nvPr/>
        </p:nvSpPr>
        <p:spPr>
          <a:xfrm>
            <a:off x="658368"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Bản đồ bên liên quan</a:t>
            </a:r>
            <a:endParaRPr lang="en-US" sz="1400" dirty="0"/>
          </a:p>
        </p:txBody>
      </p:sp>
      <p:sp>
        <p:nvSpPr>
          <p:cNvPr id="6" name="Shape 4"/>
          <p:cNvSpPr/>
          <p:nvPr/>
        </p:nvSpPr>
        <p:spPr>
          <a:xfrm>
            <a:off x="2157984" y="1737360"/>
            <a:ext cx="1481328" cy="1508760"/>
          </a:xfrm>
          <a:prstGeom prst="roundRect">
            <a:avLst>
              <a:gd name="adj" fmla="val 4938"/>
            </a:avLst>
          </a:prstGeom>
          <a:solidFill>
            <a:srgbClr val="22395F"/>
          </a:solidFill>
          <a:ln w="12700">
            <a:solidFill>
              <a:srgbClr val="22395F"/>
            </a:solidFill>
            <a:prstDash val="solid"/>
          </a:ln>
        </p:spPr>
      </p:sp>
      <p:sp>
        <p:nvSpPr>
          <p:cNvPr id="7" name="Text 5"/>
          <p:cNvSpPr txBox="1"/>
          <p:nvPr/>
        </p:nvSpPr>
        <p:spPr>
          <a:xfrm>
            <a:off x="2267712" y="1828800"/>
            <a:ext cx="1280160" cy="41148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B2</a:t>
            </a:r>
            <a:endParaRPr lang="en-US" sz="1800" dirty="0"/>
          </a:p>
        </p:txBody>
      </p:sp>
      <p:sp>
        <p:nvSpPr>
          <p:cNvPr id="8" name="Text 6"/>
          <p:cNvSpPr txBox="1"/>
          <p:nvPr/>
        </p:nvSpPr>
        <p:spPr>
          <a:xfrm>
            <a:off x="2267712"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Chọn Key Account</a:t>
            </a:r>
            <a:endParaRPr lang="en-US" sz="1400" dirty="0"/>
          </a:p>
        </p:txBody>
      </p:sp>
      <p:sp>
        <p:nvSpPr>
          <p:cNvPr id="9" name="Shape 7"/>
          <p:cNvSpPr/>
          <p:nvPr/>
        </p:nvSpPr>
        <p:spPr>
          <a:xfrm>
            <a:off x="3767328" y="1737360"/>
            <a:ext cx="1481328" cy="1508760"/>
          </a:xfrm>
          <a:prstGeom prst="roundRect">
            <a:avLst>
              <a:gd name="adj" fmla="val 4938"/>
            </a:avLst>
          </a:prstGeom>
          <a:solidFill>
            <a:srgbClr val="22395F"/>
          </a:solidFill>
          <a:ln w="12700">
            <a:solidFill>
              <a:srgbClr val="22395F"/>
            </a:solidFill>
            <a:prstDash val="solid"/>
          </a:ln>
        </p:spPr>
      </p:sp>
      <p:sp>
        <p:nvSpPr>
          <p:cNvPr id="10" name="Text 8"/>
          <p:cNvSpPr txBox="1"/>
          <p:nvPr/>
        </p:nvSpPr>
        <p:spPr>
          <a:xfrm>
            <a:off x="3877056" y="1828800"/>
            <a:ext cx="1280160" cy="41148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B3</a:t>
            </a:r>
            <a:endParaRPr lang="en-US" sz="1800" dirty="0"/>
          </a:p>
        </p:txBody>
      </p:sp>
      <p:sp>
        <p:nvSpPr>
          <p:cNvPr id="11" name="Text 9"/>
          <p:cNvSpPr txBox="1"/>
          <p:nvPr/>
        </p:nvSpPr>
        <p:spPr>
          <a:xfrm>
            <a:off x="3877056"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DMU &amp; hành trình khách hàng</a:t>
            </a:r>
            <a:endParaRPr lang="en-US" sz="1400" dirty="0"/>
          </a:p>
        </p:txBody>
      </p:sp>
      <p:sp>
        <p:nvSpPr>
          <p:cNvPr id="12" name="Shape 10"/>
          <p:cNvSpPr/>
          <p:nvPr/>
        </p:nvSpPr>
        <p:spPr>
          <a:xfrm>
            <a:off x="5376672" y="1737360"/>
            <a:ext cx="1481328" cy="1508760"/>
          </a:xfrm>
          <a:prstGeom prst="roundRect">
            <a:avLst>
              <a:gd name="adj" fmla="val 4938"/>
            </a:avLst>
          </a:prstGeom>
          <a:solidFill>
            <a:srgbClr val="22395F"/>
          </a:solidFill>
          <a:ln w="12700">
            <a:solidFill>
              <a:srgbClr val="22395F"/>
            </a:solidFill>
            <a:prstDash val="solid"/>
          </a:ln>
        </p:spPr>
      </p:sp>
      <p:sp>
        <p:nvSpPr>
          <p:cNvPr id="13" name="Text 11"/>
          <p:cNvSpPr txBox="1"/>
          <p:nvPr/>
        </p:nvSpPr>
        <p:spPr>
          <a:xfrm>
            <a:off x="5486400" y="1828800"/>
            <a:ext cx="1280160" cy="411480"/>
          </a:xfrm>
          <a:prstGeom prst="rect">
            <a:avLst/>
          </a:prstGeom>
          <a:noFill/>
          <a:ln/>
        </p:spPr>
        <p:txBody>
          <a:bodyPr wrap="square" lIns="635" tIns="635" rIns="635" bIns="635" rtlCol="0" anchor="ctr"/>
          <a:lstStyle/>
          <a:p>
            <a:pPr indent="0" marL="0">
              <a:buNone/>
            </a:pPr>
            <a:r>
              <a:rPr lang="en-US" sz="1800" b="1" dirty="0">
                <a:solidFill>
                  <a:srgbClr val="FF9259"/>
                </a:solidFill>
                <a:latin typeface="Alexandria" pitchFamily="34" charset="0"/>
                <a:ea typeface="Alexandria" pitchFamily="34" charset="-122"/>
                <a:cs typeface="Alexandria" pitchFamily="34" charset="-120"/>
              </a:rPr>
              <a:t>B4</a:t>
            </a:r>
            <a:endParaRPr lang="en-US" sz="1800" dirty="0"/>
          </a:p>
        </p:txBody>
      </p:sp>
      <p:sp>
        <p:nvSpPr>
          <p:cNvPr id="14" name="Text 12"/>
          <p:cNvSpPr txBox="1"/>
          <p:nvPr/>
        </p:nvSpPr>
        <p:spPr>
          <a:xfrm>
            <a:off x="5486400"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Chất lượng quan hệ</a:t>
            </a:r>
            <a:endParaRPr lang="en-US" sz="1400" dirty="0"/>
          </a:p>
        </p:txBody>
      </p:sp>
      <p:sp>
        <p:nvSpPr>
          <p:cNvPr id="15" name="Shape 13"/>
          <p:cNvSpPr/>
          <p:nvPr/>
        </p:nvSpPr>
        <p:spPr>
          <a:xfrm>
            <a:off x="6986016" y="1737360"/>
            <a:ext cx="1481328" cy="1508760"/>
          </a:xfrm>
          <a:prstGeom prst="roundRect">
            <a:avLst>
              <a:gd name="adj" fmla="val 4938"/>
            </a:avLst>
          </a:prstGeom>
          <a:solidFill>
            <a:srgbClr val="22395F"/>
          </a:solidFill>
          <a:ln w="12700">
            <a:solidFill>
              <a:srgbClr val="22395F"/>
            </a:solidFill>
            <a:prstDash val="solid"/>
          </a:ln>
        </p:spPr>
      </p:sp>
      <p:sp>
        <p:nvSpPr>
          <p:cNvPr id="16" name="Text 14"/>
          <p:cNvSpPr txBox="1"/>
          <p:nvPr/>
        </p:nvSpPr>
        <p:spPr>
          <a:xfrm>
            <a:off x="7095744" y="1828800"/>
            <a:ext cx="1280160" cy="41148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B5</a:t>
            </a:r>
            <a:endParaRPr lang="en-US" sz="1800" dirty="0"/>
          </a:p>
        </p:txBody>
      </p:sp>
      <p:sp>
        <p:nvSpPr>
          <p:cNvPr id="17" name="Text 15"/>
          <p:cNvSpPr txBox="1"/>
          <p:nvPr/>
        </p:nvSpPr>
        <p:spPr>
          <a:xfrm>
            <a:off x="7095744"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CVP &amp; đồng kiến tạo</a:t>
            </a:r>
            <a:endParaRPr lang="en-US" sz="1400" dirty="0"/>
          </a:p>
        </p:txBody>
      </p:sp>
      <p:sp>
        <p:nvSpPr>
          <p:cNvPr id="18" name="Shape 16"/>
          <p:cNvSpPr/>
          <p:nvPr/>
        </p:nvSpPr>
        <p:spPr>
          <a:xfrm>
            <a:off x="8595360" y="1737360"/>
            <a:ext cx="1481328" cy="1508760"/>
          </a:xfrm>
          <a:prstGeom prst="roundRect">
            <a:avLst>
              <a:gd name="adj" fmla="val 4938"/>
            </a:avLst>
          </a:prstGeom>
          <a:solidFill>
            <a:srgbClr val="22395F"/>
          </a:solidFill>
          <a:ln w="12700">
            <a:solidFill>
              <a:srgbClr val="22395F"/>
            </a:solidFill>
            <a:prstDash val="solid"/>
          </a:ln>
        </p:spPr>
      </p:sp>
      <p:sp>
        <p:nvSpPr>
          <p:cNvPr id="19" name="Text 17"/>
          <p:cNvSpPr txBox="1"/>
          <p:nvPr/>
        </p:nvSpPr>
        <p:spPr>
          <a:xfrm>
            <a:off x="8705088" y="1828800"/>
            <a:ext cx="1280160" cy="41148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B6</a:t>
            </a:r>
            <a:endParaRPr lang="en-US" sz="1800" dirty="0"/>
          </a:p>
        </p:txBody>
      </p:sp>
      <p:sp>
        <p:nvSpPr>
          <p:cNvPr id="20" name="Text 18"/>
          <p:cNvSpPr txBox="1"/>
          <p:nvPr/>
        </p:nvSpPr>
        <p:spPr>
          <a:xfrm>
            <a:off x="8705088"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CLV &amp; cost-to-serve</a:t>
            </a:r>
            <a:endParaRPr lang="en-US" sz="1400" dirty="0"/>
          </a:p>
        </p:txBody>
      </p:sp>
      <p:sp>
        <p:nvSpPr>
          <p:cNvPr id="21" name="Shape 19"/>
          <p:cNvSpPr/>
          <p:nvPr/>
        </p:nvSpPr>
        <p:spPr>
          <a:xfrm>
            <a:off x="10204704" y="1737360"/>
            <a:ext cx="1481328" cy="1508760"/>
          </a:xfrm>
          <a:prstGeom prst="roundRect">
            <a:avLst>
              <a:gd name="adj" fmla="val 4938"/>
            </a:avLst>
          </a:prstGeom>
          <a:solidFill>
            <a:srgbClr val="22395F"/>
          </a:solidFill>
          <a:ln w="12700">
            <a:solidFill>
              <a:srgbClr val="22395F"/>
            </a:solidFill>
            <a:prstDash val="solid"/>
          </a:ln>
        </p:spPr>
      </p:sp>
      <p:sp>
        <p:nvSpPr>
          <p:cNvPr id="22" name="Text 20"/>
          <p:cNvSpPr txBox="1"/>
          <p:nvPr/>
        </p:nvSpPr>
        <p:spPr>
          <a:xfrm>
            <a:off x="10314432" y="1828800"/>
            <a:ext cx="1280160" cy="41148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B7</a:t>
            </a:r>
            <a:endParaRPr lang="en-US" sz="1800" dirty="0"/>
          </a:p>
        </p:txBody>
      </p:sp>
      <p:sp>
        <p:nvSpPr>
          <p:cNvPr id="23" name="Text 21"/>
          <p:cNvSpPr txBox="1"/>
          <p:nvPr/>
        </p:nvSpPr>
        <p:spPr>
          <a:xfrm>
            <a:off x="10314432"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Nhà cung cấp &amp; đàm phán</a:t>
            </a:r>
            <a:endParaRPr lang="en-US" sz="1400" dirty="0"/>
          </a:p>
        </p:txBody>
      </p:sp>
      <p:sp>
        <p:nvSpPr>
          <p:cNvPr id="24" name="Shape 22"/>
          <p:cNvSpPr/>
          <p:nvPr/>
        </p:nvSpPr>
        <p:spPr>
          <a:xfrm>
            <a:off x="548640" y="3429000"/>
            <a:ext cx="1481328" cy="1508760"/>
          </a:xfrm>
          <a:prstGeom prst="roundRect">
            <a:avLst>
              <a:gd name="adj" fmla="val 4938"/>
            </a:avLst>
          </a:prstGeom>
          <a:solidFill>
            <a:srgbClr val="22395F"/>
          </a:solidFill>
          <a:ln w="12700">
            <a:solidFill>
              <a:srgbClr val="22395F"/>
            </a:solidFill>
            <a:prstDash val="solid"/>
          </a:ln>
        </p:spPr>
      </p:sp>
      <p:sp>
        <p:nvSpPr>
          <p:cNvPr id="25" name="Text 23"/>
          <p:cNvSpPr txBox="1"/>
          <p:nvPr/>
        </p:nvSpPr>
        <p:spPr>
          <a:xfrm>
            <a:off x="658368" y="3520440"/>
            <a:ext cx="1280160" cy="41148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B8</a:t>
            </a:r>
            <a:endParaRPr lang="en-US" sz="1800" dirty="0"/>
          </a:p>
        </p:txBody>
      </p:sp>
      <p:sp>
        <p:nvSpPr>
          <p:cNvPr id="26" name="Text 24"/>
          <p:cNvSpPr txBox="1"/>
          <p:nvPr/>
        </p:nvSpPr>
        <p:spPr>
          <a:xfrm>
            <a:off x="658368"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Cấu trúc quan hệ &amp; đo lường</a:t>
            </a:r>
            <a:endParaRPr lang="en-US" sz="1400" dirty="0"/>
          </a:p>
        </p:txBody>
      </p:sp>
      <p:sp>
        <p:nvSpPr>
          <p:cNvPr id="27" name="Shape 25"/>
          <p:cNvSpPr/>
          <p:nvPr/>
        </p:nvSpPr>
        <p:spPr>
          <a:xfrm>
            <a:off x="2157984" y="3429000"/>
            <a:ext cx="1481328" cy="1508760"/>
          </a:xfrm>
          <a:prstGeom prst="roundRect">
            <a:avLst>
              <a:gd name="adj" fmla="val 4938"/>
            </a:avLst>
          </a:prstGeom>
          <a:solidFill>
            <a:srgbClr val="22395F"/>
          </a:solidFill>
          <a:ln w="12700">
            <a:solidFill>
              <a:srgbClr val="22395F"/>
            </a:solidFill>
            <a:prstDash val="solid"/>
          </a:ln>
        </p:spPr>
      </p:sp>
      <p:sp>
        <p:nvSpPr>
          <p:cNvPr id="28" name="Text 26"/>
          <p:cNvSpPr txBox="1"/>
          <p:nvPr/>
        </p:nvSpPr>
        <p:spPr>
          <a:xfrm>
            <a:off x="2267712" y="3520440"/>
            <a:ext cx="1280160" cy="411480"/>
          </a:xfrm>
          <a:prstGeom prst="rect">
            <a:avLst/>
          </a:prstGeom>
          <a:noFill/>
          <a:ln/>
        </p:spPr>
        <p:txBody>
          <a:bodyPr wrap="square" lIns="635" tIns="635" rIns="635" bIns="635" rtlCol="0" anchor="ctr"/>
          <a:lstStyle/>
          <a:p>
            <a:pPr indent="0" marL="0">
              <a:buNone/>
            </a:pPr>
            <a:r>
              <a:rPr lang="en-US" sz="1800" b="1" dirty="0">
                <a:solidFill>
                  <a:srgbClr val="FF9259"/>
                </a:solidFill>
                <a:latin typeface="Alexandria" pitchFamily="34" charset="0"/>
                <a:ea typeface="Alexandria" pitchFamily="34" charset="-122"/>
                <a:cs typeface="Alexandria" pitchFamily="34" charset="-120"/>
              </a:rPr>
              <a:t>B9</a:t>
            </a:r>
            <a:endParaRPr lang="en-US" sz="1800" dirty="0"/>
          </a:p>
        </p:txBody>
      </p:sp>
      <p:sp>
        <p:nvSpPr>
          <p:cNvPr id="29" name="Text 27"/>
          <p:cNvSpPr txBox="1"/>
          <p:nvPr/>
        </p:nvSpPr>
        <p:spPr>
          <a:xfrm>
            <a:off x="2267712"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Nhà đầu tư &amp; nhà tài trợ</a:t>
            </a:r>
            <a:endParaRPr lang="en-US" sz="1400" dirty="0"/>
          </a:p>
        </p:txBody>
      </p:sp>
      <p:sp>
        <p:nvSpPr>
          <p:cNvPr id="30" name="Shape 28"/>
          <p:cNvSpPr/>
          <p:nvPr/>
        </p:nvSpPr>
        <p:spPr>
          <a:xfrm>
            <a:off x="3767328" y="3429000"/>
            <a:ext cx="1481328" cy="1508760"/>
          </a:xfrm>
          <a:prstGeom prst="roundRect">
            <a:avLst>
              <a:gd name="adj" fmla="val 4938"/>
            </a:avLst>
          </a:prstGeom>
          <a:solidFill>
            <a:srgbClr val="22395F"/>
          </a:solidFill>
          <a:ln w="12700">
            <a:solidFill>
              <a:srgbClr val="22395F"/>
            </a:solidFill>
            <a:prstDash val="solid"/>
          </a:ln>
        </p:spPr>
      </p:sp>
      <p:sp>
        <p:nvSpPr>
          <p:cNvPr id="31" name="Text 29"/>
          <p:cNvSpPr txBox="1"/>
          <p:nvPr/>
        </p:nvSpPr>
        <p:spPr>
          <a:xfrm>
            <a:off x="3877056" y="3520440"/>
            <a:ext cx="1280160" cy="41148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B10</a:t>
            </a:r>
            <a:endParaRPr lang="en-US" sz="1800" dirty="0"/>
          </a:p>
        </p:txBody>
      </p:sp>
      <p:sp>
        <p:nvSpPr>
          <p:cNvPr id="32" name="Text 30"/>
          <p:cNvSpPr txBox="1"/>
          <p:nvPr/>
        </p:nvSpPr>
        <p:spPr>
          <a:xfrm>
            <a:off x="3877056"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Nhà cung ứng &amp; địa điểm</a:t>
            </a:r>
            <a:endParaRPr lang="en-US" sz="1400" dirty="0"/>
          </a:p>
        </p:txBody>
      </p:sp>
      <p:sp>
        <p:nvSpPr>
          <p:cNvPr id="33" name="Shape 31"/>
          <p:cNvSpPr/>
          <p:nvPr/>
        </p:nvSpPr>
        <p:spPr>
          <a:xfrm>
            <a:off x="5376672" y="3429000"/>
            <a:ext cx="1481328" cy="1508760"/>
          </a:xfrm>
          <a:prstGeom prst="roundRect">
            <a:avLst>
              <a:gd name="adj" fmla="val 4938"/>
            </a:avLst>
          </a:prstGeom>
          <a:solidFill>
            <a:srgbClr val="22395F"/>
          </a:solidFill>
          <a:ln w="12700">
            <a:solidFill>
              <a:srgbClr val="22395F"/>
            </a:solidFill>
            <a:prstDash val="solid"/>
          </a:ln>
        </p:spPr>
      </p:sp>
      <p:sp>
        <p:nvSpPr>
          <p:cNvPr id="34" name="Text 32"/>
          <p:cNvSpPr txBox="1"/>
          <p:nvPr/>
        </p:nvSpPr>
        <p:spPr>
          <a:xfrm>
            <a:off x="5486400" y="3520440"/>
            <a:ext cx="1280160" cy="41148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B11</a:t>
            </a:r>
            <a:endParaRPr lang="en-US" sz="1800" dirty="0"/>
          </a:p>
        </p:txBody>
      </p:sp>
      <p:sp>
        <p:nvSpPr>
          <p:cNvPr id="35" name="Text 33"/>
          <p:cNvSpPr txBox="1"/>
          <p:nvPr/>
        </p:nvSpPr>
        <p:spPr>
          <a:xfrm>
            <a:off x="5486400"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Truyền thông &amp; KOL</a:t>
            </a:r>
            <a:endParaRPr lang="en-US" sz="1400" dirty="0"/>
          </a:p>
        </p:txBody>
      </p:sp>
      <p:sp>
        <p:nvSpPr>
          <p:cNvPr id="36" name="Shape 34"/>
          <p:cNvSpPr/>
          <p:nvPr/>
        </p:nvSpPr>
        <p:spPr>
          <a:xfrm>
            <a:off x="6986016" y="3429000"/>
            <a:ext cx="1481328" cy="1508760"/>
          </a:xfrm>
          <a:prstGeom prst="roundRect">
            <a:avLst>
              <a:gd name="adj" fmla="val 4938"/>
            </a:avLst>
          </a:prstGeom>
          <a:solidFill>
            <a:srgbClr val="22395F"/>
          </a:solidFill>
          <a:ln w="12700">
            <a:solidFill>
              <a:srgbClr val="22395F"/>
            </a:solidFill>
            <a:prstDash val="solid"/>
          </a:ln>
        </p:spPr>
      </p:sp>
      <p:sp>
        <p:nvSpPr>
          <p:cNvPr id="37" name="Text 35"/>
          <p:cNvSpPr txBox="1"/>
          <p:nvPr/>
        </p:nvSpPr>
        <p:spPr>
          <a:xfrm>
            <a:off x="7095744" y="3520440"/>
            <a:ext cx="1280160" cy="41148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B12</a:t>
            </a:r>
            <a:endParaRPr lang="en-US" sz="1800" dirty="0"/>
          </a:p>
        </p:txBody>
      </p:sp>
      <p:sp>
        <p:nvSpPr>
          <p:cNvPr id="38" name="Text 36"/>
          <p:cNvSpPr txBox="1"/>
          <p:nvPr/>
        </p:nvSpPr>
        <p:spPr>
          <a:xfrm>
            <a:off x="7095744"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Xung đột trong mạng lưới</a:t>
            </a:r>
            <a:endParaRPr lang="en-US" sz="1400" dirty="0"/>
          </a:p>
        </p:txBody>
      </p:sp>
      <p:sp>
        <p:nvSpPr>
          <p:cNvPr id="39" name="Shape 37"/>
          <p:cNvSpPr/>
          <p:nvPr/>
        </p:nvSpPr>
        <p:spPr>
          <a:xfrm>
            <a:off x="8595360" y="3429000"/>
            <a:ext cx="1481328" cy="1508760"/>
          </a:xfrm>
          <a:prstGeom prst="roundRect">
            <a:avLst>
              <a:gd name="adj" fmla="val 4938"/>
            </a:avLst>
          </a:prstGeom>
          <a:solidFill>
            <a:srgbClr val="22395F"/>
          </a:solidFill>
          <a:ln w="12700">
            <a:solidFill>
              <a:srgbClr val="22395F"/>
            </a:solidFill>
            <a:prstDash val="solid"/>
          </a:ln>
        </p:spPr>
      </p:sp>
      <p:sp>
        <p:nvSpPr>
          <p:cNvPr id="40" name="Text 38"/>
          <p:cNvSpPr txBox="1"/>
          <p:nvPr/>
        </p:nvSpPr>
        <p:spPr>
          <a:xfrm>
            <a:off x="8705088" y="3520440"/>
            <a:ext cx="1280160" cy="41148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B13</a:t>
            </a:r>
            <a:endParaRPr lang="en-US" sz="1800" dirty="0"/>
          </a:p>
        </p:txBody>
      </p:sp>
      <p:sp>
        <p:nvSpPr>
          <p:cNvPr id="41" name="Text 39"/>
          <p:cNvSpPr txBox="1"/>
          <p:nvPr/>
        </p:nvSpPr>
        <p:spPr>
          <a:xfrm>
            <a:off x="8705088"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Ráp kế hoạch A–E</a:t>
            </a:r>
            <a:endParaRPr lang="en-US" sz="1400" dirty="0"/>
          </a:p>
        </p:txBody>
      </p:sp>
      <p:sp>
        <p:nvSpPr>
          <p:cNvPr id="42" name="Shape 40"/>
          <p:cNvSpPr/>
          <p:nvPr/>
        </p:nvSpPr>
        <p:spPr>
          <a:xfrm>
            <a:off x="10204704" y="3429000"/>
            <a:ext cx="1481328" cy="1508760"/>
          </a:xfrm>
          <a:prstGeom prst="roundRect">
            <a:avLst>
              <a:gd name="adj" fmla="val 4938"/>
            </a:avLst>
          </a:prstGeom>
          <a:solidFill>
            <a:srgbClr val="22395F"/>
          </a:solidFill>
          <a:ln w="12700">
            <a:solidFill>
              <a:srgbClr val="22395F"/>
            </a:solidFill>
            <a:prstDash val="solid"/>
          </a:ln>
        </p:spPr>
      </p:sp>
      <p:sp>
        <p:nvSpPr>
          <p:cNvPr id="43" name="Text 41"/>
          <p:cNvSpPr txBox="1"/>
          <p:nvPr/>
        </p:nvSpPr>
        <p:spPr>
          <a:xfrm>
            <a:off x="10314432" y="3520440"/>
            <a:ext cx="1280160" cy="41148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B14–15</a:t>
            </a:r>
            <a:endParaRPr lang="en-US" sz="1800" dirty="0"/>
          </a:p>
        </p:txBody>
      </p:sp>
      <p:sp>
        <p:nvSpPr>
          <p:cNvPr id="44" name="Text 42"/>
          <p:cNvSpPr txBox="1"/>
          <p:nvPr/>
        </p:nvSpPr>
        <p:spPr>
          <a:xfrm>
            <a:off x="10314432"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Bảo vệ trước “Customer Board”</a:t>
            </a:r>
            <a:endParaRPr lang="en-US" sz="1400" dirty="0"/>
          </a:p>
        </p:txBody>
      </p:sp>
      <p:sp>
        <p:nvSpPr>
          <p:cNvPr id="45" name="Shape 43"/>
          <p:cNvSpPr/>
          <p:nvPr/>
        </p:nvSpPr>
        <p:spPr>
          <a:xfrm>
            <a:off x="548640" y="5212080"/>
            <a:ext cx="5440680" cy="594360"/>
          </a:xfrm>
          <a:prstGeom prst="roundRect">
            <a:avLst>
              <a:gd name="adj" fmla="val 12308"/>
            </a:avLst>
          </a:prstGeom>
          <a:solidFill>
            <a:srgbClr val="FF9259"/>
          </a:solidFill>
          <a:ln w="12700">
            <a:solidFill>
              <a:srgbClr val="FF9259"/>
            </a:solidFill>
            <a:prstDash val="solid"/>
          </a:ln>
        </p:spPr>
      </p:sp>
      <p:sp>
        <p:nvSpPr>
          <p:cNvPr id="46" name="Text 44"/>
          <p:cNvSpPr txBox="1"/>
          <p:nvPr/>
        </p:nvSpPr>
        <p:spPr>
          <a:xfrm>
            <a:off x="731520" y="5212080"/>
            <a:ext cx="5120640" cy="59436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Giữa kỳ: thuyết trình + làm việc nhóm (ngoài giờ/LMS)</a:t>
            </a:r>
            <a:endParaRPr lang="en-US" sz="1500" dirty="0"/>
          </a:p>
        </p:txBody>
      </p:sp>
      <p:sp>
        <p:nvSpPr>
          <p:cNvPr id="47" name="Shape 45"/>
          <p:cNvSpPr/>
          <p:nvPr/>
        </p:nvSpPr>
        <p:spPr>
          <a:xfrm>
            <a:off x="6199632" y="5212080"/>
            <a:ext cx="5440680" cy="594360"/>
          </a:xfrm>
          <a:prstGeom prst="roundRect">
            <a:avLst>
              <a:gd name="adj" fmla="val 12308"/>
            </a:avLst>
          </a:prstGeom>
          <a:solidFill>
            <a:srgbClr val="FF5178"/>
          </a:solidFill>
          <a:ln w="12700">
            <a:solidFill>
              <a:srgbClr val="FF5178"/>
            </a:solidFill>
            <a:prstDash val="solid"/>
          </a:ln>
        </p:spPr>
      </p:sp>
      <p:sp>
        <p:nvSpPr>
          <p:cNvPr id="48" name="Text 46"/>
          <p:cNvSpPr txBox="1"/>
          <p:nvPr/>
        </p:nvSpPr>
        <p:spPr>
          <a:xfrm>
            <a:off x="6382512" y="5212080"/>
            <a:ext cx="5120640" cy="59436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Cuối kỳ: Stakeholder Management Plan + bảo vệ</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nửa số điểm đến từ kế hoạch cuối kỳ của nhóm</a:t>
            </a:r>
            <a:endParaRPr lang="en-US" sz="2800" dirty="0"/>
          </a:p>
        </p:txBody>
      </p:sp>
      <p:sp>
        <p:nvSpPr>
          <p:cNvPr id="3" name="Shape 1"/>
          <p:cNvSpPr/>
          <p:nvPr/>
        </p:nvSpPr>
        <p:spPr>
          <a:xfrm>
            <a:off x="548640" y="1828800"/>
            <a:ext cx="6949440" cy="713232"/>
          </a:xfrm>
          <a:prstGeom prst="roundRect">
            <a:avLst>
              <a:gd name="adj" fmla="val 10256"/>
            </a:avLst>
          </a:prstGeom>
          <a:solidFill>
            <a:srgbClr val="22395F"/>
          </a:solidFill>
          <a:ln w="12700">
            <a:solidFill>
              <a:srgbClr val="22395F"/>
            </a:solidFill>
            <a:prstDash val="solid"/>
          </a:ln>
        </p:spPr>
      </p:sp>
      <p:sp>
        <p:nvSpPr>
          <p:cNvPr id="4" name="Text 2"/>
          <p:cNvSpPr txBox="1"/>
          <p:nvPr/>
        </p:nvSpPr>
        <p:spPr>
          <a:xfrm>
            <a:off x="777240" y="1828800"/>
            <a:ext cx="5486400" cy="713232"/>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Chuyên cần</a:t>
            </a:r>
            <a:endParaRPr lang="en-US" sz="1800" dirty="0"/>
          </a:p>
        </p:txBody>
      </p:sp>
      <p:sp>
        <p:nvSpPr>
          <p:cNvPr id="5" name="Text 3"/>
          <p:cNvSpPr txBox="1"/>
          <p:nvPr/>
        </p:nvSpPr>
        <p:spPr>
          <a:xfrm>
            <a:off x="6309360" y="1828800"/>
            <a:ext cx="1051560" cy="713232"/>
          </a:xfrm>
          <a:prstGeom prst="rect">
            <a:avLst/>
          </a:prstGeom>
          <a:noFill/>
          <a:ln/>
        </p:spPr>
        <p:txBody>
          <a:bodyPr wrap="square" lIns="635" tIns="635" rIns="635" bIns="635" rtlCol="0" anchor="ctr"/>
          <a:lstStyle/>
          <a:p>
            <a:pPr algn="r" indent="0" marL="0">
              <a:buNone/>
            </a:pPr>
            <a:r>
              <a:rPr lang="en-US" sz="2400" b="1" dirty="0">
                <a:solidFill>
                  <a:srgbClr val="A9B6D3"/>
                </a:solidFill>
                <a:latin typeface="Alexandria" pitchFamily="34" charset="0"/>
                <a:ea typeface="Alexandria" pitchFamily="34" charset="-122"/>
                <a:cs typeface="Alexandria" pitchFamily="34" charset="-120"/>
              </a:rPr>
              <a:t>10%</a:t>
            </a:r>
            <a:endParaRPr lang="en-US" sz="2400" dirty="0"/>
          </a:p>
        </p:txBody>
      </p:sp>
      <p:sp>
        <p:nvSpPr>
          <p:cNvPr id="6" name="Shape 4"/>
          <p:cNvSpPr/>
          <p:nvPr/>
        </p:nvSpPr>
        <p:spPr>
          <a:xfrm>
            <a:off x="548640" y="2697480"/>
            <a:ext cx="6949440" cy="713232"/>
          </a:xfrm>
          <a:prstGeom prst="roundRect">
            <a:avLst>
              <a:gd name="adj" fmla="val 10256"/>
            </a:avLst>
          </a:prstGeom>
          <a:solidFill>
            <a:srgbClr val="22395F"/>
          </a:solidFill>
          <a:ln w="12700">
            <a:solidFill>
              <a:srgbClr val="22395F"/>
            </a:solidFill>
            <a:prstDash val="solid"/>
          </a:ln>
        </p:spPr>
      </p:sp>
      <p:sp>
        <p:nvSpPr>
          <p:cNvPr id="7" name="Text 5"/>
          <p:cNvSpPr txBox="1"/>
          <p:nvPr/>
        </p:nvSpPr>
        <p:spPr>
          <a:xfrm>
            <a:off x="777240" y="2697480"/>
            <a:ext cx="5486400" cy="713232"/>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Bài tập (nộp LMS)</a:t>
            </a:r>
            <a:endParaRPr lang="en-US" sz="1800" dirty="0"/>
          </a:p>
        </p:txBody>
      </p:sp>
      <p:sp>
        <p:nvSpPr>
          <p:cNvPr id="8" name="Text 6"/>
          <p:cNvSpPr txBox="1"/>
          <p:nvPr/>
        </p:nvSpPr>
        <p:spPr>
          <a:xfrm>
            <a:off x="6309360" y="2697480"/>
            <a:ext cx="1051560" cy="713232"/>
          </a:xfrm>
          <a:prstGeom prst="rect">
            <a:avLst/>
          </a:prstGeom>
          <a:noFill/>
          <a:ln/>
        </p:spPr>
        <p:txBody>
          <a:bodyPr wrap="square" lIns="635" tIns="635" rIns="635" bIns="635" rtlCol="0" anchor="ctr"/>
          <a:lstStyle/>
          <a:p>
            <a:pPr algn="r" indent="0" marL="0">
              <a:buNone/>
            </a:pPr>
            <a:r>
              <a:rPr lang="en-US" sz="2400" b="1" dirty="0">
                <a:solidFill>
                  <a:srgbClr val="49B296"/>
                </a:solidFill>
                <a:latin typeface="Alexandria" pitchFamily="34" charset="0"/>
                <a:ea typeface="Alexandria" pitchFamily="34" charset="-122"/>
                <a:cs typeface="Alexandria" pitchFamily="34" charset="-120"/>
              </a:rPr>
              <a:t>20%</a:t>
            </a:r>
            <a:endParaRPr lang="en-US" sz="2400" dirty="0"/>
          </a:p>
        </p:txBody>
      </p:sp>
      <p:sp>
        <p:nvSpPr>
          <p:cNvPr id="9" name="Shape 7"/>
          <p:cNvSpPr/>
          <p:nvPr/>
        </p:nvSpPr>
        <p:spPr>
          <a:xfrm>
            <a:off x="548640" y="3566160"/>
            <a:ext cx="6949440" cy="713232"/>
          </a:xfrm>
          <a:prstGeom prst="roundRect">
            <a:avLst>
              <a:gd name="adj" fmla="val 10256"/>
            </a:avLst>
          </a:prstGeom>
          <a:solidFill>
            <a:srgbClr val="22395F"/>
          </a:solidFill>
          <a:ln w="12700">
            <a:solidFill>
              <a:srgbClr val="22395F"/>
            </a:solidFill>
            <a:prstDash val="solid"/>
          </a:ln>
        </p:spPr>
      </p:sp>
      <p:sp>
        <p:nvSpPr>
          <p:cNvPr id="10" name="Text 8"/>
          <p:cNvSpPr txBox="1"/>
          <p:nvPr/>
        </p:nvSpPr>
        <p:spPr>
          <a:xfrm>
            <a:off x="777240" y="3566160"/>
            <a:ext cx="5486400" cy="713232"/>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Giữa kỳ: thuyết trình + làm việc nhóm</a:t>
            </a:r>
            <a:endParaRPr lang="en-US" sz="1800" dirty="0"/>
          </a:p>
        </p:txBody>
      </p:sp>
      <p:sp>
        <p:nvSpPr>
          <p:cNvPr id="11" name="Text 9"/>
          <p:cNvSpPr txBox="1"/>
          <p:nvPr/>
        </p:nvSpPr>
        <p:spPr>
          <a:xfrm>
            <a:off x="6309360" y="3566160"/>
            <a:ext cx="1051560" cy="713232"/>
          </a:xfrm>
          <a:prstGeom prst="rect">
            <a:avLst/>
          </a:prstGeom>
          <a:noFill/>
          <a:ln/>
        </p:spPr>
        <p:txBody>
          <a:bodyPr wrap="square" lIns="635" tIns="635" rIns="635" bIns="635" rtlCol="0" anchor="ctr"/>
          <a:lstStyle/>
          <a:p>
            <a:pPr algn="r" indent="0" marL="0">
              <a:buNone/>
            </a:pPr>
            <a:r>
              <a:rPr lang="en-US" sz="2400" b="1" dirty="0">
                <a:solidFill>
                  <a:srgbClr val="49B296"/>
                </a:solidFill>
                <a:latin typeface="Alexandria" pitchFamily="34" charset="0"/>
                <a:ea typeface="Alexandria" pitchFamily="34" charset="-122"/>
                <a:cs typeface="Alexandria" pitchFamily="34" charset="-120"/>
              </a:rPr>
              <a:t>20%</a:t>
            </a:r>
            <a:endParaRPr lang="en-US" sz="2400" dirty="0"/>
          </a:p>
        </p:txBody>
      </p:sp>
      <p:sp>
        <p:nvSpPr>
          <p:cNvPr id="12" name="Shape 10"/>
          <p:cNvSpPr/>
          <p:nvPr/>
        </p:nvSpPr>
        <p:spPr>
          <a:xfrm>
            <a:off x="548640" y="4434840"/>
            <a:ext cx="6949440" cy="713232"/>
          </a:xfrm>
          <a:prstGeom prst="roundRect">
            <a:avLst>
              <a:gd name="adj" fmla="val 10256"/>
            </a:avLst>
          </a:prstGeom>
          <a:solidFill>
            <a:srgbClr val="22395F"/>
          </a:solidFill>
          <a:ln w="12700">
            <a:solidFill>
              <a:srgbClr val="22395F"/>
            </a:solidFill>
            <a:prstDash val="solid"/>
          </a:ln>
        </p:spPr>
      </p:sp>
      <p:sp>
        <p:nvSpPr>
          <p:cNvPr id="13" name="Text 11"/>
          <p:cNvSpPr txBox="1"/>
          <p:nvPr/>
        </p:nvSpPr>
        <p:spPr>
          <a:xfrm>
            <a:off x="777240" y="4434840"/>
            <a:ext cx="5486400" cy="713232"/>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Cuối kỳ: Stakeholder Management Plan + bảo vệ</a:t>
            </a:r>
            <a:endParaRPr lang="en-US" sz="1800" dirty="0"/>
          </a:p>
        </p:txBody>
      </p:sp>
      <p:sp>
        <p:nvSpPr>
          <p:cNvPr id="14" name="Text 12"/>
          <p:cNvSpPr txBox="1"/>
          <p:nvPr/>
        </p:nvSpPr>
        <p:spPr>
          <a:xfrm>
            <a:off x="6309360" y="4434840"/>
            <a:ext cx="1051560" cy="713232"/>
          </a:xfrm>
          <a:prstGeom prst="rect">
            <a:avLst/>
          </a:prstGeom>
          <a:noFill/>
          <a:ln/>
        </p:spPr>
        <p:txBody>
          <a:bodyPr wrap="square" lIns="635" tIns="635" rIns="635" bIns="635" rtlCol="0" anchor="ctr"/>
          <a:lstStyle/>
          <a:p>
            <a:pPr algn="r" indent="0" marL="0">
              <a:buNone/>
            </a:pPr>
            <a:r>
              <a:rPr lang="en-US" sz="2400" b="1" dirty="0">
                <a:solidFill>
                  <a:srgbClr val="FFD23B"/>
                </a:solidFill>
                <a:latin typeface="Alexandria" pitchFamily="34" charset="0"/>
                <a:ea typeface="Alexandria" pitchFamily="34" charset="-122"/>
                <a:cs typeface="Alexandria" pitchFamily="34" charset="-120"/>
              </a:rPr>
              <a:t>50%</a:t>
            </a:r>
            <a:endParaRPr lang="en-US" sz="2400" dirty="0"/>
          </a:p>
        </p:txBody>
      </p:sp>
      <p:sp>
        <p:nvSpPr>
          <p:cNvPr id="15" name="Text 13"/>
          <p:cNvSpPr txBox="1"/>
          <p:nvPr/>
        </p:nvSpPr>
        <p:spPr>
          <a:xfrm>
            <a:off x="8046720" y="2011680"/>
            <a:ext cx="3566160" cy="1463040"/>
          </a:xfrm>
          <a:prstGeom prst="rect">
            <a:avLst/>
          </a:prstGeom>
          <a:noFill/>
          <a:ln/>
        </p:spPr>
        <p:txBody>
          <a:bodyPr wrap="square" lIns="635" tIns="635" rIns="635" bIns="635" rtlCol="0" anchor="ctr"/>
          <a:lstStyle/>
          <a:p>
            <a:pPr algn="ctr" indent="0" marL="0">
              <a:buNone/>
            </a:pPr>
            <a:r>
              <a:rPr lang="en-US" sz="7200" b="1" dirty="0">
                <a:solidFill>
                  <a:srgbClr val="FFD23B"/>
                </a:solidFill>
                <a:latin typeface="Alexandria" pitchFamily="34" charset="0"/>
                <a:ea typeface="Alexandria" pitchFamily="34" charset="-122"/>
                <a:cs typeface="Alexandria" pitchFamily="34" charset="-120"/>
              </a:rPr>
              <a:t>50%</a:t>
            </a:r>
            <a:endParaRPr lang="en-US" sz="7200" dirty="0"/>
          </a:p>
        </p:txBody>
      </p:sp>
      <p:sp>
        <p:nvSpPr>
          <p:cNvPr id="16" name="Text 14"/>
          <p:cNvSpPr txBox="1"/>
          <p:nvPr/>
        </p:nvSpPr>
        <p:spPr>
          <a:xfrm>
            <a:off x="8046720" y="3474720"/>
            <a:ext cx="3566160"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Alexandria" pitchFamily="34" charset="0"/>
                <a:ea typeface="Alexandria" pitchFamily="34" charset="-122"/>
                <a:cs typeface="Alexandria" pitchFamily="34" charset="-120"/>
              </a:rPr>
              <a:t>cuối kỳ — xây dần từ hôm nay</a:t>
            </a:r>
            <a:endParaRPr lang="en-US" sz="1800" dirty="0"/>
          </a:p>
        </p:txBody>
      </p:sp>
      <p:sp>
        <p:nvSpPr>
          <p:cNvPr id="17" name="Text 15"/>
          <p:cNvSpPr txBox="1"/>
          <p:nvPr/>
        </p:nvSpPr>
        <p:spPr>
          <a:xfrm>
            <a:off x="548640" y="5486400"/>
            <a:ext cx="11064240" cy="457200"/>
          </a:xfrm>
          <a:prstGeom prst="rect">
            <a:avLst/>
          </a:prstGeom>
          <a:noFill/>
          <a:ln/>
        </p:spPr>
        <p:txBody>
          <a:bodyPr wrap="square" lIns="635" tIns="635" rIns="635" bIns="635" rtlCol="0" anchor="ctr"/>
          <a:lstStyle/>
          <a:p>
            <a:pPr indent="0" marL="0">
              <a:buNone/>
            </a:pPr>
            <a:r>
              <a:rPr lang="en-US" sz="1600" b="1" dirty="0">
                <a:solidFill>
                  <a:srgbClr val="49B296"/>
                </a:solidFill>
                <a:latin typeface="Alexandria" pitchFamily="34" charset="0"/>
                <a:ea typeface="Alexandria" pitchFamily="34" charset="-122"/>
                <a:cs typeface="Alexandria" pitchFamily="34" charset="-120"/>
              </a:rPr>
              <a:t>Bài làm trên lớp không tính điểm, nhưng là nguyên liệu cho kế hoạch.</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Được dùng AI cho kế hoạch, nhưng phải khai báo và tự bảo vệ được; trích dẫn theo APA 7</a:t>
            </a:r>
            <a:endParaRPr lang="en-US" sz="2800" dirty="0"/>
          </a:p>
        </p:txBody>
      </p:sp>
      <p:sp>
        <p:nvSpPr>
          <p:cNvPr id="3" name="Shape 1"/>
          <p:cNvSpPr/>
          <p:nvPr/>
        </p:nvSpPr>
        <p:spPr>
          <a:xfrm>
            <a:off x="548640" y="1783080"/>
            <a:ext cx="5669280" cy="3977640"/>
          </a:xfrm>
          <a:prstGeom prst="roundRect">
            <a:avLst>
              <a:gd name="adj" fmla="val 1839"/>
            </a:avLst>
          </a:prstGeom>
          <a:solidFill>
            <a:srgbClr val="22395F"/>
          </a:solidFill>
          <a:ln w="12700">
            <a:solidFill>
              <a:srgbClr val="22395F"/>
            </a:solidFill>
            <a:prstDash val="solid"/>
          </a:ln>
        </p:spPr>
      </p:sp>
      <p:sp>
        <p:nvSpPr>
          <p:cNvPr id="4" name="Shape 2"/>
          <p:cNvSpPr/>
          <p:nvPr/>
        </p:nvSpPr>
        <p:spPr>
          <a:xfrm>
            <a:off x="822960" y="2011680"/>
            <a:ext cx="731520" cy="73152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983894" y="2172614"/>
            <a:ext cx="409651" cy="409651"/>
          </a:xfrm>
          <a:prstGeom prst="rect">
            <a:avLst/>
          </a:prstGeom>
        </p:spPr>
      </p:pic>
      <p:sp>
        <p:nvSpPr>
          <p:cNvPr id="6" name="Text 3"/>
          <p:cNvSpPr txBox="1"/>
          <p:nvPr/>
        </p:nvSpPr>
        <p:spPr>
          <a:xfrm>
            <a:off x="1737360" y="2011680"/>
            <a:ext cx="4114800" cy="731520"/>
          </a:xfrm>
          <a:prstGeom prst="rect">
            <a:avLst/>
          </a:prstGeom>
          <a:noFill/>
          <a:ln/>
        </p:spPr>
        <p:txBody>
          <a:bodyPr wrap="square" lIns="635" tIns="635" rIns="635" bIns="635" rtlCol="0" anchor="ctr"/>
          <a:lstStyle/>
          <a:p>
            <a:pPr indent="0" marL="0">
              <a:buNone/>
            </a:pPr>
            <a:r>
              <a:rPr lang="en-US" sz="2200" b="1" dirty="0">
                <a:solidFill>
                  <a:srgbClr val="09A1E5"/>
                </a:solidFill>
                <a:latin typeface="Alexandria" pitchFamily="34" charset="0"/>
                <a:ea typeface="Alexandria" pitchFamily="34" charset="-122"/>
                <a:cs typeface="Alexandria" pitchFamily="34" charset="-120"/>
              </a:rPr>
              <a:t>Dùng AI</a:t>
            </a:r>
            <a:endParaRPr lang="en-US" sz="2200" dirty="0"/>
          </a:p>
        </p:txBody>
      </p:sp>
      <p:sp>
        <p:nvSpPr>
          <p:cNvPr id="7" name="Text 4"/>
          <p:cNvSpPr txBox="1"/>
          <p:nvPr/>
        </p:nvSpPr>
        <p:spPr>
          <a:xfrm>
            <a:off x="868680" y="2926080"/>
            <a:ext cx="5120640" cy="265176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Phụ lục khai báo: công cụ, dùng vào việc gì, nhóm đã sửa gì</a:t>
            </a:r>
            <a:endParaRPr lang="en-US" sz="1700" dirty="0"/>
          </a:p>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Phần bảo vệ trực tiếp là phần quyết định</a:t>
            </a:r>
            <a:endParaRPr lang="en-US" sz="1700" dirty="0"/>
          </a:p>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Tự kiểm chứng mọi số liệu và trích dẫn</a:t>
            </a:r>
            <a:endParaRPr lang="en-US" sz="1700" dirty="0"/>
          </a:p>
        </p:txBody>
      </p:sp>
      <p:sp>
        <p:nvSpPr>
          <p:cNvPr id="8" name="Shape 5"/>
          <p:cNvSpPr/>
          <p:nvPr/>
        </p:nvSpPr>
        <p:spPr>
          <a:xfrm>
            <a:off x="6492240" y="1783080"/>
            <a:ext cx="5148072" cy="3977640"/>
          </a:xfrm>
          <a:prstGeom prst="roundRect">
            <a:avLst>
              <a:gd name="adj" fmla="val 1839"/>
            </a:avLst>
          </a:prstGeom>
          <a:solidFill>
            <a:srgbClr val="22395F"/>
          </a:solidFill>
          <a:ln w="12700">
            <a:solidFill>
              <a:srgbClr val="22395F"/>
            </a:solidFill>
            <a:prstDash val="solid"/>
          </a:ln>
        </p:spPr>
      </p:sp>
      <p:sp>
        <p:nvSpPr>
          <p:cNvPr id="9" name="Shape 6"/>
          <p:cNvSpPr/>
          <p:nvPr/>
        </p:nvSpPr>
        <p:spPr>
          <a:xfrm>
            <a:off x="6766560" y="2011680"/>
            <a:ext cx="731520" cy="73152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927494" y="2172614"/>
            <a:ext cx="409651" cy="409651"/>
          </a:xfrm>
          <a:prstGeom prst="rect">
            <a:avLst/>
          </a:prstGeom>
        </p:spPr>
      </p:pic>
      <p:sp>
        <p:nvSpPr>
          <p:cNvPr id="11" name="Text 7"/>
          <p:cNvSpPr txBox="1"/>
          <p:nvPr/>
        </p:nvSpPr>
        <p:spPr>
          <a:xfrm>
            <a:off x="7680960" y="2011680"/>
            <a:ext cx="3657600" cy="731520"/>
          </a:xfrm>
          <a:prstGeom prst="rect">
            <a:avLst/>
          </a:prstGeom>
          <a:noFill/>
          <a:ln/>
        </p:spPr>
        <p:txBody>
          <a:bodyPr wrap="square" lIns="635" tIns="635" rIns="635" bIns="635" rtlCol="0" anchor="ctr"/>
          <a:lstStyle/>
          <a:p>
            <a:pPr indent="0" marL="0">
              <a:buNone/>
            </a:pPr>
            <a:r>
              <a:rPr lang="en-US" sz="2200" b="1" dirty="0">
                <a:solidFill>
                  <a:srgbClr val="49B296"/>
                </a:solidFill>
                <a:latin typeface="Alexandria" pitchFamily="34" charset="0"/>
                <a:ea typeface="Alexandria" pitchFamily="34" charset="-122"/>
                <a:cs typeface="Alexandria" pitchFamily="34" charset="-120"/>
              </a:rPr>
              <a:t>APA 7</a:t>
            </a:r>
            <a:endParaRPr lang="en-US" sz="2200" dirty="0"/>
          </a:p>
        </p:txBody>
      </p:sp>
      <p:sp>
        <p:nvSpPr>
          <p:cNvPr id="12" name="Text 8"/>
          <p:cNvSpPr txBox="1"/>
          <p:nvPr/>
        </p:nvSpPr>
        <p:spPr>
          <a:xfrm>
            <a:off x="6812280" y="2926080"/>
            <a:ext cx="4572000" cy="365760"/>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Danh mục tài liệu</a:t>
            </a:r>
            <a:endParaRPr lang="en-US" sz="1500" dirty="0"/>
          </a:p>
        </p:txBody>
      </p:sp>
      <p:sp>
        <p:nvSpPr>
          <p:cNvPr id="13" name="Text 9"/>
          <p:cNvSpPr txBox="1"/>
          <p:nvPr/>
        </p:nvSpPr>
        <p:spPr>
          <a:xfrm>
            <a:off x="6812280" y="3291840"/>
            <a:ext cx="4663440" cy="685800"/>
          </a:xfrm>
          <a:prstGeom prst="rect">
            <a:avLst/>
          </a:prstGeom>
          <a:noFill/>
          <a:ln/>
        </p:spPr>
        <p:txBody>
          <a:bodyPr wrap="square" lIns="635" tIns="635" rIns="635" bIns="635" rtlCol="0" anchor="t"/>
          <a:lstStyle/>
          <a:p>
            <a:pPr indent="0" marL="0">
              <a:buNone/>
            </a:pPr>
            <a:r>
              <a:rPr lang="en-US" sz="1600" b="1" dirty="0">
                <a:solidFill>
                  <a:srgbClr val="FFD23B"/>
                </a:solidFill>
                <a:latin typeface="Alexandria" pitchFamily="34" charset="0"/>
                <a:ea typeface="Alexandria" pitchFamily="34" charset="-122"/>
                <a:cs typeface="Alexandria" pitchFamily="34" charset="-120"/>
              </a:rPr>
              <a:t>Holmes, K., Hughes, M., Mair, J., &amp; Carlsen, J. (2015).</a:t>
            </a:r>
            <a:endParaRPr lang="en-US" sz="1600" dirty="0"/>
          </a:p>
        </p:txBody>
      </p:sp>
      <p:sp>
        <p:nvSpPr>
          <p:cNvPr id="14" name="Text 10"/>
          <p:cNvSpPr txBox="1"/>
          <p:nvPr/>
        </p:nvSpPr>
        <p:spPr>
          <a:xfrm>
            <a:off x="6812280" y="4160520"/>
            <a:ext cx="4572000" cy="365760"/>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Trong bài</a:t>
            </a:r>
            <a:endParaRPr lang="en-US" sz="1500" dirty="0"/>
          </a:p>
        </p:txBody>
      </p:sp>
      <p:sp>
        <p:nvSpPr>
          <p:cNvPr id="15" name="Text 11"/>
          <p:cNvSpPr txBox="1"/>
          <p:nvPr/>
        </p:nvSpPr>
        <p:spPr>
          <a:xfrm>
            <a:off x="6812280" y="4526280"/>
            <a:ext cx="4572000" cy="45720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(Holmes et al., 2015)</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đọc định nghĩa, hãy đoán</a:t>
            </a:r>
            <a:endParaRPr lang="en-US" sz="2800" dirty="0"/>
          </a:p>
        </p:txBody>
      </p:sp>
      <p:sp>
        <p:nvSpPr>
          <p:cNvPr id="3" name="Shape 1"/>
          <p:cNvSpPr/>
          <p:nvPr/>
        </p:nvSpPr>
        <p:spPr>
          <a:xfrm>
            <a:off x="5184648" y="1828800"/>
            <a:ext cx="1828800" cy="1828800"/>
          </a:xfrm>
          <a:prstGeom prst="ellipse">
            <a:avLst/>
          </a:prstGeom>
          <a:solidFill>
            <a:srgbClr val="FFD23B"/>
          </a:solidFill>
          <a:ln w="12700">
            <a:solidFill>
              <a:srgbClr val="FFD23B"/>
            </a:solidFill>
            <a:prstDash val="solid"/>
          </a:ln>
        </p:spPr>
      </p:sp>
      <p:pic>
        <p:nvPicPr>
          <p:cNvPr id="4" name="Image 0" descr="preencoded.png">    </p:cNvPr>
          <p:cNvPicPr>
            <a:picLocks noChangeAspect="1"/>
          </p:cNvPicPr>
          <p:nvPr/>
        </p:nvPicPr>
        <p:blipFill>
          <a:blip r:embed="rId1"/>
          <a:stretch>
            <a:fillRect/>
          </a:stretch>
        </p:blipFill>
        <p:spPr>
          <a:xfrm>
            <a:off x="5641848" y="2286000"/>
            <a:ext cx="914400" cy="914400"/>
          </a:xfrm>
          <a:prstGeom prst="rect">
            <a:avLst/>
          </a:prstGeom>
        </p:spPr>
      </p:pic>
      <p:sp>
        <p:nvSpPr>
          <p:cNvPr id="5" name="Text 2"/>
          <p:cNvSpPr txBox="1"/>
          <p:nvPr/>
        </p:nvSpPr>
        <p:spPr>
          <a:xfrm>
            <a:off x="548640" y="4023360"/>
            <a:ext cx="11091672" cy="128016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Alexandria" pitchFamily="34" charset="0"/>
                <a:ea typeface="Alexandria" pitchFamily="34" charset="-122"/>
                <a:cs typeface="Alexandria" pitchFamily="34" charset="-120"/>
              </a:rPr>
              <a:t>Theo bạn, ai là “bên liên quan” của một sự kiện?</a:t>
            </a:r>
            <a:endParaRPr lang="en-US" sz="3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nguồn, ba cách nói — cùng một ý: ảnh hưởng hoặc bị ảnh hưởng</a:t>
            </a:r>
            <a:endParaRPr lang="en-US" sz="2800" dirty="0"/>
          </a:p>
        </p:txBody>
      </p:sp>
      <p:sp>
        <p:nvSpPr>
          <p:cNvPr id="3" name="Shape 1"/>
          <p:cNvSpPr/>
          <p:nvPr/>
        </p:nvSpPr>
        <p:spPr>
          <a:xfrm>
            <a:off x="548640" y="1783080"/>
            <a:ext cx="3566160"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200400" cy="59436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Freeman (1984)</a:t>
            </a:r>
            <a:endParaRPr lang="en-US" sz="1800" dirty="0"/>
          </a:p>
        </p:txBody>
      </p:sp>
      <p:sp>
        <p:nvSpPr>
          <p:cNvPr id="5" name="Shape 3"/>
          <p:cNvSpPr/>
          <p:nvPr/>
        </p:nvSpPr>
        <p:spPr>
          <a:xfrm>
            <a:off x="548640" y="2514600"/>
            <a:ext cx="3566160" cy="2651760"/>
          </a:xfrm>
          <a:prstGeom prst="roundRect">
            <a:avLst>
              <a:gd name="adj" fmla="val 2759"/>
            </a:avLst>
          </a:prstGeom>
          <a:solidFill>
            <a:srgbClr val="22395F"/>
          </a:solidFill>
          <a:ln w="12700">
            <a:solidFill>
              <a:srgbClr val="22395F"/>
            </a:solidFill>
            <a:prstDash val="solid"/>
          </a:ln>
        </p:spPr>
      </p:sp>
      <p:sp>
        <p:nvSpPr>
          <p:cNvPr id="6" name="Text 4"/>
          <p:cNvSpPr txBox="1"/>
          <p:nvPr/>
        </p:nvSpPr>
        <p:spPr>
          <a:xfrm>
            <a:off x="731520" y="2651760"/>
            <a:ext cx="3200400" cy="237744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Bất kỳ nhóm hoặc cá nhân nào </a:t>
            </a:r>
            <a:pPr indent="0" marL="0">
              <a:buNone/>
            </a:pPr>
            <a:r>
              <a:rPr lang="en-US" sz="1800" b="1" dirty="0">
                <a:solidFill>
                  <a:srgbClr val="49B296"/>
                </a:solidFill>
                <a:latin typeface="Alexandria" pitchFamily="34" charset="0"/>
                <a:ea typeface="Alexandria" pitchFamily="34" charset="-122"/>
                <a:cs typeface="Alexandria" pitchFamily="34" charset="-120"/>
              </a:rPr>
              <a:t>có thể ảnh hưởng đến, hoặc bị ảnh hưởng bởi</a:t>
            </a:r>
            <a:pPr indent="0" marL="0">
              <a:buNone/>
            </a:pPr>
            <a:r>
              <a:rPr lang="en-US" sz="1800" dirty="0">
                <a:solidFill>
                  <a:srgbClr val="FBFAF4"/>
                </a:solidFill>
                <a:latin typeface="Alexandria" pitchFamily="34" charset="0"/>
                <a:ea typeface="Alexandria" pitchFamily="34" charset="-122"/>
                <a:cs typeface="Alexandria" pitchFamily="34" charset="-120"/>
              </a:rPr>
              <a:t>, việc đạt mục tiêu của tổ chức</a:t>
            </a:r>
            <a:endParaRPr lang="en-US" sz="1800" dirty="0"/>
          </a:p>
        </p:txBody>
      </p:sp>
      <p:sp>
        <p:nvSpPr>
          <p:cNvPr id="7" name="Text 5"/>
          <p:cNvSpPr txBox="1"/>
          <p:nvPr/>
        </p:nvSpPr>
        <p:spPr>
          <a:xfrm>
            <a:off x="548640" y="5257800"/>
            <a:ext cx="3566160" cy="6400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(Freeman, 1984)</a:t>
            </a:r>
            <a:endParaRPr lang="en-US" sz="1200" dirty="0"/>
          </a:p>
        </p:txBody>
      </p:sp>
      <p:sp>
        <p:nvSpPr>
          <p:cNvPr id="8" name="Shape 6"/>
          <p:cNvSpPr/>
          <p:nvPr/>
        </p:nvSpPr>
        <p:spPr>
          <a:xfrm>
            <a:off x="4325112" y="1783080"/>
            <a:ext cx="3566160" cy="594360"/>
          </a:xfrm>
          <a:prstGeom prst="roundRect">
            <a:avLst>
              <a:gd name="adj" fmla="val 12308"/>
            </a:avLst>
          </a:prstGeom>
          <a:solidFill>
            <a:srgbClr val="09A1E5"/>
          </a:solidFill>
          <a:ln w="12700">
            <a:solidFill>
              <a:srgbClr val="09A1E5"/>
            </a:solidFill>
            <a:prstDash val="solid"/>
          </a:ln>
        </p:spPr>
      </p:sp>
      <p:sp>
        <p:nvSpPr>
          <p:cNvPr id="9" name="Text 7"/>
          <p:cNvSpPr txBox="1"/>
          <p:nvPr/>
        </p:nvSpPr>
        <p:spPr>
          <a:xfrm>
            <a:off x="4507992" y="1783080"/>
            <a:ext cx="3200400" cy="59436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Reid &amp; Arcodia (2002)</a:t>
            </a:r>
            <a:endParaRPr lang="en-US" sz="1800" dirty="0"/>
          </a:p>
        </p:txBody>
      </p:sp>
      <p:sp>
        <p:nvSpPr>
          <p:cNvPr id="10" name="Shape 8"/>
          <p:cNvSpPr/>
          <p:nvPr/>
        </p:nvSpPr>
        <p:spPr>
          <a:xfrm>
            <a:off x="4325112" y="2514600"/>
            <a:ext cx="3566160" cy="2651760"/>
          </a:xfrm>
          <a:prstGeom prst="roundRect">
            <a:avLst>
              <a:gd name="adj" fmla="val 2759"/>
            </a:avLst>
          </a:prstGeom>
          <a:solidFill>
            <a:srgbClr val="22395F"/>
          </a:solidFill>
          <a:ln w="12700">
            <a:solidFill>
              <a:srgbClr val="22395F"/>
            </a:solidFill>
            <a:prstDash val="solid"/>
          </a:ln>
        </p:spPr>
      </p:sp>
      <p:sp>
        <p:nvSpPr>
          <p:cNvPr id="11" name="Text 9"/>
          <p:cNvSpPr txBox="1"/>
          <p:nvPr/>
        </p:nvSpPr>
        <p:spPr>
          <a:xfrm>
            <a:off x="4507992" y="2651760"/>
            <a:ext cx="3200400" cy="237744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Nhóm hoặc cá nhân </a:t>
            </a:r>
            <a:pPr indent="0" marL="0">
              <a:buNone/>
            </a:pPr>
            <a:r>
              <a:rPr lang="en-US" sz="1800" b="1" dirty="0">
                <a:solidFill>
                  <a:srgbClr val="09A1E5"/>
                </a:solidFill>
                <a:latin typeface="Alexandria" pitchFamily="34" charset="0"/>
                <a:ea typeface="Alexandria" pitchFamily="34" charset="-122"/>
                <a:cs typeface="Alexandria" pitchFamily="34" charset="-120"/>
              </a:rPr>
              <a:t>bị ảnh hưởng hoặc có thể bị ảnh hưởng</a:t>
            </a:r>
            <a:pPr indent="0" marL="0">
              <a:buNone/>
            </a:pPr>
            <a:r>
              <a:rPr lang="en-US" sz="1800" dirty="0">
                <a:solidFill>
                  <a:srgbClr val="FBFAF4"/>
                </a:solidFill>
                <a:latin typeface="Alexandria" pitchFamily="34" charset="0"/>
                <a:ea typeface="Alexandria" pitchFamily="34" charset="-122"/>
                <a:cs typeface="Alexandria" pitchFamily="34" charset="-120"/>
              </a:rPr>
              <a:t> bởi sự tồn tại của sự kiện</a:t>
            </a:r>
            <a:endParaRPr lang="en-US" sz="1800" dirty="0"/>
          </a:p>
        </p:txBody>
      </p:sp>
      <p:sp>
        <p:nvSpPr>
          <p:cNvPr id="12" name="Text 10"/>
          <p:cNvSpPr txBox="1"/>
          <p:nvPr/>
        </p:nvSpPr>
        <p:spPr>
          <a:xfrm>
            <a:off x="4325112" y="5257800"/>
            <a:ext cx="3566160" cy="6400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(Reid &amp; Arcodia, 2002, dẫn theo Holmes et al., 2015)</a:t>
            </a:r>
            <a:endParaRPr lang="en-US" sz="1200" dirty="0"/>
          </a:p>
        </p:txBody>
      </p:sp>
      <p:sp>
        <p:nvSpPr>
          <p:cNvPr id="13" name="Shape 11"/>
          <p:cNvSpPr/>
          <p:nvPr/>
        </p:nvSpPr>
        <p:spPr>
          <a:xfrm>
            <a:off x="8101584" y="1783080"/>
            <a:ext cx="3566160" cy="594360"/>
          </a:xfrm>
          <a:prstGeom prst="roundRect">
            <a:avLst>
              <a:gd name="adj" fmla="val 12308"/>
            </a:avLst>
          </a:prstGeom>
          <a:solidFill>
            <a:srgbClr val="FF9259"/>
          </a:solidFill>
          <a:ln w="12700">
            <a:solidFill>
              <a:srgbClr val="FF9259"/>
            </a:solidFill>
            <a:prstDash val="solid"/>
          </a:ln>
        </p:spPr>
      </p:sp>
      <p:sp>
        <p:nvSpPr>
          <p:cNvPr id="14" name="Text 12"/>
          <p:cNvSpPr txBox="1"/>
          <p:nvPr/>
        </p:nvSpPr>
        <p:spPr>
          <a:xfrm>
            <a:off x="8284464" y="1783080"/>
            <a:ext cx="3200400" cy="59436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Slide bộ môn</a:t>
            </a:r>
            <a:endParaRPr lang="en-US" sz="1800" dirty="0"/>
          </a:p>
        </p:txBody>
      </p:sp>
      <p:sp>
        <p:nvSpPr>
          <p:cNvPr id="15" name="Shape 13"/>
          <p:cNvSpPr/>
          <p:nvPr/>
        </p:nvSpPr>
        <p:spPr>
          <a:xfrm>
            <a:off x="8101584" y="2514600"/>
            <a:ext cx="3566160" cy="2651760"/>
          </a:xfrm>
          <a:prstGeom prst="roundRect">
            <a:avLst>
              <a:gd name="adj" fmla="val 2759"/>
            </a:avLst>
          </a:prstGeom>
          <a:solidFill>
            <a:srgbClr val="22395F"/>
          </a:solidFill>
          <a:ln w="12700">
            <a:solidFill>
              <a:srgbClr val="22395F"/>
            </a:solidFill>
            <a:prstDash val="solid"/>
          </a:ln>
        </p:spPr>
      </p:sp>
      <p:sp>
        <p:nvSpPr>
          <p:cNvPr id="16" name="Text 14"/>
          <p:cNvSpPr txBox="1"/>
          <p:nvPr/>
        </p:nvSpPr>
        <p:spPr>
          <a:xfrm>
            <a:off x="8284464" y="2651760"/>
            <a:ext cx="3200400" cy="237744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Cá nhân hoặc nhóm cá nhân </a:t>
            </a:r>
            <a:pPr indent="0" marL="0">
              <a:buNone/>
            </a:pPr>
            <a:r>
              <a:rPr lang="en-US" sz="1800" b="1" dirty="0">
                <a:solidFill>
                  <a:srgbClr val="FF9259"/>
                </a:solidFill>
                <a:latin typeface="Alexandria" pitchFamily="34" charset="0"/>
                <a:ea typeface="Alexandria" pitchFamily="34" charset="-122"/>
                <a:cs typeface="Alexandria" pitchFamily="34" charset="-120"/>
              </a:rPr>
              <a:t>có thể gây ảnh hưởng hoặc bị ảnh hưởng</a:t>
            </a:r>
            <a:pPr indent="0" marL="0">
              <a:buNone/>
            </a:pPr>
            <a:r>
              <a:rPr lang="en-US" sz="1800" dirty="0">
                <a:solidFill>
                  <a:srgbClr val="FBFAF4"/>
                </a:solidFill>
                <a:latin typeface="Alexandria" pitchFamily="34" charset="0"/>
                <a:ea typeface="Alexandria" pitchFamily="34" charset="-122"/>
                <a:cs typeface="Alexandria" pitchFamily="34" charset="-120"/>
              </a:rPr>
              <a:t> bởi các hành động của doanh nghiệp</a:t>
            </a:r>
            <a:endParaRPr lang="en-US" sz="1800" dirty="0"/>
          </a:p>
        </p:txBody>
      </p:sp>
      <p:sp>
        <p:nvSpPr>
          <p:cNvPr id="17" name="Text 15"/>
          <p:cNvSpPr txBox="1"/>
          <p:nvPr/>
        </p:nvSpPr>
        <p:spPr>
          <a:xfrm>
            <a:off x="8101584" y="5257800"/>
            <a:ext cx="3566160" cy="6400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(Trần Nguyễn Huỳnh Như, 2023)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Hệ sinh thái bên liên quan bên ngoài: bốn thành tố</a:t>
            </a:r>
            <a:endParaRPr lang="en-US" sz="2800" dirty="0"/>
          </a:p>
        </p:txBody>
      </p:sp>
      <p:sp>
        <p:nvSpPr>
          <p:cNvPr id="3" name="Text 1"/>
          <p:cNvSpPr txBox="1"/>
          <p:nvPr/>
        </p:nvSpPr>
        <p:spPr>
          <a:xfrm>
            <a:off x="548640" y="1600200"/>
            <a:ext cx="11091672" cy="914400"/>
          </a:xfrm>
          <a:prstGeom prst="rect">
            <a:avLst/>
          </a:prstGeom>
          <a:noFill/>
          <a:ln/>
        </p:spPr>
        <p:txBody>
          <a:bodyPr wrap="square" lIns="635" tIns="635" rIns="635" bIns="635" rtlCol="0" anchor="t"/>
          <a:lstStyle/>
          <a:p>
            <a:pPr indent="0" marL="0">
              <a:buNone/>
            </a:pPr>
            <a:r>
              <a:rPr lang="en-US" sz="1600" i="1" dirty="0">
                <a:solidFill>
                  <a:srgbClr val="A9B6D3"/>
                </a:solidFill>
                <a:latin typeface="Alexandria" pitchFamily="34" charset="0"/>
                <a:ea typeface="Alexandria" pitchFamily="34" charset="-122"/>
                <a:cs typeface="Alexandria" pitchFamily="34" charset="-120"/>
              </a:rPr>
              <a:t>Mạng lưới các tổ chức, cá nhân ngoài agency cùng góp nguồn lực, nhận giá trị, chịu tác động hoặc có quyền cho phép sự kiện — và phụ thuộc lẫn nhau. (định nghĩa làm việc của môn)</a:t>
            </a:r>
            <a:endParaRPr lang="en-US" sz="1600" dirty="0"/>
          </a:p>
        </p:txBody>
      </p:sp>
      <p:sp>
        <p:nvSpPr>
          <p:cNvPr id="4" name="Shape 2"/>
          <p:cNvSpPr/>
          <p:nvPr/>
        </p:nvSpPr>
        <p:spPr>
          <a:xfrm>
            <a:off x="548640" y="2743200"/>
            <a:ext cx="2514600" cy="2286000"/>
          </a:xfrm>
          <a:prstGeom prst="roundRect">
            <a:avLst>
              <a:gd name="adj" fmla="val 3200"/>
            </a:avLst>
          </a:prstGeom>
          <a:solidFill>
            <a:srgbClr val="49B296"/>
          </a:solidFill>
          <a:ln w="12700">
            <a:solidFill>
              <a:srgbClr val="49B296"/>
            </a:solidFill>
            <a:prstDash val="solid"/>
          </a:ln>
        </p:spPr>
      </p:sp>
      <p:sp>
        <p:nvSpPr>
          <p:cNvPr id="5" name="Text 3"/>
          <p:cNvSpPr txBox="1"/>
          <p:nvPr/>
        </p:nvSpPr>
        <p:spPr>
          <a:xfrm>
            <a:off x="548640" y="2880360"/>
            <a:ext cx="2514600" cy="548640"/>
          </a:xfrm>
          <a:prstGeom prst="rect">
            <a:avLst/>
          </a:prstGeom>
          <a:noFill/>
          <a:ln/>
        </p:spPr>
        <p:txBody>
          <a:bodyPr wrap="square" lIns="635" tIns="635" rIns="635" bIns="635"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6" name="Text 4"/>
          <p:cNvSpPr txBox="1"/>
          <p:nvPr/>
        </p:nvSpPr>
        <p:spPr>
          <a:xfrm>
            <a:off x="685800" y="3474720"/>
            <a:ext cx="2240280" cy="1417320"/>
          </a:xfrm>
          <a:prstGeom prst="rect">
            <a:avLst/>
          </a:prstGeom>
          <a:noFill/>
          <a:ln/>
        </p:spPr>
        <p:txBody>
          <a:bodyPr wrap="square" lIns="635" tIns="635" rIns="635" bIns="635" rtlCol="0" anchor="t"/>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Ngoài agency</a:t>
            </a:r>
            <a:endParaRPr lang="en-US" sz="1700" dirty="0"/>
          </a:p>
        </p:txBody>
      </p:sp>
      <p:sp>
        <p:nvSpPr>
          <p:cNvPr id="7" name="Shape 5"/>
          <p:cNvSpPr/>
          <p:nvPr/>
        </p:nvSpPr>
        <p:spPr>
          <a:xfrm>
            <a:off x="3108960" y="3703320"/>
            <a:ext cx="292608" cy="365760"/>
          </a:xfrm>
          <a:prstGeom prst="rightArrow">
            <a:avLst/>
          </a:prstGeom>
          <a:solidFill>
            <a:srgbClr val="A9B6D3"/>
          </a:solidFill>
          <a:ln w="12700">
            <a:solidFill>
              <a:srgbClr val="A9B6D3"/>
            </a:solidFill>
            <a:prstDash val="solid"/>
          </a:ln>
        </p:spPr>
      </p:sp>
      <p:sp>
        <p:nvSpPr>
          <p:cNvPr id="8" name="Shape 6"/>
          <p:cNvSpPr/>
          <p:nvPr/>
        </p:nvSpPr>
        <p:spPr>
          <a:xfrm>
            <a:off x="3447288" y="2743200"/>
            <a:ext cx="2514600" cy="2286000"/>
          </a:xfrm>
          <a:prstGeom prst="roundRect">
            <a:avLst>
              <a:gd name="adj" fmla="val 3200"/>
            </a:avLst>
          </a:prstGeom>
          <a:solidFill>
            <a:srgbClr val="FFD23B"/>
          </a:solidFill>
          <a:ln w="12700">
            <a:solidFill>
              <a:srgbClr val="FFD23B"/>
            </a:solidFill>
            <a:prstDash val="solid"/>
          </a:ln>
        </p:spPr>
      </p:sp>
      <p:sp>
        <p:nvSpPr>
          <p:cNvPr id="9" name="Text 7"/>
          <p:cNvSpPr txBox="1"/>
          <p:nvPr/>
        </p:nvSpPr>
        <p:spPr>
          <a:xfrm>
            <a:off x="3447288" y="2880360"/>
            <a:ext cx="2514600" cy="548640"/>
          </a:xfrm>
          <a:prstGeom prst="rect">
            <a:avLst/>
          </a:prstGeom>
          <a:noFill/>
          <a:ln/>
        </p:spPr>
        <p:txBody>
          <a:bodyPr wrap="square" lIns="635" tIns="635" rIns="635" bIns="635"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10" name="Text 8"/>
          <p:cNvSpPr txBox="1"/>
          <p:nvPr/>
        </p:nvSpPr>
        <p:spPr>
          <a:xfrm>
            <a:off x="3584448" y="3474720"/>
            <a:ext cx="2240280" cy="1417320"/>
          </a:xfrm>
          <a:prstGeom prst="rect">
            <a:avLst/>
          </a:prstGeom>
          <a:noFill/>
          <a:ln/>
        </p:spPr>
        <p:txBody>
          <a:bodyPr wrap="square" lIns="635" tIns="635" rIns="635" bIns="635" rtlCol="0" anchor="t"/>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Có “phần” trong sự kiện: góp, nhận, chịu tác động, cho phép</a:t>
            </a:r>
            <a:endParaRPr lang="en-US" sz="1700" dirty="0"/>
          </a:p>
        </p:txBody>
      </p:sp>
      <p:sp>
        <p:nvSpPr>
          <p:cNvPr id="11" name="Shape 9"/>
          <p:cNvSpPr/>
          <p:nvPr/>
        </p:nvSpPr>
        <p:spPr>
          <a:xfrm>
            <a:off x="6007608" y="3703320"/>
            <a:ext cx="292608" cy="365760"/>
          </a:xfrm>
          <a:prstGeom prst="rightArrow">
            <a:avLst/>
          </a:prstGeom>
          <a:solidFill>
            <a:srgbClr val="A9B6D3"/>
          </a:solidFill>
          <a:ln w="12700">
            <a:solidFill>
              <a:srgbClr val="A9B6D3"/>
            </a:solidFill>
            <a:prstDash val="solid"/>
          </a:ln>
        </p:spPr>
      </p:sp>
      <p:sp>
        <p:nvSpPr>
          <p:cNvPr id="12" name="Shape 10"/>
          <p:cNvSpPr/>
          <p:nvPr/>
        </p:nvSpPr>
        <p:spPr>
          <a:xfrm>
            <a:off x="6345936" y="2743200"/>
            <a:ext cx="2514600" cy="2286000"/>
          </a:xfrm>
          <a:prstGeom prst="roundRect">
            <a:avLst>
              <a:gd name="adj" fmla="val 3200"/>
            </a:avLst>
          </a:prstGeom>
          <a:solidFill>
            <a:srgbClr val="09A1E5"/>
          </a:solidFill>
          <a:ln w="12700">
            <a:solidFill>
              <a:srgbClr val="09A1E5"/>
            </a:solidFill>
            <a:prstDash val="solid"/>
          </a:ln>
        </p:spPr>
      </p:sp>
      <p:sp>
        <p:nvSpPr>
          <p:cNvPr id="13" name="Text 11"/>
          <p:cNvSpPr txBox="1"/>
          <p:nvPr/>
        </p:nvSpPr>
        <p:spPr>
          <a:xfrm>
            <a:off x="6345936" y="2880360"/>
            <a:ext cx="2514600" cy="548640"/>
          </a:xfrm>
          <a:prstGeom prst="rect">
            <a:avLst/>
          </a:prstGeom>
          <a:noFill/>
          <a:ln/>
        </p:spPr>
        <p:txBody>
          <a:bodyPr wrap="square" lIns="635" tIns="635" rIns="635" bIns="635"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4" name="Text 12"/>
          <p:cNvSpPr txBox="1"/>
          <p:nvPr/>
        </p:nvSpPr>
        <p:spPr>
          <a:xfrm>
            <a:off x="6483096" y="3474720"/>
            <a:ext cx="2240280" cy="1417320"/>
          </a:xfrm>
          <a:prstGeom prst="rect">
            <a:avLst/>
          </a:prstGeom>
          <a:noFill/>
          <a:ln/>
        </p:spPr>
        <p:txBody>
          <a:bodyPr wrap="square" lIns="635" tIns="635" rIns="635" bIns="635" rtlCol="0" anchor="t"/>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Phụ thuộc lẫn nhau</a:t>
            </a:r>
            <a:endParaRPr lang="en-US" sz="1700" dirty="0"/>
          </a:p>
        </p:txBody>
      </p:sp>
      <p:sp>
        <p:nvSpPr>
          <p:cNvPr id="15" name="Shape 13"/>
          <p:cNvSpPr/>
          <p:nvPr/>
        </p:nvSpPr>
        <p:spPr>
          <a:xfrm>
            <a:off x="8906256" y="3703320"/>
            <a:ext cx="292608" cy="365760"/>
          </a:xfrm>
          <a:prstGeom prst="rightArrow">
            <a:avLst/>
          </a:prstGeom>
          <a:solidFill>
            <a:srgbClr val="A9B6D3"/>
          </a:solidFill>
          <a:ln w="12700">
            <a:solidFill>
              <a:srgbClr val="A9B6D3"/>
            </a:solidFill>
            <a:prstDash val="solid"/>
          </a:ln>
        </p:spPr>
      </p:sp>
      <p:sp>
        <p:nvSpPr>
          <p:cNvPr id="16" name="Shape 14"/>
          <p:cNvSpPr/>
          <p:nvPr/>
        </p:nvSpPr>
        <p:spPr>
          <a:xfrm>
            <a:off x="9244584" y="2743200"/>
            <a:ext cx="2514600" cy="2286000"/>
          </a:xfrm>
          <a:prstGeom prst="roundRect">
            <a:avLst>
              <a:gd name="adj" fmla="val 3200"/>
            </a:avLst>
          </a:prstGeom>
          <a:solidFill>
            <a:srgbClr val="FF9259"/>
          </a:solidFill>
          <a:ln w="12700">
            <a:solidFill>
              <a:srgbClr val="FF9259"/>
            </a:solidFill>
            <a:prstDash val="solid"/>
          </a:ln>
        </p:spPr>
      </p:sp>
      <p:sp>
        <p:nvSpPr>
          <p:cNvPr id="17" name="Text 15"/>
          <p:cNvSpPr txBox="1"/>
          <p:nvPr/>
        </p:nvSpPr>
        <p:spPr>
          <a:xfrm>
            <a:off x="9244584" y="2880360"/>
            <a:ext cx="2514600" cy="548640"/>
          </a:xfrm>
          <a:prstGeom prst="rect">
            <a:avLst/>
          </a:prstGeom>
          <a:noFill/>
          <a:ln/>
        </p:spPr>
        <p:txBody>
          <a:bodyPr wrap="square" lIns="635" tIns="635" rIns="635" bIns="635"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4</a:t>
            </a:r>
            <a:endParaRPr lang="en-US" sz="2600" dirty="0"/>
          </a:p>
        </p:txBody>
      </p:sp>
      <p:sp>
        <p:nvSpPr>
          <p:cNvPr id="18" name="Text 16"/>
          <p:cNvSpPr txBox="1"/>
          <p:nvPr/>
        </p:nvSpPr>
        <p:spPr>
          <a:xfrm>
            <a:off x="9381744" y="3474720"/>
            <a:ext cx="2240280" cy="1417320"/>
          </a:xfrm>
          <a:prstGeom prst="rect">
            <a:avLst/>
          </a:prstGeom>
          <a:noFill/>
          <a:ln/>
        </p:spPr>
        <p:txBody>
          <a:bodyPr wrap="square" lIns="635" tIns="635" rIns="635" bIns="635" rtlCol="0" anchor="t"/>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Thay đổi theo giai đoạn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Danh sách thấy từng bên; hệ sinh thái thấy cả những sợi dây nối họ</a:t>
            </a:r>
            <a:endParaRPr lang="en-US" sz="2800" dirty="0"/>
          </a:p>
        </p:txBody>
      </p:sp>
      <p:sp>
        <p:nvSpPr>
          <p:cNvPr id="3" name="Shape 1"/>
          <p:cNvSpPr/>
          <p:nvPr/>
        </p:nvSpPr>
        <p:spPr>
          <a:xfrm>
            <a:off x="548640" y="1783080"/>
            <a:ext cx="3657600" cy="3749040"/>
          </a:xfrm>
          <a:prstGeom prst="roundRect">
            <a:avLst>
              <a:gd name="adj" fmla="val 2000"/>
            </a:avLst>
          </a:prstGeom>
          <a:solidFill>
            <a:srgbClr val="22395F"/>
          </a:solidFill>
          <a:ln w="12700">
            <a:solidFill>
              <a:srgbClr val="22395F"/>
            </a:solidFill>
            <a:prstDash val="solid"/>
          </a:ln>
        </p:spPr>
      </p:sp>
      <p:sp>
        <p:nvSpPr>
          <p:cNvPr id="4" name="Text 2"/>
          <p:cNvSpPr txBox="1"/>
          <p:nvPr/>
        </p:nvSpPr>
        <p:spPr>
          <a:xfrm>
            <a:off x="777240" y="1874520"/>
            <a:ext cx="3200400" cy="457200"/>
          </a:xfrm>
          <a:prstGeom prst="rect">
            <a:avLst/>
          </a:prstGeom>
          <a:noFill/>
          <a:ln/>
        </p:spPr>
        <p:txBody>
          <a:bodyPr wrap="square" lIns="635" tIns="635" rIns="635" bIns="635" rtlCol="0" anchor="ctr"/>
          <a:lstStyle/>
          <a:p>
            <a:pPr indent="0" marL="0">
              <a:buNone/>
            </a:pPr>
            <a:r>
              <a:rPr lang="en-US" sz="1800" b="1" dirty="0">
                <a:solidFill>
                  <a:srgbClr val="A9B6D3"/>
                </a:solidFill>
                <a:latin typeface="Alexandria" pitchFamily="34" charset="0"/>
                <a:ea typeface="Alexandria" pitchFamily="34" charset="-122"/>
                <a:cs typeface="Alexandria" pitchFamily="34" charset="-120"/>
              </a:rPr>
              <a:t>Danh sách</a:t>
            </a:r>
            <a:endParaRPr lang="en-US" sz="1800" dirty="0"/>
          </a:p>
        </p:txBody>
      </p:sp>
      <p:sp>
        <p:nvSpPr>
          <p:cNvPr id="5" name="Text 3"/>
          <p:cNvSpPr txBox="1"/>
          <p:nvPr/>
        </p:nvSpPr>
        <p:spPr>
          <a:xfrm>
            <a:off x="822960" y="2377440"/>
            <a:ext cx="3108960" cy="2926080"/>
          </a:xfrm>
          <a:prstGeom prst="rect">
            <a:avLst/>
          </a:prstGeom>
          <a:noFill/>
          <a:ln/>
        </p:spPr>
        <p:txBody>
          <a:bodyPr wrap="square" lIns="635" tIns="635" rIns="635" bIns="635" rtlCol="0" anchor="t"/>
          <a:lstStyle/>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Khách hàng</a:t>
            </a:r>
            <a:endParaRPr lang="en-US" sz="1800" dirty="0"/>
          </a:p>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Khách sạn</a:t>
            </a:r>
            <a:endParaRPr lang="en-US" sz="1800" dirty="0"/>
          </a:p>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Nhà tài trợ</a:t>
            </a:r>
            <a:endParaRPr lang="en-US" sz="1800" dirty="0"/>
          </a:p>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Báo chí</a:t>
            </a:r>
            <a:endParaRPr lang="en-US" sz="1800" dirty="0"/>
          </a:p>
          <a:p>
            <a:pPr marL="342900" indent="-342900">
              <a:spcAft>
                <a:spcPts val="600"/>
              </a:spcAft>
              <a:buSzPct val="100000"/>
              <a:buChar char="•"/>
            </a:pPr>
            <a:r>
              <a:rPr lang="en-US" sz="1800" dirty="0">
                <a:solidFill>
                  <a:srgbClr val="FBFAF4"/>
                </a:solidFill>
                <a:latin typeface="Alexandria" pitchFamily="34" charset="0"/>
                <a:ea typeface="Alexandria" pitchFamily="34" charset="-122"/>
                <a:cs typeface="Alexandria" pitchFamily="34" charset="-120"/>
              </a:rPr>
              <a:t>KOL</a:t>
            </a:r>
            <a:endParaRPr lang="en-US" sz="1800" dirty="0"/>
          </a:p>
        </p:txBody>
      </p:sp>
      <p:sp>
        <p:nvSpPr>
          <p:cNvPr id="6" name="Shape 4"/>
          <p:cNvSpPr/>
          <p:nvPr/>
        </p:nvSpPr>
        <p:spPr>
          <a:xfrm>
            <a:off x="4480560" y="1783080"/>
            <a:ext cx="7159752" cy="3749040"/>
          </a:xfrm>
          <a:prstGeom prst="roundRect">
            <a:avLst>
              <a:gd name="adj" fmla="val 1951"/>
            </a:avLst>
          </a:prstGeom>
          <a:solidFill>
            <a:srgbClr val="22395F"/>
          </a:solidFill>
          <a:ln w="12700">
            <a:solidFill>
              <a:srgbClr val="22395F"/>
            </a:solidFill>
            <a:prstDash val="solid"/>
          </a:ln>
        </p:spPr>
      </p:sp>
      <p:sp>
        <p:nvSpPr>
          <p:cNvPr id="7" name="Text 5"/>
          <p:cNvSpPr txBox="1"/>
          <p:nvPr/>
        </p:nvSpPr>
        <p:spPr>
          <a:xfrm>
            <a:off x="4709160" y="1874520"/>
            <a:ext cx="3200400" cy="45720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Hệ sinh thái</a:t>
            </a:r>
            <a:endParaRPr lang="en-US" sz="1800" dirty="0"/>
          </a:p>
        </p:txBody>
      </p:sp>
      <p:sp>
        <p:nvSpPr>
          <p:cNvPr id="8" name="Shape 6"/>
          <p:cNvSpPr/>
          <p:nvPr/>
        </p:nvSpPr>
        <p:spPr>
          <a:xfrm>
            <a:off x="5669280" y="2697480"/>
            <a:ext cx="4937760" cy="9144"/>
          </a:xfrm>
          <a:prstGeom prst="line">
            <a:avLst/>
          </a:prstGeom>
          <a:noFill/>
          <a:ln w="25400">
            <a:solidFill>
              <a:srgbClr val="A9B6D3"/>
            </a:solidFill>
            <a:prstDash val="solid"/>
          </a:ln>
        </p:spPr>
      </p:sp>
      <p:sp>
        <p:nvSpPr>
          <p:cNvPr id="9" name="Shape 7"/>
          <p:cNvSpPr/>
          <p:nvPr/>
        </p:nvSpPr>
        <p:spPr>
          <a:xfrm>
            <a:off x="10607040" y="2697480"/>
            <a:ext cx="9144" cy="1920240"/>
          </a:xfrm>
          <a:prstGeom prst="line">
            <a:avLst/>
          </a:prstGeom>
          <a:noFill/>
          <a:ln w="25400">
            <a:solidFill>
              <a:srgbClr val="A9B6D3"/>
            </a:solidFill>
            <a:prstDash val="solid"/>
          </a:ln>
        </p:spPr>
      </p:sp>
      <p:sp>
        <p:nvSpPr>
          <p:cNvPr id="10" name="Shape 8"/>
          <p:cNvSpPr/>
          <p:nvPr/>
        </p:nvSpPr>
        <p:spPr>
          <a:xfrm>
            <a:off x="8229600" y="3566160"/>
            <a:ext cx="2377440" cy="1051560"/>
          </a:xfrm>
          <a:prstGeom prst="line">
            <a:avLst/>
          </a:prstGeom>
          <a:noFill/>
          <a:ln w="25400">
            <a:solidFill>
              <a:srgbClr val="A9B6D3"/>
            </a:solidFill>
            <a:prstDash val="solid"/>
          </a:ln>
        </p:spPr>
      </p:sp>
      <p:sp>
        <p:nvSpPr>
          <p:cNvPr id="11" name="Shape 9"/>
          <p:cNvSpPr/>
          <p:nvPr/>
        </p:nvSpPr>
        <p:spPr>
          <a:xfrm flipV="1">
            <a:off x="5669280" y="3566160"/>
            <a:ext cx="2560320" cy="1051560"/>
          </a:xfrm>
          <a:prstGeom prst="line">
            <a:avLst/>
          </a:prstGeom>
          <a:noFill/>
          <a:ln w="25400">
            <a:solidFill>
              <a:srgbClr val="A9B6D3"/>
            </a:solidFill>
            <a:prstDash val="solid"/>
          </a:ln>
        </p:spPr>
      </p:sp>
      <p:sp>
        <p:nvSpPr>
          <p:cNvPr id="12" name="Shape 10"/>
          <p:cNvSpPr/>
          <p:nvPr/>
        </p:nvSpPr>
        <p:spPr>
          <a:xfrm>
            <a:off x="5669280" y="2697480"/>
            <a:ext cx="2560320" cy="868680"/>
          </a:xfrm>
          <a:prstGeom prst="line">
            <a:avLst/>
          </a:prstGeom>
          <a:noFill/>
          <a:ln w="25400">
            <a:solidFill>
              <a:srgbClr val="A9B6D3"/>
            </a:solidFill>
            <a:prstDash val="solid"/>
          </a:ln>
        </p:spPr>
      </p:sp>
      <p:sp>
        <p:nvSpPr>
          <p:cNvPr id="13" name="Shape 11"/>
          <p:cNvSpPr/>
          <p:nvPr/>
        </p:nvSpPr>
        <p:spPr>
          <a:xfrm>
            <a:off x="5669280" y="2697480"/>
            <a:ext cx="9144" cy="1920240"/>
          </a:xfrm>
          <a:prstGeom prst="line">
            <a:avLst/>
          </a:prstGeom>
          <a:noFill/>
          <a:ln w="25400">
            <a:solidFill>
              <a:srgbClr val="A9B6D3"/>
            </a:solidFill>
            <a:prstDash val="solid"/>
          </a:ln>
        </p:spPr>
      </p:sp>
      <p:sp>
        <p:nvSpPr>
          <p:cNvPr id="14" name="Shape 12"/>
          <p:cNvSpPr/>
          <p:nvPr/>
        </p:nvSpPr>
        <p:spPr>
          <a:xfrm>
            <a:off x="7589520" y="3246120"/>
            <a:ext cx="1280160" cy="640080"/>
          </a:xfrm>
          <a:prstGeom prst="roundRect">
            <a:avLst>
              <a:gd name="adj" fmla="val 11429"/>
            </a:avLst>
          </a:prstGeom>
          <a:solidFill>
            <a:srgbClr val="FFD23B"/>
          </a:solidFill>
          <a:ln w="12700">
            <a:solidFill>
              <a:srgbClr val="FFD23B"/>
            </a:solidFill>
            <a:prstDash val="solid"/>
          </a:ln>
        </p:spPr>
      </p:sp>
      <p:sp>
        <p:nvSpPr>
          <p:cNvPr id="15" name="Text 13"/>
          <p:cNvSpPr txBox="1"/>
          <p:nvPr/>
        </p:nvSpPr>
        <p:spPr>
          <a:xfrm>
            <a:off x="7589520" y="3246120"/>
            <a:ext cx="1280160" cy="6400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Khách hàng</a:t>
            </a:r>
            <a:endParaRPr lang="en-US" sz="1400" dirty="0"/>
          </a:p>
        </p:txBody>
      </p:sp>
      <p:sp>
        <p:nvSpPr>
          <p:cNvPr id="16" name="Shape 14"/>
          <p:cNvSpPr/>
          <p:nvPr/>
        </p:nvSpPr>
        <p:spPr>
          <a:xfrm>
            <a:off x="5029200" y="4297680"/>
            <a:ext cx="1280160" cy="640080"/>
          </a:xfrm>
          <a:prstGeom prst="roundRect">
            <a:avLst>
              <a:gd name="adj" fmla="val 11429"/>
            </a:avLst>
          </a:prstGeom>
          <a:solidFill>
            <a:srgbClr val="49B296"/>
          </a:solidFill>
          <a:ln w="12700">
            <a:solidFill>
              <a:srgbClr val="49B296"/>
            </a:solidFill>
            <a:prstDash val="solid"/>
          </a:ln>
        </p:spPr>
      </p:sp>
      <p:sp>
        <p:nvSpPr>
          <p:cNvPr id="17" name="Text 15"/>
          <p:cNvSpPr txBox="1"/>
          <p:nvPr/>
        </p:nvSpPr>
        <p:spPr>
          <a:xfrm>
            <a:off x="5029200" y="4297680"/>
            <a:ext cx="1280160" cy="6400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Khách sạn</a:t>
            </a:r>
            <a:endParaRPr lang="en-US" sz="1400" dirty="0"/>
          </a:p>
        </p:txBody>
      </p:sp>
      <p:sp>
        <p:nvSpPr>
          <p:cNvPr id="18" name="Shape 16"/>
          <p:cNvSpPr/>
          <p:nvPr/>
        </p:nvSpPr>
        <p:spPr>
          <a:xfrm>
            <a:off x="5029200" y="2377440"/>
            <a:ext cx="1280160" cy="640080"/>
          </a:xfrm>
          <a:prstGeom prst="roundRect">
            <a:avLst>
              <a:gd name="adj" fmla="val 11429"/>
            </a:avLst>
          </a:prstGeom>
          <a:solidFill>
            <a:srgbClr val="FF5178"/>
          </a:solidFill>
          <a:ln w="12700">
            <a:solidFill>
              <a:srgbClr val="FF5178"/>
            </a:solidFill>
            <a:prstDash val="solid"/>
          </a:ln>
        </p:spPr>
      </p:sp>
      <p:sp>
        <p:nvSpPr>
          <p:cNvPr id="19" name="Text 17"/>
          <p:cNvSpPr txBox="1"/>
          <p:nvPr/>
        </p:nvSpPr>
        <p:spPr>
          <a:xfrm>
            <a:off x="5029200" y="2377440"/>
            <a:ext cx="1280160" cy="6400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Nhà tài trợ</a:t>
            </a:r>
            <a:endParaRPr lang="en-US" sz="1400" dirty="0"/>
          </a:p>
        </p:txBody>
      </p:sp>
      <p:sp>
        <p:nvSpPr>
          <p:cNvPr id="20" name="Shape 18"/>
          <p:cNvSpPr/>
          <p:nvPr/>
        </p:nvSpPr>
        <p:spPr>
          <a:xfrm>
            <a:off x="9966960" y="2377440"/>
            <a:ext cx="1280160" cy="640080"/>
          </a:xfrm>
          <a:prstGeom prst="roundRect">
            <a:avLst>
              <a:gd name="adj" fmla="val 11429"/>
            </a:avLst>
          </a:prstGeom>
          <a:solidFill>
            <a:srgbClr val="09A1E5"/>
          </a:solidFill>
          <a:ln w="12700">
            <a:solidFill>
              <a:srgbClr val="09A1E5"/>
            </a:solidFill>
            <a:prstDash val="solid"/>
          </a:ln>
        </p:spPr>
      </p:sp>
      <p:sp>
        <p:nvSpPr>
          <p:cNvPr id="21" name="Text 19"/>
          <p:cNvSpPr txBox="1"/>
          <p:nvPr/>
        </p:nvSpPr>
        <p:spPr>
          <a:xfrm>
            <a:off x="9966960" y="2377440"/>
            <a:ext cx="1280160" cy="6400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Báo chí</a:t>
            </a:r>
            <a:endParaRPr lang="en-US" sz="1400" dirty="0"/>
          </a:p>
        </p:txBody>
      </p:sp>
      <p:sp>
        <p:nvSpPr>
          <p:cNvPr id="22" name="Shape 20"/>
          <p:cNvSpPr/>
          <p:nvPr/>
        </p:nvSpPr>
        <p:spPr>
          <a:xfrm>
            <a:off x="9966960" y="4297680"/>
            <a:ext cx="1280160" cy="640080"/>
          </a:xfrm>
          <a:prstGeom prst="roundRect">
            <a:avLst>
              <a:gd name="adj" fmla="val 11429"/>
            </a:avLst>
          </a:prstGeom>
          <a:solidFill>
            <a:srgbClr val="FF9259"/>
          </a:solidFill>
          <a:ln w="12700">
            <a:solidFill>
              <a:srgbClr val="FF9259"/>
            </a:solidFill>
            <a:prstDash val="solid"/>
          </a:ln>
        </p:spPr>
      </p:sp>
      <p:sp>
        <p:nvSpPr>
          <p:cNvPr id="23" name="Text 21"/>
          <p:cNvSpPr txBox="1"/>
          <p:nvPr/>
        </p:nvSpPr>
        <p:spPr>
          <a:xfrm>
            <a:off x="9966960" y="4297680"/>
            <a:ext cx="1280160" cy="6400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KOL</a:t>
            </a:r>
            <a:endParaRPr lang="en-US" sz="1400" dirty="0"/>
          </a:p>
        </p:txBody>
      </p:sp>
      <p:sp>
        <p:nvSpPr>
          <p:cNvPr id="24" name="Text 22"/>
          <p:cNvSpPr txBox="1"/>
          <p:nvPr/>
        </p:nvSpPr>
        <p:spPr>
          <a:xfrm>
            <a:off x="548640" y="566928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Khách sạn đột ngột đổi sang phòng nhỏ hơn: những bên nào bị ảnh hưởng dây chuyền?</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Hệ sinh thái của sự kiện có sáu đặc điểm riêng</a:t>
            </a:r>
            <a:endParaRPr lang="en-US" sz="2800" dirty="0"/>
          </a:p>
        </p:txBody>
      </p:sp>
      <p:sp>
        <p:nvSpPr>
          <p:cNvPr id="3" name="Shape 1"/>
          <p:cNvSpPr/>
          <p:nvPr/>
        </p:nvSpPr>
        <p:spPr>
          <a:xfrm>
            <a:off x="548640" y="1783080"/>
            <a:ext cx="3566160" cy="1874520"/>
          </a:xfrm>
          <a:prstGeom prst="roundRect">
            <a:avLst>
              <a:gd name="adj" fmla="val 3902"/>
            </a:avLst>
          </a:prstGeom>
          <a:solidFill>
            <a:srgbClr val="22395F"/>
          </a:solidFill>
          <a:ln w="12700">
            <a:solidFill>
              <a:srgbClr val="22395F"/>
            </a:solidFill>
            <a:prstDash val="solid"/>
          </a:ln>
        </p:spPr>
      </p:sp>
      <p:sp>
        <p:nvSpPr>
          <p:cNvPr id="4" name="Shape 2"/>
          <p:cNvSpPr/>
          <p:nvPr/>
        </p:nvSpPr>
        <p:spPr>
          <a:xfrm>
            <a:off x="777240" y="205740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228393"/>
            <a:ext cx="435254" cy="435254"/>
          </a:xfrm>
          <a:prstGeom prst="rect">
            <a:avLst/>
          </a:prstGeom>
        </p:spPr>
      </p:pic>
      <p:sp>
        <p:nvSpPr>
          <p:cNvPr id="6" name="Text 3"/>
          <p:cNvSpPr txBox="1"/>
          <p:nvPr/>
        </p:nvSpPr>
        <p:spPr>
          <a:xfrm>
            <a:off x="1737360" y="201168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Tạm thời, theo dự án</a:t>
            </a:r>
            <a:endParaRPr lang="en-US" sz="1700" dirty="0"/>
          </a:p>
        </p:txBody>
      </p:sp>
      <p:sp>
        <p:nvSpPr>
          <p:cNvPr id="7" name="Text 4"/>
          <p:cNvSpPr txBox="1"/>
          <p:nvPr/>
        </p:nvSpPr>
        <p:spPr>
          <a:xfrm>
            <a:off x="777240" y="292608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tập hợp quanh một sự kiện rồi tan</a:t>
            </a:r>
            <a:endParaRPr lang="en-US" sz="1500" dirty="0"/>
          </a:p>
        </p:txBody>
      </p:sp>
      <p:sp>
        <p:nvSpPr>
          <p:cNvPr id="8" name="Shape 5"/>
          <p:cNvSpPr/>
          <p:nvPr/>
        </p:nvSpPr>
        <p:spPr>
          <a:xfrm>
            <a:off x="4325112" y="1783080"/>
            <a:ext cx="3566160" cy="1874520"/>
          </a:xfrm>
          <a:prstGeom prst="roundRect">
            <a:avLst>
              <a:gd name="adj" fmla="val 3902"/>
            </a:avLst>
          </a:prstGeom>
          <a:solidFill>
            <a:srgbClr val="22395F"/>
          </a:solidFill>
          <a:ln w="12700">
            <a:solidFill>
              <a:srgbClr val="22395F"/>
            </a:solidFill>
            <a:prstDash val="solid"/>
          </a:ln>
        </p:spPr>
      </p:sp>
      <p:sp>
        <p:nvSpPr>
          <p:cNvPr id="9" name="Shape 6"/>
          <p:cNvSpPr/>
          <p:nvPr/>
        </p:nvSpPr>
        <p:spPr>
          <a:xfrm>
            <a:off x="4553712" y="2057400"/>
            <a:ext cx="777240" cy="7772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4724705" y="2228393"/>
            <a:ext cx="435254" cy="435254"/>
          </a:xfrm>
          <a:prstGeom prst="rect">
            <a:avLst/>
          </a:prstGeom>
        </p:spPr>
      </p:pic>
      <p:sp>
        <p:nvSpPr>
          <p:cNvPr id="11" name="Text 7"/>
          <p:cNvSpPr txBox="1"/>
          <p:nvPr/>
        </p:nvSpPr>
        <p:spPr>
          <a:xfrm>
            <a:off x="5513832" y="201168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Phụ thuộc lẫn nhau</a:t>
            </a:r>
            <a:endParaRPr lang="en-US" sz="1700" dirty="0"/>
          </a:p>
        </p:txBody>
      </p:sp>
      <p:sp>
        <p:nvSpPr>
          <p:cNvPr id="12" name="Text 8"/>
          <p:cNvSpPr txBox="1"/>
          <p:nvPr/>
        </p:nvSpPr>
        <p:spPr>
          <a:xfrm>
            <a:off x="4553712" y="292608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một mắt xích hỏng kéo cả chuỗi</a:t>
            </a:r>
            <a:endParaRPr lang="en-US" sz="1500" dirty="0"/>
          </a:p>
        </p:txBody>
      </p:sp>
      <p:sp>
        <p:nvSpPr>
          <p:cNvPr id="13" name="Shape 9"/>
          <p:cNvSpPr/>
          <p:nvPr/>
        </p:nvSpPr>
        <p:spPr>
          <a:xfrm>
            <a:off x="8101584" y="1783080"/>
            <a:ext cx="3566160" cy="1874520"/>
          </a:xfrm>
          <a:prstGeom prst="roundRect">
            <a:avLst>
              <a:gd name="adj" fmla="val 3902"/>
            </a:avLst>
          </a:prstGeom>
          <a:solidFill>
            <a:srgbClr val="22395F"/>
          </a:solidFill>
          <a:ln w="12700">
            <a:solidFill>
              <a:srgbClr val="22395F"/>
            </a:solidFill>
            <a:prstDash val="solid"/>
          </a:ln>
        </p:spPr>
      </p:sp>
      <p:sp>
        <p:nvSpPr>
          <p:cNvPr id="14" name="Shape 10"/>
          <p:cNvSpPr/>
          <p:nvPr/>
        </p:nvSpPr>
        <p:spPr>
          <a:xfrm>
            <a:off x="8330184" y="2057400"/>
            <a:ext cx="777240" cy="77724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8501177" y="2228393"/>
            <a:ext cx="435254" cy="435254"/>
          </a:xfrm>
          <a:prstGeom prst="rect">
            <a:avLst/>
          </a:prstGeom>
        </p:spPr>
      </p:pic>
      <p:sp>
        <p:nvSpPr>
          <p:cNvPr id="16" name="Text 11"/>
          <p:cNvSpPr txBox="1"/>
          <p:nvPr/>
        </p:nvSpPr>
        <p:spPr>
          <a:xfrm>
            <a:off x="9290304" y="201168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Mục tiêu có thể xung đột</a:t>
            </a:r>
            <a:endParaRPr lang="en-US" sz="1700" dirty="0"/>
          </a:p>
        </p:txBody>
      </p:sp>
      <p:sp>
        <p:nvSpPr>
          <p:cNvPr id="17" name="Text 12"/>
          <p:cNvSpPr txBox="1"/>
          <p:nvPr/>
        </p:nvSpPr>
        <p:spPr>
          <a:xfrm>
            <a:off x="8330184" y="292608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tiết kiệm, lợi nhuận, hiển thị, yên tĩnh</a:t>
            </a:r>
            <a:endParaRPr lang="en-US" sz="1500" dirty="0"/>
          </a:p>
        </p:txBody>
      </p:sp>
      <p:sp>
        <p:nvSpPr>
          <p:cNvPr id="18" name="Shape 13"/>
          <p:cNvSpPr/>
          <p:nvPr/>
        </p:nvSpPr>
        <p:spPr>
          <a:xfrm>
            <a:off x="548640" y="3886200"/>
            <a:ext cx="3566160" cy="1874520"/>
          </a:xfrm>
          <a:prstGeom prst="roundRect">
            <a:avLst>
              <a:gd name="adj" fmla="val 3902"/>
            </a:avLst>
          </a:prstGeom>
          <a:solidFill>
            <a:srgbClr val="22395F"/>
          </a:solidFill>
          <a:ln w="12700">
            <a:solidFill>
              <a:srgbClr val="22395F"/>
            </a:solidFill>
            <a:prstDash val="solid"/>
          </a:ln>
        </p:spPr>
      </p:sp>
      <p:sp>
        <p:nvSpPr>
          <p:cNvPr id="19" name="Shape 14"/>
          <p:cNvSpPr/>
          <p:nvPr/>
        </p:nvSpPr>
        <p:spPr>
          <a:xfrm>
            <a:off x="777240" y="4160520"/>
            <a:ext cx="777240" cy="777240"/>
          </a:xfrm>
          <a:prstGeom prst="ellipse">
            <a:avLst/>
          </a:prstGeom>
          <a:solidFill>
            <a:srgbClr val="09A1E5"/>
          </a:solidFill>
          <a:ln w="12700">
            <a:solidFill>
              <a:srgbClr val="09A1E5"/>
            </a:solidFill>
            <a:prstDash val="solid"/>
          </a:ln>
        </p:spPr>
      </p:sp>
      <p:pic>
        <p:nvPicPr>
          <p:cNvPr id="20" name="Image 3" descr="preencoded.png">    </p:cNvPr>
          <p:cNvPicPr>
            <a:picLocks noChangeAspect="1"/>
          </p:cNvPicPr>
          <p:nvPr/>
        </p:nvPicPr>
        <p:blipFill>
          <a:blip r:embed="rId4"/>
          <a:stretch>
            <a:fillRect/>
          </a:stretch>
        </p:blipFill>
        <p:spPr>
          <a:xfrm>
            <a:off x="948233" y="4331513"/>
            <a:ext cx="435254" cy="435254"/>
          </a:xfrm>
          <a:prstGeom prst="rect">
            <a:avLst/>
          </a:prstGeom>
        </p:spPr>
      </p:pic>
      <p:sp>
        <p:nvSpPr>
          <p:cNvPr id="21" name="Text 15"/>
          <p:cNvSpPr txBox="1"/>
          <p:nvPr/>
        </p:nvSpPr>
        <p:spPr>
          <a:xfrm>
            <a:off x="1737360" y="411480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Trao đổi giá trị</a:t>
            </a:r>
            <a:endParaRPr lang="en-US" sz="1700" dirty="0"/>
          </a:p>
        </p:txBody>
      </p:sp>
      <p:sp>
        <p:nvSpPr>
          <p:cNvPr id="22" name="Text 16"/>
          <p:cNvSpPr txBox="1"/>
          <p:nvPr/>
        </p:nvSpPr>
        <p:spPr>
          <a:xfrm>
            <a:off x="777240" y="502920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góp nguồn lực để nhận lợi ích</a:t>
            </a:r>
            <a:endParaRPr lang="en-US" sz="1500" dirty="0"/>
          </a:p>
        </p:txBody>
      </p:sp>
      <p:sp>
        <p:nvSpPr>
          <p:cNvPr id="23" name="Shape 17"/>
          <p:cNvSpPr/>
          <p:nvPr/>
        </p:nvSpPr>
        <p:spPr>
          <a:xfrm>
            <a:off x="4325112" y="3886200"/>
            <a:ext cx="3566160" cy="1874520"/>
          </a:xfrm>
          <a:prstGeom prst="roundRect">
            <a:avLst>
              <a:gd name="adj" fmla="val 3902"/>
            </a:avLst>
          </a:prstGeom>
          <a:solidFill>
            <a:srgbClr val="22395F"/>
          </a:solidFill>
          <a:ln w="12700">
            <a:solidFill>
              <a:srgbClr val="22395F"/>
            </a:solidFill>
            <a:prstDash val="solid"/>
          </a:ln>
        </p:spPr>
      </p:sp>
      <p:sp>
        <p:nvSpPr>
          <p:cNvPr id="24" name="Shape 18"/>
          <p:cNvSpPr/>
          <p:nvPr/>
        </p:nvSpPr>
        <p:spPr>
          <a:xfrm>
            <a:off x="4553712" y="4160520"/>
            <a:ext cx="777240" cy="777240"/>
          </a:xfrm>
          <a:prstGeom prst="ellipse">
            <a:avLst/>
          </a:prstGeom>
          <a:solidFill>
            <a:srgbClr val="FF9259"/>
          </a:solidFill>
          <a:ln w="12700">
            <a:solidFill>
              <a:srgbClr val="FF9259"/>
            </a:solidFill>
            <a:prstDash val="solid"/>
          </a:ln>
        </p:spPr>
      </p:sp>
      <p:pic>
        <p:nvPicPr>
          <p:cNvPr id="25" name="Image 4" descr="preencoded.png">    </p:cNvPr>
          <p:cNvPicPr>
            <a:picLocks noChangeAspect="1"/>
          </p:cNvPicPr>
          <p:nvPr/>
        </p:nvPicPr>
        <p:blipFill>
          <a:blip r:embed="rId5"/>
          <a:stretch>
            <a:fillRect/>
          </a:stretch>
        </p:blipFill>
        <p:spPr>
          <a:xfrm>
            <a:off x="4724705" y="4331513"/>
            <a:ext cx="435254" cy="435254"/>
          </a:xfrm>
          <a:prstGeom prst="rect">
            <a:avLst/>
          </a:prstGeom>
        </p:spPr>
      </p:pic>
      <p:sp>
        <p:nvSpPr>
          <p:cNvPr id="26" name="Text 19"/>
          <p:cNvSpPr txBox="1"/>
          <p:nvPr/>
        </p:nvSpPr>
        <p:spPr>
          <a:xfrm>
            <a:off x="5513832" y="411480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Thay đổi theo giai đoạn</a:t>
            </a:r>
            <a:endParaRPr lang="en-US" sz="1700" dirty="0"/>
          </a:p>
        </p:txBody>
      </p:sp>
      <p:sp>
        <p:nvSpPr>
          <p:cNvPr id="27" name="Text 20"/>
          <p:cNvSpPr txBox="1"/>
          <p:nvPr/>
        </p:nvSpPr>
        <p:spPr>
          <a:xfrm>
            <a:off x="4553712" y="502920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trước, trong, sau sự kiện</a:t>
            </a:r>
            <a:endParaRPr lang="en-US" sz="1500" dirty="0"/>
          </a:p>
        </p:txBody>
      </p:sp>
      <p:sp>
        <p:nvSpPr>
          <p:cNvPr id="28" name="Shape 21"/>
          <p:cNvSpPr/>
          <p:nvPr/>
        </p:nvSpPr>
        <p:spPr>
          <a:xfrm>
            <a:off x="8101584" y="3886200"/>
            <a:ext cx="3566160" cy="1874520"/>
          </a:xfrm>
          <a:prstGeom prst="roundRect">
            <a:avLst>
              <a:gd name="adj" fmla="val 3902"/>
            </a:avLst>
          </a:prstGeom>
          <a:solidFill>
            <a:srgbClr val="22395F"/>
          </a:solidFill>
          <a:ln w="12700">
            <a:solidFill>
              <a:srgbClr val="22395F"/>
            </a:solidFill>
            <a:prstDash val="solid"/>
          </a:ln>
        </p:spPr>
      </p:sp>
      <p:sp>
        <p:nvSpPr>
          <p:cNvPr id="29" name="Shape 22"/>
          <p:cNvSpPr/>
          <p:nvPr/>
        </p:nvSpPr>
        <p:spPr>
          <a:xfrm>
            <a:off x="8330184" y="4160520"/>
            <a:ext cx="777240" cy="777240"/>
          </a:xfrm>
          <a:prstGeom prst="ellipse">
            <a:avLst/>
          </a:prstGeom>
          <a:solidFill>
            <a:srgbClr val="962B7C"/>
          </a:solidFill>
          <a:ln w="12700">
            <a:solidFill>
              <a:srgbClr val="962B7C"/>
            </a:solidFill>
            <a:prstDash val="solid"/>
          </a:ln>
        </p:spPr>
      </p:sp>
      <p:pic>
        <p:nvPicPr>
          <p:cNvPr id="30" name="Image 5" descr="preencoded.png">    </p:cNvPr>
          <p:cNvPicPr>
            <a:picLocks noChangeAspect="1"/>
          </p:cNvPicPr>
          <p:nvPr/>
        </p:nvPicPr>
        <p:blipFill>
          <a:blip r:embed="rId6"/>
          <a:stretch>
            <a:fillRect/>
          </a:stretch>
        </p:blipFill>
        <p:spPr>
          <a:xfrm>
            <a:off x="8501177" y="4331513"/>
            <a:ext cx="435254" cy="435254"/>
          </a:xfrm>
          <a:prstGeom prst="rect">
            <a:avLst/>
          </a:prstGeom>
        </p:spPr>
      </p:pic>
      <p:sp>
        <p:nvSpPr>
          <p:cNvPr id="31" name="Text 23"/>
          <p:cNvSpPr txBox="1"/>
          <p:nvPr/>
        </p:nvSpPr>
        <p:spPr>
          <a:xfrm>
            <a:off x="9290304" y="411480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Công khai, lây lan danh tiếng</a:t>
            </a:r>
            <a:endParaRPr lang="en-US" sz="1700" dirty="0"/>
          </a:p>
        </p:txBody>
      </p:sp>
      <p:sp>
        <p:nvSpPr>
          <p:cNvPr id="32" name="Text 24"/>
          <p:cNvSpPr txBox="1"/>
          <p:nvPr/>
        </p:nvSpPr>
        <p:spPr>
          <a:xfrm>
            <a:off x="8330184" y="502920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sự cố của một bên lan sang tất cả</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Olympic London 2012 có tám nhóm bên liên quan — không quản lý hết, nhưng phải cân nhắc hết</a:t>
            </a:r>
            <a:endParaRPr lang="en-US" sz="2800" dirty="0"/>
          </a:p>
        </p:txBody>
      </p:sp>
      <p:sp>
        <p:nvSpPr>
          <p:cNvPr id="3" name="Shape 1"/>
          <p:cNvSpPr/>
          <p:nvPr/>
        </p:nvSpPr>
        <p:spPr>
          <a:xfrm>
            <a:off x="4956048" y="2651760"/>
            <a:ext cx="2286000" cy="2286000"/>
          </a:xfrm>
          <a:prstGeom prst="ellipse">
            <a:avLst/>
          </a:prstGeom>
          <a:solidFill>
            <a:srgbClr val="FFD23B"/>
          </a:solidFill>
          <a:ln w="12700">
            <a:solidFill>
              <a:srgbClr val="FFD23B"/>
            </a:solidFill>
            <a:prstDash val="solid"/>
          </a:ln>
        </p:spPr>
      </p:sp>
      <p:sp>
        <p:nvSpPr>
          <p:cNvPr id="4" name="Text 2"/>
          <p:cNvSpPr txBox="1"/>
          <p:nvPr/>
        </p:nvSpPr>
        <p:spPr>
          <a:xfrm>
            <a:off x="4956048" y="2651760"/>
            <a:ext cx="2286000" cy="22860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LOCOG</a:t>
            </a:r>
            <a:endParaRPr lang="en-US" sz="1800" dirty="0"/>
          </a:p>
          <a:p>
            <a:pPr algn="ctr" indent="0" marL="0">
              <a:buNone/>
            </a:pPr>
            <a:r>
              <a:rPr lang="en-US" sz="1800" b="1" dirty="0">
                <a:solidFill>
                  <a:srgbClr val="172849"/>
                </a:solidFill>
                <a:latin typeface="Alexandria" pitchFamily="34" charset="0"/>
                <a:ea typeface="Alexandria" pitchFamily="34" charset="-122"/>
                <a:cs typeface="Alexandria" pitchFamily="34" charset="-120"/>
              </a:rPr>
              <a:t>(ban tổ chức)</a:t>
            </a:r>
            <a:endParaRPr lang="en-US" sz="1800" dirty="0"/>
          </a:p>
        </p:txBody>
      </p:sp>
      <p:sp>
        <p:nvSpPr>
          <p:cNvPr id="5" name="Shape 3"/>
          <p:cNvSpPr/>
          <p:nvPr/>
        </p:nvSpPr>
        <p:spPr>
          <a:xfrm>
            <a:off x="914400" y="1828800"/>
            <a:ext cx="2194560" cy="731520"/>
          </a:xfrm>
          <a:prstGeom prst="roundRect">
            <a:avLst>
              <a:gd name="adj" fmla="val 10000"/>
            </a:avLst>
          </a:prstGeom>
          <a:solidFill>
            <a:srgbClr val="22395F"/>
          </a:solidFill>
          <a:ln w="12700">
            <a:solidFill>
              <a:srgbClr val="22395F"/>
            </a:solidFill>
            <a:prstDash val="solid"/>
          </a:ln>
        </p:spPr>
      </p:sp>
      <p:sp>
        <p:nvSpPr>
          <p:cNvPr id="6" name="Text 4"/>
          <p:cNvSpPr txBox="1"/>
          <p:nvPr/>
        </p:nvSpPr>
        <p:spPr>
          <a:xfrm>
            <a:off x="1005840" y="1828800"/>
            <a:ext cx="2011680" cy="731520"/>
          </a:xfrm>
          <a:prstGeom prst="rect">
            <a:avLst/>
          </a:prstGeom>
          <a:noFill/>
          <a:ln/>
        </p:spPr>
        <p:txBody>
          <a:bodyPr wrap="square" lIns="635" tIns="635" rIns="635" bIns="635" rtlCol="0" anchor="ctr"/>
          <a:lstStyle/>
          <a:p>
            <a:pPr algn="ctr" indent="0" marL="0">
              <a:buNone/>
            </a:pPr>
            <a:r>
              <a:rPr lang="en-US" sz="1500" b="1" dirty="0">
                <a:solidFill>
                  <a:srgbClr val="49B296"/>
                </a:solidFill>
                <a:latin typeface="Alexandria" pitchFamily="34" charset="0"/>
                <a:ea typeface="Alexandria" pitchFamily="34" charset="-122"/>
                <a:cs typeface="Alexandria" pitchFamily="34" charset="-120"/>
              </a:rPr>
              <a:t>Chính phủ</a:t>
            </a:r>
            <a:endParaRPr lang="en-US" sz="1500" dirty="0"/>
          </a:p>
        </p:txBody>
      </p:sp>
      <p:sp>
        <p:nvSpPr>
          <p:cNvPr id="7" name="Shape 5"/>
          <p:cNvSpPr/>
          <p:nvPr/>
        </p:nvSpPr>
        <p:spPr>
          <a:xfrm>
            <a:off x="3931920" y="1600200"/>
            <a:ext cx="2194560" cy="731520"/>
          </a:xfrm>
          <a:prstGeom prst="roundRect">
            <a:avLst>
              <a:gd name="adj" fmla="val 10000"/>
            </a:avLst>
          </a:prstGeom>
          <a:solidFill>
            <a:srgbClr val="22395F"/>
          </a:solidFill>
          <a:ln w="12700">
            <a:solidFill>
              <a:srgbClr val="22395F"/>
            </a:solidFill>
            <a:prstDash val="solid"/>
          </a:ln>
        </p:spPr>
      </p:sp>
      <p:sp>
        <p:nvSpPr>
          <p:cNvPr id="8" name="Text 6"/>
          <p:cNvSpPr txBox="1"/>
          <p:nvPr/>
        </p:nvSpPr>
        <p:spPr>
          <a:xfrm>
            <a:off x="4023360" y="1600200"/>
            <a:ext cx="2011680" cy="731520"/>
          </a:xfrm>
          <a:prstGeom prst="rect">
            <a:avLst/>
          </a:prstGeom>
          <a:noFill/>
          <a:ln/>
        </p:spPr>
        <p:txBody>
          <a:bodyPr wrap="square" lIns="635" tIns="635" rIns="635" bIns="635" rtlCol="0" anchor="ctr"/>
          <a:lstStyle/>
          <a:p>
            <a:pPr algn="ctr" indent="0" marL="0">
              <a:buNone/>
            </a:pPr>
            <a:r>
              <a:rPr lang="en-US" sz="1500" b="1" dirty="0">
                <a:solidFill>
                  <a:srgbClr val="09A1E5"/>
                </a:solidFill>
                <a:latin typeface="Alexandria" pitchFamily="34" charset="0"/>
                <a:ea typeface="Alexandria" pitchFamily="34" charset="-122"/>
                <a:cs typeface="Alexandria" pitchFamily="34" charset="-120"/>
              </a:rPr>
              <a:t>Truyền thông</a:t>
            </a:r>
            <a:endParaRPr lang="en-US" sz="1500" dirty="0"/>
          </a:p>
        </p:txBody>
      </p:sp>
      <p:sp>
        <p:nvSpPr>
          <p:cNvPr id="9" name="Shape 7"/>
          <p:cNvSpPr/>
          <p:nvPr/>
        </p:nvSpPr>
        <p:spPr>
          <a:xfrm>
            <a:off x="6858000" y="1600200"/>
            <a:ext cx="2194560" cy="731520"/>
          </a:xfrm>
          <a:prstGeom prst="roundRect">
            <a:avLst>
              <a:gd name="adj" fmla="val 10000"/>
            </a:avLst>
          </a:prstGeom>
          <a:solidFill>
            <a:srgbClr val="22395F"/>
          </a:solidFill>
          <a:ln w="12700">
            <a:solidFill>
              <a:srgbClr val="22395F"/>
            </a:solidFill>
            <a:prstDash val="solid"/>
          </a:ln>
        </p:spPr>
      </p:sp>
      <p:sp>
        <p:nvSpPr>
          <p:cNvPr id="10" name="Text 8"/>
          <p:cNvSpPr txBox="1"/>
          <p:nvPr/>
        </p:nvSpPr>
        <p:spPr>
          <a:xfrm>
            <a:off x="6949440" y="1600200"/>
            <a:ext cx="2011680" cy="731520"/>
          </a:xfrm>
          <a:prstGeom prst="rect">
            <a:avLst/>
          </a:prstGeom>
          <a:noFill/>
          <a:ln/>
        </p:spPr>
        <p:txBody>
          <a:bodyPr wrap="square" lIns="635" tIns="635" rIns="635" bIns="635" rtlCol="0" anchor="ctr"/>
          <a:lstStyle/>
          <a:p>
            <a:pPr algn="ctr" indent="0" marL="0">
              <a:buNone/>
            </a:pPr>
            <a:r>
              <a:rPr lang="en-US" sz="1500" b="1" dirty="0">
                <a:solidFill>
                  <a:srgbClr val="FF9259"/>
                </a:solidFill>
                <a:latin typeface="Alexandria" pitchFamily="34" charset="0"/>
                <a:ea typeface="Alexandria" pitchFamily="34" charset="-122"/>
                <a:cs typeface="Alexandria" pitchFamily="34" charset="-120"/>
              </a:rPr>
              <a:t>Thể thao</a:t>
            </a:r>
            <a:endParaRPr lang="en-US" sz="1500" dirty="0"/>
          </a:p>
        </p:txBody>
      </p:sp>
      <p:sp>
        <p:nvSpPr>
          <p:cNvPr id="11" name="Shape 9"/>
          <p:cNvSpPr/>
          <p:nvPr/>
        </p:nvSpPr>
        <p:spPr>
          <a:xfrm>
            <a:off x="9144000" y="1828800"/>
            <a:ext cx="2194560" cy="731520"/>
          </a:xfrm>
          <a:prstGeom prst="roundRect">
            <a:avLst>
              <a:gd name="adj" fmla="val 10000"/>
            </a:avLst>
          </a:prstGeom>
          <a:solidFill>
            <a:srgbClr val="22395F"/>
          </a:solidFill>
          <a:ln w="12700">
            <a:solidFill>
              <a:srgbClr val="22395F"/>
            </a:solidFill>
            <a:prstDash val="solid"/>
          </a:ln>
        </p:spPr>
      </p:sp>
      <p:sp>
        <p:nvSpPr>
          <p:cNvPr id="12" name="Text 10"/>
          <p:cNvSpPr txBox="1"/>
          <p:nvPr/>
        </p:nvSpPr>
        <p:spPr>
          <a:xfrm>
            <a:off x="9235440" y="1828800"/>
            <a:ext cx="2011680" cy="731520"/>
          </a:xfrm>
          <a:prstGeom prst="rect">
            <a:avLst/>
          </a:prstGeom>
          <a:noFill/>
          <a:ln/>
        </p:spPr>
        <p:txBody>
          <a:bodyPr wrap="square" lIns="635" tIns="635" rIns="635" bIns="635" rtlCol="0" anchor="ctr"/>
          <a:lstStyle/>
          <a:p>
            <a:pPr algn="ctr" indent="0" marL="0">
              <a:buNone/>
            </a:pPr>
            <a:r>
              <a:rPr lang="en-US" sz="1500" b="1" dirty="0">
                <a:solidFill>
                  <a:srgbClr val="FF5178"/>
                </a:solidFill>
                <a:latin typeface="Alexandria" pitchFamily="34" charset="0"/>
                <a:ea typeface="Alexandria" pitchFamily="34" charset="-122"/>
                <a:cs typeface="Alexandria" pitchFamily="34" charset="-120"/>
              </a:rPr>
              <a:t>Nhà đóng góp, tài trợ</a:t>
            </a:r>
            <a:endParaRPr lang="en-US" sz="1500" dirty="0"/>
          </a:p>
        </p:txBody>
      </p:sp>
      <p:sp>
        <p:nvSpPr>
          <p:cNvPr id="13" name="Shape 11"/>
          <p:cNvSpPr/>
          <p:nvPr/>
        </p:nvSpPr>
        <p:spPr>
          <a:xfrm>
            <a:off x="914400" y="4663440"/>
            <a:ext cx="2194560" cy="731520"/>
          </a:xfrm>
          <a:prstGeom prst="roundRect">
            <a:avLst>
              <a:gd name="adj" fmla="val 10000"/>
            </a:avLst>
          </a:prstGeom>
          <a:solidFill>
            <a:srgbClr val="22395F"/>
          </a:solidFill>
          <a:ln w="12700">
            <a:solidFill>
              <a:srgbClr val="22395F"/>
            </a:solidFill>
            <a:prstDash val="solid"/>
          </a:ln>
        </p:spPr>
      </p:sp>
      <p:sp>
        <p:nvSpPr>
          <p:cNvPr id="14" name="Text 12"/>
          <p:cNvSpPr txBox="1"/>
          <p:nvPr/>
        </p:nvSpPr>
        <p:spPr>
          <a:xfrm>
            <a:off x="1005840" y="4663440"/>
            <a:ext cx="2011680" cy="731520"/>
          </a:xfrm>
          <a:prstGeom prst="rect">
            <a:avLst/>
          </a:prstGeom>
          <a:noFill/>
          <a:ln/>
        </p:spPr>
        <p:txBody>
          <a:bodyPr wrap="square" lIns="635" tIns="635" rIns="635" bIns="635" rtlCol="0" anchor="ctr"/>
          <a:lstStyle/>
          <a:p>
            <a:pPr algn="ctr" indent="0" marL="0">
              <a:buNone/>
            </a:pPr>
            <a:r>
              <a:rPr lang="en-US" sz="1500" b="1" dirty="0">
                <a:solidFill>
                  <a:srgbClr val="A9B6D3"/>
                </a:solidFill>
                <a:latin typeface="Alexandria" pitchFamily="34" charset="0"/>
                <a:ea typeface="Alexandria" pitchFamily="34" charset="-122"/>
                <a:cs typeface="Alexandria" pitchFamily="34" charset="-120"/>
              </a:rPr>
              <a:t>Nội bộ</a:t>
            </a:r>
            <a:endParaRPr lang="en-US" sz="1500" dirty="0"/>
          </a:p>
        </p:txBody>
      </p:sp>
      <p:sp>
        <p:nvSpPr>
          <p:cNvPr id="15" name="Shape 13"/>
          <p:cNvSpPr/>
          <p:nvPr/>
        </p:nvSpPr>
        <p:spPr>
          <a:xfrm>
            <a:off x="3931920" y="5257800"/>
            <a:ext cx="2194560" cy="731520"/>
          </a:xfrm>
          <a:prstGeom prst="roundRect">
            <a:avLst>
              <a:gd name="adj" fmla="val 10000"/>
            </a:avLst>
          </a:prstGeom>
          <a:solidFill>
            <a:srgbClr val="22395F"/>
          </a:solidFill>
          <a:ln w="12700">
            <a:solidFill>
              <a:srgbClr val="22395F"/>
            </a:solidFill>
            <a:prstDash val="solid"/>
          </a:ln>
        </p:spPr>
      </p:sp>
      <p:sp>
        <p:nvSpPr>
          <p:cNvPr id="16" name="Text 14"/>
          <p:cNvSpPr txBox="1"/>
          <p:nvPr/>
        </p:nvSpPr>
        <p:spPr>
          <a:xfrm>
            <a:off x="4023360" y="5257800"/>
            <a:ext cx="2011680" cy="731520"/>
          </a:xfrm>
          <a:prstGeom prst="rect">
            <a:avLst/>
          </a:prstGeom>
          <a:noFill/>
          <a:ln/>
        </p:spPr>
        <p:txBody>
          <a:bodyPr wrap="square" lIns="635" tIns="635" rIns="635" bIns="635" rtlCol="0" anchor="ctr"/>
          <a:lstStyle/>
          <a:p>
            <a:pPr algn="ctr" indent="0" marL="0">
              <a:buNone/>
            </a:pPr>
            <a:r>
              <a:rPr lang="en-US" sz="1500" b="1" dirty="0">
                <a:solidFill>
                  <a:srgbClr val="49B296"/>
                </a:solidFill>
                <a:latin typeface="Alexandria" pitchFamily="34" charset="0"/>
                <a:ea typeface="Alexandria" pitchFamily="34" charset="-122"/>
                <a:cs typeface="Alexandria" pitchFamily="34" charset="-120"/>
              </a:rPr>
              <a:t>Quốc gia &amp; vùng</a:t>
            </a:r>
            <a:endParaRPr lang="en-US" sz="1500" dirty="0"/>
          </a:p>
        </p:txBody>
      </p:sp>
      <p:sp>
        <p:nvSpPr>
          <p:cNvPr id="17" name="Shape 15"/>
          <p:cNvSpPr/>
          <p:nvPr/>
        </p:nvSpPr>
        <p:spPr>
          <a:xfrm>
            <a:off x="6858000" y="5257800"/>
            <a:ext cx="2194560" cy="731520"/>
          </a:xfrm>
          <a:prstGeom prst="roundRect">
            <a:avLst>
              <a:gd name="adj" fmla="val 10000"/>
            </a:avLst>
          </a:prstGeom>
          <a:solidFill>
            <a:srgbClr val="22395F"/>
          </a:solidFill>
          <a:ln w="12700">
            <a:solidFill>
              <a:srgbClr val="22395F"/>
            </a:solidFill>
            <a:prstDash val="solid"/>
          </a:ln>
        </p:spPr>
      </p:sp>
      <p:sp>
        <p:nvSpPr>
          <p:cNvPr id="18" name="Text 16"/>
          <p:cNvSpPr txBox="1"/>
          <p:nvPr/>
        </p:nvSpPr>
        <p:spPr>
          <a:xfrm>
            <a:off x="6949440" y="5257800"/>
            <a:ext cx="2011680" cy="731520"/>
          </a:xfrm>
          <a:prstGeom prst="rect">
            <a:avLst/>
          </a:prstGeom>
          <a:noFill/>
          <a:ln/>
        </p:spPr>
        <p:txBody>
          <a:bodyPr wrap="square" lIns="635" tIns="635" rIns="635" bIns="635" rtlCol="0" anchor="ctr"/>
          <a:lstStyle/>
          <a:p>
            <a:pPr algn="ctr" indent="0" marL="0">
              <a:buNone/>
            </a:pPr>
            <a:r>
              <a:rPr lang="en-US" sz="1500" b="1" dirty="0">
                <a:solidFill>
                  <a:srgbClr val="09A1E5"/>
                </a:solidFill>
                <a:latin typeface="Alexandria" pitchFamily="34" charset="0"/>
                <a:ea typeface="Alexandria" pitchFamily="34" charset="-122"/>
                <a:cs typeface="Alexandria" pitchFamily="34" charset="-120"/>
              </a:rPr>
              <a:t>Thành phố &amp; cộng đồng</a:t>
            </a:r>
            <a:endParaRPr lang="en-US" sz="1500" dirty="0"/>
          </a:p>
        </p:txBody>
      </p:sp>
      <p:sp>
        <p:nvSpPr>
          <p:cNvPr id="19" name="Shape 17"/>
          <p:cNvSpPr/>
          <p:nvPr/>
        </p:nvSpPr>
        <p:spPr>
          <a:xfrm>
            <a:off x="9144000" y="4663440"/>
            <a:ext cx="2194560" cy="731520"/>
          </a:xfrm>
          <a:prstGeom prst="roundRect">
            <a:avLst>
              <a:gd name="adj" fmla="val 10000"/>
            </a:avLst>
          </a:prstGeom>
          <a:solidFill>
            <a:srgbClr val="22395F"/>
          </a:solidFill>
          <a:ln w="12700">
            <a:solidFill>
              <a:srgbClr val="22395F"/>
            </a:solidFill>
            <a:prstDash val="solid"/>
          </a:ln>
        </p:spPr>
      </p:sp>
      <p:sp>
        <p:nvSpPr>
          <p:cNvPr id="20" name="Text 18"/>
          <p:cNvSpPr txBox="1"/>
          <p:nvPr/>
        </p:nvSpPr>
        <p:spPr>
          <a:xfrm>
            <a:off x="9235440" y="4663440"/>
            <a:ext cx="2011680" cy="731520"/>
          </a:xfrm>
          <a:prstGeom prst="rect">
            <a:avLst/>
          </a:prstGeom>
          <a:noFill/>
          <a:ln/>
        </p:spPr>
        <p:txBody>
          <a:bodyPr wrap="square" lIns="635" tIns="635" rIns="635" bIns="635" rtlCol="0" anchor="ctr"/>
          <a:lstStyle/>
          <a:p>
            <a:pPr algn="ctr" indent="0" marL="0">
              <a:buNone/>
            </a:pPr>
            <a:r>
              <a:rPr lang="en-US" sz="1500" b="1" dirty="0">
                <a:solidFill>
                  <a:srgbClr val="FF9259"/>
                </a:solidFill>
                <a:latin typeface="Alexandria" pitchFamily="34" charset="0"/>
                <a:ea typeface="Alexandria" pitchFamily="34" charset="-122"/>
                <a:cs typeface="Alexandria" pitchFamily="34" charset="-120"/>
              </a:rPr>
              <a:t>Nhóm khác</a:t>
            </a:r>
            <a:endParaRPr lang="en-US" sz="1500" dirty="0"/>
          </a:p>
        </p:txBody>
      </p:sp>
      <p:sp>
        <p:nvSpPr>
          <p:cNvPr id="21" name="Text 19"/>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Holmes et al. (2015, Hình 2.3), phỏng theo Theodoraki (2007).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Với agency, có sáu nhóm bên ngoài đứng quanh khách hàng</a:t>
            </a:r>
            <a:endParaRPr lang="en-US" sz="2800" dirty="0"/>
          </a:p>
        </p:txBody>
      </p:sp>
      <p:sp>
        <p:nvSpPr>
          <p:cNvPr id="3" name="Shape 1"/>
          <p:cNvSpPr/>
          <p:nvPr/>
        </p:nvSpPr>
        <p:spPr>
          <a:xfrm>
            <a:off x="4727448" y="2377440"/>
            <a:ext cx="2743200" cy="2743200"/>
          </a:xfrm>
          <a:prstGeom prst="ellipse">
            <a:avLst/>
          </a:prstGeom>
          <a:solidFill>
            <a:srgbClr val="FFD23B"/>
          </a:solidFill>
          <a:ln w="12700">
            <a:solidFill>
              <a:srgbClr val="FFD23B"/>
            </a:solidFill>
            <a:prstDash val="solid"/>
          </a:ln>
        </p:spPr>
      </p:sp>
      <p:sp>
        <p:nvSpPr>
          <p:cNvPr id="4" name="Text 2"/>
          <p:cNvSpPr txBox="1"/>
          <p:nvPr/>
        </p:nvSpPr>
        <p:spPr>
          <a:xfrm>
            <a:off x="4727448" y="2377440"/>
            <a:ext cx="2743200" cy="274320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Khách hàng</a:t>
            </a:r>
            <a:endParaRPr lang="en-US" sz="2000" dirty="0"/>
          </a:p>
          <a:p>
            <a:pPr algn="ctr" indent="0" marL="0">
              <a:buNone/>
            </a:pPr>
            <a:r>
              <a:rPr lang="en-US" sz="2000" b="1" dirty="0">
                <a:solidFill>
                  <a:srgbClr val="172849"/>
                </a:solidFill>
                <a:latin typeface="Alexandria" pitchFamily="34" charset="0"/>
                <a:ea typeface="Alexandria" pitchFamily="34" charset="-122"/>
                <a:cs typeface="Alexandria" pitchFamily="34" charset="-120"/>
              </a:rPr>
              <a:t>(Key Account)</a:t>
            </a:r>
            <a:endParaRPr lang="en-US" sz="2000" dirty="0"/>
          </a:p>
        </p:txBody>
      </p:sp>
      <p:sp>
        <p:nvSpPr>
          <p:cNvPr id="5" name="Shape 3"/>
          <p:cNvSpPr/>
          <p:nvPr/>
        </p:nvSpPr>
        <p:spPr>
          <a:xfrm>
            <a:off x="548640" y="1783080"/>
            <a:ext cx="3685032" cy="1234440"/>
          </a:xfrm>
          <a:prstGeom prst="roundRect">
            <a:avLst>
              <a:gd name="adj" fmla="val 5926"/>
            </a:avLst>
          </a:prstGeom>
          <a:solidFill>
            <a:srgbClr val="22395F"/>
          </a:solidFill>
          <a:ln w="12700">
            <a:solidFill>
              <a:srgbClr val="22395F"/>
            </a:solidFill>
            <a:prstDash val="solid"/>
          </a:ln>
        </p:spPr>
      </p:sp>
      <p:sp>
        <p:nvSpPr>
          <p:cNvPr id="6" name="Shape 4"/>
          <p:cNvSpPr/>
          <p:nvPr/>
        </p:nvSpPr>
        <p:spPr>
          <a:xfrm>
            <a:off x="731520" y="2011680"/>
            <a:ext cx="777240" cy="777240"/>
          </a:xfrm>
          <a:prstGeom prst="ellipse">
            <a:avLst/>
          </a:prstGeom>
          <a:solidFill>
            <a:srgbClr val="49B296"/>
          </a:solidFill>
          <a:ln w="12700">
            <a:solidFill>
              <a:srgbClr val="49B296"/>
            </a:solidFill>
            <a:prstDash val="solid"/>
          </a:ln>
        </p:spPr>
      </p:sp>
      <p:pic>
        <p:nvPicPr>
          <p:cNvPr id="7" name="Image 0" descr="preencoded.png">    </p:cNvPr>
          <p:cNvPicPr>
            <a:picLocks noChangeAspect="1"/>
          </p:cNvPicPr>
          <p:nvPr/>
        </p:nvPicPr>
        <p:blipFill>
          <a:blip r:embed="rId1"/>
          <a:stretch>
            <a:fillRect/>
          </a:stretch>
        </p:blipFill>
        <p:spPr>
          <a:xfrm>
            <a:off x="902513" y="2182673"/>
            <a:ext cx="435254" cy="435254"/>
          </a:xfrm>
          <a:prstGeom prst="rect">
            <a:avLst/>
          </a:prstGeom>
        </p:spPr>
      </p:pic>
      <p:sp>
        <p:nvSpPr>
          <p:cNvPr id="8" name="Text 5"/>
          <p:cNvSpPr txBox="1"/>
          <p:nvPr/>
        </p:nvSpPr>
        <p:spPr>
          <a:xfrm>
            <a:off x="1691640" y="178308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Khách mời &amp; người tham gia</a:t>
            </a:r>
            <a:endParaRPr lang="en-US" sz="1600" dirty="0"/>
          </a:p>
        </p:txBody>
      </p:sp>
      <p:sp>
        <p:nvSpPr>
          <p:cNvPr id="9" name="Shape 6"/>
          <p:cNvSpPr/>
          <p:nvPr/>
        </p:nvSpPr>
        <p:spPr>
          <a:xfrm>
            <a:off x="548640" y="3291840"/>
            <a:ext cx="3685032" cy="1234440"/>
          </a:xfrm>
          <a:prstGeom prst="roundRect">
            <a:avLst>
              <a:gd name="adj" fmla="val 5926"/>
            </a:avLst>
          </a:prstGeom>
          <a:solidFill>
            <a:srgbClr val="22395F"/>
          </a:solidFill>
          <a:ln w="12700">
            <a:solidFill>
              <a:srgbClr val="22395F"/>
            </a:solidFill>
            <a:prstDash val="solid"/>
          </a:ln>
        </p:spPr>
      </p:sp>
      <p:sp>
        <p:nvSpPr>
          <p:cNvPr id="10" name="Shape 7"/>
          <p:cNvSpPr/>
          <p:nvPr/>
        </p:nvSpPr>
        <p:spPr>
          <a:xfrm>
            <a:off x="731520" y="3520440"/>
            <a:ext cx="777240" cy="777240"/>
          </a:xfrm>
          <a:prstGeom prst="ellipse">
            <a:avLst/>
          </a:prstGeom>
          <a:solidFill>
            <a:srgbClr val="09A1E5"/>
          </a:solidFill>
          <a:ln w="12700">
            <a:solidFill>
              <a:srgbClr val="09A1E5"/>
            </a:solidFill>
            <a:prstDash val="solid"/>
          </a:ln>
        </p:spPr>
      </p:sp>
      <p:pic>
        <p:nvPicPr>
          <p:cNvPr id="11" name="Image 1" descr="preencoded.png">    </p:cNvPr>
          <p:cNvPicPr>
            <a:picLocks noChangeAspect="1"/>
          </p:cNvPicPr>
          <p:nvPr/>
        </p:nvPicPr>
        <p:blipFill>
          <a:blip r:embed="rId2"/>
          <a:stretch>
            <a:fillRect/>
          </a:stretch>
        </p:blipFill>
        <p:spPr>
          <a:xfrm>
            <a:off x="902513" y="3691433"/>
            <a:ext cx="435254" cy="435254"/>
          </a:xfrm>
          <a:prstGeom prst="rect">
            <a:avLst/>
          </a:prstGeom>
        </p:spPr>
      </p:pic>
      <p:sp>
        <p:nvSpPr>
          <p:cNvPr id="12" name="Text 8"/>
          <p:cNvSpPr txBox="1"/>
          <p:nvPr/>
        </p:nvSpPr>
        <p:spPr>
          <a:xfrm>
            <a:off x="1691640" y="329184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Nhà cung cấp (vendors)</a:t>
            </a:r>
            <a:endParaRPr lang="en-US" sz="1600" dirty="0"/>
          </a:p>
        </p:txBody>
      </p:sp>
      <p:sp>
        <p:nvSpPr>
          <p:cNvPr id="13" name="Shape 9"/>
          <p:cNvSpPr/>
          <p:nvPr/>
        </p:nvSpPr>
        <p:spPr>
          <a:xfrm>
            <a:off x="548640" y="4800600"/>
            <a:ext cx="3685032" cy="1234440"/>
          </a:xfrm>
          <a:prstGeom prst="roundRect">
            <a:avLst>
              <a:gd name="adj" fmla="val 5926"/>
            </a:avLst>
          </a:prstGeom>
          <a:solidFill>
            <a:srgbClr val="22395F"/>
          </a:solidFill>
          <a:ln w="12700">
            <a:solidFill>
              <a:srgbClr val="22395F"/>
            </a:solidFill>
            <a:prstDash val="solid"/>
          </a:ln>
        </p:spPr>
      </p:sp>
      <p:sp>
        <p:nvSpPr>
          <p:cNvPr id="14" name="Shape 10"/>
          <p:cNvSpPr/>
          <p:nvPr/>
        </p:nvSpPr>
        <p:spPr>
          <a:xfrm>
            <a:off x="731520" y="5029200"/>
            <a:ext cx="777240" cy="777240"/>
          </a:xfrm>
          <a:prstGeom prst="ellipse">
            <a:avLst/>
          </a:prstGeom>
          <a:solidFill>
            <a:srgbClr val="FF9259"/>
          </a:solidFill>
          <a:ln w="12700">
            <a:solidFill>
              <a:srgbClr val="FF9259"/>
            </a:solidFill>
            <a:prstDash val="solid"/>
          </a:ln>
        </p:spPr>
      </p:sp>
      <p:pic>
        <p:nvPicPr>
          <p:cNvPr id="15" name="Image 2" descr="preencoded.png">    </p:cNvPr>
          <p:cNvPicPr>
            <a:picLocks noChangeAspect="1"/>
          </p:cNvPicPr>
          <p:nvPr/>
        </p:nvPicPr>
        <p:blipFill>
          <a:blip r:embed="rId3"/>
          <a:stretch>
            <a:fillRect/>
          </a:stretch>
        </p:blipFill>
        <p:spPr>
          <a:xfrm>
            <a:off x="902513" y="5200193"/>
            <a:ext cx="435254" cy="435254"/>
          </a:xfrm>
          <a:prstGeom prst="rect">
            <a:avLst/>
          </a:prstGeom>
        </p:spPr>
      </p:pic>
      <p:sp>
        <p:nvSpPr>
          <p:cNvPr id="16" name="Text 11"/>
          <p:cNvSpPr txBox="1"/>
          <p:nvPr/>
        </p:nvSpPr>
        <p:spPr>
          <a:xfrm>
            <a:off x="1691640" y="480060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Chính quyền &amp; cơ quan cấp phép</a:t>
            </a:r>
            <a:endParaRPr lang="en-US" sz="1600" dirty="0"/>
          </a:p>
        </p:txBody>
      </p:sp>
      <p:sp>
        <p:nvSpPr>
          <p:cNvPr id="17" name="Shape 12"/>
          <p:cNvSpPr/>
          <p:nvPr/>
        </p:nvSpPr>
        <p:spPr>
          <a:xfrm>
            <a:off x="7955280" y="1783080"/>
            <a:ext cx="3685032" cy="1234440"/>
          </a:xfrm>
          <a:prstGeom prst="roundRect">
            <a:avLst>
              <a:gd name="adj" fmla="val 5926"/>
            </a:avLst>
          </a:prstGeom>
          <a:solidFill>
            <a:srgbClr val="22395F"/>
          </a:solidFill>
          <a:ln w="12700">
            <a:solidFill>
              <a:srgbClr val="22395F"/>
            </a:solidFill>
            <a:prstDash val="solid"/>
          </a:ln>
        </p:spPr>
      </p:sp>
      <p:sp>
        <p:nvSpPr>
          <p:cNvPr id="18" name="Shape 13"/>
          <p:cNvSpPr/>
          <p:nvPr/>
        </p:nvSpPr>
        <p:spPr>
          <a:xfrm>
            <a:off x="8138160" y="2011680"/>
            <a:ext cx="777240" cy="777240"/>
          </a:xfrm>
          <a:prstGeom prst="ellipse">
            <a:avLst/>
          </a:prstGeom>
          <a:solidFill>
            <a:srgbClr val="FF5178"/>
          </a:solidFill>
          <a:ln w="12700">
            <a:solidFill>
              <a:srgbClr val="FF5178"/>
            </a:solidFill>
            <a:prstDash val="solid"/>
          </a:ln>
        </p:spPr>
      </p:sp>
      <p:pic>
        <p:nvPicPr>
          <p:cNvPr id="19" name="Image 3" descr="preencoded.png">    </p:cNvPr>
          <p:cNvPicPr>
            <a:picLocks noChangeAspect="1"/>
          </p:cNvPicPr>
          <p:nvPr/>
        </p:nvPicPr>
        <p:blipFill>
          <a:blip r:embed="rId4"/>
          <a:stretch>
            <a:fillRect/>
          </a:stretch>
        </p:blipFill>
        <p:spPr>
          <a:xfrm>
            <a:off x="8309153" y="2182673"/>
            <a:ext cx="435254" cy="435254"/>
          </a:xfrm>
          <a:prstGeom prst="rect">
            <a:avLst/>
          </a:prstGeom>
        </p:spPr>
      </p:pic>
      <p:sp>
        <p:nvSpPr>
          <p:cNvPr id="20" name="Text 14"/>
          <p:cNvSpPr txBox="1"/>
          <p:nvPr/>
        </p:nvSpPr>
        <p:spPr>
          <a:xfrm>
            <a:off x="9098280" y="178308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Nhà tài trợ</a:t>
            </a:r>
            <a:endParaRPr lang="en-US" sz="1600" dirty="0"/>
          </a:p>
        </p:txBody>
      </p:sp>
      <p:sp>
        <p:nvSpPr>
          <p:cNvPr id="21" name="Shape 15"/>
          <p:cNvSpPr/>
          <p:nvPr/>
        </p:nvSpPr>
        <p:spPr>
          <a:xfrm>
            <a:off x="7955280" y="3291840"/>
            <a:ext cx="3685032" cy="1234440"/>
          </a:xfrm>
          <a:prstGeom prst="roundRect">
            <a:avLst>
              <a:gd name="adj" fmla="val 5926"/>
            </a:avLst>
          </a:prstGeom>
          <a:solidFill>
            <a:srgbClr val="22395F"/>
          </a:solidFill>
          <a:ln w="12700">
            <a:solidFill>
              <a:srgbClr val="22395F"/>
            </a:solidFill>
            <a:prstDash val="solid"/>
          </a:ln>
        </p:spPr>
      </p:sp>
      <p:sp>
        <p:nvSpPr>
          <p:cNvPr id="22" name="Shape 16"/>
          <p:cNvSpPr/>
          <p:nvPr/>
        </p:nvSpPr>
        <p:spPr>
          <a:xfrm>
            <a:off x="8138160" y="3520440"/>
            <a:ext cx="777240" cy="777240"/>
          </a:xfrm>
          <a:prstGeom prst="ellipse">
            <a:avLst/>
          </a:prstGeom>
          <a:solidFill>
            <a:srgbClr val="49B296"/>
          </a:solidFill>
          <a:ln w="12700">
            <a:solidFill>
              <a:srgbClr val="49B296"/>
            </a:solidFill>
            <a:prstDash val="solid"/>
          </a:ln>
        </p:spPr>
      </p:sp>
      <p:pic>
        <p:nvPicPr>
          <p:cNvPr id="23" name="Image 4" descr="preencoded.png">    </p:cNvPr>
          <p:cNvPicPr>
            <a:picLocks noChangeAspect="1"/>
          </p:cNvPicPr>
          <p:nvPr/>
        </p:nvPicPr>
        <p:blipFill>
          <a:blip r:embed="rId5"/>
          <a:stretch>
            <a:fillRect/>
          </a:stretch>
        </p:blipFill>
        <p:spPr>
          <a:xfrm>
            <a:off x="8309153" y="3691433"/>
            <a:ext cx="435254" cy="435254"/>
          </a:xfrm>
          <a:prstGeom prst="rect">
            <a:avLst/>
          </a:prstGeom>
        </p:spPr>
      </p:pic>
      <p:sp>
        <p:nvSpPr>
          <p:cNvPr id="24" name="Text 17"/>
          <p:cNvSpPr txBox="1"/>
          <p:nvPr/>
        </p:nvSpPr>
        <p:spPr>
          <a:xfrm>
            <a:off x="9098280" y="329184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Truyền thông &amp; PR</a:t>
            </a:r>
            <a:endParaRPr lang="en-US" sz="1600" dirty="0"/>
          </a:p>
        </p:txBody>
      </p:sp>
      <p:sp>
        <p:nvSpPr>
          <p:cNvPr id="25" name="Shape 18"/>
          <p:cNvSpPr/>
          <p:nvPr/>
        </p:nvSpPr>
        <p:spPr>
          <a:xfrm>
            <a:off x="7955280" y="4800600"/>
            <a:ext cx="3685032" cy="1234440"/>
          </a:xfrm>
          <a:prstGeom prst="roundRect">
            <a:avLst>
              <a:gd name="adj" fmla="val 5926"/>
            </a:avLst>
          </a:prstGeom>
          <a:solidFill>
            <a:srgbClr val="22395F"/>
          </a:solidFill>
          <a:ln w="12700">
            <a:solidFill>
              <a:srgbClr val="22395F"/>
            </a:solidFill>
            <a:prstDash val="solid"/>
          </a:ln>
        </p:spPr>
      </p:sp>
      <p:sp>
        <p:nvSpPr>
          <p:cNvPr id="26" name="Shape 19"/>
          <p:cNvSpPr/>
          <p:nvPr/>
        </p:nvSpPr>
        <p:spPr>
          <a:xfrm>
            <a:off x="8138160" y="5029200"/>
            <a:ext cx="777240" cy="777240"/>
          </a:xfrm>
          <a:prstGeom prst="ellipse">
            <a:avLst/>
          </a:prstGeom>
          <a:solidFill>
            <a:srgbClr val="FFD23B"/>
          </a:solidFill>
          <a:ln w="12700">
            <a:solidFill>
              <a:srgbClr val="FFD23B"/>
            </a:solidFill>
            <a:prstDash val="solid"/>
          </a:ln>
        </p:spPr>
      </p:sp>
      <p:pic>
        <p:nvPicPr>
          <p:cNvPr id="27" name="Image 5" descr="preencoded.png">    </p:cNvPr>
          <p:cNvPicPr>
            <a:picLocks noChangeAspect="1"/>
          </p:cNvPicPr>
          <p:nvPr/>
        </p:nvPicPr>
        <p:blipFill>
          <a:blip r:embed="rId6"/>
          <a:stretch>
            <a:fillRect/>
          </a:stretch>
        </p:blipFill>
        <p:spPr>
          <a:xfrm>
            <a:off x="8309153" y="5200193"/>
            <a:ext cx="435254" cy="435254"/>
          </a:xfrm>
          <a:prstGeom prst="rect">
            <a:avLst/>
          </a:prstGeom>
        </p:spPr>
      </p:pic>
      <p:sp>
        <p:nvSpPr>
          <p:cNvPr id="28" name="Text 20"/>
          <p:cNvSpPr txBox="1"/>
          <p:nvPr/>
        </p:nvSpPr>
        <p:spPr>
          <a:xfrm>
            <a:off x="9098280" y="480060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Đối tác nội dung: diễn giả, nghệ sĩ, KOL</a:t>
            </a:r>
            <a:endParaRPr lang="en-US" sz="1600" dirty="0"/>
          </a:p>
        </p:txBody>
      </p:sp>
      <p:sp>
        <p:nvSpPr>
          <p:cNvPr id="29" name="Text 21"/>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Trần Nguyễn Huỳnh Như (2023), slide bài giảng Chương 2, mục 2.2.1.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bên có thể giữ nhiều vai cùng lúc</a:t>
            </a:r>
            <a:endParaRPr lang="en-US" sz="2800" dirty="0"/>
          </a:p>
        </p:txBody>
      </p:sp>
      <p:sp>
        <p:nvSpPr>
          <p:cNvPr id="3" name="Text 1"/>
          <p:cNvSpPr txBox="1"/>
          <p:nvPr/>
        </p:nvSpPr>
        <p:spPr>
          <a:xfrm>
            <a:off x="548640" y="1645920"/>
            <a:ext cx="5486400" cy="457200"/>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Sáu vai theo quan hệ với sự kiện (Getz, Andersson &amp; Larson, 2006)</a:t>
            </a:r>
            <a:endParaRPr lang="en-US" sz="1500" dirty="0"/>
          </a:p>
        </p:txBody>
      </p:sp>
      <p:sp>
        <p:nvSpPr>
          <p:cNvPr id="4" name="Shape 2"/>
          <p:cNvSpPr/>
          <p:nvPr/>
        </p:nvSpPr>
        <p:spPr>
          <a:xfrm>
            <a:off x="548640" y="2148840"/>
            <a:ext cx="5120640" cy="512064"/>
          </a:xfrm>
          <a:prstGeom prst="roundRect">
            <a:avLst>
              <a:gd name="adj" fmla="val 14286"/>
            </a:avLst>
          </a:prstGeom>
          <a:solidFill>
            <a:srgbClr val="49B296"/>
          </a:solidFill>
          <a:ln w="12700">
            <a:solidFill>
              <a:srgbClr val="49B296"/>
            </a:solidFill>
            <a:prstDash val="solid"/>
          </a:ln>
        </p:spPr>
      </p:sp>
      <p:sp>
        <p:nvSpPr>
          <p:cNvPr id="5" name="Text 3"/>
          <p:cNvSpPr txBox="1"/>
          <p:nvPr/>
        </p:nvSpPr>
        <p:spPr>
          <a:xfrm>
            <a:off x="731520" y="2148840"/>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Đồng minh, cộng tác</a:t>
            </a:r>
            <a:endParaRPr lang="en-US" sz="1600" dirty="0"/>
          </a:p>
        </p:txBody>
      </p:sp>
      <p:sp>
        <p:nvSpPr>
          <p:cNvPr id="6" name="Shape 4"/>
          <p:cNvSpPr/>
          <p:nvPr/>
        </p:nvSpPr>
        <p:spPr>
          <a:xfrm>
            <a:off x="548640" y="2770632"/>
            <a:ext cx="5120640" cy="512064"/>
          </a:xfrm>
          <a:prstGeom prst="roundRect">
            <a:avLst>
              <a:gd name="adj" fmla="val 14286"/>
            </a:avLst>
          </a:prstGeom>
          <a:solidFill>
            <a:srgbClr val="FFD23B"/>
          </a:solidFill>
          <a:ln w="12700">
            <a:solidFill>
              <a:srgbClr val="FFD23B"/>
            </a:solidFill>
            <a:prstDash val="solid"/>
          </a:ln>
        </p:spPr>
      </p:sp>
      <p:sp>
        <p:nvSpPr>
          <p:cNvPr id="7" name="Text 5"/>
          <p:cNvSpPr txBox="1"/>
          <p:nvPr/>
        </p:nvSpPr>
        <p:spPr>
          <a:xfrm>
            <a:off x="731520" y="2770632"/>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Đồng sản xuất</a:t>
            </a:r>
            <a:endParaRPr lang="en-US" sz="1600" dirty="0"/>
          </a:p>
        </p:txBody>
      </p:sp>
      <p:sp>
        <p:nvSpPr>
          <p:cNvPr id="8" name="Shape 6"/>
          <p:cNvSpPr/>
          <p:nvPr/>
        </p:nvSpPr>
        <p:spPr>
          <a:xfrm>
            <a:off x="548640" y="3392424"/>
            <a:ext cx="5120640" cy="512064"/>
          </a:xfrm>
          <a:prstGeom prst="roundRect">
            <a:avLst>
              <a:gd name="adj" fmla="val 14286"/>
            </a:avLst>
          </a:prstGeom>
          <a:solidFill>
            <a:srgbClr val="FF5178"/>
          </a:solidFill>
          <a:ln w="12700">
            <a:solidFill>
              <a:srgbClr val="FF5178"/>
            </a:solidFill>
            <a:prstDash val="solid"/>
          </a:ln>
        </p:spPr>
      </p:sp>
      <p:sp>
        <p:nvSpPr>
          <p:cNvPr id="9" name="Text 7"/>
          <p:cNvSpPr txBox="1"/>
          <p:nvPr/>
        </p:nvSpPr>
        <p:spPr>
          <a:xfrm>
            <a:off x="731520" y="3392424"/>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Bên tạo điều kiện (tài trợ, cấp vốn)</a:t>
            </a:r>
            <a:endParaRPr lang="en-US" sz="1600" dirty="0"/>
          </a:p>
        </p:txBody>
      </p:sp>
      <p:sp>
        <p:nvSpPr>
          <p:cNvPr id="10" name="Shape 8"/>
          <p:cNvSpPr/>
          <p:nvPr/>
        </p:nvSpPr>
        <p:spPr>
          <a:xfrm>
            <a:off x="548640" y="4014216"/>
            <a:ext cx="5120640" cy="512064"/>
          </a:xfrm>
          <a:prstGeom prst="roundRect">
            <a:avLst>
              <a:gd name="adj" fmla="val 14286"/>
            </a:avLst>
          </a:prstGeom>
          <a:solidFill>
            <a:srgbClr val="09A1E5"/>
          </a:solidFill>
          <a:ln w="12700">
            <a:solidFill>
              <a:srgbClr val="09A1E5"/>
            </a:solidFill>
            <a:prstDash val="solid"/>
          </a:ln>
        </p:spPr>
      </p:sp>
      <p:sp>
        <p:nvSpPr>
          <p:cNvPr id="11" name="Text 9"/>
          <p:cNvSpPr txBox="1"/>
          <p:nvPr/>
        </p:nvSpPr>
        <p:spPr>
          <a:xfrm>
            <a:off x="731520" y="4014216"/>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Nhà cung cấp &amp; địa điểm</a:t>
            </a:r>
            <a:endParaRPr lang="en-US" sz="1600" dirty="0"/>
          </a:p>
        </p:txBody>
      </p:sp>
      <p:sp>
        <p:nvSpPr>
          <p:cNvPr id="12" name="Shape 10"/>
          <p:cNvSpPr/>
          <p:nvPr/>
        </p:nvSpPr>
        <p:spPr>
          <a:xfrm>
            <a:off x="548640" y="4636008"/>
            <a:ext cx="5120640" cy="512064"/>
          </a:xfrm>
          <a:prstGeom prst="roundRect">
            <a:avLst>
              <a:gd name="adj" fmla="val 14286"/>
            </a:avLst>
          </a:prstGeom>
          <a:solidFill>
            <a:srgbClr val="FF9259"/>
          </a:solidFill>
          <a:ln w="12700">
            <a:solidFill>
              <a:srgbClr val="FF9259"/>
            </a:solidFill>
            <a:prstDash val="solid"/>
          </a:ln>
        </p:spPr>
      </p:sp>
      <p:sp>
        <p:nvSpPr>
          <p:cNvPr id="13" name="Text 11"/>
          <p:cNvSpPr txBox="1"/>
          <p:nvPr/>
        </p:nvSpPr>
        <p:spPr>
          <a:xfrm>
            <a:off x="731520" y="4636008"/>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Bên chịu tác động</a:t>
            </a:r>
            <a:endParaRPr lang="en-US" sz="1600" dirty="0"/>
          </a:p>
        </p:txBody>
      </p:sp>
      <p:sp>
        <p:nvSpPr>
          <p:cNvPr id="14" name="Shape 12"/>
          <p:cNvSpPr/>
          <p:nvPr/>
        </p:nvSpPr>
        <p:spPr>
          <a:xfrm>
            <a:off x="548640" y="5257800"/>
            <a:ext cx="5120640" cy="512064"/>
          </a:xfrm>
          <a:prstGeom prst="roundRect">
            <a:avLst>
              <a:gd name="adj" fmla="val 14286"/>
            </a:avLst>
          </a:prstGeom>
          <a:solidFill>
            <a:srgbClr val="A9B6D3"/>
          </a:solidFill>
          <a:ln w="12700">
            <a:solidFill>
              <a:srgbClr val="A9B6D3"/>
            </a:solidFill>
            <a:prstDash val="solid"/>
          </a:ln>
        </p:spPr>
      </p:sp>
      <p:sp>
        <p:nvSpPr>
          <p:cNvPr id="15" name="Text 13"/>
          <p:cNvSpPr txBox="1"/>
          <p:nvPr/>
        </p:nvSpPr>
        <p:spPr>
          <a:xfrm>
            <a:off x="731520" y="5257800"/>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Bên quản lý</a:t>
            </a:r>
            <a:endParaRPr lang="en-US" sz="1600" dirty="0"/>
          </a:p>
        </p:txBody>
      </p:sp>
      <p:sp>
        <p:nvSpPr>
          <p:cNvPr id="16" name="Shape 14"/>
          <p:cNvSpPr/>
          <p:nvPr/>
        </p:nvSpPr>
        <p:spPr>
          <a:xfrm>
            <a:off x="6035040" y="1783080"/>
            <a:ext cx="5605272" cy="1965960"/>
          </a:xfrm>
          <a:prstGeom prst="roundRect">
            <a:avLst>
              <a:gd name="adj" fmla="val 3721"/>
            </a:avLst>
          </a:prstGeom>
          <a:solidFill>
            <a:srgbClr val="22395F"/>
          </a:solidFill>
          <a:ln w="12700">
            <a:solidFill>
              <a:srgbClr val="22395F"/>
            </a:solidFill>
            <a:prstDash val="solid"/>
          </a:ln>
        </p:spPr>
      </p:sp>
      <p:sp>
        <p:nvSpPr>
          <p:cNvPr id="17" name="Shape 15"/>
          <p:cNvSpPr/>
          <p:nvPr/>
        </p:nvSpPr>
        <p:spPr>
          <a:xfrm>
            <a:off x="6263640" y="2011680"/>
            <a:ext cx="731520" cy="731520"/>
          </a:xfrm>
          <a:prstGeom prst="ellipse">
            <a:avLst/>
          </a:prstGeom>
          <a:solidFill>
            <a:srgbClr val="FF9259"/>
          </a:solidFill>
          <a:ln w="12700">
            <a:solidFill>
              <a:srgbClr val="FF9259"/>
            </a:solidFill>
            <a:prstDash val="solid"/>
          </a:ln>
        </p:spPr>
      </p:sp>
      <p:pic>
        <p:nvPicPr>
          <p:cNvPr id="18" name="Image 0" descr="preencoded.png">    </p:cNvPr>
          <p:cNvPicPr>
            <a:picLocks noChangeAspect="1"/>
          </p:cNvPicPr>
          <p:nvPr/>
        </p:nvPicPr>
        <p:blipFill>
          <a:blip r:embed="rId1"/>
          <a:stretch>
            <a:fillRect/>
          </a:stretch>
        </p:blipFill>
        <p:spPr>
          <a:xfrm>
            <a:off x="6424574" y="2172614"/>
            <a:ext cx="409651" cy="409651"/>
          </a:xfrm>
          <a:prstGeom prst="rect">
            <a:avLst/>
          </a:prstGeom>
        </p:spPr>
      </p:pic>
      <p:sp>
        <p:nvSpPr>
          <p:cNvPr id="19" name="Text 16"/>
          <p:cNvSpPr txBox="1"/>
          <p:nvPr/>
        </p:nvSpPr>
        <p:spPr>
          <a:xfrm>
            <a:off x="7178040" y="2011680"/>
            <a:ext cx="4297680" cy="731520"/>
          </a:xfrm>
          <a:prstGeom prst="rect">
            <a:avLst/>
          </a:prstGeom>
          <a:noFill/>
          <a:ln/>
        </p:spPr>
        <p:txBody>
          <a:bodyPr wrap="square" lIns="635" tIns="635" rIns="635" bIns="635" rtlCol="0" anchor="ctr"/>
          <a:lstStyle/>
          <a:p>
            <a:pPr indent="0" marL="0">
              <a:buNone/>
            </a:pPr>
            <a:r>
              <a:rPr lang="en-US" sz="1800" b="1" dirty="0">
                <a:solidFill>
                  <a:srgbClr val="FF9259"/>
                </a:solidFill>
                <a:latin typeface="Alexandria" pitchFamily="34" charset="0"/>
                <a:ea typeface="Alexandria" pitchFamily="34" charset="-122"/>
                <a:cs typeface="Alexandria" pitchFamily="34" charset="-120"/>
              </a:rPr>
              <a:t>Chính quyền địa phương</a:t>
            </a:r>
            <a:endParaRPr lang="en-US" sz="1800" dirty="0"/>
          </a:p>
        </p:txBody>
      </p:sp>
      <p:sp>
        <p:nvSpPr>
          <p:cNvPr id="20" name="Text 17"/>
          <p:cNvSpPr txBox="1"/>
          <p:nvPr/>
        </p:nvSpPr>
        <p:spPr>
          <a:xfrm>
            <a:off x="6263640" y="2788920"/>
            <a:ext cx="5212080" cy="8686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cấp kinh phí (tạo điều kiện) · cho thuê địa điểm công (địa điểm) · cấp phép (quản lý)</a:t>
            </a:r>
            <a:endParaRPr lang="en-US" sz="1500" dirty="0"/>
          </a:p>
        </p:txBody>
      </p:sp>
      <p:sp>
        <p:nvSpPr>
          <p:cNvPr id="21" name="Shape 18"/>
          <p:cNvSpPr/>
          <p:nvPr/>
        </p:nvSpPr>
        <p:spPr>
          <a:xfrm>
            <a:off x="6035040" y="3931920"/>
            <a:ext cx="5605272" cy="1965960"/>
          </a:xfrm>
          <a:prstGeom prst="roundRect">
            <a:avLst>
              <a:gd name="adj" fmla="val 3721"/>
            </a:avLst>
          </a:prstGeom>
          <a:solidFill>
            <a:srgbClr val="22395F"/>
          </a:solidFill>
          <a:ln w="12700">
            <a:solidFill>
              <a:srgbClr val="22395F"/>
            </a:solidFill>
            <a:prstDash val="solid"/>
          </a:ln>
        </p:spPr>
      </p:sp>
      <p:sp>
        <p:nvSpPr>
          <p:cNvPr id="22" name="Shape 19"/>
          <p:cNvSpPr/>
          <p:nvPr/>
        </p:nvSpPr>
        <p:spPr>
          <a:xfrm>
            <a:off x="6263640" y="4160520"/>
            <a:ext cx="731520" cy="731520"/>
          </a:xfrm>
          <a:prstGeom prst="ellipse">
            <a:avLst/>
          </a:prstGeom>
          <a:solidFill>
            <a:srgbClr val="49B296"/>
          </a:solidFill>
          <a:ln w="12700">
            <a:solidFill>
              <a:srgbClr val="49B296"/>
            </a:solidFill>
            <a:prstDash val="solid"/>
          </a:ln>
        </p:spPr>
      </p:sp>
      <p:pic>
        <p:nvPicPr>
          <p:cNvPr id="23" name="Image 1" descr="preencoded.png">    </p:cNvPr>
          <p:cNvPicPr>
            <a:picLocks noChangeAspect="1"/>
          </p:cNvPicPr>
          <p:nvPr/>
        </p:nvPicPr>
        <p:blipFill>
          <a:blip r:embed="rId2"/>
          <a:stretch>
            <a:fillRect/>
          </a:stretch>
        </p:blipFill>
        <p:spPr>
          <a:xfrm>
            <a:off x="6424574" y="4321454"/>
            <a:ext cx="409651" cy="409651"/>
          </a:xfrm>
          <a:prstGeom prst="rect">
            <a:avLst/>
          </a:prstGeom>
        </p:spPr>
      </p:pic>
      <p:sp>
        <p:nvSpPr>
          <p:cNvPr id="24" name="Text 20"/>
          <p:cNvSpPr txBox="1"/>
          <p:nvPr/>
        </p:nvSpPr>
        <p:spPr>
          <a:xfrm>
            <a:off x="7178040" y="4160520"/>
            <a:ext cx="4297680" cy="73152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Khách sạn của An Phát (giả định)</a:t>
            </a:r>
            <a:endParaRPr lang="en-US" sz="1800" dirty="0"/>
          </a:p>
        </p:txBody>
      </p:sp>
      <p:sp>
        <p:nvSpPr>
          <p:cNvPr id="25" name="Text 21"/>
          <p:cNvSpPr txBox="1"/>
          <p:nvPr/>
        </p:nvSpPr>
        <p:spPr>
          <a:xfrm>
            <a:off x="6263640" y="4937760"/>
            <a:ext cx="5212080" cy="8686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địa điểm · nhà cung cấp tiệc · nhà cung cấp AV nội bộ · láng giềng của cư dân</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Bên nào quan trọng nhất thay đổi theo giai đoạn của sự kiện</a:t>
            </a:r>
            <a:endParaRPr lang="en-US" sz="2800" dirty="0"/>
          </a:p>
        </p:txBody>
      </p:sp>
      <p:sp>
        <p:nvSpPr>
          <p:cNvPr id="3" name="Shape 1"/>
          <p:cNvSpPr/>
          <p:nvPr/>
        </p:nvSpPr>
        <p:spPr>
          <a:xfrm>
            <a:off x="548640" y="1828800"/>
            <a:ext cx="3566160" cy="356616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205740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278685"/>
            <a:ext cx="563270" cy="563270"/>
          </a:xfrm>
          <a:prstGeom prst="rect">
            <a:avLst/>
          </a:prstGeom>
        </p:spPr>
      </p:pic>
      <p:sp>
        <p:nvSpPr>
          <p:cNvPr id="6" name="Text 3"/>
          <p:cNvSpPr txBox="1"/>
          <p:nvPr/>
        </p:nvSpPr>
        <p:spPr>
          <a:xfrm>
            <a:off x="548640" y="3200400"/>
            <a:ext cx="3566160" cy="54864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Alexandria" pitchFamily="34" charset="0"/>
                <a:ea typeface="Alexandria" pitchFamily="34" charset="-122"/>
                <a:cs typeface="Alexandria" pitchFamily="34" charset="-120"/>
              </a:rPr>
              <a:t>Trước sự kiện</a:t>
            </a:r>
            <a:endParaRPr lang="en-US" sz="2200" dirty="0"/>
          </a:p>
        </p:txBody>
      </p:sp>
      <p:sp>
        <p:nvSpPr>
          <p:cNvPr id="7" name="Text 4"/>
          <p:cNvSpPr txBox="1"/>
          <p:nvPr/>
        </p:nvSpPr>
        <p:spPr>
          <a:xfrm>
            <a:off x="777240" y="3794760"/>
            <a:ext cx="3108960" cy="146304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Khách hàng, nhà tài trợ, địa điểm, cơ quan cấp phép</a:t>
            </a:r>
            <a:endParaRPr lang="en-US" sz="1700" dirty="0"/>
          </a:p>
        </p:txBody>
      </p:sp>
      <p:sp>
        <p:nvSpPr>
          <p:cNvPr id="8" name="Shape 5"/>
          <p:cNvSpPr/>
          <p:nvPr/>
        </p:nvSpPr>
        <p:spPr>
          <a:xfrm>
            <a:off x="4133088" y="3383280"/>
            <a:ext cx="182880" cy="365760"/>
          </a:xfrm>
          <a:prstGeom prst="rightArrow">
            <a:avLst/>
          </a:prstGeom>
          <a:solidFill>
            <a:srgbClr val="A9B6D3"/>
          </a:solidFill>
          <a:ln w="12700">
            <a:solidFill>
              <a:srgbClr val="A9B6D3"/>
            </a:solidFill>
            <a:prstDash val="solid"/>
          </a:ln>
        </p:spPr>
      </p:sp>
      <p:sp>
        <p:nvSpPr>
          <p:cNvPr id="9" name="Shape 6"/>
          <p:cNvSpPr/>
          <p:nvPr/>
        </p:nvSpPr>
        <p:spPr>
          <a:xfrm>
            <a:off x="4325112" y="1828800"/>
            <a:ext cx="3566160" cy="356616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2057400"/>
            <a:ext cx="1005840" cy="100584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5826557" y="2278685"/>
            <a:ext cx="563270" cy="563270"/>
          </a:xfrm>
          <a:prstGeom prst="rect">
            <a:avLst/>
          </a:prstGeom>
        </p:spPr>
      </p:pic>
      <p:sp>
        <p:nvSpPr>
          <p:cNvPr id="12" name="Text 8"/>
          <p:cNvSpPr txBox="1"/>
          <p:nvPr/>
        </p:nvSpPr>
        <p:spPr>
          <a:xfrm>
            <a:off x="4325112" y="3200400"/>
            <a:ext cx="3566160" cy="54864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Alexandria" pitchFamily="34" charset="0"/>
                <a:ea typeface="Alexandria" pitchFamily="34" charset="-122"/>
                <a:cs typeface="Alexandria" pitchFamily="34" charset="-120"/>
              </a:rPr>
              <a:t>Trong sự kiện</a:t>
            </a:r>
            <a:endParaRPr lang="en-US" sz="2200" dirty="0"/>
          </a:p>
        </p:txBody>
      </p:sp>
      <p:sp>
        <p:nvSpPr>
          <p:cNvPr id="13" name="Text 9"/>
          <p:cNvSpPr txBox="1"/>
          <p:nvPr/>
        </p:nvSpPr>
        <p:spPr>
          <a:xfrm>
            <a:off x="4553712" y="3794760"/>
            <a:ext cx="3108960" cy="146304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Nhà cung cấp kỹ thuật, khách mời, diễn giả, KOL</a:t>
            </a:r>
            <a:endParaRPr lang="en-US" sz="1700" dirty="0"/>
          </a:p>
        </p:txBody>
      </p:sp>
      <p:sp>
        <p:nvSpPr>
          <p:cNvPr id="14" name="Shape 10"/>
          <p:cNvSpPr/>
          <p:nvPr/>
        </p:nvSpPr>
        <p:spPr>
          <a:xfrm>
            <a:off x="7909560" y="3383280"/>
            <a:ext cx="182880" cy="365760"/>
          </a:xfrm>
          <a:prstGeom prst="rightArrow">
            <a:avLst/>
          </a:prstGeom>
          <a:solidFill>
            <a:srgbClr val="A9B6D3"/>
          </a:solidFill>
          <a:ln w="12700">
            <a:solidFill>
              <a:srgbClr val="A9B6D3"/>
            </a:solidFill>
            <a:prstDash val="solid"/>
          </a:ln>
        </p:spPr>
      </p:sp>
      <p:sp>
        <p:nvSpPr>
          <p:cNvPr id="15" name="Shape 11"/>
          <p:cNvSpPr/>
          <p:nvPr/>
        </p:nvSpPr>
        <p:spPr>
          <a:xfrm>
            <a:off x="8101584" y="1828800"/>
            <a:ext cx="3566160" cy="356616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2057400"/>
            <a:ext cx="1005840" cy="100584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9603029" y="2278685"/>
            <a:ext cx="563270" cy="563270"/>
          </a:xfrm>
          <a:prstGeom prst="rect">
            <a:avLst/>
          </a:prstGeom>
        </p:spPr>
      </p:pic>
      <p:sp>
        <p:nvSpPr>
          <p:cNvPr id="18" name="Text 13"/>
          <p:cNvSpPr txBox="1"/>
          <p:nvPr/>
        </p:nvSpPr>
        <p:spPr>
          <a:xfrm>
            <a:off x="8101584" y="3200400"/>
            <a:ext cx="3566160" cy="54864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Alexandria" pitchFamily="34" charset="0"/>
                <a:ea typeface="Alexandria" pitchFamily="34" charset="-122"/>
                <a:cs typeface="Alexandria" pitchFamily="34" charset="-120"/>
              </a:rPr>
              <a:t>Sau sự kiện</a:t>
            </a:r>
            <a:endParaRPr lang="en-US" sz="2200" dirty="0"/>
          </a:p>
        </p:txBody>
      </p:sp>
      <p:sp>
        <p:nvSpPr>
          <p:cNvPr id="19" name="Text 14"/>
          <p:cNvSpPr txBox="1"/>
          <p:nvPr/>
        </p:nvSpPr>
        <p:spPr>
          <a:xfrm>
            <a:off x="8330184" y="3794760"/>
            <a:ext cx="3108960" cy="146304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Báo chí, khách hàng (đánh giá, tái ký), nhà tài trợ (báo cáo)</a:t>
            </a:r>
            <a:endParaRPr lang="en-US" sz="1700" dirty="0"/>
          </a:p>
        </p:txBody>
      </p:sp>
      <p:sp>
        <p:nvSpPr>
          <p:cNvPr id="20" name="Text 15"/>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Bản đồ bên liên quan là ảnh chụp tại một thời điểm — cần vẽ lại theo giai đoạn.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Primary: thiếu họ, sự kiện không diễn ra; secondary: không trực tiếp tham gia nhưng vẫn tác động</a:t>
            </a:r>
            <a:endParaRPr lang="en-US" sz="2800" dirty="0"/>
          </a:p>
        </p:txBody>
      </p:sp>
      <p:sp>
        <p:nvSpPr>
          <p:cNvPr id="3" name="Shape 1"/>
          <p:cNvSpPr/>
          <p:nvPr/>
        </p:nvSpPr>
        <p:spPr>
          <a:xfrm>
            <a:off x="548640" y="1783080"/>
            <a:ext cx="5486400" cy="3017520"/>
          </a:xfrm>
          <a:prstGeom prst="roundRect">
            <a:avLst>
              <a:gd name="adj" fmla="val 2424"/>
            </a:avLst>
          </a:prstGeom>
          <a:solidFill>
            <a:srgbClr val="22395F"/>
          </a:solidFill>
          <a:ln w="12700">
            <a:solidFill>
              <a:srgbClr val="22395F"/>
            </a:solidFill>
            <a:prstDash val="solid"/>
          </a:ln>
        </p:spPr>
      </p:sp>
      <p:sp>
        <p:nvSpPr>
          <p:cNvPr id="4" name="Text 2"/>
          <p:cNvSpPr txBox="1"/>
          <p:nvPr/>
        </p:nvSpPr>
        <p:spPr>
          <a:xfrm>
            <a:off x="777240" y="1920240"/>
            <a:ext cx="5029200" cy="50292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Primary — bên liên quan chính</a:t>
            </a:r>
            <a:endParaRPr lang="en-US" sz="2000" dirty="0"/>
          </a:p>
        </p:txBody>
      </p:sp>
      <p:sp>
        <p:nvSpPr>
          <p:cNvPr id="5" name="Text 3"/>
          <p:cNvSpPr txBox="1"/>
          <p:nvPr/>
        </p:nvSpPr>
        <p:spPr>
          <a:xfrm>
            <a:off x="777240" y="2514600"/>
            <a:ext cx="5029200" cy="1371600"/>
          </a:xfrm>
          <a:prstGeom prst="rect">
            <a:avLst/>
          </a:prstGeom>
          <a:noFill/>
          <a:ln/>
        </p:spPr>
        <p:txBody>
          <a:bodyPr wrap="square" lIns="635" tIns="635" rIns="635" bIns="635" rtlCol="0" anchor="t"/>
          <a:lstStyle/>
          <a:p>
            <a:pPr indent="0" marL="0">
              <a:buNone/>
            </a:pPr>
            <a:r>
              <a:rPr lang="en-US" sz="1800" i="1" dirty="0">
                <a:solidFill>
                  <a:srgbClr val="FBFAF4"/>
                </a:solidFill>
                <a:latin typeface="Alexandria" pitchFamily="34" charset="0"/>
                <a:ea typeface="Alexandria" pitchFamily="34" charset="-122"/>
                <a:cs typeface="Alexandria" pitchFamily="34" charset="-120"/>
              </a:rPr>
              <a:t>“Những người và tổ chức mà thiếu sự hỗ trợ của họ, sự kiện sẽ không diễn ra.”</a:t>
            </a:r>
            <a:endParaRPr lang="en-US" sz="1800" dirty="0"/>
          </a:p>
        </p:txBody>
      </p:sp>
      <p:sp>
        <p:nvSpPr>
          <p:cNvPr id="6" name="Text 4"/>
          <p:cNvSpPr txBox="1"/>
          <p:nvPr/>
        </p:nvSpPr>
        <p:spPr>
          <a:xfrm>
            <a:off x="777240" y="4069080"/>
            <a:ext cx="502920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Ví dụ: khách hàng, địa điểm</a:t>
            </a:r>
            <a:endParaRPr lang="en-US" sz="1600" dirty="0"/>
          </a:p>
        </p:txBody>
      </p:sp>
      <p:sp>
        <p:nvSpPr>
          <p:cNvPr id="7" name="Shape 5"/>
          <p:cNvSpPr/>
          <p:nvPr/>
        </p:nvSpPr>
        <p:spPr>
          <a:xfrm>
            <a:off x="6263640" y="1783080"/>
            <a:ext cx="5376672" cy="3017520"/>
          </a:xfrm>
          <a:prstGeom prst="roundRect">
            <a:avLst>
              <a:gd name="adj" fmla="val 2424"/>
            </a:avLst>
          </a:prstGeom>
          <a:solidFill>
            <a:srgbClr val="22395F"/>
          </a:solidFill>
          <a:ln w="12700">
            <a:solidFill>
              <a:srgbClr val="22395F"/>
            </a:solidFill>
            <a:prstDash val="solid"/>
          </a:ln>
        </p:spPr>
      </p:sp>
      <p:sp>
        <p:nvSpPr>
          <p:cNvPr id="8" name="Text 6"/>
          <p:cNvSpPr txBox="1"/>
          <p:nvPr/>
        </p:nvSpPr>
        <p:spPr>
          <a:xfrm>
            <a:off x="6492240" y="1920240"/>
            <a:ext cx="4937760" cy="502920"/>
          </a:xfrm>
          <a:prstGeom prst="rect">
            <a:avLst/>
          </a:prstGeom>
          <a:noFill/>
          <a:ln/>
        </p:spPr>
        <p:txBody>
          <a:bodyPr wrap="square" lIns="635" tIns="635" rIns="635" bIns="635" rtlCol="0" anchor="ctr"/>
          <a:lstStyle/>
          <a:p>
            <a:pPr indent="0" marL="0">
              <a:buNone/>
            </a:pPr>
            <a:r>
              <a:rPr lang="en-US" sz="2000" b="1" dirty="0">
                <a:solidFill>
                  <a:srgbClr val="09A1E5"/>
                </a:solidFill>
                <a:latin typeface="Alexandria" pitchFamily="34" charset="0"/>
                <a:ea typeface="Alexandria" pitchFamily="34" charset="-122"/>
                <a:cs typeface="Alexandria" pitchFamily="34" charset="-120"/>
              </a:rPr>
              <a:t>Secondary — bên liên quan thứ yếu</a:t>
            </a:r>
            <a:endParaRPr lang="en-US" sz="2000" dirty="0"/>
          </a:p>
        </p:txBody>
      </p:sp>
      <p:sp>
        <p:nvSpPr>
          <p:cNvPr id="9" name="Text 7"/>
          <p:cNvSpPr txBox="1"/>
          <p:nvPr/>
        </p:nvSpPr>
        <p:spPr>
          <a:xfrm>
            <a:off x="6492240" y="2514600"/>
            <a:ext cx="4937760" cy="1371600"/>
          </a:xfrm>
          <a:prstGeom prst="rect">
            <a:avLst/>
          </a:prstGeom>
          <a:noFill/>
          <a:ln/>
        </p:spPr>
        <p:txBody>
          <a:bodyPr wrap="square" lIns="635" tIns="635" rIns="635" bIns="635" rtlCol="0" anchor="t"/>
          <a:lstStyle/>
          <a:p>
            <a:pPr indent="0" marL="0">
              <a:buNone/>
            </a:pPr>
            <a:r>
              <a:rPr lang="en-US" sz="1800" i="1" dirty="0">
                <a:solidFill>
                  <a:srgbClr val="FBFAF4"/>
                </a:solidFill>
                <a:latin typeface="Alexandria" pitchFamily="34" charset="0"/>
                <a:ea typeface="Alexandria" pitchFamily="34" charset="-122"/>
                <a:cs typeface="Alexandria" pitchFamily="34" charset="-120"/>
              </a:rPr>
              <a:t>“Nhóm hoặc cá nhân không trực tiếp tham gia sự kiện nhưng vẫn có thể tác động đáng kể đến thành công của nó.”</a:t>
            </a:r>
            <a:endParaRPr lang="en-US" sz="1800" dirty="0"/>
          </a:p>
        </p:txBody>
      </p:sp>
      <p:sp>
        <p:nvSpPr>
          <p:cNvPr id="10" name="Text 8"/>
          <p:cNvSpPr txBox="1"/>
          <p:nvPr/>
        </p:nvSpPr>
        <p:spPr>
          <a:xfrm>
            <a:off x="6492240" y="4069080"/>
            <a:ext cx="493776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Ví dụ: báo chí, nhóm lợi ích</a:t>
            </a:r>
            <a:endParaRPr lang="en-US" sz="1600" dirty="0"/>
          </a:p>
        </p:txBody>
      </p:sp>
      <p:sp>
        <p:nvSpPr>
          <p:cNvPr id="11" name="Shape 9"/>
          <p:cNvSpPr/>
          <p:nvPr/>
        </p:nvSpPr>
        <p:spPr>
          <a:xfrm>
            <a:off x="548640" y="4983480"/>
            <a:ext cx="11091672" cy="777240"/>
          </a:xfrm>
          <a:prstGeom prst="roundRect">
            <a:avLst>
              <a:gd name="adj" fmla="val 9412"/>
            </a:avLst>
          </a:prstGeom>
          <a:solidFill>
            <a:srgbClr val="FFD23B"/>
          </a:solidFill>
          <a:ln w="12700">
            <a:solidFill>
              <a:srgbClr val="FFD23B"/>
            </a:solidFill>
            <a:prstDash val="solid"/>
          </a:ln>
        </p:spPr>
      </p:sp>
      <p:sp>
        <p:nvSpPr>
          <p:cNvPr id="12" name="Text 10"/>
          <p:cNvSpPr txBox="1"/>
          <p:nvPr/>
        </p:nvSpPr>
        <p:spPr>
          <a:xfrm>
            <a:off x="777240" y="4983480"/>
            <a:ext cx="10607040" cy="77724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Câu kiểm tra: Không có họ, sự kiện có diễn ra được không?</a:t>
            </a:r>
            <a:endParaRPr lang="en-US" sz="2200" dirty="0"/>
          </a:p>
        </p:txBody>
      </p:sp>
      <p:sp>
        <p:nvSpPr>
          <p:cNvPr id="13" name="Text 11"/>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Holmes et al. (2015, tr. 24). Gốc của cách chia này cho doanh nghiệp: Clarkson (1995).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Giơ tay: 1 ngón = primary, 2 ngón = secondary</a:t>
            </a:r>
            <a:endParaRPr lang="en-US" sz="2800" dirty="0"/>
          </a:p>
        </p:txBody>
      </p:sp>
      <p:sp>
        <p:nvSpPr>
          <p:cNvPr id="3" name="Text 1"/>
          <p:cNvSpPr txBox="1"/>
          <p:nvPr/>
        </p:nvSpPr>
        <p:spPr>
          <a:xfrm>
            <a:off x="548640" y="1600200"/>
            <a:ext cx="11091672" cy="731520"/>
          </a:xfrm>
          <a:prstGeom prst="rect">
            <a:avLst/>
          </a:prstGeom>
          <a:noFill/>
          <a:ln/>
        </p:spPr>
        <p:txBody>
          <a:bodyPr wrap="square" lIns="635" tIns="635" rIns="635" bIns="635" rtlCol="0" anchor="t"/>
          <a:lstStyle/>
          <a:p>
            <a:pPr indent="0" marL="0">
              <a:buNone/>
            </a:pPr>
            <a:r>
              <a:rPr lang="en-US" sz="1600" i="1" dirty="0">
                <a:solidFill>
                  <a:srgbClr val="A9B6D3"/>
                </a:solidFill>
                <a:latin typeface="Alexandria" pitchFamily="34" charset="0"/>
                <a:ea typeface="Alexandria" pitchFamily="34" charset="-122"/>
                <a:cs typeface="Alexandria" pitchFamily="34" charset="-120"/>
              </a:rPr>
              <a:t>Hội nghị khách hàng thường niên của Ngân hàng An Phát, 600 khách VIP, khách sạn 5 sao, do Nova Events tổ chức (giả định)</a:t>
            </a:r>
            <a:endParaRPr lang="en-US" sz="1600" dirty="0"/>
          </a:p>
        </p:txBody>
      </p:sp>
      <p:sp>
        <p:nvSpPr>
          <p:cNvPr id="4" name="Shape 2"/>
          <p:cNvSpPr/>
          <p:nvPr/>
        </p:nvSpPr>
        <p:spPr>
          <a:xfrm>
            <a:off x="548640" y="2423160"/>
            <a:ext cx="548640" cy="548640"/>
          </a:xfrm>
          <a:prstGeom prst="ellipse">
            <a:avLst/>
          </a:prstGeom>
          <a:solidFill>
            <a:srgbClr val="49B296"/>
          </a:solidFill>
          <a:ln w="12700">
            <a:solidFill>
              <a:srgbClr val="49B296"/>
            </a:solidFill>
            <a:prstDash val="solid"/>
          </a:ln>
        </p:spPr>
      </p:sp>
      <p:sp>
        <p:nvSpPr>
          <p:cNvPr id="5" name="Text 3"/>
          <p:cNvSpPr txBox="1"/>
          <p:nvPr/>
        </p:nvSpPr>
        <p:spPr>
          <a:xfrm>
            <a:off x="548640" y="2423160"/>
            <a:ext cx="548640" cy="54864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1</a:t>
            </a:r>
            <a:endParaRPr lang="en-US" sz="1600" dirty="0"/>
          </a:p>
        </p:txBody>
      </p:sp>
      <p:sp>
        <p:nvSpPr>
          <p:cNvPr id="6" name="Shape 4"/>
          <p:cNvSpPr/>
          <p:nvPr/>
        </p:nvSpPr>
        <p:spPr>
          <a:xfrm>
            <a:off x="1280160" y="2377440"/>
            <a:ext cx="6949440" cy="640080"/>
          </a:xfrm>
          <a:prstGeom prst="roundRect">
            <a:avLst>
              <a:gd name="adj" fmla="val 11429"/>
            </a:avLst>
          </a:prstGeom>
          <a:solidFill>
            <a:srgbClr val="22395F"/>
          </a:solidFill>
          <a:ln w="12700">
            <a:solidFill>
              <a:srgbClr val="22395F"/>
            </a:solidFill>
            <a:prstDash val="solid"/>
          </a:ln>
        </p:spPr>
      </p:sp>
      <p:sp>
        <p:nvSpPr>
          <p:cNvPr id="7" name="Text 5"/>
          <p:cNvSpPr txBox="1"/>
          <p:nvPr/>
        </p:nvSpPr>
        <p:spPr>
          <a:xfrm>
            <a:off x="1463040" y="2377440"/>
            <a:ext cx="6583680" cy="64008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Ngân hàng An Phát (khách hàng)</a:t>
            </a:r>
            <a:endParaRPr lang="en-US" sz="1900" dirty="0"/>
          </a:p>
        </p:txBody>
      </p:sp>
      <p:sp>
        <p:nvSpPr>
          <p:cNvPr id="8" name="Shape 6"/>
          <p:cNvSpPr/>
          <p:nvPr/>
        </p:nvSpPr>
        <p:spPr>
          <a:xfrm>
            <a:off x="548640" y="3172968"/>
            <a:ext cx="548640" cy="548640"/>
          </a:xfrm>
          <a:prstGeom prst="ellipse">
            <a:avLst/>
          </a:prstGeom>
          <a:solidFill>
            <a:srgbClr val="FFD23B"/>
          </a:solidFill>
          <a:ln w="12700">
            <a:solidFill>
              <a:srgbClr val="FFD23B"/>
            </a:solidFill>
            <a:prstDash val="solid"/>
          </a:ln>
        </p:spPr>
      </p:sp>
      <p:sp>
        <p:nvSpPr>
          <p:cNvPr id="9" name="Text 7"/>
          <p:cNvSpPr txBox="1"/>
          <p:nvPr/>
        </p:nvSpPr>
        <p:spPr>
          <a:xfrm>
            <a:off x="548640" y="3172968"/>
            <a:ext cx="548640" cy="54864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2</a:t>
            </a:r>
            <a:endParaRPr lang="en-US" sz="1600" dirty="0"/>
          </a:p>
        </p:txBody>
      </p:sp>
      <p:sp>
        <p:nvSpPr>
          <p:cNvPr id="10" name="Shape 8"/>
          <p:cNvSpPr/>
          <p:nvPr/>
        </p:nvSpPr>
        <p:spPr>
          <a:xfrm>
            <a:off x="1280160" y="3127248"/>
            <a:ext cx="6949440" cy="640080"/>
          </a:xfrm>
          <a:prstGeom prst="roundRect">
            <a:avLst>
              <a:gd name="adj" fmla="val 11429"/>
            </a:avLst>
          </a:prstGeom>
          <a:solidFill>
            <a:srgbClr val="22395F"/>
          </a:solidFill>
          <a:ln w="12700">
            <a:solidFill>
              <a:srgbClr val="22395F"/>
            </a:solidFill>
            <a:prstDash val="solid"/>
          </a:ln>
        </p:spPr>
      </p:sp>
      <p:sp>
        <p:nvSpPr>
          <p:cNvPr id="11" name="Text 9"/>
          <p:cNvSpPr txBox="1"/>
          <p:nvPr/>
        </p:nvSpPr>
        <p:spPr>
          <a:xfrm>
            <a:off x="1463040" y="3127248"/>
            <a:ext cx="6583680" cy="64008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Khách sạn 5 sao (địa điểm)</a:t>
            </a:r>
            <a:endParaRPr lang="en-US" sz="1900" dirty="0"/>
          </a:p>
        </p:txBody>
      </p:sp>
      <p:sp>
        <p:nvSpPr>
          <p:cNvPr id="12" name="Shape 10"/>
          <p:cNvSpPr/>
          <p:nvPr/>
        </p:nvSpPr>
        <p:spPr>
          <a:xfrm>
            <a:off x="548640" y="3922776"/>
            <a:ext cx="548640" cy="548640"/>
          </a:xfrm>
          <a:prstGeom prst="ellipse">
            <a:avLst/>
          </a:prstGeom>
          <a:solidFill>
            <a:srgbClr val="FF5178"/>
          </a:solidFill>
          <a:ln w="12700">
            <a:solidFill>
              <a:srgbClr val="FF5178"/>
            </a:solidFill>
            <a:prstDash val="solid"/>
          </a:ln>
        </p:spPr>
      </p:sp>
      <p:sp>
        <p:nvSpPr>
          <p:cNvPr id="13" name="Text 11"/>
          <p:cNvSpPr txBox="1"/>
          <p:nvPr/>
        </p:nvSpPr>
        <p:spPr>
          <a:xfrm>
            <a:off x="548640" y="3922776"/>
            <a:ext cx="548640" cy="54864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3</a:t>
            </a:r>
            <a:endParaRPr lang="en-US" sz="1600" dirty="0"/>
          </a:p>
        </p:txBody>
      </p:sp>
      <p:sp>
        <p:nvSpPr>
          <p:cNvPr id="14" name="Shape 12"/>
          <p:cNvSpPr/>
          <p:nvPr/>
        </p:nvSpPr>
        <p:spPr>
          <a:xfrm>
            <a:off x="1280160" y="3877056"/>
            <a:ext cx="6949440" cy="640080"/>
          </a:xfrm>
          <a:prstGeom prst="roundRect">
            <a:avLst>
              <a:gd name="adj" fmla="val 11429"/>
            </a:avLst>
          </a:prstGeom>
          <a:solidFill>
            <a:srgbClr val="22395F"/>
          </a:solidFill>
          <a:ln w="12700">
            <a:solidFill>
              <a:srgbClr val="22395F"/>
            </a:solidFill>
            <a:prstDash val="solid"/>
          </a:ln>
        </p:spPr>
      </p:sp>
      <p:sp>
        <p:nvSpPr>
          <p:cNvPr id="15" name="Text 13"/>
          <p:cNvSpPr txBox="1"/>
          <p:nvPr/>
        </p:nvSpPr>
        <p:spPr>
          <a:xfrm>
            <a:off x="1463040" y="3877056"/>
            <a:ext cx="6583680" cy="64008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Công ty bảo hiểm (nhà tài trợ)</a:t>
            </a:r>
            <a:endParaRPr lang="en-US" sz="1900" dirty="0"/>
          </a:p>
        </p:txBody>
      </p:sp>
      <p:sp>
        <p:nvSpPr>
          <p:cNvPr id="16" name="Shape 14"/>
          <p:cNvSpPr/>
          <p:nvPr/>
        </p:nvSpPr>
        <p:spPr>
          <a:xfrm>
            <a:off x="548640" y="4672584"/>
            <a:ext cx="548640" cy="548640"/>
          </a:xfrm>
          <a:prstGeom prst="ellipse">
            <a:avLst/>
          </a:prstGeom>
          <a:solidFill>
            <a:srgbClr val="09A1E5"/>
          </a:solidFill>
          <a:ln w="12700">
            <a:solidFill>
              <a:srgbClr val="09A1E5"/>
            </a:solidFill>
            <a:prstDash val="solid"/>
          </a:ln>
        </p:spPr>
      </p:sp>
      <p:sp>
        <p:nvSpPr>
          <p:cNvPr id="17" name="Text 15"/>
          <p:cNvSpPr txBox="1"/>
          <p:nvPr/>
        </p:nvSpPr>
        <p:spPr>
          <a:xfrm>
            <a:off x="548640" y="4672584"/>
            <a:ext cx="548640" cy="54864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4</a:t>
            </a:r>
            <a:endParaRPr lang="en-US" sz="1600" dirty="0"/>
          </a:p>
        </p:txBody>
      </p:sp>
      <p:sp>
        <p:nvSpPr>
          <p:cNvPr id="18" name="Shape 16"/>
          <p:cNvSpPr/>
          <p:nvPr/>
        </p:nvSpPr>
        <p:spPr>
          <a:xfrm>
            <a:off x="1280160" y="4626864"/>
            <a:ext cx="6949440" cy="640080"/>
          </a:xfrm>
          <a:prstGeom prst="roundRect">
            <a:avLst>
              <a:gd name="adj" fmla="val 11429"/>
            </a:avLst>
          </a:prstGeom>
          <a:solidFill>
            <a:srgbClr val="22395F"/>
          </a:solidFill>
          <a:ln w="12700">
            <a:solidFill>
              <a:srgbClr val="22395F"/>
            </a:solidFill>
            <a:prstDash val="solid"/>
          </a:ln>
        </p:spPr>
      </p:sp>
      <p:sp>
        <p:nvSpPr>
          <p:cNvPr id="19" name="Text 17"/>
          <p:cNvSpPr txBox="1"/>
          <p:nvPr/>
        </p:nvSpPr>
        <p:spPr>
          <a:xfrm>
            <a:off x="1463040" y="4626864"/>
            <a:ext cx="6583680" cy="64008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Báo tài chính</a:t>
            </a:r>
            <a:endParaRPr lang="en-US" sz="1900" dirty="0"/>
          </a:p>
        </p:txBody>
      </p:sp>
      <p:sp>
        <p:nvSpPr>
          <p:cNvPr id="20" name="Shape 18"/>
          <p:cNvSpPr/>
          <p:nvPr/>
        </p:nvSpPr>
        <p:spPr>
          <a:xfrm>
            <a:off x="548640" y="5422392"/>
            <a:ext cx="548640" cy="548640"/>
          </a:xfrm>
          <a:prstGeom prst="ellipse">
            <a:avLst/>
          </a:prstGeom>
          <a:solidFill>
            <a:srgbClr val="FF9259"/>
          </a:solidFill>
          <a:ln w="12700">
            <a:solidFill>
              <a:srgbClr val="FF9259"/>
            </a:solidFill>
            <a:prstDash val="solid"/>
          </a:ln>
        </p:spPr>
      </p:sp>
      <p:sp>
        <p:nvSpPr>
          <p:cNvPr id="21" name="Text 19"/>
          <p:cNvSpPr txBox="1"/>
          <p:nvPr/>
        </p:nvSpPr>
        <p:spPr>
          <a:xfrm>
            <a:off x="548640" y="5422392"/>
            <a:ext cx="548640" cy="54864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5</a:t>
            </a:r>
            <a:endParaRPr lang="en-US" sz="1600" dirty="0"/>
          </a:p>
        </p:txBody>
      </p:sp>
      <p:sp>
        <p:nvSpPr>
          <p:cNvPr id="22" name="Shape 20"/>
          <p:cNvSpPr/>
          <p:nvPr/>
        </p:nvSpPr>
        <p:spPr>
          <a:xfrm>
            <a:off x="1280160" y="5376672"/>
            <a:ext cx="6949440" cy="640080"/>
          </a:xfrm>
          <a:prstGeom prst="roundRect">
            <a:avLst>
              <a:gd name="adj" fmla="val 11429"/>
            </a:avLst>
          </a:prstGeom>
          <a:solidFill>
            <a:srgbClr val="22395F"/>
          </a:solidFill>
          <a:ln w="12700">
            <a:solidFill>
              <a:srgbClr val="22395F"/>
            </a:solidFill>
            <a:prstDash val="solid"/>
          </a:ln>
        </p:spPr>
      </p:sp>
      <p:sp>
        <p:nvSpPr>
          <p:cNvPr id="23" name="Text 21"/>
          <p:cNvSpPr txBox="1"/>
          <p:nvPr/>
        </p:nvSpPr>
        <p:spPr>
          <a:xfrm>
            <a:off x="1463040" y="5376672"/>
            <a:ext cx="6583680" cy="64008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Cư dân khu phố cạnh khách sạn</a:t>
            </a:r>
            <a:endParaRPr lang="en-US" sz="1900" dirty="0"/>
          </a:p>
        </p:txBody>
      </p:sp>
      <p:sp>
        <p:nvSpPr>
          <p:cNvPr id="24" name="Shape 22"/>
          <p:cNvSpPr/>
          <p:nvPr/>
        </p:nvSpPr>
        <p:spPr>
          <a:xfrm>
            <a:off x="8595360" y="2377440"/>
            <a:ext cx="3044952" cy="3639312"/>
          </a:xfrm>
          <a:prstGeom prst="roundRect">
            <a:avLst>
              <a:gd name="adj" fmla="val 2402"/>
            </a:avLst>
          </a:prstGeom>
          <a:solidFill>
            <a:srgbClr val="22395F"/>
          </a:solidFill>
          <a:ln w="12700">
            <a:solidFill>
              <a:srgbClr val="22395F"/>
            </a:solidFill>
            <a:prstDash val="solid"/>
          </a:ln>
        </p:spPr>
      </p:sp>
      <p:sp>
        <p:nvSpPr>
          <p:cNvPr id="25" name="Shape 23"/>
          <p:cNvSpPr/>
          <p:nvPr/>
        </p:nvSpPr>
        <p:spPr>
          <a:xfrm>
            <a:off x="9555480" y="2651760"/>
            <a:ext cx="1097280" cy="1097280"/>
          </a:xfrm>
          <a:prstGeom prst="ellipse">
            <a:avLst/>
          </a:prstGeom>
          <a:solidFill>
            <a:srgbClr val="FFD23B"/>
          </a:solidFill>
          <a:ln w="12700">
            <a:solidFill>
              <a:srgbClr val="FFD23B"/>
            </a:solidFill>
            <a:prstDash val="solid"/>
          </a:ln>
        </p:spPr>
      </p:sp>
      <p:pic>
        <p:nvPicPr>
          <p:cNvPr id="26" name="Image 0" descr="preencoded.png">    </p:cNvPr>
          <p:cNvPicPr>
            <a:picLocks noChangeAspect="1"/>
          </p:cNvPicPr>
          <p:nvPr/>
        </p:nvPicPr>
        <p:blipFill>
          <a:blip r:embed="rId1"/>
          <a:stretch>
            <a:fillRect/>
          </a:stretch>
        </p:blipFill>
        <p:spPr>
          <a:xfrm>
            <a:off x="9796882" y="2893162"/>
            <a:ext cx="614477" cy="614477"/>
          </a:xfrm>
          <a:prstGeom prst="rect">
            <a:avLst/>
          </a:prstGeom>
        </p:spPr>
      </p:pic>
      <p:sp>
        <p:nvSpPr>
          <p:cNvPr id="27" name="Text 24"/>
          <p:cNvSpPr txBox="1"/>
          <p:nvPr/>
        </p:nvSpPr>
        <p:spPr>
          <a:xfrm>
            <a:off x="8595360" y="3840480"/>
            <a:ext cx="3044952" cy="2103120"/>
          </a:xfrm>
          <a:prstGeom prst="rect">
            <a:avLst/>
          </a:prstGeom>
          <a:noFill/>
          <a:ln/>
        </p:spPr>
        <p:txBody>
          <a:bodyPr wrap="square" lIns="635" tIns="635" rIns="635" bIns="635" rtlCol="0" anchor="t"/>
          <a:lstStyle/>
          <a:p>
            <a:pPr algn="ctr" indent="0" marL="0">
              <a:buNone/>
            </a:pPr>
            <a:r>
              <a:rPr lang="en-US" sz="1800" b="1" dirty="0">
                <a:solidFill>
                  <a:srgbClr val="FBFAF4"/>
                </a:solidFill>
                <a:latin typeface="Alexandria" pitchFamily="34" charset="0"/>
                <a:ea typeface="Alexandria" pitchFamily="34" charset="-122"/>
                <a:cs typeface="Alexandria" pitchFamily="34" charset="-120"/>
              </a:rPr>
              <a:t>1 ngón</a:t>
            </a:r>
            <a:endParaRPr lang="en-US" sz="1800" dirty="0"/>
          </a:p>
          <a:p>
            <a:pPr algn="ctr" indent="0" marL="0">
              <a:buNone/>
            </a:pPr>
            <a:r>
              <a:rPr lang="en-US" sz="1800" b="1" dirty="0">
                <a:solidFill>
                  <a:srgbClr val="FBFAF4"/>
                </a:solidFill>
                <a:latin typeface="Alexandria" pitchFamily="34" charset="0"/>
                <a:ea typeface="Alexandria" pitchFamily="34" charset="-122"/>
                <a:cs typeface="Alexandria" pitchFamily="34" charset="-120"/>
              </a:rPr>
              <a:t>primary</a:t>
            </a:r>
            <a:endParaRPr lang="en-US" sz="1800" dirty="0"/>
          </a:p>
          <a:p>
            <a:pPr algn="ctr" indent="0" marL="0">
              <a:buNone/>
            </a:pPr>
            <a:endParaRPr lang="en-US" sz="1800" dirty="0"/>
          </a:p>
          <a:p>
            <a:pPr algn="ctr" indent="0" marL="0">
              <a:buNone/>
            </a:pPr>
            <a:r>
              <a:rPr lang="en-US" sz="1800" b="1" dirty="0">
                <a:solidFill>
                  <a:srgbClr val="FBFAF4"/>
                </a:solidFill>
                <a:latin typeface="Alexandria" pitchFamily="34" charset="0"/>
                <a:ea typeface="Alexandria" pitchFamily="34" charset="-122"/>
                <a:cs typeface="Alexandria" pitchFamily="34" charset="-120"/>
              </a:rPr>
              <a:t>2 ngón</a:t>
            </a:r>
            <a:endParaRPr lang="en-US" sz="1800" dirty="0"/>
          </a:p>
          <a:p>
            <a:pPr algn="ctr" indent="0" marL="0">
              <a:buNone/>
            </a:pPr>
            <a:r>
              <a:rPr lang="en-US" sz="1800" b="1" dirty="0">
                <a:solidFill>
                  <a:srgbClr val="FBFAF4"/>
                </a:solidFill>
                <a:latin typeface="Alexandria" pitchFamily="34" charset="0"/>
                <a:ea typeface="Alexandria" pitchFamily="34" charset="-122"/>
                <a:cs typeface="Alexandria" pitchFamily="34" charset="-120"/>
              </a:rPr>
              <a:t>secondary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Đáp án: một bên không có nhãn cố định — tùy bối cảnh</a:t>
            </a:r>
            <a:endParaRPr lang="en-US" sz="2800" dirty="0"/>
          </a:p>
        </p:txBody>
      </p:sp>
      <p:sp>
        <p:nvSpPr>
          <p:cNvPr id="3" name="Text 1"/>
          <p:cNvSpPr txBox="1"/>
          <p:nvPr/>
        </p:nvSpPr>
        <p:spPr>
          <a:xfrm>
            <a:off x="548640" y="1691640"/>
            <a:ext cx="36576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a:t>
            </a:r>
            <a:endParaRPr lang="en-US" sz="1500" dirty="0"/>
          </a:p>
        </p:txBody>
      </p:sp>
      <p:sp>
        <p:nvSpPr>
          <p:cNvPr id="4" name="Text 2"/>
          <p:cNvSpPr txBox="1"/>
          <p:nvPr/>
        </p:nvSpPr>
        <p:spPr>
          <a:xfrm>
            <a:off x="914400" y="1691640"/>
            <a:ext cx="274320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Bên</a:t>
            </a:r>
            <a:endParaRPr lang="en-US" sz="1500" dirty="0"/>
          </a:p>
        </p:txBody>
      </p:sp>
      <p:sp>
        <p:nvSpPr>
          <p:cNvPr id="5" name="Text 3"/>
          <p:cNvSpPr txBox="1"/>
          <p:nvPr/>
        </p:nvSpPr>
        <p:spPr>
          <a:xfrm>
            <a:off x="3749040" y="1691640"/>
            <a:ext cx="201168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Nhãn</a:t>
            </a:r>
            <a:endParaRPr lang="en-US" sz="1500" dirty="0"/>
          </a:p>
        </p:txBody>
      </p:sp>
      <p:sp>
        <p:nvSpPr>
          <p:cNvPr id="6" name="Text 4"/>
          <p:cNvSpPr txBox="1"/>
          <p:nvPr/>
        </p:nvSpPr>
        <p:spPr>
          <a:xfrm>
            <a:off x="5852160" y="1691640"/>
            <a:ext cx="576072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Lập luận</a:t>
            </a:r>
            <a:endParaRPr lang="en-US" sz="1500" dirty="0"/>
          </a:p>
        </p:txBody>
      </p:sp>
      <p:sp>
        <p:nvSpPr>
          <p:cNvPr id="7" name="Text 5"/>
          <p:cNvSpPr txBox="1"/>
          <p:nvPr/>
        </p:nvSpPr>
        <p:spPr>
          <a:xfrm>
            <a:off x="548640" y="2194560"/>
            <a:ext cx="365760" cy="6858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1</a:t>
            </a:r>
            <a:endParaRPr lang="en-US" sz="1700" dirty="0"/>
          </a:p>
        </p:txBody>
      </p:sp>
      <p:sp>
        <p:nvSpPr>
          <p:cNvPr id="8" name="Text 6"/>
          <p:cNvSpPr txBox="1"/>
          <p:nvPr/>
        </p:nvSpPr>
        <p:spPr>
          <a:xfrm>
            <a:off x="914400" y="2194560"/>
            <a:ext cx="274320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Ngân hàng An Phát</a:t>
            </a:r>
            <a:endParaRPr lang="en-US" sz="1700" dirty="0"/>
          </a:p>
        </p:txBody>
      </p:sp>
      <p:sp>
        <p:nvSpPr>
          <p:cNvPr id="9" name="Text 7"/>
          <p:cNvSpPr txBox="1"/>
          <p:nvPr/>
        </p:nvSpPr>
        <p:spPr>
          <a:xfrm>
            <a:off x="3749040" y="2194560"/>
            <a:ext cx="2011680" cy="68580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Primary</a:t>
            </a:r>
            <a:endParaRPr lang="en-US" sz="1700" dirty="0"/>
          </a:p>
        </p:txBody>
      </p:sp>
      <p:sp>
        <p:nvSpPr>
          <p:cNvPr id="10" name="Text 8"/>
          <p:cNvSpPr txBox="1"/>
          <p:nvPr/>
        </p:nvSpPr>
        <p:spPr>
          <a:xfrm>
            <a:off x="5852160" y="2194560"/>
            <a:ext cx="576072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Người đặt hàng và trả tiền: không có họ, không có sự kiện</a:t>
            </a:r>
            <a:endParaRPr lang="en-US" sz="1500" dirty="0"/>
          </a:p>
        </p:txBody>
      </p:sp>
      <p:sp>
        <p:nvSpPr>
          <p:cNvPr id="11" name="Text 9"/>
          <p:cNvSpPr txBox="1"/>
          <p:nvPr/>
        </p:nvSpPr>
        <p:spPr>
          <a:xfrm>
            <a:off x="548640" y="2971800"/>
            <a:ext cx="365760" cy="6858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2</a:t>
            </a:r>
            <a:endParaRPr lang="en-US" sz="1700" dirty="0"/>
          </a:p>
        </p:txBody>
      </p:sp>
      <p:sp>
        <p:nvSpPr>
          <p:cNvPr id="12" name="Text 10"/>
          <p:cNvSpPr txBox="1"/>
          <p:nvPr/>
        </p:nvSpPr>
        <p:spPr>
          <a:xfrm>
            <a:off x="914400" y="2971800"/>
            <a:ext cx="274320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Khách sạn</a:t>
            </a:r>
            <a:endParaRPr lang="en-US" sz="1700" dirty="0"/>
          </a:p>
        </p:txBody>
      </p:sp>
      <p:sp>
        <p:nvSpPr>
          <p:cNvPr id="13" name="Text 11"/>
          <p:cNvSpPr txBox="1"/>
          <p:nvPr/>
        </p:nvSpPr>
        <p:spPr>
          <a:xfrm>
            <a:off x="3749040" y="2971800"/>
            <a:ext cx="2011680" cy="68580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Primary</a:t>
            </a:r>
            <a:endParaRPr lang="en-US" sz="1700" dirty="0"/>
          </a:p>
        </p:txBody>
      </p:sp>
      <p:sp>
        <p:nvSpPr>
          <p:cNvPr id="14" name="Text 12"/>
          <p:cNvSpPr txBox="1"/>
          <p:nvPr/>
        </p:nvSpPr>
        <p:spPr>
          <a:xfrm>
            <a:off x="5852160" y="2971800"/>
            <a:ext cx="576072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Đổi địa điểm phút chót gần như bất khả</a:t>
            </a:r>
            <a:endParaRPr lang="en-US" sz="1500" dirty="0"/>
          </a:p>
        </p:txBody>
      </p:sp>
      <p:sp>
        <p:nvSpPr>
          <p:cNvPr id="15" name="Shape 13"/>
          <p:cNvSpPr/>
          <p:nvPr/>
        </p:nvSpPr>
        <p:spPr>
          <a:xfrm>
            <a:off x="411480" y="3730752"/>
            <a:ext cx="11338560" cy="731520"/>
          </a:xfrm>
          <a:prstGeom prst="roundRect">
            <a:avLst>
              <a:gd name="adj" fmla="val 10000"/>
            </a:avLst>
          </a:prstGeom>
          <a:solidFill>
            <a:srgbClr val="22395F"/>
          </a:solidFill>
          <a:ln w="12700">
            <a:solidFill>
              <a:srgbClr val="22395F"/>
            </a:solidFill>
            <a:prstDash val="solid"/>
          </a:ln>
        </p:spPr>
      </p:sp>
      <p:sp>
        <p:nvSpPr>
          <p:cNvPr id="16" name="Text 14"/>
          <p:cNvSpPr txBox="1"/>
          <p:nvPr/>
        </p:nvSpPr>
        <p:spPr>
          <a:xfrm>
            <a:off x="548640" y="3749040"/>
            <a:ext cx="365760" cy="6858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3</a:t>
            </a:r>
            <a:endParaRPr lang="en-US" sz="1700" dirty="0"/>
          </a:p>
        </p:txBody>
      </p:sp>
      <p:sp>
        <p:nvSpPr>
          <p:cNvPr id="17" name="Text 15"/>
          <p:cNvSpPr txBox="1"/>
          <p:nvPr/>
        </p:nvSpPr>
        <p:spPr>
          <a:xfrm>
            <a:off x="914400" y="3749040"/>
            <a:ext cx="274320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Công ty bảo hiểm</a:t>
            </a:r>
            <a:endParaRPr lang="en-US" sz="1700" dirty="0"/>
          </a:p>
        </p:txBody>
      </p:sp>
      <p:sp>
        <p:nvSpPr>
          <p:cNvPr id="18" name="Text 16"/>
          <p:cNvSpPr txBox="1"/>
          <p:nvPr/>
        </p:nvSpPr>
        <p:spPr>
          <a:xfrm>
            <a:off x="3749040" y="3749040"/>
            <a:ext cx="2011680" cy="68580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Tùy bối cảnh</a:t>
            </a:r>
            <a:endParaRPr lang="en-US" sz="1700" dirty="0"/>
          </a:p>
        </p:txBody>
      </p:sp>
      <p:sp>
        <p:nvSpPr>
          <p:cNvPr id="19" name="Text 17"/>
          <p:cNvSpPr txBox="1"/>
          <p:nvPr/>
        </p:nvSpPr>
        <p:spPr>
          <a:xfrm>
            <a:off x="5852160" y="3749040"/>
            <a:ext cx="576072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Primary nếu ngân sách phụ thuộc khoản tài trợ; secondary nếu chỉ là phần cộng thêm</a:t>
            </a:r>
            <a:endParaRPr lang="en-US" sz="1500" dirty="0"/>
          </a:p>
        </p:txBody>
      </p:sp>
      <p:sp>
        <p:nvSpPr>
          <p:cNvPr id="20" name="Text 18"/>
          <p:cNvSpPr txBox="1"/>
          <p:nvPr/>
        </p:nvSpPr>
        <p:spPr>
          <a:xfrm>
            <a:off x="548640" y="4526280"/>
            <a:ext cx="365760" cy="6858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4</a:t>
            </a:r>
            <a:endParaRPr lang="en-US" sz="1700" dirty="0"/>
          </a:p>
        </p:txBody>
      </p:sp>
      <p:sp>
        <p:nvSpPr>
          <p:cNvPr id="21" name="Text 19"/>
          <p:cNvSpPr txBox="1"/>
          <p:nvPr/>
        </p:nvSpPr>
        <p:spPr>
          <a:xfrm>
            <a:off x="914400" y="4526280"/>
            <a:ext cx="274320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Báo tài chính</a:t>
            </a:r>
            <a:endParaRPr lang="en-US" sz="1700" dirty="0"/>
          </a:p>
        </p:txBody>
      </p:sp>
      <p:sp>
        <p:nvSpPr>
          <p:cNvPr id="22" name="Text 20"/>
          <p:cNvSpPr txBox="1"/>
          <p:nvPr/>
        </p:nvSpPr>
        <p:spPr>
          <a:xfrm>
            <a:off x="3749040" y="4526280"/>
            <a:ext cx="2011680" cy="685800"/>
          </a:xfrm>
          <a:prstGeom prst="rect">
            <a:avLst/>
          </a:prstGeom>
          <a:noFill/>
          <a:ln/>
        </p:spPr>
        <p:txBody>
          <a:bodyPr wrap="square" lIns="635" tIns="635" rIns="635" bIns="635" rtlCol="0" anchor="ctr"/>
          <a:lstStyle/>
          <a:p>
            <a:pPr indent="0" marL="0">
              <a:buNone/>
            </a:pPr>
            <a:r>
              <a:rPr lang="en-US" sz="1700" b="1" dirty="0">
                <a:solidFill>
                  <a:srgbClr val="09A1E5"/>
                </a:solidFill>
                <a:latin typeface="Alexandria" pitchFamily="34" charset="0"/>
                <a:ea typeface="Alexandria" pitchFamily="34" charset="-122"/>
                <a:cs typeface="Alexandria" pitchFamily="34" charset="-120"/>
              </a:rPr>
              <a:t>Secondary</a:t>
            </a:r>
            <a:endParaRPr lang="en-US" sz="1700" dirty="0"/>
          </a:p>
        </p:txBody>
      </p:sp>
      <p:sp>
        <p:nvSpPr>
          <p:cNvPr id="23" name="Text 21"/>
          <p:cNvSpPr txBox="1"/>
          <p:nvPr/>
        </p:nvSpPr>
        <p:spPr>
          <a:xfrm>
            <a:off x="5852160" y="4526280"/>
            <a:ext cx="576072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Sự kiện vẫn diễn ra; nhưng ảnh hưởng hình ảnh sau sự kiện</a:t>
            </a:r>
            <a:endParaRPr lang="en-US" sz="1500" dirty="0"/>
          </a:p>
        </p:txBody>
      </p:sp>
      <p:sp>
        <p:nvSpPr>
          <p:cNvPr id="24" name="Text 22"/>
          <p:cNvSpPr txBox="1"/>
          <p:nvPr/>
        </p:nvSpPr>
        <p:spPr>
          <a:xfrm>
            <a:off x="548640" y="5303520"/>
            <a:ext cx="365760" cy="6858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5</a:t>
            </a:r>
            <a:endParaRPr lang="en-US" sz="1700" dirty="0"/>
          </a:p>
        </p:txBody>
      </p:sp>
      <p:sp>
        <p:nvSpPr>
          <p:cNvPr id="25" name="Text 23"/>
          <p:cNvSpPr txBox="1"/>
          <p:nvPr/>
        </p:nvSpPr>
        <p:spPr>
          <a:xfrm>
            <a:off x="914400" y="5303520"/>
            <a:ext cx="274320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Cư dân lân cận</a:t>
            </a:r>
            <a:endParaRPr lang="en-US" sz="1700" dirty="0"/>
          </a:p>
        </p:txBody>
      </p:sp>
      <p:sp>
        <p:nvSpPr>
          <p:cNvPr id="26" name="Text 24"/>
          <p:cNvSpPr txBox="1"/>
          <p:nvPr/>
        </p:nvSpPr>
        <p:spPr>
          <a:xfrm>
            <a:off x="3749040" y="5303520"/>
            <a:ext cx="2011680" cy="685800"/>
          </a:xfrm>
          <a:prstGeom prst="rect">
            <a:avLst/>
          </a:prstGeom>
          <a:noFill/>
          <a:ln/>
        </p:spPr>
        <p:txBody>
          <a:bodyPr wrap="square" lIns="635" tIns="635" rIns="635" bIns="635" rtlCol="0" anchor="ctr"/>
          <a:lstStyle/>
          <a:p>
            <a:pPr indent="0" marL="0">
              <a:buNone/>
            </a:pPr>
            <a:r>
              <a:rPr lang="en-US" sz="1700" b="1" dirty="0">
                <a:solidFill>
                  <a:srgbClr val="09A1E5"/>
                </a:solidFill>
                <a:latin typeface="Alexandria" pitchFamily="34" charset="0"/>
                <a:ea typeface="Alexandria" pitchFamily="34" charset="-122"/>
                <a:cs typeface="Alexandria" pitchFamily="34" charset="-120"/>
              </a:rPr>
              <a:t>Secondary</a:t>
            </a:r>
            <a:endParaRPr lang="en-US" sz="1700" dirty="0"/>
          </a:p>
        </p:txBody>
      </p:sp>
      <p:sp>
        <p:nvSpPr>
          <p:cNvPr id="27" name="Text 25"/>
          <p:cNvSpPr txBox="1"/>
          <p:nvPr/>
        </p:nvSpPr>
        <p:spPr>
          <a:xfrm>
            <a:off x="5852160" y="5303520"/>
            <a:ext cx="576072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Không giao dịch — nhưng có thể trở nên rất quan trọng (xem phần sau)</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Phân loại là một quyết định có lập luận, không phải tra bảng</a:t>
            </a:r>
            <a:endParaRPr lang="en-US" sz="2800" dirty="0"/>
          </a:p>
        </p:txBody>
      </p:sp>
      <p:sp>
        <p:nvSpPr>
          <p:cNvPr id="3" name="Shape 1"/>
          <p:cNvSpPr/>
          <p:nvPr/>
        </p:nvSpPr>
        <p:spPr>
          <a:xfrm>
            <a:off x="548640" y="1828800"/>
            <a:ext cx="4846320" cy="2926080"/>
          </a:xfrm>
          <a:prstGeom prst="roundRect">
            <a:avLst>
              <a:gd name="adj" fmla="val 2500"/>
            </a:avLst>
          </a:prstGeom>
          <a:solidFill>
            <a:srgbClr val="22395F"/>
          </a:solidFill>
          <a:ln w="12700">
            <a:solidFill>
              <a:srgbClr val="22395F"/>
            </a:solidFill>
            <a:prstDash val="solid"/>
          </a:ln>
        </p:spPr>
      </p:sp>
      <p:sp>
        <p:nvSpPr>
          <p:cNvPr id="4" name="Text 2"/>
          <p:cNvSpPr txBox="1"/>
          <p:nvPr/>
        </p:nvSpPr>
        <p:spPr>
          <a:xfrm>
            <a:off x="777240" y="1965960"/>
            <a:ext cx="4389120" cy="502920"/>
          </a:xfrm>
          <a:prstGeom prst="rect">
            <a:avLst/>
          </a:prstGeom>
          <a:noFill/>
          <a:ln/>
        </p:spPr>
        <p:txBody>
          <a:bodyPr wrap="square" lIns="635" tIns="635" rIns="635" bIns="635" rtlCol="0" anchor="ctr"/>
          <a:lstStyle/>
          <a:p>
            <a:pPr indent="0" marL="0">
              <a:buNone/>
            </a:pPr>
            <a:r>
              <a:rPr lang="en-US" sz="2000" b="1" dirty="0">
                <a:solidFill>
                  <a:srgbClr val="09A1E5"/>
                </a:solidFill>
                <a:latin typeface="Alexandria" pitchFamily="34" charset="0"/>
                <a:ea typeface="Alexandria" pitchFamily="34" charset="-122"/>
                <a:cs typeface="Alexandria" pitchFamily="34" charset="-120"/>
              </a:rPr>
              <a:t>Hội nghị khách hàng</a:t>
            </a:r>
            <a:endParaRPr lang="en-US" sz="2000" dirty="0"/>
          </a:p>
        </p:txBody>
      </p:sp>
      <p:sp>
        <p:nvSpPr>
          <p:cNvPr id="5" name="Text 3"/>
          <p:cNvSpPr txBox="1"/>
          <p:nvPr/>
        </p:nvSpPr>
        <p:spPr>
          <a:xfrm>
            <a:off x="777240" y="2560320"/>
            <a:ext cx="4389120" cy="548640"/>
          </a:xfrm>
          <a:prstGeom prst="rect">
            <a:avLst/>
          </a:prstGeom>
          <a:noFill/>
          <a:ln/>
        </p:spPr>
        <p:txBody>
          <a:bodyPr wrap="square" lIns="635" tIns="635" rIns="635" bIns="635" rtlCol="0" anchor="ctr"/>
          <a:lstStyle/>
          <a:p>
            <a:pPr indent="0" marL="0">
              <a:buNone/>
            </a:pPr>
            <a:r>
              <a:rPr lang="en-US" sz="2000" b="1" dirty="0">
                <a:solidFill>
                  <a:srgbClr val="FBFAF4"/>
                </a:solidFill>
                <a:latin typeface="Alexandria" pitchFamily="34" charset="0"/>
                <a:ea typeface="Alexandria" pitchFamily="34" charset="-122"/>
                <a:cs typeface="Alexandria" pitchFamily="34" charset="-120"/>
              </a:rPr>
              <a:t>Báo chí → secondary</a:t>
            </a:r>
            <a:endParaRPr lang="en-US" sz="2000" dirty="0"/>
          </a:p>
        </p:txBody>
      </p:sp>
      <p:sp>
        <p:nvSpPr>
          <p:cNvPr id="6" name="Text 4"/>
          <p:cNvSpPr txBox="1"/>
          <p:nvPr/>
        </p:nvSpPr>
        <p:spPr>
          <a:xfrm>
            <a:off x="777240" y="3154680"/>
            <a:ext cx="4389120" cy="1371600"/>
          </a:xfrm>
          <a:prstGeom prst="rect">
            <a:avLst/>
          </a:prstGeom>
          <a:noFill/>
          <a:ln/>
        </p:spPr>
        <p:txBody>
          <a:bodyPr wrap="square" lIns="635" tIns="635" rIns="635" bIns="635" rtlCol="0" anchor="t"/>
          <a:lstStyle/>
          <a:p>
            <a:pPr indent="0" marL="0">
              <a:buNone/>
            </a:pPr>
            <a:r>
              <a:rPr lang="en-US" sz="1600" dirty="0">
                <a:solidFill>
                  <a:srgbClr val="A9B6D3"/>
                </a:solidFill>
                <a:latin typeface="Alexandria" pitchFamily="34" charset="0"/>
                <a:ea typeface="Alexandria" pitchFamily="34" charset="-122"/>
                <a:cs typeface="Alexandria" pitchFamily="34" charset="-120"/>
              </a:rPr>
              <a:t>Mục tiêu là chăm sóc 600 khách VIP; bài báo là phần cộng thêm</a:t>
            </a:r>
            <a:endParaRPr lang="en-US" sz="1600" dirty="0"/>
          </a:p>
        </p:txBody>
      </p:sp>
      <p:sp>
        <p:nvSpPr>
          <p:cNvPr id="7" name="Shape 5"/>
          <p:cNvSpPr/>
          <p:nvPr/>
        </p:nvSpPr>
        <p:spPr>
          <a:xfrm>
            <a:off x="5577840" y="2971800"/>
            <a:ext cx="640080" cy="640080"/>
          </a:xfrm>
          <a:prstGeom prst="rightArrow">
            <a:avLst/>
          </a:prstGeom>
          <a:solidFill>
            <a:srgbClr val="FFD23B"/>
          </a:solidFill>
          <a:ln w="12700">
            <a:solidFill>
              <a:srgbClr val="FFD23B"/>
            </a:solidFill>
            <a:prstDash val="solid"/>
          </a:ln>
        </p:spPr>
      </p:sp>
      <p:sp>
        <p:nvSpPr>
          <p:cNvPr id="8" name="Shape 6"/>
          <p:cNvSpPr/>
          <p:nvPr/>
        </p:nvSpPr>
        <p:spPr>
          <a:xfrm>
            <a:off x="6400800" y="1828800"/>
            <a:ext cx="5239512" cy="2926080"/>
          </a:xfrm>
          <a:prstGeom prst="roundRect">
            <a:avLst>
              <a:gd name="adj" fmla="val 2500"/>
            </a:avLst>
          </a:prstGeom>
          <a:solidFill>
            <a:srgbClr val="22395F"/>
          </a:solidFill>
          <a:ln w="12700">
            <a:solidFill>
              <a:srgbClr val="22395F"/>
            </a:solidFill>
            <a:prstDash val="solid"/>
          </a:ln>
        </p:spPr>
      </p:sp>
      <p:sp>
        <p:nvSpPr>
          <p:cNvPr id="9" name="Text 7"/>
          <p:cNvSpPr txBox="1"/>
          <p:nvPr/>
        </p:nvSpPr>
        <p:spPr>
          <a:xfrm>
            <a:off x="6629400" y="1965960"/>
            <a:ext cx="4846320" cy="50292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Sự kiện ra mắt sản phẩm</a:t>
            </a:r>
            <a:endParaRPr lang="en-US" sz="2000" dirty="0"/>
          </a:p>
        </p:txBody>
      </p:sp>
      <p:sp>
        <p:nvSpPr>
          <p:cNvPr id="10" name="Text 8"/>
          <p:cNvSpPr txBox="1"/>
          <p:nvPr/>
        </p:nvSpPr>
        <p:spPr>
          <a:xfrm>
            <a:off x="6629400" y="2560320"/>
            <a:ext cx="4846320" cy="548640"/>
          </a:xfrm>
          <a:prstGeom prst="rect">
            <a:avLst/>
          </a:prstGeom>
          <a:noFill/>
          <a:ln/>
        </p:spPr>
        <p:txBody>
          <a:bodyPr wrap="square" lIns="635" tIns="635" rIns="635" bIns="635" rtlCol="0" anchor="ctr"/>
          <a:lstStyle/>
          <a:p>
            <a:pPr indent="0" marL="0">
              <a:buNone/>
            </a:pPr>
            <a:r>
              <a:rPr lang="en-US" sz="2000" b="1" dirty="0">
                <a:solidFill>
                  <a:srgbClr val="FBFAF4"/>
                </a:solidFill>
                <a:latin typeface="Alexandria" pitchFamily="34" charset="0"/>
                <a:ea typeface="Alexandria" pitchFamily="34" charset="-122"/>
                <a:cs typeface="Alexandria" pitchFamily="34" charset="-120"/>
              </a:rPr>
              <a:t>Báo chí → primary</a:t>
            </a:r>
            <a:endParaRPr lang="en-US" sz="2000" dirty="0"/>
          </a:p>
        </p:txBody>
      </p:sp>
      <p:sp>
        <p:nvSpPr>
          <p:cNvPr id="11" name="Text 9"/>
          <p:cNvSpPr txBox="1"/>
          <p:nvPr/>
        </p:nvSpPr>
        <p:spPr>
          <a:xfrm>
            <a:off x="6629400" y="3154680"/>
            <a:ext cx="4846320" cy="1371600"/>
          </a:xfrm>
          <a:prstGeom prst="rect">
            <a:avLst/>
          </a:prstGeom>
          <a:noFill/>
          <a:ln/>
        </p:spPr>
        <p:txBody>
          <a:bodyPr wrap="square" lIns="635" tIns="635" rIns="635" bIns="635" rtlCol="0" anchor="t"/>
          <a:lstStyle/>
          <a:p>
            <a:pPr indent="0" marL="0">
              <a:buNone/>
            </a:pPr>
            <a:r>
              <a:rPr lang="en-US" sz="1600" dirty="0">
                <a:solidFill>
                  <a:srgbClr val="A9B6D3"/>
                </a:solidFill>
                <a:latin typeface="Alexandria" pitchFamily="34" charset="0"/>
                <a:ea typeface="Alexandria" pitchFamily="34" charset="-122"/>
                <a:cs typeface="Alexandria" pitchFamily="34" charset="-120"/>
              </a:rPr>
              <a:t>KPI hợp đồng là lượng tin bài: không có báo chí, sự kiện thất bại</a:t>
            </a:r>
            <a:endParaRPr lang="en-US" sz="1600" dirty="0"/>
          </a:p>
        </p:txBody>
      </p:sp>
      <p:sp>
        <p:nvSpPr>
          <p:cNvPr id="12" name="Text 10"/>
          <p:cNvSpPr txBox="1"/>
          <p:nvPr/>
        </p:nvSpPr>
        <p:spPr>
          <a:xfrm>
            <a:off x="548640" y="5120640"/>
            <a:ext cx="11091672" cy="640080"/>
          </a:xfrm>
          <a:prstGeom prst="rect">
            <a:avLst/>
          </a:prstGeom>
          <a:noFill/>
          <a:ln/>
        </p:spPr>
        <p:txBody>
          <a:bodyPr wrap="square" lIns="635" tIns="635" rIns="635" bIns="635" rtlCol="0" anchor="ctr"/>
          <a:lstStyle/>
          <a:p>
            <a:pPr indent="0" marL="0">
              <a:buNone/>
            </a:pPr>
            <a:r>
              <a:rPr lang="en-US" sz="2200" b="1" dirty="0">
                <a:solidFill>
                  <a:srgbClr val="FFD23B"/>
                </a:solidFill>
                <a:latin typeface="Alexandria" pitchFamily="34" charset="0"/>
                <a:ea typeface="Alexandria" pitchFamily="34" charset="-122"/>
                <a:cs typeface="Alexandria" pitchFamily="34" charset="-120"/>
              </a:rPr>
              <a:t>Luôn ghi một câu lý do cạnh mỗi nhãn P/S.</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15 phút: ai đứng quanh hội nghị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Đọc tình huống trên phiếu</a:t>
            </a:r>
            <a:endParaRPr lang="en-US" sz="16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9’</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Vẽ sơ đồ trên A0: Nova ở giữa, ≥10 bên bên ngoài, đánh dấu P/S, 1 câu lý do cho 3 bên gây tranh luận, ≥2 mũi tên giữa các bên</a:t>
            </a:r>
            <a:endParaRPr lang="en-US" sz="16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Hai nhóm phân loại khác nhau về cùng một bên trình bày</a:t>
            </a:r>
            <a:endParaRPr lang="en-US" sz="16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Sơ đồ A0 — giữ lại để đối chiếu ở Thực hành 2</a:t>
            </a:r>
            <a:endParaRPr lang="en-US" sz="1600" dirty="0"/>
          </a:p>
        </p:txBody>
      </p:sp>
      <p:sp>
        <p:nvSpPr>
          <p:cNvPr id="20" name="Text 17"/>
          <p:cNvSpPr txBox="1"/>
          <p:nvPr/>
        </p:nvSpPr>
        <p:spPr>
          <a:xfrm>
            <a:off x="548640" y="548640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Không liệt kê nhân sự, crew, tình nguyện viên của Nova.</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Mười lăm bên, một ngân sách thời gian</a:t>
            </a:r>
            <a:endParaRPr lang="en-US" sz="2800" dirty="0"/>
          </a:p>
        </p:txBody>
      </p:sp>
      <p:sp>
        <p:nvSpPr>
          <p:cNvPr id="3" name="Shape 1"/>
          <p:cNvSpPr/>
          <p:nvPr/>
        </p:nvSpPr>
        <p:spPr>
          <a:xfrm>
            <a:off x="5184648" y="1737360"/>
            <a:ext cx="1828800" cy="1828800"/>
          </a:xfrm>
          <a:prstGeom prst="ellipse">
            <a:avLst/>
          </a:prstGeom>
          <a:solidFill>
            <a:srgbClr val="FF5178"/>
          </a:solidFill>
          <a:ln w="12700">
            <a:solidFill>
              <a:srgbClr val="FF5178"/>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097280"/>
          </a:xfrm>
          <a:prstGeom prst="rect">
            <a:avLst/>
          </a:prstGeom>
          <a:noFill/>
          <a:ln/>
        </p:spPr>
        <p:txBody>
          <a:bodyPr wrap="square" lIns="635" tIns="635" rIns="635" bIns="635" rtlCol="0" anchor="ctr"/>
          <a:lstStyle/>
          <a:p>
            <a:pPr algn="ctr" indent="0" marL="0">
              <a:buNone/>
            </a:pPr>
            <a:r>
              <a:rPr lang="en-US" sz="3400" b="1" dirty="0">
                <a:solidFill>
                  <a:srgbClr val="FFD23B"/>
                </a:solidFill>
                <a:latin typeface="Alexandria" pitchFamily="34" charset="0"/>
                <a:ea typeface="Alexandria" pitchFamily="34" charset="-122"/>
                <a:cs typeface="Alexandria" pitchFamily="34" charset="-120"/>
              </a:rPr>
              <a:t>Ai được ưu tiên — và ưu tiên bằng cách nào?</a:t>
            </a:r>
            <a:endParaRPr lang="en-US" sz="3400" dirty="0"/>
          </a:p>
        </p:txBody>
      </p:sp>
      <p:sp>
        <p:nvSpPr>
          <p:cNvPr id="6" name="Text 3"/>
          <p:cNvSpPr txBox="1"/>
          <p:nvPr/>
        </p:nvSpPr>
        <p:spPr>
          <a:xfrm>
            <a:off x="548640" y="512064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Alexandria" pitchFamily="34" charset="0"/>
                <a:ea typeface="Alexandria" pitchFamily="34" charset="-122"/>
                <a:cs typeface="Alexandria" pitchFamily="34" charset="-120"/>
              </a:rPr>
              <a:t>Đề cương 1.3: hai công cụ đo quyền lực</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Power-Interest Grid chia các bên thành bốn cách ứng xử</a:t>
            </a:r>
            <a:endParaRPr lang="en-US" sz="2800" dirty="0"/>
          </a:p>
        </p:txBody>
      </p:sp>
      <p:sp>
        <p:nvSpPr>
          <p:cNvPr id="3" name="Text 1"/>
          <p:cNvSpPr txBox="1"/>
          <p:nvPr/>
        </p:nvSpPr>
        <p:spPr>
          <a:xfrm rot="16200000">
            <a:off x="228600" y="3291840"/>
            <a:ext cx="1463040" cy="457200"/>
          </a:xfrm>
          <a:prstGeom prst="rect">
            <a:avLst/>
          </a:prstGeom>
          <a:noFill/>
          <a:ln/>
        </p:spPr>
        <p:txBody>
          <a:bodyPr wrap="square" lIns="635" tIns="635" rIns="635" bIns="635" rtlCol="0" anchor="ctr"/>
          <a:lstStyle/>
          <a:p>
            <a:pPr algn="ctr" indent="0" marL="0">
              <a:buNone/>
            </a:pPr>
            <a:r>
              <a:rPr lang="en-US" sz="1600" b="1" dirty="0">
                <a:solidFill>
                  <a:srgbClr val="A9B6D3"/>
                </a:solidFill>
                <a:latin typeface="Alexandria" pitchFamily="34" charset="0"/>
                <a:ea typeface="Alexandria" pitchFamily="34" charset="-122"/>
                <a:cs typeface="Alexandria" pitchFamily="34" charset="-120"/>
              </a:rPr>
              <a:t>Quyền lực →</a:t>
            </a:r>
            <a:endParaRPr lang="en-US" sz="1600" dirty="0"/>
          </a:p>
        </p:txBody>
      </p:sp>
      <p:sp>
        <p:nvSpPr>
          <p:cNvPr id="4" name="Text 2"/>
          <p:cNvSpPr txBox="1"/>
          <p:nvPr/>
        </p:nvSpPr>
        <p:spPr>
          <a:xfrm>
            <a:off x="1463040" y="5989320"/>
            <a:ext cx="6400800" cy="411480"/>
          </a:xfrm>
          <a:prstGeom prst="rect">
            <a:avLst/>
          </a:prstGeom>
          <a:noFill/>
          <a:ln/>
        </p:spPr>
        <p:txBody>
          <a:bodyPr wrap="square" lIns="635" tIns="635" rIns="635" bIns="635" rtlCol="0" anchor="ctr"/>
          <a:lstStyle/>
          <a:p>
            <a:pPr algn="ctr" indent="0" marL="0">
              <a:buNone/>
            </a:pPr>
            <a:r>
              <a:rPr lang="en-US" sz="1600" b="1" dirty="0">
                <a:solidFill>
                  <a:srgbClr val="A9B6D3"/>
                </a:solidFill>
                <a:latin typeface="Alexandria" pitchFamily="34" charset="0"/>
                <a:ea typeface="Alexandria" pitchFamily="34" charset="-122"/>
                <a:cs typeface="Alexandria" pitchFamily="34" charset="-120"/>
              </a:rPr>
              <a:t>Mức độ quan tâm →</a:t>
            </a:r>
            <a:endParaRPr lang="en-US" sz="1600" dirty="0"/>
          </a:p>
        </p:txBody>
      </p:sp>
      <p:sp>
        <p:nvSpPr>
          <p:cNvPr id="5" name="Shape 3"/>
          <p:cNvSpPr/>
          <p:nvPr/>
        </p:nvSpPr>
        <p:spPr>
          <a:xfrm>
            <a:off x="1463040" y="1691640"/>
            <a:ext cx="3154680" cy="2057400"/>
          </a:xfrm>
          <a:prstGeom prst="roundRect">
            <a:avLst>
              <a:gd name="adj" fmla="val 3556"/>
            </a:avLst>
          </a:prstGeom>
          <a:solidFill>
            <a:srgbClr val="FFD23B"/>
          </a:solidFill>
          <a:ln w="12700">
            <a:solidFill>
              <a:srgbClr val="FFD23B"/>
            </a:solidFill>
            <a:prstDash val="solid"/>
          </a:ln>
        </p:spPr>
      </p:sp>
      <p:sp>
        <p:nvSpPr>
          <p:cNvPr id="6" name="Text 4"/>
          <p:cNvSpPr txBox="1"/>
          <p:nvPr/>
        </p:nvSpPr>
        <p:spPr>
          <a:xfrm>
            <a:off x="1645920" y="1828800"/>
            <a:ext cx="2834640" cy="45720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Keep satisfied</a:t>
            </a:r>
            <a:endParaRPr lang="en-US" sz="2000" dirty="0"/>
          </a:p>
        </p:txBody>
      </p:sp>
      <p:sp>
        <p:nvSpPr>
          <p:cNvPr id="7" name="Text 5"/>
          <p:cNvSpPr txBox="1"/>
          <p:nvPr/>
        </p:nvSpPr>
        <p:spPr>
          <a:xfrm>
            <a:off x="1645920" y="2286000"/>
            <a:ext cx="2834640" cy="4114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Giữ hài lòng</a:t>
            </a:r>
            <a:endParaRPr lang="en-US" sz="1600" dirty="0"/>
          </a:p>
        </p:txBody>
      </p:sp>
      <p:sp>
        <p:nvSpPr>
          <p:cNvPr id="8" name="Text 6"/>
          <p:cNvSpPr txBox="1"/>
          <p:nvPr/>
        </p:nvSpPr>
        <p:spPr>
          <a:xfrm>
            <a:off x="1645920" y="2743200"/>
            <a:ext cx="2834640" cy="91440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Đáp ứng, không làm phiền; gặp khi có việc quan trọng</a:t>
            </a:r>
            <a:endParaRPr lang="en-US" sz="1400" dirty="0"/>
          </a:p>
        </p:txBody>
      </p:sp>
      <p:sp>
        <p:nvSpPr>
          <p:cNvPr id="9" name="Shape 7"/>
          <p:cNvSpPr/>
          <p:nvPr/>
        </p:nvSpPr>
        <p:spPr>
          <a:xfrm>
            <a:off x="4709160" y="1691640"/>
            <a:ext cx="3154680" cy="2057400"/>
          </a:xfrm>
          <a:prstGeom prst="roundRect">
            <a:avLst>
              <a:gd name="adj" fmla="val 3556"/>
            </a:avLst>
          </a:prstGeom>
          <a:solidFill>
            <a:srgbClr val="FF5178"/>
          </a:solidFill>
          <a:ln w="12700">
            <a:solidFill>
              <a:srgbClr val="FF5178"/>
            </a:solidFill>
            <a:prstDash val="solid"/>
          </a:ln>
        </p:spPr>
      </p:sp>
      <p:sp>
        <p:nvSpPr>
          <p:cNvPr id="10" name="Text 8"/>
          <p:cNvSpPr txBox="1"/>
          <p:nvPr/>
        </p:nvSpPr>
        <p:spPr>
          <a:xfrm>
            <a:off x="4892040" y="1828800"/>
            <a:ext cx="2834640" cy="45720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Manage closely</a:t>
            </a:r>
            <a:endParaRPr lang="en-US" sz="2000" dirty="0"/>
          </a:p>
        </p:txBody>
      </p:sp>
      <p:sp>
        <p:nvSpPr>
          <p:cNvPr id="11" name="Text 9"/>
          <p:cNvSpPr txBox="1"/>
          <p:nvPr/>
        </p:nvSpPr>
        <p:spPr>
          <a:xfrm>
            <a:off x="4892040" y="2286000"/>
            <a:ext cx="2834640" cy="4114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Quản lý chặt</a:t>
            </a:r>
            <a:endParaRPr lang="en-US" sz="1600" dirty="0"/>
          </a:p>
        </p:txBody>
      </p:sp>
      <p:sp>
        <p:nvSpPr>
          <p:cNvPr id="12" name="Text 10"/>
          <p:cNvSpPr txBox="1"/>
          <p:nvPr/>
        </p:nvSpPr>
        <p:spPr>
          <a:xfrm>
            <a:off x="4892040" y="2743200"/>
            <a:ext cx="2834640" cy="91440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Tham vấn mọi quyết định lớn; họp định kỳ</a:t>
            </a:r>
            <a:endParaRPr lang="en-US" sz="1400" dirty="0"/>
          </a:p>
        </p:txBody>
      </p:sp>
      <p:sp>
        <p:nvSpPr>
          <p:cNvPr id="13" name="Shape 11"/>
          <p:cNvSpPr/>
          <p:nvPr/>
        </p:nvSpPr>
        <p:spPr>
          <a:xfrm>
            <a:off x="1463040" y="3840480"/>
            <a:ext cx="3154680" cy="2057400"/>
          </a:xfrm>
          <a:prstGeom prst="roundRect">
            <a:avLst>
              <a:gd name="adj" fmla="val 3556"/>
            </a:avLst>
          </a:prstGeom>
          <a:solidFill>
            <a:srgbClr val="22395F"/>
          </a:solidFill>
          <a:ln w="12700">
            <a:solidFill>
              <a:srgbClr val="22395F"/>
            </a:solidFill>
            <a:prstDash val="solid"/>
          </a:ln>
        </p:spPr>
      </p:sp>
      <p:sp>
        <p:nvSpPr>
          <p:cNvPr id="14" name="Text 12"/>
          <p:cNvSpPr txBox="1"/>
          <p:nvPr/>
        </p:nvSpPr>
        <p:spPr>
          <a:xfrm>
            <a:off x="1645920" y="3977640"/>
            <a:ext cx="2834640" cy="457200"/>
          </a:xfrm>
          <a:prstGeom prst="rect">
            <a:avLst/>
          </a:prstGeom>
          <a:noFill/>
          <a:ln/>
        </p:spPr>
        <p:txBody>
          <a:bodyPr wrap="square" lIns="635" tIns="635" rIns="635" bIns="635" rtlCol="0" anchor="ctr"/>
          <a:lstStyle/>
          <a:p>
            <a:pPr indent="0" marL="0">
              <a:buNone/>
            </a:pPr>
            <a:r>
              <a:rPr lang="en-US" sz="2000" b="1" dirty="0">
                <a:solidFill>
                  <a:srgbClr val="FBFAF4"/>
                </a:solidFill>
                <a:latin typeface="Alexandria" pitchFamily="34" charset="0"/>
                <a:ea typeface="Alexandria" pitchFamily="34" charset="-122"/>
                <a:cs typeface="Alexandria" pitchFamily="34" charset="-120"/>
              </a:rPr>
              <a:t>Monitor</a:t>
            </a:r>
            <a:endParaRPr lang="en-US" sz="2000" dirty="0"/>
          </a:p>
        </p:txBody>
      </p:sp>
      <p:sp>
        <p:nvSpPr>
          <p:cNvPr id="15" name="Text 13"/>
          <p:cNvSpPr txBox="1"/>
          <p:nvPr/>
        </p:nvSpPr>
        <p:spPr>
          <a:xfrm>
            <a:off x="1645920" y="4434840"/>
            <a:ext cx="2834640" cy="411480"/>
          </a:xfrm>
          <a:prstGeom prst="rect">
            <a:avLst/>
          </a:prstGeom>
          <a:noFill/>
          <a:ln/>
        </p:spPr>
        <p:txBody>
          <a:bodyPr wrap="square" lIns="635" tIns="635" rIns="635" bIns="635" rtlCol="0" anchor="ctr"/>
          <a:lstStyle/>
          <a:p>
            <a:pPr indent="0" marL="0">
              <a:buNone/>
            </a:pPr>
            <a:r>
              <a:rPr lang="en-US" sz="1600" b="1" dirty="0">
                <a:solidFill>
                  <a:srgbClr val="A9B6D3"/>
                </a:solidFill>
                <a:latin typeface="Alexandria" pitchFamily="34" charset="0"/>
                <a:ea typeface="Alexandria" pitchFamily="34" charset="-122"/>
                <a:cs typeface="Alexandria" pitchFamily="34" charset="-120"/>
              </a:rPr>
              <a:t>Theo dõi</a:t>
            </a:r>
            <a:endParaRPr lang="en-US" sz="1600" dirty="0"/>
          </a:p>
        </p:txBody>
      </p:sp>
      <p:sp>
        <p:nvSpPr>
          <p:cNvPr id="16" name="Text 14"/>
          <p:cNvSpPr txBox="1"/>
          <p:nvPr/>
        </p:nvSpPr>
        <p:spPr>
          <a:xfrm>
            <a:off x="1645920" y="4892040"/>
            <a:ext cx="2834640" cy="9144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Nỗ lực tối thiểu: thông tin công khai</a:t>
            </a:r>
            <a:endParaRPr lang="en-US" sz="1400" dirty="0"/>
          </a:p>
        </p:txBody>
      </p:sp>
      <p:sp>
        <p:nvSpPr>
          <p:cNvPr id="17" name="Shape 15"/>
          <p:cNvSpPr/>
          <p:nvPr/>
        </p:nvSpPr>
        <p:spPr>
          <a:xfrm>
            <a:off x="4709160" y="3840480"/>
            <a:ext cx="3154680" cy="2057400"/>
          </a:xfrm>
          <a:prstGeom prst="roundRect">
            <a:avLst>
              <a:gd name="adj" fmla="val 3556"/>
            </a:avLst>
          </a:prstGeom>
          <a:solidFill>
            <a:srgbClr val="09A1E5"/>
          </a:solidFill>
          <a:ln w="12700">
            <a:solidFill>
              <a:srgbClr val="09A1E5"/>
            </a:solidFill>
            <a:prstDash val="solid"/>
          </a:ln>
        </p:spPr>
      </p:sp>
      <p:sp>
        <p:nvSpPr>
          <p:cNvPr id="18" name="Text 16"/>
          <p:cNvSpPr txBox="1"/>
          <p:nvPr/>
        </p:nvSpPr>
        <p:spPr>
          <a:xfrm>
            <a:off x="4892040" y="3977640"/>
            <a:ext cx="2834640" cy="45720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Keep informed</a:t>
            </a:r>
            <a:endParaRPr lang="en-US" sz="2000" dirty="0"/>
          </a:p>
        </p:txBody>
      </p:sp>
      <p:sp>
        <p:nvSpPr>
          <p:cNvPr id="19" name="Text 17"/>
          <p:cNvSpPr txBox="1"/>
          <p:nvPr/>
        </p:nvSpPr>
        <p:spPr>
          <a:xfrm>
            <a:off x="4892040" y="4434840"/>
            <a:ext cx="2834640" cy="4114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Thông tin đầy đủ</a:t>
            </a:r>
            <a:endParaRPr lang="en-US" sz="1600" dirty="0"/>
          </a:p>
        </p:txBody>
      </p:sp>
      <p:sp>
        <p:nvSpPr>
          <p:cNvPr id="20" name="Text 18"/>
          <p:cNvSpPr txBox="1"/>
          <p:nvPr/>
        </p:nvSpPr>
        <p:spPr>
          <a:xfrm>
            <a:off x="4892040" y="4892040"/>
            <a:ext cx="2834640" cy="91440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Cập nhật định kỳ, lắng nghe, trả lời câu hỏi</a:t>
            </a:r>
            <a:endParaRPr lang="en-US" sz="1400" dirty="0"/>
          </a:p>
        </p:txBody>
      </p:sp>
      <p:sp>
        <p:nvSpPr>
          <p:cNvPr id="21" name="Shape 19"/>
          <p:cNvSpPr/>
          <p:nvPr/>
        </p:nvSpPr>
        <p:spPr>
          <a:xfrm>
            <a:off x="8229600" y="1691640"/>
            <a:ext cx="3410712" cy="4206240"/>
          </a:xfrm>
          <a:prstGeom prst="roundRect">
            <a:avLst>
              <a:gd name="adj" fmla="val 2145"/>
            </a:avLst>
          </a:prstGeom>
          <a:solidFill>
            <a:srgbClr val="22395F"/>
          </a:solidFill>
          <a:ln w="12700">
            <a:solidFill>
              <a:srgbClr val="22395F"/>
            </a:solidFill>
            <a:prstDash val="solid"/>
          </a:ln>
        </p:spPr>
      </p:sp>
      <p:sp>
        <p:nvSpPr>
          <p:cNvPr id="22" name="Text 20"/>
          <p:cNvSpPr txBox="1"/>
          <p:nvPr/>
        </p:nvSpPr>
        <p:spPr>
          <a:xfrm>
            <a:off x="8412480" y="1828800"/>
            <a:ext cx="3063240" cy="731520"/>
          </a:xfrm>
          <a:prstGeom prst="rect">
            <a:avLst/>
          </a:prstGeom>
          <a:noFill/>
          <a:ln/>
        </p:spPr>
        <p:txBody>
          <a:bodyPr wrap="square" lIns="635" tIns="635" rIns="635" bIns="635" rtlCol="0" anchor="t"/>
          <a:lstStyle/>
          <a:p>
            <a:pPr indent="0" marL="0">
              <a:buNone/>
            </a:pPr>
            <a:r>
              <a:rPr lang="en-US" sz="1600" b="1" dirty="0">
                <a:solidFill>
                  <a:srgbClr val="49B296"/>
                </a:solidFill>
                <a:latin typeface="Alexandria" pitchFamily="34" charset="0"/>
                <a:ea typeface="Alexandria" pitchFamily="34" charset="-122"/>
                <a:cs typeface="Alexandria" pitchFamily="34" charset="-120"/>
              </a:rPr>
              <a:t>Phát triển từ Mendelow (1981)</a:t>
            </a:r>
            <a:endParaRPr lang="en-US" sz="1600" dirty="0"/>
          </a:p>
        </p:txBody>
      </p:sp>
      <p:sp>
        <p:nvSpPr>
          <p:cNvPr id="23" name="Text 21"/>
          <p:cNvSpPr txBox="1"/>
          <p:nvPr/>
        </p:nvSpPr>
        <p:spPr>
          <a:xfrm>
            <a:off x="8412480" y="2651760"/>
            <a:ext cx="3063240" cy="1371600"/>
          </a:xfrm>
          <a:prstGeom prst="rect">
            <a:avLst/>
          </a:prstGeom>
          <a:noFill/>
          <a:ln/>
        </p:spPr>
        <p:txBody>
          <a:bodyPr wrap="square" lIns="635" tIns="635" rIns="635" bIns="635" rtlCol="0" anchor="t"/>
          <a:lstStyle/>
          <a:p>
            <a:pPr indent="0" marL="0">
              <a:buNone/>
            </a:pPr>
            <a:r>
              <a:rPr lang="en-US" sz="1400" dirty="0">
                <a:solidFill>
                  <a:srgbClr val="A9B6D3"/>
                </a:solidFill>
                <a:latin typeface="Alexandria" pitchFamily="34" charset="0"/>
                <a:ea typeface="Alexandria" pitchFamily="34" charset="-122"/>
                <a:cs typeface="Alexandria" pitchFamily="34" charset="-120"/>
              </a:rPr>
              <a:t>Tên gọi khác thường gặp:</a:t>
            </a:r>
            <a:endParaRPr lang="en-US" sz="1400" dirty="0"/>
          </a:p>
          <a:p>
            <a:pPr indent="0" marL="0">
              <a:buNone/>
            </a:pPr>
            <a:r>
              <a:rPr lang="en-US" sz="1400" dirty="0">
                <a:solidFill>
                  <a:srgbClr val="A9B6D3"/>
                </a:solidFill>
                <a:latin typeface="Alexandria" pitchFamily="34" charset="0"/>
                <a:ea typeface="Alexandria" pitchFamily="34" charset="-122"/>
                <a:cs typeface="Alexandria" pitchFamily="34" charset="-120"/>
              </a:rPr>
              <a:t>Key players = Manage closely</a:t>
            </a:r>
            <a:endParaRPr lang="en-US" sz="1400" dirty="0"/>
          </a:p>
          <a:p>
            <a:pPr indent="0" marL="0">
              <a:buNone/>
            </a:pPr>
            <a:r>
              <a:rPr lang="en-US" sz="1400" dirty="0">
                <a:solidFill>
                  <a:srgbClr val="A9B6D3"/>
                </a:solidFill>
                <a:latin typeface="Alexandria" pitchFamily="34" charset="0"/>
                <a:ea typeface="Alexandria" pitchFamily="34" charset="-122"/>
                <a:cs typeface="Alexandria" pitchFamily="34" charset="-120"/>
              </a:rPr>
              <a:t>Minimal effort = Monitor</a:t>
            </a:r>
            <a:endParaRPr lang="en-US" sz="1400" dirty="0"/>
          </a:p>
        </p:txBody>
      </p:sp>
      <p:sp>
        <p:nvSpPr>
          <p:cNvPr id="24" name="Text 22"/>
          <p:cNvSpPr txBox="1"/>
          <p:nvPr/>
        </p:nvSpPr>
        <p:spPr>
          <a:xfrm>
            <a:off x="8412480" y="4114800"/>
            <a:ext cx="3063240" cy="164592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Quyền lực: khả năng tác động đến sự kiện. Quan tâm: mức độ họ để ý hoặc chịu ảnh hưởng.</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Ví dụ: ngân hàng cần quản lý chặt, khách sạn cần giữ hài lòng</a:t>
            </a:r>
            <a:endParaRPr lang="en-US" sz="2800" dirty="0"/>
          </a:p>
        </p:txBody>
      </p:sp>
      <p:sp>
        <p:nvSpPr>
          <p:cNvPr id="3" name="Shape 1"/>
          <p:cNvSpPr/>
          <p:nvPr/>
        </p:nvSpPr>
        <p:spPr>
          <a:xfrm>
            <a:off x="914400" y="1783080"/>
            <a:ext cx="2148840" cy="1874520"/>
          </a:xfrm>
          <a:prstGeom prst="roundRect">
            <a:avLst>
              <a:gd name="adj" fmla="val 3902"/>
            </a:avLst>
          </a:prstGeom>
          <a:solidFill>
            <a:srgbClr val="FFD23B"/>
          </a:solidFill>
          <a:ln w="12700">
            <a:solidFill>
              <a:srgbClr val="FFD23B"/>
            </a:solidFill>
            <a:prstDash val="solid"/>
          </a:ln>
        </p:spPr>
      </p:sp>
      <p:sp>
        <p:nvSpPr>
          <p:cNvPr id="4" name="Text 2"/>
          <p:cNvSpPr txBox="1"/>
          <p:nvPr/>
        </p:nvSpPr>
        <p:spPr>
          <a:xfrm>
            <a:off x="1005840" y="1783080"/>
            <a:ext cx="1965960" cy="18745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Khách sạn</a:t>
            </a:r>
            <a:endParaRPr lang="en-US" sz="1700" dirty="0"/>
          </a:p>
        </p:txBody>
      </p:sp>
      <p:sp>
        <p:nvSpPr>
          <p:cNvPr id="5" name="Shape 3"/>
          <p:cNvSpPr/>
          <p:nvPr/>
        </p:nvSpPr>
        <p:spPr>
          <a:xfrm>
            <a:off x="3154680" y="1783080"/>
            <a:ext cx="2148840" cy="1874520"/>
          </a:xfrm>
          <a:prstGeom prst="roundRect">
            <a:avLst>
              <a:gd name="adj" fmla="val 3902"/>
            </a:avLst>
          </a:prstGeom>
          <a:solidFill>
            <a:srgbClr val="FF5178"/>
          </a:solidFill>
          <a:ln w="12700">
            <a:solidFill>
              <a:srgbClr val="FF5178"/>
            </a:solidFill>
            <a:prstDash val="solid"/>
          </a:ln>
        </p:spPr>
      </p:sp>
      <p:sp>
        <p:nvSpPr>
          <p:cNvPr id="6" name="Text 4"/>
          <p:cNvSpPr txBox="1"/>
          <p:nvPr/>
        </p:nvSpPr>
        <p:spPr>
          <a:xfrm>
            <a:off x="3246120" y="1783080"/>
            <a:ext cx="1965960" cy="18745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Ngân hàng An Phát</a:t>
            </a:r>
            <a:endParaRPr lang="en-US" sz="1700" dirty="0"/>
          </a:p>
        </p:txBody>
      </p:sp>
      <p:sp>
        <p:nvSpPr>
          <p:cNvPr id="7" name="Shape 5"/>
          <p:cNvSpPr/>
          <p:nvPr/>
        </p:nvSpPr>
        <p:spPr>
          <a:xfrm>
            <a:off x="914400" y="3749040"/>
            <a:ext cx="2148840" cy="1874520"/>
          </a:xfrm>
          <a:prstGeom prst="roundRect">
            <a:avLst>
              <a:gd name="adj" fmla="val 3902"/>
            </a:avLst>
          </a:prstGeom>
          <a:solidFill>
            <a:srgbClr val="22395F"/>
          </a:solidFill>
          <a:ln w="12700">
            <a:solidFill>
              <a:srgbClr val="22395F"/>
            </a:solidFill>
            <a:prstDash val="solid"/>
          </a:ln>
        </p:spPr>
      </p:sp>
      <p:sp>
        <p:nvSpPr>
          <p:cNvPr id="8" name="Text 6"/>
          <p:cNvSpPr txBox="1"/>
          <p:nvPr/>
        </p:nvSpPr>
        <p:spPr>
          <a:xfrm>
            <a:off x="1005840" y="3749040"/>
            <a:ext cx="1965960" cy="1874520"/>
          </a:xfrm>
          <a:prstGeom prst="rect">
            <a:avLst/>
          </a:prstGeom>
          <a:noFill/>
          <a:ln/>
        </p:spPr>
        <p:txBody>
          <a:bodyPr wrap="square" lIns="635" tIns="635" rIns="635" bIns="635" rtlCol="0" anchor="ctr"/>
          <a:lstStyle/>
          <a:p>
            <a:pPr algn="ctr" indent="0" marL="0">
              <a:buNone/>
            </a:pPr>
            <a:r>
              <a:rPr lang="en-US" sz="1700" b="1" dirty="0">
                <a:solidFill>
                  <a:srgbClr val="FBFAF4"/>
                </a:solidFill>
                <a:latin typeface="Alexandria" pitchFamily="34" charset="0"/>
                <a:ea typeface="Alexandria" pitchFamily="34" charset="-122"/>
                <a:cs typeface="Alexandria" pitchFamily="34" charset="-120"/>
              </a:rPr>
              <a:t>Cư dân lân cận</a:t>
            </a:r>
            <a:endParaRPr lang="en-US" sz="1700" dirty="0"/>
          </a:p>
        </p:txBody>
      </p:sp>
      <p:sp>
        <p:nvSpPr>
          <p:cNvPr id="9" name="Shape 7"/>
          <p:cNvSpPr/>
          <p:nvPr/>
        </p:nvSpPr>
        <p:spPr>
          <a:xfrm>
            <a:off x="3154680" y="3749040"/>
            <a:ext cx="2148840" cy="1874520"/>
          </a:xfrm>
          <a:prstGeom prst="roundRect">
            <a:avLst>
              <a:gd name="adj" fmla="val 3902"/>
            </a:avLst>
          </a:prstGeom>
          <a:solidFill>
            <a:srgbClr val="09A1E5"/>
          </a:solidFill>
          <a:ln w="12700">
            <a:solidFill>
              <a:srgbClr val="09A1E5"/>
            </a:solidFill>
            <a:prstDash val="solid"/>
          </a:ln>
        </p:spPr>
      </p:sp>
      <p:sp>
        <p:nvSpPr>
          <p:cNvPr id="10" name="Text 8"/>
          <p:cNvSpPr txBox="1"/>
          <p:nvPr/>
        </p:nvSpPr>
        <p:spPr>
          <a:xfrm>
            <a:off x="3246120" y="3749040"/>
            <a:ext cx="1965960" cy="18745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Báo tài chính</a:t>
            </a:r>
            <a:endParaRPr lang="en-US" sz="1700" dirty="0"/>
          </a:p>
        </p:txBody>
      </p:sp>
      <p:sp>
        <p:nvSpPr>
          <p:cNvPr id="11" name="Text 9"/>
          <p:cNvSpPr txBox="1"/>
          <p:nvPr/>
        </p:nvSpPr>
        <p:spPr>
          <a:xfrm>
            <a:off x="914400" y="5715000"/>
            <a:ext cx="4389120" cy="411480"/>
          </a:xfrm>
          <a:prstGeom prst="rect">
            <a:avLst/>
          </a:prstGeom>
          <a:noFill/>
          <a:ln/>
        </p:spPr>
        <p:txBody>
          <a:bodyPr wrap="square" lIns="635" tIns="635" rIns="635" bIns="635" rtlCol="0" anchor="ctr"/>
          <a:lstStyle/>
          <a:p>
            <a:pPr algn="ctr" indent="0" marL="0">
              <a:buNone/>
            </a:pPr>
            <a:r>
              <a:rPr lang="en-US" sz="1400" dirty="0">
                <a:solidFill>
                  <a:srgbClr val="A9B6D3"/>
                </a:solidFill>
                <a:latin typeface="Alexandria" pitchFamily="34" charset="0"/>
                <a:ea typeface="Alexandria" pitchFamily="34" charset="-122"/>
                <a:cs typeface="Alexandria" pitchFamily="34" charset="-120"/>
              </a:rPr>
              <a:t>Quyền lực ↑ · Quan tâm →</a:t>
            </a:r>
            <a:endParaRPr lang="en-US" sz="1400" dirty="0"/>
          </a:p>
        </p:txBody>
      </p:sp>
      <p:sp>
        <p:nvSpPr>
          <p:cNvPr id="12" name="Shape 10"/>
          <p:cNvSpPr/>
          <p:nvPr/>
        </p:nvSpPr>
        <p:spPr>
          <a:xfrm>
            <a:off x="5577840" y="1783080"/>
            <a:ext cx="6062472" cy="868680"/>
          </a:xfrm>
          <a:prstGeom prst="roundRect">
            <a:avLst>
              <a:gd name="adj" fmla="val 8421"/>
            </a:avLst>
          </a:prstGeom>
          <a:solidFill>
            <a:srgbClr val="22395F"/>
          </a:solidFill>
          <a:ln w="12700">
            <a:solidFill>
              <a:srgbClr val="22395F"/>
            </a:solidFill>
            <a:prstDash val="solid"/>
          </a:ln>
        </p:spPr>
      </p:sp>
      <p:sp>
        <p:nvSpPr>
          <p:cNvPr id="13" name="Text 11"/>
          <p:cNvSpPr txBox="1"/>
          <p:nvPr/>
        </p:nvSpPr>
        <p:spPr>
          <a:xfrm>
            <a:off x="5760720" y="1783080"/>
            <a:ext cx="5760720" cy="868680"/>
          </a:xfrm>
          <a:prstGeom prst="rect">
            <a:avLst/>
          </a:prstGeom>
          <a:noFill/>
          <a:ln/>
        </p:spPr>
        <p:txBody>
          <a:bodyPr wrap="square" lIns="635" tIns="635" rIns="635" bIns="635" rtlCol="0" anchor="ctr"/>
          <a:lstStyle/>
          <a:p>
            <a:pPr indent="0" marL="0">
              <a:buNone/>
            </a:pPr>
            <a:r>
              <a:rPr lang="en-US" sz="1500" b="1" dirty="0">
                <a:solidFill>
                  <a:srgbClr val="FF5178"/>
                </a:solidFill>
                <a:latin typeface="Alexandria" pitchFamily="34" charset="0"/>
                <a:ea typeface="Alexandria" pitchFamily="34" charset="-122"/>
                <a:cs typeface="Alexandria" pitchFamily="34" charset="-120"/>
              </a:rPr>
              <a:t>Ngân hàng An Phát: </a:t>
            </a:r>
            <a:pPr indent="0" marL="0">
              <a:buNone/>
            </a:pPr>
            <a:r>
              <a:rPr lang="en-US" sz="1500" dirty="0">
                <a:solidFill>
                  <a:srgbClr val="FBFAF4"/>
                </a:solidFill>
                <a:latin typeface="Alexandria" pitchFamily="34" charset="0"/>
                <a:ea typeface="Alexandria" pitchFamily="34" charset="-122"/>
                <a:cs typeface="Alexandria" pitchFamily="34" charset="-120"/>
              </a:rPr>
              <a:t>họp tiến độ hằng tuần với chị Hạnh; xin ý kiến mọi thay đổi kịch bản</a:t>
            </a:r>
            <a:endParaRPr lang="en-US" sz="1500" dirty="0"/>
          </a:p>
        </p:txBody>
      </p:sp>
      <p:sp>
        <p:nvSpPr>
          <p:cNvPr id="14" name="Shape 12"/>
          <p:cNvSpPr/>
          <p:nvPr/>
        </p:nvSpPr>
        <p:spPr>
          <a:xfrm>
            <a:off x="5577840" y="2788920"/>
            <a:ext cx="6062472" cy="868680"/>
          </a:xfrm>
          <a:prstGeom prst="roundRect">
            <a:avLst>
              <a:gd name="adj" fmla="val 8421"/>
            </a:avLst>
          </a:prstGeom>
          <a:solidFill>
            <a:srgbClr val="22395F"/>
          </a:solidFill>
          <a:ln w="12700">
            <a:solidFill>
              <a:srgbClr val="22395F"/>
            </a:solidFill>
            <a:prstDash val="solid"/>
          </a:ln>
        </p:spPr>
      </p:sp>
      <p:sp>
        <p:nvSpPr>
          <p:cNvPr id="15" name="Text 13"/>
          <p:cNvSpPr txBox="1"/>
          <p:nvPr/>
        </p:nvSpPr>
        <p:spPr>
          <a:xfrm>
            <a:off x="5760720" y="2788920"/>
            <a:ext cx="5760720" cy="86868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Khách sạn: </a:t>
            </a:r>
            <a:pPr indent="0" marL="0">
              <a:buNone/>
            </a:pPr>
            <a:r>
              <a:rPr lang="en-US" sz="1500" dirty="0">
                <a:solidFill>
                  <a:srgbClr val="FBFAF4"/>
                </a:solidFill>
                <a:latin typeface="Alexandria" pitchFamily="34" charset="0"/>
                <a:ea typeface="Alexandria" pitchFamily="34" charset="-122"/>
                <a:cs typeface="Alexandria" pitchFamily="34" charset="-120"/>
              </a:rPr>
              <a:t>họp kỹ thuật và an toàn trước sự kiện; gọi 1-1 khi đổi kế hoạch</a:t>
            </a:r>
            <a:endParaRPr lang="en-US" sz="1500" dirty="0"/>
          </a:p>
        </p:txBody>
      </p:sp>
      <p:sp>
        <p:nvSpPr>
          <p:cNvPr id="16" name="Shape 14"/>
          <p:cNvSpPr/>
          <p:nvPr/>
        </p:nvSpPr>
        <p:spPr>
          <a:xfrm>
            <a:off x="5577840" y="3794760"/>
            <a:ext cx="6062472" cy="868680"/>
          </a:xfrm>
          <a:prstGeom prst="roundRect">
            <a:avLst>
              <a:gd name="adj" fmla="val 8421"/>
            </a:avLst>
          </a:prstGeom>
          <a:solidFill>
            <a:srgbClr val="22395F"/>
          </a:solidFill>
          <a:ln w="12700">
            <a:solidFill>
              <a:srgbClr val="22395F"/>
            </a:solidFill>
            <a:prstDash val="solid"/>
          </a:ln>
        </p:spPr>
      </p:sp>
      <p:sp>
        <p:nvSpPr>
          <p:cNvPr id="17" name="Text 15"/>
          <p:cNvSpPr txBox="1"/>
          <p:nvPr/>
        </p:nvSpPr>
        <p:spPr>
          <a:xfrm>
            <a:off x="5760720" y="3794760"/>
            <a:ext cx="5760720" cy="868680"/>
          </a:xfrm>
          <a:prstGeom prst="rect">
            <a:avLst/>
          </a:prstGeom>
          <a:noFill/>
          <a:ln/>
        </p:spPr>
        <p:txBody>
          <a:bodyPr wrap="square" lIns="635" tIns="635" rIns="635" bIns="635" rtlCol="0" anchor="ctr"/>
          <a:lstStyle/>
          <a:p>
            <a:pPr indent="0" marL="0">
              <a:buNone/>
            </a:pPr>
            <a:r>
              <a:rPr lang="en-US" sz="1500" b="1" dirty="0">
                <a:solidFill>
                  <a:srgbClr val="09A1E5"/>
                </a:solidFill>
                <a:latin typeface="Alexandria" pitchFamily="34" charset="0"/>
                <a:ea typeface="Alexandria" pitchFamily="34" charset="-122"/>
                <a:cs typeface="Alexandria" pitchFamily="34" charset="-120"/>
              </a:rPr>
              <a:t>Báo tài chính: </a:t>
            </a:r>
            <a:pPr indent="0" marL="0">
              <a:buNone/>
            </a:pPr>
            <a:r>
              <a:rPr lang="en-US" sz="1500" dirty="0">
                <a:solidFill>
                  <a:srgbClr val="FBFAF4"/>
                </a:solidFill>
                <a:latin typeface="Alexandria" pitchFamily="34" charset="0"/>
                <a:ea typeface="Alexandria" pitchFamily="34" charset="-122"/>
                <a:cs typeface="Alexandria" pitchFamily="34" charset="-120"/>
              </a:rPr>
              <a:t>thông cáo, lịch phỏng vấn, ảnh sau sự kiện</a:t>
            </a:r>
            <a:endParaRPr lang="en-US" sz="1500" dirty="0"/>
          </a:p>
        </p:txBody>
      </p:sp>
      <p:sp>
        <p:nvSpPr>
          <p:cNvPr id="18" name="Shape 16"/>
          <p:cNvSpPr/>
          <p:nvPr/>
        </p:nvSpPr>
        <p:spPr>
          <a:xfrm>
            <a:off x="5577840" y="4800600"/>
            <a:ext cx="6062472" cy="868680"/>
          </a:xfrm>
          <a:prstGeom prst="roundRect">
            <a:avLst>
              <a:gd name="adj" fmla="val 8421"/>
            </a:avLst>
          </a:prstGeom>
          <a:solidFill>
            <a:srgbClr val="22395F"/>
          </a:solidFill>
          <a:ln w="12700">
            <a:solidFill>
              <a:srgbClr val="22395F"/>
            </a:solidFill>
            <a:prstDash val="solid"/>
          </a:ln>
        </p:spPr>
      </p:sp>
      <p:sp>
        <p:nvSpPr>
          <p:cNvPr id="19" name="Text 17"/>
          <p:cNvSpPr txBox="1"/>
          <p:nvPr/>
        </p:nvSpPr>
        <p:spPr>
          <a:xfrm>
            <a:off x="5760720" y="4800600"/>
            <a:ext cx="5760720" cy="86868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Cư dân lân cận: </a:t>
            </a:r>
            <a:pPr indent="0" marL="0">
              <a:buNone/>
            </a:pPr>
            <a:r>
              <a:rPr lang="en-US" sz="1500" dirty="0">
                <a:solidFill>
                  <a:srgbClr val="FBFAF4"/>
                </a:solidFill>
                <a:latin typeface="Alexandria" pitchFamily="34" charset="0"/>
                <a:ea typeface="Alexandria" pitchFamily="34" charset="-122"/>
                <a:cs typeface="Alexandria" pitchFamily="34" charset="-120"/>
              </a:rPr>
              <a:t>thông báo giờ kết thúc 22h và số điện thoại liên hệ</a:t>
            </a:r>
            <a:endParaRPr lang="en-US" sz="1500" dirty="0"/>
          </a:p>
        </p:txBody>
      </p:sp>
      <p:sp>
        <p:nvSpPr>
          <p:cNvPr id="20" name="Text 18"/>
          <p:cNvSpPr txBox="1"/>
          <p:nvPr/>
        </p:nvSpPr>
        <p:spPr>
          <a:xfrm>
            <a:off x="9966960" y="580644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Grid là ảnh chụp tĩnh và không hỏi yêu cầu có chính đáng hay không</a:t>
            </a:r>
            <a:endParaRPr lang="en-US" sz="2800" dirty="0"/>
          </a:p>
        </p:txBody>
      </p:sp>
      <p:sp>
        <p:nvSpPr>
          <p:cNvPr id="3" name="Shape 1"/>
          <p:cNvSpPr/>
          <p:nvPr/>
        </p:nvSpPr>
        <p:spPr>
          <a:xfrm>
            <a:off x="548640" y="1783080"/>
            <a:ext cx="6949440" cy="822960"/>
          </a:xfrm>
          <a:prstGeom prst="roundRect">
            <a:avLst>
              <a:gd name="adj" fmla="val 8889"/>
            </a:avLst>
          </a:prstGeom>
          <a:solidFill>
            <a:srgbClr val="22395F"/>
          </a:solidFill>
          <a:ln w="12700">
            <a:solidFill>
              <a:srgbClr val="22395F"/>
            </a:solidFill>
            <a:prstDash val="solid"/>
          </a:ln>
        </p:spPr>
      </p:sp>
      <p:sp>
        <p:nvSpPr>
          <p:cNvPr id="4" name="Shape 2"/>
          <p:cNvSpPr/>
          <p:nvPr/>
        </p:nvSpPr>
        <p:spPr>
          <a:xfrm>
            <a:off x="731520" y="1920240"/>
            <a:ext cx="548640" cy="54864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52221" y="2040941"/>
            <a:ext cx="307238" cy="307238"/>
          </a:xfrm>
          <a:prstGeom prst="rect">
            <a:avLst/>
          </a:prstGeom>
        </p:spPr>
      </p:pic>
      <p:sp>
        <p:nvSpPr>
          <p:cNvPr id="6" name="Text 3"/>
          <p:cNvSpPr txBox="1"/>
          <p:nvPr/>
        </p:nvSpPr>
        <p:spPr>
          <a:xfrm>
            <a:off x="1463040" y="1783080"/>
            <a:ext cx="5943600" cy="8229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Chỉ có hai chiều</a:t>
            </a:r>
            <a:endParaRPr lang="en-US" sz="1800" dirty="0"/>
          </a:p>
        </p:txBody>
      </p:sp>
      <p:sp>
        <p:nvSpPr>
          <p:cNvPr id="7" name="Shape 4"/>
          <p:cNvSpPr/>
          <p:nvPr/>
        </p:nvSpPr>
        <p:spPr>
          <a:xfrm>
            <a:off x="548640" y="2770632"/>
            <a:ext cx="6949440" cy="822960"/>
          </a:xfrm>
          <a:prstGeom prst="roundRect">
            <a:avLst>
              <a:gd name="adj" fmla="val 8889"/>
            </a:avLst>
          </a:prstGeom>
          <a:solidFill>
            <a:srgbClr val="22395F"/>
          </a:solidFill>
          <a:ln w="12700">
            <a:solidFill>
              <a:srgbClr val="22395F"/>
            </a:solidFill>
            <a:prstDash val="solid"/>
          </a:ln>
        </p:spPr>
      </p:sp>
      <p:sp>
        <p:nvSpPr>
          <p:cNvPr id="8" name="Shape 5"/>
          <p:cNvSpPr/>
          <p:nvPr/>
        </p:nvSpPr>
        <p:spPr>
          <a:xfrm>
            <a:off x="731520" y="2907792"/>
            <a:ext cx="548640" cy="54864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2221" y="3028493"/>
            <a:ext cx="307238" cy="307238"/>
          </a:xfrm>
          <a:prstGeom prst="rect">
            <a:avLst/>
          </a:prstGeom>
        </p:spPr>
      </p:pic>
      <p:sp>
        <p:nvSpPr>
          <p:cNvPr id="10" name="Text 6"/>
          <p:cNvSpPr txBox="1"/>
          <p:nvPr/>
        </p:nvSpPr>
        <p:spPr>
          <a:xfrm>
            <a:off x="1463040" y="2770632"/>
            <a:ext cx="5943600" cy="8229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Tĩnh: vị trí thay đổi theo thời gian</a:t>
            </a:r>
            <a:endParaRPr lang="en-US" sz="1800" dirty="0"/>
          </a:p>
        </p:txBody>
      </p:sp>
      <p:sp>
        <p:nvSpPr>
          <p:cNvPr id="11" name="Shape 7"/>
          <p:cNvSpPr/>
          <p:nvPr/>
        </p:nvSpPr>
        <p:spPr>
          <a:xfrm>
            <a:off x="548640" y="3758184"/>
            <a:ext cx="6949440" cy="822960"/>
          </a:xfrm>
          <a:prstGeom prst="roundRect">
            <a:avLst>
              <a:gd name="adj" fmla="val 8889"/>
            </a:avLst>
          </a:prstGeom>
          <a:solidFill>
            <a:srgbClr val="22395F"/>
          </a:solidFill>
          <a:ln w="12700">
            <a:solidFill>
              <a:srgbClr val="22395F"/>
            </a:solidFill>
            <a:prstDash val="solid"/>
          </a:ln>
        </p:spPr>
      </p:sp>
      <p:sp>
        <p:nvSpPr>
          <p:cNvPr id="12" name="Shape 8"/>
          <p:cNvSpPr/>
          <p:nvPr/>
        </p:nvSpPr>
        <p:spPr>
          <a:xfrm>
            <a:off x="731520" y="3895344"/>
            <a:ext cx="548640" cy="54864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52221" y="4016045"/>
            <a:ext cx="307238" cy="307238"/>
          </a:xfrm>
          <a:prstGeom prst="rect">
            <a:avLst/>
          </a:prstGeom>
        </p:spPr>
      </p:pic>
      <p:sp>
        <p:nvSpPr>
          <p:cNvPr id="14" name="Text 9"/>
          <p:cNvSpPr txBox="1"/>
          <p:nvPr/>
        </p:nvSpPr>
        <p:spPr>
          <a:xfrm>
            <a:off x="1463040" y="3758184"/>
            <a:ext cx="5943600" cy="8229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Chủ quan: cần bằng chứng cho mỗi vị trí</a:t>
            </a:r>
            <a:endParaRPr lang="en-US" sz="1800" dirty="0"/>
          </a:p>
        </p:txBody>
      </p:sp>
      <p:sp>
        <p:nvSpPr>
          <p:cNvPr id="15" name="Shape 10"/>
          <p:cNvSpPr/>
          <p:nvPr/>
        </p:nvSpPr>
        <p:spPr>
          <a:xfrm>
            <a:off x="548640" y="4745736"/>
            <a:ext cx="6949440" cy="822960"/>
          </a:xfrm>
          <a:prstGeom prst="roundRect">
            <a:avLst>
              <a:gd name="adj" fmla="val 8889"/>
            </a:avLst>
          </a:prstGeom>
          <a:solidFill>
            <a:srgbClr val="22395F"/>
          </a:solidFill>
          <a:ln w="12700">
            <a:solidFill>
              <a:srgbClr val="22395F"/>
            </a:solidFill>
            <a:prstDash val="solid"/>
          </a:ln>
        </p:spPr>
      </p:sp>
      <p:sp>
        <p:nvSpPr>
          <p:cNvPr id="16" name="Shape 11"/>
          <p:cNvSpPr/>
          <p:nvPr/>
        </p:nvSpPr>
        <p:spPr>
          <a:xfrm>
            <a:off x="731520" y="4882896"/>
            <a:ext cx="548640" cy="548640"/>
          </a:xfrm>
          <a:prstGeom prst="ellipse">
            <a:avLst/>
          </a:prstGeom>
          <a:solidFill>
            <a:srgbClr val="FF5178"/>
          </a:solidFill>
          <a:ln w="12700">
            <a:solidFill>
              <a:srgbClr val="FF5178"/>
            </a:solidFill>
            <a:prstDash val="solid"/>
          </a:ln>
        </p:spPr>
      </p:sp>
      <p:pic>
        <p:nvPicPr>
          <p:cNvPr id="17" name="Image 3" descr="preencoded.png">    </p:cNvPr>
          <p:cNvPicPr>
            <a:picLocks noChangeAspect="1"/>
          </p:cNvPicPr>
          <p:nvPr/>
        </p:nvPicPr>
        <p:blipFill>
          <a:blip r:embed="rId4"/>
          <a:stretch>
            <a:fillRect/>
          </a:stretch>
        </p:blipFill>
        <p:spPr>
          <a:xfrm>
            <a:off x="852221" y="5003597"/>
            <a:ext cx="307238" cy="307238"/>
          </a:xfrm>
          <a:prstGeom prst="rect">
            <a:avLst/>
          </a:prstGeom>
        </p:spPr>
      </p:pic>
      <p:sp>
        <p:nvSpPr>
          <p:cNvPr id="18" name="Text 12"/>
          <p:cNvSpPr txBox="1"/>
          <p:nvPr/>
        </p:nvSpPr>
        <p:spPr>
          <a:xfrm>
            <a:off x="1463040" y="4745736"/>
            <a:ext cx="5943600" cy="8229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Bỏ qua tính chính đáng của yêu cầu</a:t>
            </a:r>
            <a:endParaRPr lang="en-US" sz="1800" dirty="0"/>
          </a:p>
        </p:txBody>
      </p:sp>
      <p:sp>
        <p:nvSpPr>
          <p:cNvPr id="19" name="Shape 13"/>
          <p:cNvSpPr/>
          <p:nvPr/>
        </p:nvSpPr>
        <p:spPr>
          <a:xfrm>
            <a:off x="7772400" y="1783080"/>
            <a:ext cx="3867912" cy="3785616"/>
          </a:xfrm>
          <a:prstGeom prst="roundRect">
            <a:avLst>
              <a:gd name="adj" fmla="val 1932"/>
            </a:avLst>
          </a:prstGeom>
          <a:solidFill>
            <a:srgbClr val="FFD23B"/>
          </a:solidFill>
          <a:ln w="12700">
            <a:solidFill>
              <a:srgbClr val="FFD23B"/>
            </a:solidFill>
            <a:prstDash val="solid"/>
          </a:ln>
        </p:spPr>
      </p:sp>
      <p:sp>
        <p:nvSpPr>
          <p:cNvPr id="20" name="Text 14"/>
          <p:cNvSpPr txBox="1"/>
          <p:nvPr/>
        </p:nvSpPr>
        <p:spPr>
          <a:xfrm>
            <a:off x="8001000" y="1783080"/>
            <a:ext cx="3429000" cy="3785616"/>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Mẹo: chấm mỗi bên thành một điểm trên lưới, đừng chỉ xếp vào ô.</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Salience Model đo ba thuộc tính: quyền lực, tính chính đáng, tính cấp bách</a:t>
            </a:r>
            <a:endParaRPr lang="en-US" sz="2800" dirty="0"/>
          </a:p>
        </p:txBody>
      </p:sp>
      <p:sp>
        <p:nvSpPr>
          <p:cNvPr id="3" name="Shape 1"/>
          <p:cNvSpPr/>
          <p:nvPr/>
        </p:nvSpPr>
        <p:spPr>
          <a:xfrm>
            <a:off x="548640" y="1783080"/>
            <a:ext cx="3566160" cy="365760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783080" y="2011680"/>
            <a:ext cx="1097280" cy="109728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2024482" y="2253082"/>
            <a:ext cx="614477" cy="614477"/>
          </a:xfrm>
          <a:prstGeom prst="rect">
            <a:avLst/>
          </a:prstGeom>
        </p:spPr>
      </p:pic>
      <p:sp>
        <p:nvSpPr>
          <p:cNvPr id="6" name="Text 3"/>
          <p:cNvSpPr txBox="1"/>
          <p:nvPr/>
        </p:nvSpPr>
        <p:spPr>
          <a:xfrm>
            <a:off x="548640" y="3246120"/>
            <a:ext cx="3566160" cy="50292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Alexandria" pitchFamily="34" charset="0"/>
                <a:ea typeface="Alexandria" pitchFamily="34" charset="-122"/>
                <a:cs typeface="Alexandria" pitchFamily="34" charset="-120"/>
              </a:rPr>
              <a:t>Power</a:t>
            </a:r>
            <a:endParaRPr lang="en-US" sz="2200" dirty="0"/>
          </a:p>
        </p:txBody>
      </p:sp>
      <p:sp>
        <p:nvSpPr>
          <p:cNvPr id="7" name="Text 4"/>
          <p:cNvSpPr txBox="1"/>
          <p:nvPr/>
        </p:nvSpPr>
        <p:spPr>
          <a:xfrm>
            <a:off x="548640" y="3749040"/>
            <a:ext cx="3566160" cy="411480"/>
          </a:xfrm>
          <a:prstGeom prst="rect">
            <a:avLst/>
          </a:prstGeom>
          <a:noFill/>
          <a:ln/>
        </p:spPr>
        <p:txBody>
          <a:bodyPr wrap="square" lIns="635" tIns="635" rIns="635" bIns="635" rtlCol="0" anchor="ctr"/>
          <a:lstStyle/>
          <a:p>
            <a:pPr algn="ctr" indent="0" marL="0">
              <a:buNone/>
            </a:pPr>
            <a:r>
              <a:rPr lang="en-US" sz="1700" dirty="0">
                <a:solidFill>
                  <a:srgbClr val="A9B6D3"/>
                </a:solidFill>
                <a:latin typeface="Alexandria" pitchFamily="34" charset="0"/>
                <a:ea typeface="Alexandria" pitchFamily="34" charset="-122"/>
                <a:cs typeface="Alexandria" pitchFamily="34" charset="-120"/>
              </a:rPr>
              <a:t>Quyền lực</a:t>
            </a:r>
            <a:endParaRPr lang="en-US" sz="1700" dirty="0"/>
          </a:p>
        </p:txBody>
      </p:sp>
      <p:sp>
        <p:nvSpPr>
          <p:cNvPr id="8" name="Text 5"/>
          <p:cNvSpPr txBox="1"/>
          <p:nvPr/>
        </p:nvSpPr>
        <p:spPr>
          <a:xfrm>
            <a:off x="777240" y="4206240"/>
            <a:ext cx="3108960" cy="10972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khả năng áp đặt ý chí của mình</a:t>
            </a:r>
            <a:endParaRPr lang="en-US" sz="1800" dirty="0"/>
          </a:p>
        </p:txBody>
      </p:sp>
      <p:sp>
        <p:nvSpPr>
          <p:cNvPr id="9" name="Shape 6"/>
          <p:cNvSpPr/>
          <p:nvPr/>
        </p:nvSpPr>
        <p:spPr>
          <a:xfrm>
            <a:off x="4325112" y="1783080"/>
            <a:ext cx="3566160" cy="365760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559552" y="2011680"/>
            <a:ext cx="1097280" cy="1097280"/>
          </a:xfrm>
          <a:prstGeom prst="ellipse">
            <a:avLst/>
          </a:prstGeom>
          <a:solidFill>
            <a:srgbClr val="49B296"/>
          </a:solidFill>
          <a:ln w="12700">
            <a:solidFill>
              <a:srgbClr val="49B296"/>
            </a:solidFill>
            <a:prstDash val="solid"/>
          </a:ln>
        </p:spPr>
      </p:sp>
      <p:pic>
        <p:nvPicPr>
          <p:cNvPr id="11" name="Image 1" descr="preencoded.png">    </p:cNvPr>
          <p:cNvPicPr>
            <a:picLocks noChangeAspect="1"/>
          </p:cNvPicPr>
          <p:nvPr/>
        </p:nvPicPr>
        <p:blipFill>
          <a:blip r:embed="rId2"/>
          <a:stretch>
            <a:fillRect/>
          </a:stretch>
        </p:blipFill>
        <p:spPr>
          <a:xfrm>
            <a:off x="5800954" y="2253082"/>
            <a:ext cx="614477" cy="614477"/>
          </a:xfrm>
          <a:prstGeom prst="rect">
            <a:avLst/>
          </a:prstGeom>
        </p:spPr>
      </p:pic>
      <p:sp>
        <p:nvSpPr>
          <p:cNvPr id="12" name="Text 8"/>
          <p:cNvSpPr txBox="1"/>
          <p:nvPr/>
        </p:nvSpPr>
        <p:spPr>
          <a:xfrm>
            <a:off x="4325112" y="3246120"/>
            <a:ext cx="3566160" cy="50292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Alexandria" pitchFamily="34" charset="0"/>
                <a:ea typeface="Alexandria" pitchFamily="34" charset="-122"/>
                <a:cs typeface="Alexandria" pitchFamily="34" charset="-120"/>
              </a:rPr>
              <a:t>Legitimacy</a:t>
            </a:r>
            <a:endParaRPr lang="en-US" sz="2200" dirty="0"/>
          </a:p>
        </p:txBody>
      </p:sp>
      <p:sp>
        <p:nvSpPr>
          <p:cNvPr id="13" name="Text 9"/>
          <p:cNvSpPr txBox="1"/>
          <p:nvPr/>
        </p:nvSpPr>
        <p:spPr>
          <a:xfrm>
            <a:off x="4325112" y="3749040"/>
            <a:ext cx="3566160" cy="411480"/>
          </a:xfrm>
          <a:prstGeom prst="rect">
            <a:avLst/>
          </a:prstGeom>
          <a:noFill/>
          <a:ln/>
        </p:spPr>
        <p:txBody>
          <a:bodyPr wrap="square" lIns="635" tIns="635" rIns="635" bIns="635" rtlCol="0" anchor="ctr"/>
          <a:lstStyle/>
          <a:p>
            <a:pPr algn="ctr" indent="0" marL="0">
              <a:buNone/>
            </a:pPr>
            <a:r>
              <a:rPr lang="en-US" sz="1700" dirty="0">
                <a:solidFill>
                  <a:srgbClr val="A9B6D3"/>
                </a:solidFill>
                <a:latin typeface="Alexandria" pitchFamily="34" charset="0"/>
                <a:ea typeface="Alexandria" pitchFamily="34" charset="-122"/>
                <a:cs typeface="Alexandria" pitchFamily="34" charset="-120"/>
              </a:rPr>
              <a:t>Tính chính đáng</a:t>
            </a:r>
            <a:endParaRPr lang="en-US" sz="1700" dirty="0"/>
          </a:p>
        </p:txBody>
      </p:sp>
      <p:sp>
        <p:nvSpPr>
          <p:cNvPr id="14" name="Text 10"/>
          <p:cNvSpPr txBox="1"/>
          <p:nvPr/>
        </p:nvSpPr>
        <p:spPr>
          <a:xfrm>
            <a:off x="4553712" y="4206240"/>
            <a:ext cx="3108960" cy="10972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hành động của họ được nhìn nhận là phù hợp</a:t>
            </a:r>
            <a:endParaRPr lang="en-US" sz="1800" dirty="0"/>
          </a:p>
        </p:txBody>
      </p:sp>
      <p:sp>
        <p:nvSpPr>
          <p:cNvPr id="15" name="Shape 11"/>
          <p:cNvSpPr/>
          <p:nvPr/>
        </p:nvSpPr>
        <p:spPr>
          <a:xfrm>
            <a:off x="8101584" y="1783080"/>
            <a:ext cx="3566160" cy="365760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36024" y="2011680"/>
            <a:ext cx="1097280" cy="1097280"/>
          </a:xfrm>
          <a:prstGeom prst="ellipse">
            <a:avLst/>
          </a:prstGeom>
          <a:solidFill>
            <a:srgbClr val="FFD23B"/>
          </a:solidFill>
          <a:ln w="12700">
            <a:solidFill>
              <a:srgbClr val="FFD23B"/>
            </a:solidFill>
            <a:prstDash val="solid"/>
          </a:ln>
        </p:spPr>
      </p:sp>
      <p:pic>
        <p:nvPicPr>
          <p:cNvPr id="17" name="Image 2" descr="preencoded.png">    </p:cNvPr>
          <p:cNvPicPr>
            <a:picLocks noChangeAspect="1"/>
          </p:cNvPicPr>
          <p:nvPr/>
        </p:nvPicPr>
        <p:blipFill>
          <a:blip r:embed="rId3"/>
          <a:stretch>
            <a:fillRect/>
          </a:stretch>
        </p:blipFill>
        <p:spPr>
          <a:xfrm>
            <a:off x="9577426" y="2253082"/>
            <a:ext cx="614477" cy="614477"/>
          </a:xfrm>
          <a:prstGeom prst="rect">
            <a:avLst/>
          </a:prstGeom>
        </p:spPr>
      </p:pic>
      <p:sp>
        <p:nvSpPr>
          <p:cNvPr id="18" name="Text 13"/>
          <p:cNvSpPr txBox="1"/>
          <p:nvPr/>
        </p:nvSpPr>
        <p:spPr>
          <a:xfrm>
            <a:off x="8101584" y="3246120"/>
            <a:ext cx="3566160" cy="50292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Alexandria" pitchFamily="34" charset="0"/>
                <a:ea typeface="Alexandria" pitchFamily="34" charset="-122"/>
                <a:cs typeface="Alexandria" pitchFamily="34" charset="-120"/>
              </a:rPr>
              <a:t>Urgency</a:t>
            </a:r>
            <a:endParaRPr lang="en-US" sz="2200" dirty="0"/>
          </a:p>
        </p:txBody>
      </p:sp>
      <p:sp>
        <p:nvSpPr>
          <p:cNvPr id="19" name="Text 14"/>
          <p:cNvSpPr txBox="1"/>
          <p:nvPr/>
        </p:nvSpPr>
        <p:spPr>
          <a:xfrm>
            <a:off x="8101584" y="3749040"/>
            <a:ext cx="3566160" cy="411480"/>
          </a:xfrm>
          <a:prstGeom prst="rect">
            <a:avLst/>
          </a:prstGeom>
          <a:noFill/>
          <a:ln/>
        </p:spPr>
        <p:txBody>
          <a:bodyPr wrap="square" lIns="635" tIns="635" rIns="635" bIns="635" rtlCol="0" anchor="ctr"/>
          <a:lstStyle/>
          <a:p>
            <a:pPr algn="ctr" indent="0" marL="0">
              <a:buNone/>
            </a:pPr>
            <a:r>
              <a:rPr lang="en-US" sz="1700" dirty="0">
                <a:solidFill>
                  <a:srgbClr val="A9B6D3"/>
                </a:solidFill>
                <a:latin typeface="Alexandria" pitchFamily="34" charset="0"/>
                <a:ea typeface="Alexandria" pitchFamily="34" charset="-122"/>
                <a:cs typeface="Alexandria" pitchFamily="34" charset="-120"/>
              </a:rPr>
              <a:t>Tính cấp bách</a:t>
            </a:r>
            <a:endParaRPr lang="en-US" sz="1700" dirty="0"/>
          </a:p>
        </p:txBody>
      </p:sp>
      <p:sp>
        <p:nvSpPr>
          <p:cNvPr id="20" name="Text 15"/>
          <p:cNvSpPr txBox="1"/>
          <p:nvPr/>
        </p:nvSpPr>
        <p:spPr>
          <a:xfrm>
            <a:off x="8330184" y="4206240"/>
            <a:ext cx="3108960" cy="10972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mối quan tâm của họ đòi hỏi phản hồi ngay</a:t>
            </a:r>
            <a:endParaRPr lang="en-US" sz="1800" dirty="0"/>
          </a:p>
        </p:txBody>
      </p:sp>
      <p:sp>
        <p:nvSpPr>
          <p:cNvPr id="21" name="Text 16"/>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Mitchell, Agle &amp; Wood (1997), dẫn theo Holmes et al. (2015, tr. 25).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Càng nhiều thuộc tính, bên liên quan càng nổi bật</a:t>
            </a:r>
            <a:endParaRPr lang="en-US" sz="2800" dirty="0"/>
          </a:p>
        </p:txBody>
      </p:sp>
      <p:sp>
        <p:nvSpPr>
          <p:cNvPr id="3" name="Shape 1"/>
          <p:cNvSpPr/>
          <p:nvPr/>
        </p:nvSpPr>
        <p:spPr>
          <a:xfrm>
            <a:off x="2240280" y="1737360"/>
            <a:ext cx="2834640" cy="2834640"/>
          </a:xfrm>
          <a:prstGeom prst="ellipse">
            <a:avLst/>
          </a:prstGeom>
          <a:solidFill>
            <a:srgbClr val="FF5178">
              <a:alpha val="45000"/>
            </a:srgbClr>
          </a:solidFill>
          <a:ln w="25400">
            <a:solidFill>
              <a:srgbClr val="FF5178"/>
            </a:solidFill>
            <a:prstDash val="solid"/>
          </a:ln>
        </p:spPr>
      </p:sp>
      <p:sp>
        <p:nvSpPr>
          <p:cNvPr id="4" name="Shape 2"/>
          <p:cNvSpPr/>
          <p:nvPr/>
        </p:nvSpPr>
        <p:spPr>
          <a:xfrm>
            <a:off x="4069080" y="1737360"/>
            <a:ext cx="2834640" cy="2834640"/>
          </a:xfrm>
          <a:prstGeom prst="ellipse">
            <a:avLst/>
          </a:prstGeom>
          <a:solidFill>
            <a:srgbClr val="49B296">
              <a:alpha val="45000"/>
            </a:srgbClr>
          </a:solidFill>
          <a:ln w="25400">
            <a:solidFill>
              <a:srgbClr val="49B296"/>
            </a:solidFill>
            <a:prstDash val="solid"/>
          </a:ln>
        </p:spPr>
      </p:sp>
      <p:sp>
        <p:nvSpPr>
          <p:cNvPr id="5" name="Shape 3"/>
          <p:cNvSpPr/>
          <p:nvPr/>
        </p:nvSpPr>
        <p:spPr>
          <a:xfrm>
            <a:off x="3154680" y="3200400"/>
            <a:ext cx="2834640" cy="2834640"/>
          </a:xfrm>
          <a:prstGeom prst="ellipse">
            <a:avLst/>
          </a:prstGeom>
          <a:solidFill>
            <a:srgbClr val="FFD23B">
              <a:alpha val="45000"/>
            </a:srgbClr>
          </a:solidFill>
          <a:ln w="25400">
            <a:solidFill>
              <a:srgbClr val="FFD23B"/>
            </a:solidFill>
            <a:prstDash val="solid"/>
          </a:ln>
        </p:spPr>
      </p:sp>
      <p:sp>
        <p:nvSpPr>
          <p:cNvPr id="6" name="Text 4"/>
          <p:cNvSpPr txBox="1"/>
          <p:nvPr/>
        </p:nvSpPr>
        <p:spPr>
          <a:xfrm>
            <a:off x="1828800" y="1600200"/>
            <a:ext cx="1463040" cy="365760"/>
          </a:xfrm>
          <a:prstGeom prst="rect">
            <a:avLst/>
          </a:prstGeom>
          <a:noFill/>
          <a:ln/>
        </p:spPr>
        <p:txBody>
          <a:bodyPr wrap="square" lIns="635" tIns="635" rIns="635" bIns="635" rtlCol="0" anchor="ctr"/>
          <a:lstStyle/>
          <a:p>
            <a:pPr indent="0" marL="0">
              <a:buNone/>
            </a:pPr>
            <a:r>
              <a:rPr lang="en-US" sz="1500" b="1" dirty="0">
                <a:solidFill>
                  <a:srgbClr val="FF5178"/>
                </a:solidFill>
                <a:latin typeface="Alexandria" pitchFamily="34" charset="0"/>
                <a:ea typeface="Alexandria" pitchFamily="34" charset="-122"/>
                <a:cs typeface="Alexandria" pitchFamily="34" charset="-120"/>
              </a:rPr>
              <a:t>Power</a:t>
            </a:r>
            <a:endParaRPr lang="en-US" sz="1500" dirty="0"/>
          </a:p>
        </p:txBody>
      </p:sp>
      <p:sp>
        <p:nvSpPr>
          <p:cNvPr id="7" name="Text 5"/>
          <p:cNvSpPr txBox="1"/>
          <p:nvPr/>
        </p:nvSpPr>
        <p:spPr>
          <a:xfrm>
            <a:off x="6035040" y="1600200"/>
            <a:ext cx="1737360" cy="365760"/>
          </a:xfrm>
          <a:prstGeom prst="rect">
            <a:avLst/>
          </a:prstGeom>
          <a:noFill/>
          <a:ln/>
        </p:spPr>
        <p:txBody>
          <a:bodyPr wrap="square" lIns="635" tIns="635" rIns="635" bIns="635" rtlCol="0" anchor="ctr"/>
          <a:lstStyle/>
          <a:p>
            <a:pPr algn="r" indent="0" marL="0">
              <a:buNone/>
            </a:pPr>
            <a:r>
              <a:rPr lang="en-US" sz="1500" b="1" dirty="0">
                <a:solidFill>
                  <a:srgbClr val="49B296"/>
                </a:solidFill>
                <a:latin typeface="Alexandria" pitchFamily="34" charset="0"/>
                <a:ea typeface="Alexandria" pitchFamily="34" charset="-122"/>
                <a:cs typeface="Alexandria" pitchFamily="34" charset="-120"/>
              </a:rPr>
              <a:t>Legitimacy</a:t>
            </a:r>
            <a:endParaRPr lang="en-US" sz="1500" dirty="0"/>
          </a:p>
        </p:txBody>
      </p:sp>
      <p:sp>
        <p:nvSpPr>
          <p:cNvPr id="8" name="Text 6"/>
          <p:cNvSpPr txBox="1"/>
          <p:nvPr/>
        </p:nvSpPr>
        <p:spPr>
          <a:xfrm>
            <a:off x="5715000" y="5897880"/>
            <a:ext cx="1463040" cy="36576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Urgency</a:t>
            </a:r>
            <a:endParaRPr lang="en-US" sz="1500" dirty="0"/>
          </a:p>
        </p:txBody>
      </p:sp>
      <p:sp>
        <p:nvSpPr>
          <p:cNvPr id="9" name="Text 7"/>
          <p:cNvSpPr txBox="1"/>
          <p:nvPr/>
        </p:nvSpPr>
        <p:spPr>
          <a:xfrm>
            <a:off x="2240280" y="274320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Alexandria" pitchFamily="34" charset="0"/>
                <a:ea typeface="Alexandria" pitchFamily="34" charset="-122"/>
                <a:cs typeface="Alexandria" pitchFamily="34" charset="-120"/>
              </a:rPr>
              <a:t>Dormant</a:t>
            </a:r>
            <a:endParaRPr lang="en-US" sz="1300" dirty="0"/>
          </a:p>
        </p:txBody>
      </p:sp>
      <p:sp>
        <p:nvSpPr>
          <p:cNvPr id="10" name="Text 8"/>
          <p:cNvSpPr txBox="1"/>
          <p:nvPr/>
        </p:nvSpPr>
        <p:spPr>
          <a:xfrm>
            <a:off x="6172200" y="274320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Alexandria" pitchFamily="34" charset="0"/>
                <a:ea typeface="Alexandria" pitchFamily="34" charset="-122"/>
                <a:cs typeface="Alexandria" pitchFamily="34" charset="-120"/>
              </a:rPr>
              <a:t>Discretionary</a:t>
            </a:r>
            <a:endParaRPr lang="en-US" sz="1300" dirty="0"/>
          </a:p>
        </p:txBody>
      </p:sp>
      <p:sp>
        <p:nvSpPr>
          <p:cNvPr id="11" name="Text 9"/>
          <p:cNvSpPr txBox="1"/>
          <p:nvPr/>
        </p:nvSpPr>
        <p:spPr>
          <a:xfrm>
            <a:off x="3840480" y="534924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Alexandria" pitchFamily="34" charset="0"/>
                <a:ea typeface="Alexandria" pitchFamily="34" charset="-122"/>
                <a:cs typeface="Alexandria" pitchFamily="34" charset="-120"/>
              </a:rPr>
              <a:t>Demanding</a:t>
            </a:r>
            <a:endParaRPr lang="en-US" sz="1300" dirty="0"/>
          </a:p>
        </p:txBody>
      </p:sp>
      <p:sp>
        <p:nvSpPr>
          <p:cNvPr id="12" name="Text 10"/>
          <p:cNvSpPr txBox="1"/>
          <p:nvPr/>
        </p:nvSpPr>
        <p:spPr>
          <a:xfrm>
            <a:off x="3840480" y="233172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Alexandria" pitchFamily="34" charset="0"/>
                <a:ea typeface="Alexandria" pitchFamily="34" charset="-122"/>
                <a:cs typeface="Alexandria" pitchFamily="34" charset="-120"/>
              </a:rPr>
              <a:t>Dominant</a:t>
            </a:r>
            <a:endParaRPr lang="en-US" sz="1300" dirty="0"/>
          </a:p>
        </p:txBody>
      </p:sp>
      <p:sp>
        <p:nvSpPr>
          <p:cNvPr id="13" name="Text 11"/>
          <p:cNvSpPr txBox="1"/>
          <p:nvPr/>
        </p:nvSpPr>
        <p:spPr>
          <a:xfrm>
            <a:off x="2788920" y="411480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Alexandria" pitchFamily="34" charset="0"/>
                <a:ea typeface="Alexandria" pitchFamily="34" charset="-122"/>
                <a:cs typeface="Alexandria" pitchFamily="34" charset="-120"/>
              </a:rPr>
              <a:t>Dangerous</a:t>
            </a:r>
            <a:endParaRPr lang="en-US" sz="1300" dirty="0"/>
          </a:p>
        </p:txBody>
      </p:sp>
      <p:sp>
        <p:nvSpPr>
          <p:cNvPr id="14" name="Text 12"/>
          <p:cNvSpPr txBox="1"/>
          <p:nvPr/>
        </p:nvSpPr>
        <p:spPr>
          <a:xfrm>
            <a:off x="4892040" y="411480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Alexandria" pitchFamily="34" charset="0"/>
                <a:ea typeface="Alexandria" pitchFamily="34" charset="-122"/>
                <a:cs typeface="Alexandria" pitchFamily="34" charset="-120"/>
              </a:rPr>
              <a:t>Dependent</a:t>
            </a:r>
            <a:endParaRPr lang="en-US" sz="1300" dirty="0"/>
          </a:p>
        </p:txBody>
      </p:sp>
      <p:sp>
        <p:nvSpPr>
          <p:cNvPr id="15" name="Text 13"/>
          <p:cNvSpPr txBox="1"/>
          <p:nvPr/>
        </p:nvSpPr>
        <p:spPr>
          <a:xfrm>
            <a:off x="3840480" y="3429000"/>
            <a:ext cx="1463040" cy="411480"/>
          </a:xfrm>
          <a:prstGeom prst="rect">
            <a:avLst/>
          </a:prstGeom>
          <a:noFill/>
          <a:ln/>
        </p:spPr>
        <p:txBody>
          <a:bodyPr wrap="square" lIns="635" tIns="635" rIns="635" bIns="635" rtlCol="0" anchor="ctr"/>
          <a:lstStyle/>
          <a:p>
            <a:pPr algn="ctr" indent="0" marL="0">
              <a:buNone/>
            </a:pPr>
            <a:r>
              <a:rPr lang="en-US" sz="1300" b="1" dirty="0">
                <a:solidFill>
                  <a:srgbClr val="FFD23B"/>
                </a:solidFill>
                <a:latin typeface="Alexandria" pitchFamily="34" charset="0"/>
                <a:ea typeface="Alexandria" pitchFamily="34" charset="-122"/>
                <a:cs typeface="Alexandria" pitchFamily="34" charset="-120"/>
              </a:rPr>
              <a:t>Definitive</a:t>
            </a:r>
            <a:endParaRPr lang="en-US" sz="1300" dirty="0"/>
          </a:p>
        </p:txBody>
      </p:sp>
      <p:sp>
        <p:nvSpPr>
          <p:cNvPr id="16" name="Shape 14"/>
          <p:cNvSpPr/>
          <p:nvPr/>
        </p:nvSpPr>
        <p:spPr>
          <a:xfrm>
            <a:off x="7863840" y="1783080"/>
            <a:ext cx="3776472" cy="1188720"/>
          </a:xfrm>
          <a:prstGeom prst="roundRect">
            <a:avLst>
              <a:gd name="adj" fmla="val 6154"/>
            </a:avLst>
          </a:prstGeom>
          <a:solidFill>
            <a:srgbClr val="22395F"/>
          </a:solidFill>
          <a:ln w="12700">
            <a:solidFill>
              <a:srgbClr val="22395F"/>
            </a:solidFill>
            <a:prstDash val="solid"/>
          </a:ln>
        </p:spPr>
      </p:sp>
      <p:sp>
        <p:nvSpPr>
          <p:cNvPr id="17" name="Text 15"/>
          <p:cNvSpPr txBox="1"/>
          <p:nvPr/>
        </p:nvSpPr>
        <p:spPr>
          <a:xfrm>
            <a:off x="8046720" y="1828800"/>
            <a:ext cx="3474720" cy="457200"/>
          </a:xfrm>
          <a:prstGeom prst="rect">
            <a:avLst/>
          </a:prstGeom>
          <a:noFill/>
          <a:ln/>
        </p:spPr>
        <p:txBody>
          <a:bodyPr wrap="square" lIns="635" tIns="635" rIns="635" bIns="635" rtlCol="0" anchor="ctr"/>
          <a:lstStyle/>
          <a:p>
            <a:pPr indent="0" marL="0">
              <a:buNone/>
            </a:pPr>
            <a:r>
              <a:rPr lang="en-US" sz="1700" b="1" dirty="0">
                <a:solidFill>
                  <a:srgbClr val="A9B6D3"/>
                </a:solidFill>
                <a:latin typeface="Alexandria" pitchFamily="34" charset="0"/>
                <a:ea typeface="Alexandria" pitchFamily="34" charset="-122"/>
                <a:cs typeface="Alexandria" pitchFamily="34" charset="-120"/>
              </a:rPr>
              <a:t>1 thuộc tính · tiềm ẩn</a:t>
            </a:r>
            <a:endParaRPr lang="en-US" sz="1700" dirty="0"/>
          </a:p>
        </p:txBody>
      </p:sp>
      <p:sp>
        <p:nvSpPr>
          <p:cNvPr id="18" name="Text 16"/>
          <p:cNvSpPr txBox="1"/>
          <p:nvPr/>
        </p:nvSpPr>
        <p:spPr>
          <a:xfrm>
            <a:off x="8046720" y="2286000"/>
            <a:ext cx="3474720" cy="59436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Dormant · Discretionary · Demanding</a:t>
            </a:r>
            <a:endParaRPr lang="en-US" sz="1500" dirty="0"/>
          </a:p>
        </p:txBody>
      </p:sp>
      <p:sp>
        <p:nvSpPr>
          <p:cNvPr id="19" name="Shape 17"/>
          <p:cNvSpPr/>
          <p:nvPr/>
        </p:nvSpPr>
        <p:spPr>
          <a:xfrm>
            <a:off x="7863840" y="3154680"/>
            <a:ext cx="3776472" cy="1188720"/>
          </a:xfrm>
          <a:prstGeom prst="roundRect">
            <a:avLst>
              <a:gd name="adj" fmla="val 6154"/>
            </a:avLst>
          </a:prstGeom>
          <a:solidFill>
            <a:srgbClr val="22395F"/>
          </a:solidFill>
          <a:ln w="12700">
            <a:solidFill>
              <a:srgbClr val="22395F"/>
            </a:solidFill>
            <a:prstDash val="solid"/>
          </a:ln>
        </p:spPr>
      </p:sp>
      <p:sp>
        <p:nvSpPr>
          <p:cNvPr id="20" name="Text 18"/>
          <p:cNvSpPr txBox="1"/>
          <p:nvPr/>
        </p:nvSpPr>
        <p:spPr>
          <a:xfrm>
            <a:off x="8046720" y="3200400"/>
            <a:ext cx="3474720" cy="45720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2 thuộc tính · kỳ vọng</a:t>
            </a:r>
            <a:endParaRPr lang="en-US" sz="1700" dirty="0"/>
          </a:p>
        </p:txBody>
      </p:sp>
      <p:sp>
        <p:nvSpPr>
          <p:cNvPr id="21" name="Text 19"/>
          <p:cNvSpPr txBox="1"/>
          <p:nvPr/>
        </p:nvSpPr>
        <p:spPr>
          <a:xfrm>
            <a:off x="8046720" y="3657600"/>
            <a:ext cx="3474720" cy="59436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Dominant · Dangerous · Dependent</a:t>
            </a:r>
            <a:endParaRPr lang="en-US" sz="1500" dirty="0"/>
          </a:p>
        </p:txBody>
      </p:sp>
      <p:sp>
        <p:nvSpPr>
          <p:cNvPr id="22" name="Shape 20"/>
          <p:cNvSpPr/>
          <p:nvPr/>
        </p:nvSpPr>
        <p:spPr>
          <a:xfrm>
            <a:off x="7863840" y="4526280"/>
            <a:ext cx="3776472" cy="1188720"/>
          </a:xfrm>
          <a:prstGeom prst="roundRect">
            <a:avLst>
              <a:gd name="adj" fmla="val 6154"/>
            </a:avLst>
          </a:prstGeom>
          <a:solidFill>
            <a:srgbClr val="22395F"/>
          </a:solidFill>
          <a:ln w="12700">
            <a:solidFill>
              <a:srgbClr val="22395F"/>
            </a:solidFill>
            <a:prstDash val="solid"/>
          </a:ln>
        </p:spPr>
      </p:sp>
      <p:sp>
        <p:nvSpPr>
          <p:cNvPr id="23" name="Text 21"/>
          <p:cNvSpPr txBox="1"/>
          <p:nvPr/>
        </p:nvSpPr>
        <p:spPr>
          <a:xfrm>
            <a:off x="8046720" y="4572000"/>
            <a:ext cx="3474720"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3 thuộc tính · quyết định</a:t>
            </a:r>
            <a:endParaRPr lang="en-US" sz="1700" dirty="0"/>
          </a:p>
        </p:txBody>
      </p:sp>
      <p:sp>
        <p:nvSpPr>
          <p:cNvPr id="24" name="Text 22"/>
          <p:cNvSpPr txBox="1"/>
          <p:nvPr/>
        </p:nvSpPr>
        <p:spPr>
          <a:xfrm>
            <a:off x="8046720" y="5029200"/>
            <a:ext cx="3474720" cy="59436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Definitive</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Mỗi loại salience có một gương mặt quen trong sự kiện</a:t>
            </a:r>
            <a:endParaRPr lang="en-US" sz="2800" dirty="0"/>
          </a:p>
        </p:txBody>
      </p:sp>
      <p:sp>
        <p:nvSpPr>
          <p:cNvPr id="3" name="Shape 1"/>
          <p:cNvSpPr/>
          <p:nvPr/>
        </p:nvSpPr>
        <p:spPr>
          <a:xfrm>
            <a:off x="411480" y="1691640"/>
            <a:ext cx="11365992" cy="548640"/>
          </a:xfrm>
          <a:prstGeom prst="roundRect">
            <a:avLst>
              <a:gd name="adj" fmla="val 13333"/>
            </a:avLst>
          </a:prstGeom>
          <a:solidFill>
            <a:srgbClr val="22395F"/>
          </a:solidFill>
          <a:ln w="12700">
            <a:solidFill>
              <a:srgbClr val="22395F"/>
            </a:solidFill>
            <a:prstDash val="solid"/>
          </a:ln>
        </p:spPr>
      </p:sp>
      <p:sp>
        <p:nvSpPr>
          <p:cNvPr id="4" name="Text 2"/>
          <p:cNvSpPr txBox="1"/>
          <p:nvPr/>
        </p:nvSpPr>
        <p:spPr>
          <a:xfrm>
            <a:off x="594360" y="1691640"/>
            <a:ext cx="2377440" cy="548640"/>
          </a:xfrm>
          <a:prstGeom prst="rect">
            <a:avLst/>
          </a:prstGeom>
          <a:noFill/>
          <a:ln/>
        </p:spPr>
        <p:txBody>
          <a:bodyPr wrap="square" lIns="635" tIns="635" rIns="635" bIns="635" rtlCol="0" anchor="ctr"/>
          <a:lstStyle/>
          <a:p>
            <a:pPr indent="0" marL="0">
              <a:buNone/>
            </a:pPr>
            <a:r>
              <a:rPr lang="en-US" sz="1700" b="1" dirty="0">
                <a:solidFill>
                  <a:srgbClr val="A9B6D3"/>
                </a:solidFill>
                <a:latin typeface="Alexandria" pitchFamily="34" charset="0"/>
                <a:ea typeface="Alexandria" pitchFamily="34" charset="-122"/>
                <a:cs typeface="Alexandria" pitchFamily="34" charset="-120"/>
              </a:rPr>
              <a:t>Dormant</a:t>
            </a:r>
            <a:endParaRPr lang="en-US" sz="1700" dirty="0"/>
          </a:p>
        </p:txBody>
      </p:sp>
      <p:sp>
        <p:nvSpPr>
          <p:cNvPr id="5" name="Text 3"/>
          <p:cNvSpPr txBox="1"/>
          <p:nvPr/>
        </p:nvSpPr>
        <p:spPr>
          <a:xfrm>
            <a:off x="3017520" y="1691640"/>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P</a:t>
            </a:r>
            <a:endParaRPr lang="en-US" sz="1600" dirty="0"/>
          </a:p>
        </p:txBody>
      </p:sp>
      <p:sp>
        <p:nvSpPr>
          <p:cNvPr id="6" name="Text 4"/>
          <p:cNvSpPr txBox="1"/>
          <p:nvPr/>
        </p:nvSpPr>
        <p:spPr>
          <a:xfrm>
            <a:off x="4663440" y="1691640"/>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Cơ quan quản lý khi mọi thủ tục đã ổn</a:t>
            </a:r>
            <a:endParaRPr lang="en-US" sz="1600" dirty="0"/>
          </a:p>
        </p:txBody>
      </p:sp>
      <p:sp>
        <p:nvSpPr>
          <p:cNvPr id="7" name="Text 5"/>
          <p:cNvSpPr txBox="1"/>
          <p:nvPr/>
        </p:nvSpPr>
        <p:spPr>
          <a:xfrm>
            <a:off x="594360" y="2295144"/>
            <a:ext cx="2377440" cy="548640"/>
          </a:xfrm>
          <a:prstGeom prst="rect">
            <a:avLst/>
          </a:prstGeom>
          <a:noFill/>
          <a:ln/>
        </p:spPr>
        <p:txBody>
          <a:bodyPr wrap="square" lIns="635" tIns="635" rIns="635" bIns="635" rtlCol="0" anchor="ctr"/>
          <a:lstStyle/>
          <a:p>
            <a:pPr indent="0" marL="0">
              <a:buNone/>
            </a:pPr>
            <a:r>
              <a:rPr lang="en-US" sz="1700" b="1" dirty="0">
                <a:solidFill>
                  <a:srgbClr val="A9B6D3"/>
                </a:solidFill>
                <a:latin typeface="Alexandria" pitchFamily="34" charset="0"/>
                <a:ea typeface="Alexandria" pitchFamily="34" charset="-122"/>
                <a:cs typeface="Alexandria" pitchFamily="34" charset="-120"/>
              </a:rPr>
              <a:t>Discretionary</a:t>
            </a:r>
            <a:endParaRPr lang="en-US" sz="1700" dirty="0"/>
          </a:p>
        </p:txBody>
      </p:sp>
      <p:sp>
        <p:nvSpPr>
          <p:cNvPr id="8" name="Text 6"/>
          <p:cNvSpPr txBox="1"/>
          <p:nvPr/>
        </p:nvSpPr>
        <p:spPr>
          <a:xfrm>
            <a:off x="3017520" y="2295144"/>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L</a:t>
            </a:r>
            <a:endParaRPr lang="en-US" sz="1600" dirty="0"/>
          </a:p>
        </p:txBody>
      </p:sp>
      <p:sp>
        <p:nvSpPr>
          <p:cNvPr id="9" name="Text 7"/>
          <p:cNvSpPr txBox="1"/>
          <p:nvPr/>
        </p:nvSpPr>
        <p:spPr>
          <a:xfrm>
            <a:off x="4663440" y="2295144"/>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Hội đoàn từ thiện muốn được mời tham dự</a:t>
            </a:r>
            <a:endParaRPr lang="en-US" sz="1600" dirty="0"/>
          </a:p>
        </p:txBody>
      </p:sp>
      <p:sp>
        <p:nvSpPr>
          <p:cNvPr id="10" name="Shape 8"/>
          <p:cNvSpPr/>
          <p:nvPr/>
        </p:nvSpPr>
        <p:spPr>
          <a:xfrm>
            <a:off x="411480" y="2898648"/>
            <a:ext cx="11365992" cy="548640"/>
          </a:xfrm>
          <a:prstGeom prst="roundRect">
            <a:avLst>
              <a:gd name="adj" fmla="val 13333"/>
            </a:avLst>
          </a:prstGeom>
          <a:solidFill>
            <a:srgbClr val="22395F"/>
          </a:solidFill>
          <a:ln w="12700">
            <a:solidFill>
              <a:srgbClr val="22395F"/>
            </a:solidFill>
            <a:prstDash val="solid"/>
          </a:ln>
        </p:spPr>
      </p:sp>
      <p:sp>
        <p:nvSpPr>
          <p:cNvPr id="11" name="Text 9"/>
          <p:cNvSpPr txBox="1"/>
          <p:nvPr/>
        </p:nvSpPr>
        <p:spPr>
          <a:xfrm>
            <a:off x="594360" y="2898648"/>
            <a:ext cx="2377440" cy="548640"/>
          </a:xfrm>
          <a:prstGeom prst="rect">
            <a:avLst/>
          </a:prstGeom>
          <a:noFill/>
          <a:ln/>
        </p:spPr>
        <p:txBody>
          <a:bodyPr wrap="square" lIns="635" tIns="635" rIns="635" bIns="635" rtlCol="0" anchor="ctr"/>
          <a:lstStyle/>
          <a:p>
            <a:pPr indent="0" marL="0">
              <a:buNone/>
            </a:pPr>
            <a:r>
              <a:rPr lang="en-US" sz="1700" b="1" dirty="0">
                <a:solidFill>
                  <a:srgbClr val="A9B6D3"/>
                </a:solidFill>
                <a:latin typeface="Alexandria" pitchFamily="34" charset="0"/>
                <a:ea typeface="Alexandria" pitchFamily="34" charset="-122"/>
                <a:cs typeface="Alexandria" pitchFamily="34" charset="-120"/>
              </a:rPr>
              <a:t>Demanding</a:t>
            </a:r>
            <a:endParaRPr lang="en-US" sz="1700" dirty="0"/>
          </a:p>
        </p:txBody>
      </p:sp>
      <p:sp>
        <p:nvSpPr>
          <p:cNvPr id="12" name="Text 10"/>
          <p:cNvSpPr txBox="1"/>
          <p:nvPr/>
        </p:nvSpPr>
        <p:spPr>
          <a:xfrm>
            <a:off x="3017520" y="2898648"/>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U</a:t>
            </a:r>
            <a:endParaRPr lang="en-US" sz="1600" dirty="0"/>
          </a:p>
        </p:txBody>
      </p:sp>
      <p:sp>
        <p:nvSpPr>
          <p:cNvPr id="13" name="Text 11"/>
          <p:cNvSpPr txBox="1"/>
          <p:nvPr/>
        </p:nvSpPr>
        <p:spPr>
          <a:xfrm>
            <a:off x="4663440" y="2898648"/>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Một người liên tục phàn nàn trên mạng nhưng ít ảnh hưởng</a:t>
            </a:r>
            <a:endParaRPr lang="en-US" sz="1600" dirty="0"/>
          </a:p>
        </p:txBody>
      </p:sp>
      <p:sp>
        <p:nvSpPr>
          <p:cNvPr id="14" name="Text 12"/>
          <p:cNvSpPr txBox="1"/>
          <p:nvPr/>
        </p:nvSpPr>
        <p:spPr>
          <a:xfrm>
            <a:off x="594360" y="3502152"/>
            <a:ext cx="2377440" cy="54864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Dominant</a:t>
            </a:r>
            <a:endParaRPr lang="en-US" sz="1700" dirty="0"/>
          </a:p>
        </p:txBody>
      </p:sp>
      <p:sp>
        <p:nvSpPr>
          <p:cNvPr id="15" name="Text 13"/>
          <p:cNvSpPr txBox="1"/>
          <p:nvPr/>
        </p:nvSpPr>
        <p:spPr>
          <a:xfrm>
            <a:off x="3017520" y="3502152"/>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P + L</a:t>
            </a:r>
            <a:endParaRPr lang="en-US" sz="1600" dirty="0"/>
          </a:p>
        </p:txBody>
      </p:sp>
      <p:sp>
        <p:nvSpPr>
          <p:cNvPr id="16" name="Text 14"/>
          <p:cNvSpPr txBox="1"/>
          <p:nvPr/>
        </p:nvSpPr>
        <p:spPr>
          <a:xfrm>
            <a:off x="4663440" y="3502152"/>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Nhà tài trợ chính có hợp đồng</a:t>
            </a:r>
            <a:endParaRPr lang="en-US" sz="1600" dirty="0"/>
          </a:p>
        </p:txBody>
      </p:sp>
      <p:sp>
        <p:nvSpPr>
          <p:cNvPr id="17" name="Shape 15"/>
          <p:cNvSpPr/>
          <p:nvPr/>
        </p:nvSpPr>
        <p:spPr>
          <a:xfrm>
            <a:off x="411480" y="4105656"/>
            <a:ext cx="11365992" cy="548640"/>
          </a:xfrm>
          <a:prstGeom prst="roundRect">
            <a:avLst>
              <a:gd name="adj" fmla="val 13333"/>
            </a:avLst>
          </a:prstGeom>
          <a:solidFill>
            <a:srgbClr val="22395F"/>
          </a:solidFill>
          <a:ln w="12700">
            <a:solidFill>
              <a:srgbClr val="22395F"/>
            </a:solidFill>
            <a:prstDash val="solid"/>
          </a:ln>
        </p:spPr>
      </p:sp>
      <p:sp>
        <p:nvSpPr>
          <p:cNvPr id="18" name="Text 16"/>
          <p:cNvSpPr txBox="1"/>
          <p:nvPr/>
        </p:nvSpPr>
        <p:spPr>
          <a:xfrm>
            <a:off x="594360" y="4105656"/>
            <a:ext cx="2377440" cy="54864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Dangerous</a:t>
            </a:r>
            <a:endParaRPr lang="en-US" sz="1700" dirty="0"/>
          </a:p>
        </p:txBody>
      </p:sp>
      <p:sp>
        <p:nvSpPr>
          <p:cNvPr id="19" name="Text 17"/>
          <p:cNvSpPr txBox="1"/>
          <p:nvPr/>
        </p:nvSpPr>
        <p:spPr>
          <a:xfrm>
            <a:off x="3017520" y="4105656"/>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P + U</a:t>
            </a:r>
            <a:endParaRPr lang="en-US" sz="1600" dirty="0"/>
          </a:p>
        </p:txBody>
      </p:sp>
      <p:sp>
        <p:nvSpPr>
          <p:cNvPr id="20" name="Text 18"/>
          <p:cNvSpPr txBox="1"/>
          <p:nvPr/>
        </p:nvSpPr>
        <p:spPr>
          <a:xfrm>
            <a:off x="4663440" y="4105656"/>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Nhà cung cấp dọa ngừng thi công sát giờ G để ép giá</a:t>
            </a:r>
            <a:endParaRPr lang="en-US" sz="1600" dirty="0"/>
          </a:p>
        </p:txBody>
      </p:sp>
      <p:sp>
        <p:nvSpPr>
          <p:cNvPr id="21" name="Text 19"/>
          <p:cNvSpPr txBox="1"/>
          <p:nvPr/>
        </p:nvSpPr>
        <p:spPr>
          <a:xfrm>
            <a:off x="594360" y="4709160"/>
            <a:ext cx="2377440" cy="54864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Dependent</a:t>
            </a:r>
            <a:endParaRPr lang="en-US" sz="1700" dirty="0"/>
          </a:p>
        </p:txBody>
      </p:sp>
      <p:sp>
        <p:nvSpPr>
          <p:cNvPr id="22" name="Text 20"/>
          <p:cNvSpPr txBox="1"/>
          <p:nvPr/>
        </p:nvSpPr>
        <p:spPr>
          <a:xfrm>
            <a:off x="3017520" y="4709160"/>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L + U</a:t>
            </a:r>
            <a:endParaRPr lang="en-US" sz="1600" dirty="0"/>
          </a:p>
        </p:txBody>
      </p:sp>
      <p:sp>
        <p:nvSpPr>
          <p:cNvPr id="23" name="Text 21"/>
          <p:cNvSpPr txBox="1"/>
          <p:nvPr/>
        </p:nvSpPr>
        <p:spPr>
          <a:xfrm>
            <a:off x="4663440" y="4709160"/>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Cư dân quanh địa điểm phản ánh tiếng ồn</a:t>
            </a:r>
            <a:endParaRPr lang="en-US" sz="1600" dirty="0"/>
          </a:p>
        </p:txBody>
      </p:sp>
      <p:sp>
        <p:nvSpPr>
          <p:cNvPr id="24" name="Shape 22"/>
          <p:cNvSpPr/>
          <p:nvPr/>
        </p:nvSpPr>
        <p:spPr>
          <a:xfrm>
            <a:off x="411480" y="5312664"/>
            <a:ext cx="11365992" cy="548640"/>
          </a:xfrm>
          <a:prstGeom prst="roundRect">
            <a:avLst>
              <a:gd name="adj" fmla="val 13333"/>
            </a:avLst>
          </a:prstGeom>
          <a:solidFill>
            <a:srgbClr val="22395F"/>
          </a:solidFill>
          <a:ln w="12700">
            <a:solidFill>
              <a:srgbClr val="22395F"/>
            </a:solidFill>
            <a:prstDash val="solid"/>
          </a:ln>
        </p:spPr>
      </p:sp>
      <p:sp>
        <p:nvSpPr>
          <p:cNvPr id="25" name="Text 23"/>
          <p:cNvSpPr txBox="1"/>
          <p:nvPr/>
        </p:nvSpPr>
        <p:spPr>
          <a:xfrm>
            <a:off x="594360" y="5312664"/>
            <a:ext cx="2377440"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Definitive</a:t>
            </a:r>
            <a:endParaRPr lang="en-US" sz="1700" dirty="0"/>
          </a:p>
        </p:txBody>
      </p:sp>
      <p:sp>
        <p:nvSpPr>
          <p:cNvPr id="26" name="Text 24"/>
          <p:cNvSpPr txBox="1"/>
          <p:nvPr/>
        </p:nvSpPr>
        <p:spPr>
          <a:xfrm>
            <a:off x="3017520" y="5312664"/>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P + L + U</a:t>
            </a:r>
            <a:endParaRPr lang="en-US" sz="1600" dirty="0"/>
          </a:p>
        </p:txBody>
      </p:sp>
      <p:sp>
        <p:nvSpPr>
          <p:cNvPr id="27" name="Text 25"/>
          <p:cNvSpPr txBox="1"/>
          <p:nvPr/>
        </p:nvSpPr>
        <p:spPr>
          <a:xfrm>
            <a:off x="4663440" y="5312664"/>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Khách hàng yêu cầu đổi kịch bản 48 giờ trước sự kiện</a:t>
            </a:r>
            <a:endParaRPr lang="en-US" sz="1600" dirty="0"/>
          </a:p>
        </p:txBody>
      </p:sp>
      <p:sp>
        <p:nvSpPr>
          <p:cNvPr id="28" name="Text 26"/>
          <p:cNvSpPr txBox="1"/>
          <p:nvPr/>
        </p:nvSpPr>
        <p:spPr>
          <a:xfrm>
            <a:off x="9966960" y="598932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Alexandria" pitchFamily="34" charset="0"/>
                <a:ea typeface="Alexandria" pitchFamily="34" charset="-122"/>
                <a:cs typeface="Alexandria" pitchFamily="34" charset="-120"/>
              </a:rPr>
              <a:t>(minh họa)</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Giơ 1–4 ngón: nhà cung cấp LED này thuộc loại nào?</a:t>
            </a:r>
            <a:endParaRPr lang="en-US" sz="2800" dirty="0"/>
          </a:p>
        </p:txBody>
      </p:sp>
      <p:sp>
        <p:nvSpPr>
          <p:cNvPr id="3" name="Shape 1"/>
          <p:cNvSpPr/>
          <p:nvPr/>
        </p:nvSpPr>
        <p:spPr>
          <a:xfrm>
            <a:off x="548640" y="1783080"/>
            <a:ext cx="6583680" cy="3017520"/>
          </a:xfrm>
          <a:prstGeom prst="roundRect">
            <a:avLst>
              <a:gd name="adj" fmla="val 2424"/>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37760" cy="2651760"/>
          </a:xfrm>
          <a:prstGeom prst="rect">
            <a:avLst/>
          </a:prstGeom>
          <a:noFill/>
          <a:ln/>
        </p:spPr>
        <p:txBody>
          <a:bodyPr wrap="square" lIns="635" tIns="635" rIns="635" bIns="635" rtlCol="0" anchor="t"/>
          <a:lstStyle/>
          <a:p>
            <a:pPr indent="0" marL="0">
              <a:buNone/>
            </a:pPr>
            <a:r>
              <a:rPr lang="en-US" sz="1900" dirty="0">
                <a:solidFill>
                  <a:srgbClr val="FBFAF4"/>
                </a:solidFill>
                <a:latin typeface="Alexandria" pitchFamily="34" charset="0"/>
                <a:ea typeface="Alexandria" pitchFamily="34" charset="-122"/>
                <a:cs typeface="Alexandria" pitchFamily="34" charset="-120"/>
              </a:rPr>
              <a:t>Đơn vị LED duy nhất có màn đúng kích thước dọa dừng lắp đặt 6 giờ trước giờ G nếu Nova không trả thêm 30% ngoài hợp đồng.</a:t>
            </a:r>
            <a:endParaRPr lang="en-US" sz="1900" dirty="0"/>
          </a:p>
        </p:txBody>
      </p:sp>
      <p:sp>
        <p:nvSpPr>
          <p:cNvPr id="7" name="Text 4"/>
          <p:cNvSpPr txBox="1"/>
          <p:nvPr/>
        </p:nvSpPr>
        <p:spPr>
          <a:xfrm>
            <a:off x="822960" y="4343400"/>
            <a:ext cx="1828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8" name="Shape 5"/>
          <p:cNvSpPr/>
          <p:nvPr/>
        </p:nvSpPr>
        <p:spPr>
          <a:xfrm>
            <a:off x="7498080" y="1783080"/>
            <a:ext cx="640080" cy="640080"/>
          </a:xfrm>
          <a:prstGeom prst="ellipse">
            <a:avLst/>
          </a:prstGeom>
          <a:solidFill>
            <a:srgbClr val="49B296"/>
          </a:solidFill>
          <a:ln w="12700">
            <a:solidFill>
              <a:srgbClr val="49B296"/>
            </a:solidFill>
            <a:prstDash val="solid"/>
          </a:ln>
        </p:spPr>
      </p:sp>
      <p:sp>
        <p:nvSpPr>
          <p:cNvPr id="9" name="Text 6"/>
          <p:cNvSpPr txBox="1"/>
          <p:nvPr/>
        </p:nvSpPr>
        <p:spPr>
          <a:xfrm>
            <a:off x="7498080" y="178308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a:t>
            </a:r>
            <a:endParaRPr lang="en-US" sz="1800" dirty="0"/>
          </a:p>
        </p:txBody>
      </p:sp>
      <p:sp>
        <p:nvSpPr>
          <p:cNvPr id="10" name="Shape 7"/>
          <p:cNvSpPr/>
          <p:nvPr/>
        </p:nvSpPr>
        <p:spPr>
          <a:xfrm>
            <a:off x="8321040" y="1783080"/>
            <a:ext cx="3319272" cy="640080"/>
          </a:xfrm>
          <a:prstGeom prst="roundRect">
            <a:avLst>
              <a:gd name="adj" fmla="val 11429"/>
            </a:avLst>
          </a:prstGeom>
          <a:solidFill>
            <a:srgbClr val="22395F"/>
          </a:solidFill>
          <a:ln w="12700">
            <a:solidFill>
              <a:srgbClr val="22395F"/>
            </a:solidFill>
            <a:prstDash val="solid"/>
          </a:ln>
        </p:spPr>
      </p:sp>
      <p:sp>
        <p:nvSpPr>
          <p:cNvPr id="11" name="Text 8"/>
          <p:cNvSpPr txBox="1"/>
          <p:nvPr/>
        </p:nvSpPr>
        <p:spPr>
          <a:xfrm>
            <a:off x="8503920" y="178308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Dominant</a:t>
            </a:r>
            <a:endParaRPr lang="en-US" sz="1900" dirty="0"/>
          </a:p>
        </p:txBody>
      </p:sp>
      <p:sp>
        <p:nvSpPr>
          <p:cNvPr id="12" name="Shape 9"/>
          <p:cNvSpPr/>
          <p:nvPr/>
        </p:nvSpPr>
        <p:spPr>
          <a:xfrm>
            <a:off x="7498080" y="2560320"/>
            <a:ext cx="640080" cy="640080"/>
          </a:xfrm>
          <a:prstGeom prst="ellipse">
            <a:avLst/>
          </a:prstGeom>
          <a:solidFill>
            <a:srgbClr val="FF5178"/>
          </a:solidFill>
          <a:ln w="12700">
            <a:solidFill>
              <a:srgbClr val="FF5178"/>
            </a:solidFill>
            <a:prstDash val="solid"/>
          </a:ln>
        </p:spPr>
      </p:sp>
      <p:sp>
        <p:nvSpPr>
          <p:cNvPr id="13" name="Text 10"/>
          <p:cNvSpPr txBox="1"/>
          <p:nvPr/>
        </p:nvSpPr>
        <p:spPr>
          <a:xfrm>
            <a:off x="7498080" y="256032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2</a:t>
            </a:r>
            <a:endParaRPr lang="en-US" sz="1800" dirty="0"/>
          </a:p>
        </p:txBody>
      </p:sp>
      <p:sp>
        <p:nvSpPr>
          <p:cNvPr id="14" name="Shape 11"/>
          <p:cNvSpPr/>
          <p:nvPr/>
        </p:nvSpPr>
        <p:spPr>
          <a:xfrm>
            <a:off x="8321040" y="2560320"/>
            <a:ext cx="3319272" cy="640080"/>
          </a:xfrm>
          <a:prstGeom prst="roundRect">
            <a:avLst>
              <a:gd name="adj" fmla="val 11429"/>
            </a:avLst>
          </a:prstGeom>
          <a:solidFill>
            <a:srgbClr val="22395F"/>
          </a:solidFill>
          <a:ln w="12700">
            <a:solidFill>
              <a:srgbClr val="22395F"/>
            </a:solidFill>
            <a:prstDash val="solid"/>
          </a:ln>
        </p:spPr>
      </p:sp>
      <p:sp>
        <p:nvSpPr>
          <p:cNvPr id="15" name="Text 12"/>
          <p:cNvSpPr txBox="1"/>
          <p:nvPr/>
        </p:nvSpPr>
        <p:spPr>
          <a:xfrm>
            <a:off x="8503920" y="256032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Dangerous</a:t>
            </a:r>
            <a:endParaRPr lang="en-US" sz="1900" dirty="0"/>
          </a:p>
        </p:txBody>
      </p:sp>
      <p:sp>
        <p:nvSpPr>
          <p:cNvPr id="16" name="Shape 13"/>
          <p:cNvSpPr/>
          <p:nvPr/>
        </p:nvSpPr>
        <p:spPr>
          <a:xfrm>
            <a:off x="7498080" y="3337560"/>
            <a:ext cx="640080" cy="640080"/>
          </a:xfrm>
          <a:prstGeom prst="ellipse">
            <a:avLst/>
          </a:prstGeom>
          <a:solidFill>
            <a:srgbClr val="09A1E5"/>
          </a:solidFill>
          <a:ln w="12700">
            <a:solidFill>
              <a:srgbClr val="09A1E5"/>
            </a:solidFill>
            <a:prstDash val="solid"/>
          </a:ln>
        </p:spPr>
      </p:sp>
      <p:sp>
        <p:nvSpPr>
          <p:cNvPr id="17" name="Text 14"/>
          <p:cNvSpPr txBox="1"/>
          <p:nvPr/>
        </p:nvSpPr>
        <p:spPr>
          <a:xfrm>
            <a:off x="7498080" y="333756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3</a:t>
            </a:r>
            <a:endParaRPr lang="en-US" sz="1800" dirty="0"/>
          </a:p>
        </p:txBody>
      </p:sp>
      <p:sp>
        <p:nvSpPr>
          <p:cNvPr id="18" name="Shape 15"/>
          <p:cNvSpPr/>
          <p:nvPr/>
        </p:nvSpPr>
        <p:spPr>
          <a:xfrm>
            <a:off x="8321040" y="3337560"/>
            <a:ext cx="3319272" cy="640080"/>
          </a:xfrm>
          <a:prstGeom prst="roundRect">
            <a:avLst>
              <a:gd name="adj" fmla="val 11429"/>
            </a:avLst>
          </a:prstGeom>
          <a:solidFill>
            <a:srgbClr val="22395F"/>
          </a:solidFill>
          <a:ln w="12700">
            <a:solidFill>
              <a:srgbClr val="22395F"/>
            </a:solidFill>
            <a:prstDash val="solid"/>
          </a:ln>
        </p:spPr>
      </p:sp>
      <p:sp>
        <p:nvSpPr>
          <p:cNvPr id="19" name="Text 16"/>
          <p:cNvSpPr txBox="1"/>
          <p:nvPr/>
        </p:nvSpPr>
        <p:spPr>
          <a:xfrm>
            <a:off x="8503920" y="333756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Dependent</a:t>
            </a:r>
            <a:endParaRPr lang="en-US" sz="1900" dirty="0"/>
          </a:p>
        </p:txBody>
      </p:sp>
      <p:sp>
        <p:nvSpPr>
          <p:cNvPr id="20" name="Shape 17"/>
          <p:cNvSpPr/>
          <p:nvPr/>
        </p:nvSpPr>
        <p:spPr>
          <a:xfrm>
            <a:off x="7498080" y="4114800"/>
            <a:ext cx="640080" cy="640080"/>
          </a:xfrm>
          <a:prstGeom prst="ellipse">
            <a:avLst/>
          </a:prstGeom>
          <a:solidFill>
            <a:srgbClr val="FFD23B"/>
          </a:solidFill>
          <a:ln w="12700">
            <a:solidFill>
              <a:srgbClr val="FFD23B"/>
            </a:solidFill>
            <a:prstDash val="solid"/>
          </a:ln>
        </p:spPr>
      </p:sp>
      <p:sp>
        <p:nvSpPr>
          <p:cNvPr id="21" name="Text 18"/>
          <p:cNvSpPr txBox="1"/>
          <p:nvPr/>
        </p:nvSpPr>
        <p:spPr>
          <a:xfrm>
            <a:off x="7498080" y="4114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4</a:t>
            </a:r>
            <a:endParaRPr lang="en-US" sz="1800" dirty="0"/>
          </a:p>
        </p:txBody>
      </p:sp>
      <p:sp>
        <p:nvSpPr>
          <p:cNvPr id="22" name="Shape 19"/>
          <p:cNvSpPr/>
          <p:nvPr/>
        </p:nvSpPr>
        <p:spPr>
          <a:xfrm>
            <a:off x="8321040" y="4114800"/>
            <a:ext cx="3319272" cy="640080"/>
          </a:xfrm>
          <a:prstGeom prst="roundRect">
            <a:avLst>
              <a:gd name="adj" fmla="val 11429"/>
            </a:avLst>
          </a:prstGeom>
          <a:solidFill>
            <a:srgbClr val="22395F"/>
          </a:solidFill>
          <a:ln w="12700">
            <a:solidFill>
              <a:srgbClr val="22395F"/>
            </a:solidFill>
            <a:prstDash val="solid"/>
          </a:ln>
        </p:spPr>
      </p:sp>
      <p:sp>
        <p:nvSpPr>
          <p:cNvPr id="23" name="Text 20"/>
          <p:cNvSpPr txBox="1"/>
          <p:nvPr/>
        </p:nvSpPr>
        <p:spPr>
          <a:xfrm>
            <a:off x="8503920" y="411480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Definitive</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Đáp án: Dangerous — có quyền lực và cấp bách, nhưng thiếu chính đáng</a:t>
            </a:r>
            <a:endParaRPr lang="en-US" sz="2800" dirty="0"/>
          </a:p>
        </p:txBody>
      </p:sp>
      <p:sp>
        <p:nvSpPr>
          <p:cNvPr id="3" name="Shape 1"/>
          <p:cNvSpPr/>
          <p:nvPr/>
        </p:nvSpPr>
        <p:spPr>
          <a:xfrm>
            <a:off x="548640" y="1783080"/>
            <a:ext cx="6583680" cy="868680"/>
          </a:xfrm>
          <a:prstGeom prst="roundRect">
            <a:avLst>
              <a:gd name="adj" fmla="val 8421"/>
            </a:avLst>
          </a:prstGeom>
          <a:solidFill>
            <a:srgbClr val="22395F"/>
          </a:solidFill>
          <a:ln w="12700">
            <a:solidFill>
              <a:srgbClr val="22395F"/>
            </a:solidFill>
            <a:prstDash val="solid"/>
          </a:ln>
        </p:spPr>
      </p:sp>
      <p:sp>
        <p:nvSpPr>
          <p:cNvPr id="4" name="Shape 2"/>
          <p:cNvSpPr/>
          <p:nvPr/>
        </p:nvSpPr>
        <p:spPr>
          <a:xfrm>
            <a:off x="731520" y="1920240"/>
            <a:ext cx="594360" cy="59436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862279" y="2050999"/>
            <a:ext cx="332842" cy="332842"/>
          </a:xfrm>
          <a:prstGeom prst="rect">
            <a:avLst/>
          </a:prstGeom>
        </p:spPr>
      </p:pic>
      <p:sp>
        <p:nvSpPr>
          <p:cNvPr id="6" name="Text 3"/>
          <p:cNvSpPr txBox="1"/>
          <p:nvPr/>
        </p:nvSpPr>
        <p:spPr>
          <a:xfrm>
            <a:off x="1554480" y="1783080"/>
            <a:ext cx="5486400" cy="86868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Power: </a:t>
            </a:r>
            <a:pPr indent="0" marL="0">
              <a:buNone/>
            </a:pPr>
            <a:r>
              <a:rPr lang="en-US" sz="1800" dirty="0">
                <a:solidFill>
                  <a:srgbClr val="FBFAF4"/>
                </a:solidFill>
                <a:latin typeface="Alexandria" pitchFamily="34" charset="0"/>
                <a:ea typeface="Alexandria" pitchFamily="34" charset="-122"/>
                <a:cs typeface="Alexandria" pitchFamily="34" charset="-120"/>
              </a:rPr>
              <a:t>có — chỉ họ có màn phù hợp</a:t>
            </a:r>
            <a:endParaRPr lang="en-US" sz="1800" dirty="0"/>
          </a:p>
        </p:txBody>
      </p:sp>
      <p:sp>
        <p:nvSpPr>
          <p:cNvPr id="7" name="Shape 4"/>
          <p:cNvSpPr/>
          <p:nvPr/>
        </p:nvSpPr>
        <p:spPr>
          <a:xfrm>
            <a:off x="548640" y="2834640"/>
            <a:ext cx="6583680" cy="868680"/>
          </a:xfrm>
          <a:prstGeom prst="roundRect">
            <a:avLst>
              <a:gd name="adj" fmla="val 8421"/>
            </a:avLst>
          </a:prstGeom>
          <a:solidFill>
            <a:srgbClr val="22395F"/>
          </a:solidFill>
          <a:ln w="12700">
            <a:solidFill>
              <a:srgbClr val="22395F"/>
            </a:solidFill>
            <a:prstDash val="solid"/>
          </a:ln>
        </p:spPr>
      </p:sp>
      <p:sp>
        <p:nvSpPr>
          <p:cNvPr id="8" name="Shape 5"/>
          <p:cNvSpPr/>
          <p:nvPr/>
        </p:nvSpPr>
        <p:spPr>
          <a:xfrm>
            <a:off x="731520" y="2971800"/>
            <a:ext cx="594360" cy="594360"/>
          </a:xfrm>
          <a:prstGeom prst="ellipse">
            <a:avLst/>
          </a:prstGeom>
          <a:solidFill>
            <a:srgbClr val="49B296"/>
          </a:solidFill>
          <a:ln w="12700">
            <a:solidFill>
              <a:srgbClr val="49B296"/>
            </a:solidFill>
            <a:prstDash val="solid"/>
          </a:ln>
        </p:spPr>
      </p:sp>
      <p:pic>
        <p:nvPicPr>
          <p:cNvPr id="9" name="Image 1" descr="preencoded.png">    </p:cNvPr>
          <p:cNvPicPr>
            <a:picLocks noChangeAspect="1"/>
          </p:cNvPicPr>
          <p:nvPr/>
        </p:nvPicPr>
        <p:blipFill>
          <a:blip r:embed="rId2"/>
          <a:stretch>
            <a:fillRect/>
          </a:stretch>
        </p:blipFill>
        <p:spPr>
          <a:xfrm>
            <a:off x="862279" y="3102559"/>
            <a:ext cx="332842" cy="332842"/>
          </a:xfrm>
          <a:prstGeom prst="rect">
            <a:avLst/>
          </a:prstGeom>
        </p:spPr>
      </p:pic>
      <p:sp>
        <p:nvSpPr>
          <p:cNvPr id="10" name="Text 6"/>
          <p:cNvSpPr txBox="1"/>
          <p:nvPr/>
        </p:nvSpPr>
        <p:spPr>
          <a:xfrm>
            <a:off x="1554480" y="2834640"/>
            <a:ext cx="5486400" cy="86868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Urgency: </a:t>
            </a:r>
            <a:pPr indent="0" marL="0">
              <a:buNone/>
            </a:pPr>
            <a:r>
              <a:rPr lang="en-US" sz="1800" dirty="0">
                <a:solidFill>
                  <a:srgbClr val="FBFAF4"/>
                </a:solidFill>
                <a:latin typeface="Alexandria" pitchFamily="34" charset="0"/>
                <a:ea typeface="Alexandria" pitchFamily="34" charset="-122"/>
                <a:cs typeface="Alexandria" pitchFamily="34" charset="-120"/>
              </a:rPr>
              <a:t>có — 6 giờ trước giờ G</a:t>
            </a:r>
            <a:endParaRPr lang="en-US" sz="1800" dirty="0"/>
          </a:p>
        </p:txBody>
      </p:sp>
      <p:sp>
        <p:nvSpPr>
          <p:cNvPr id="11" name="Shape 7"/>
          <p:cNvSpPr/>
          <p:nvPr/>
        </p:nvSpPr>
        <p:spPr>
          <a:xfrm>
            <a:off x="548640" y="3886200"/>
            <a:ext cx="6583680" cy="868680"/>
          </a:xfrm>
          <a:prstGeom prst="roundRect">
            <a:avLst>
              <a:gd name="adj" fmla="val 8421"/>
            </a:avLst>
          </a:prstGeom>
          <a:solidFill>
            <a:srgbClr val="22395F"/>
          </a:solidFill>
          <a:ln w="12700">
            <a:solidFill>
              <a:srgbClr val="22395F"/>
            </a:solidFill>
            <a:prstDash val="solid"/>
          </a:ln>
        </p:spPr>
      </p:sp>
      <p:sp>
        <p:nvSpPr>
          <p:cNvPr id="12" name="Shape 8"/>
          <p:cNvSpPr/>
          <p:nvPr/>
        </p:nvSpPr>
        <p:spPr>
          <a:xfrm>
            <a:off x="731520" y="402336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154119"/>
            <a:ext cx="332842" cy="332842"/>
          </a:xfrm>
          <a:prstGeom prst="rect">
            <a:avLst/>
          </a:prstGeom>
        </p:spPr>
      </p:pic>
      <p:sp>
        <p:nvSpPr>
          <p:cNvPr id="14" name="Text 9"/>
          <p:cNvSpPr txBox="1"/>
          <p:nvPr/>
        </p:nvSpPr>
        <p:spPr>
          <a:xfrm>
            <a:off x="1554480" y="3886200"/>
            <a:ext cx="5486400" cy="86868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Legitimacy: </a:t>
            </a:r>
            <a:pPr indent="0" marL="0">
              <a:buNone/>
            </a:pPr>
            <a:r>
              <a:rPr lang="en-US" sz="1800" dirty="0">
                <a:solidFill>
                  <a:srgbClr val="FBFAF4"/>
                </a:solidFill>
                <a:latin typeface="Alexandria" pitchFamily="34" charset="0"/>
                <a:ea typeface="Alexandria" pitchFamily="34" charset="-122"/>
                <a:cs typeface="Alexandria" pitchFamily="34" charset="-120"/>
              </a:rPr>
              <a:t>không — đòi thêm ngoài hợp đồng</a:t>
            </a:r>
            <a:endParaRPr lang="en-US" sz="1800" dirty="0"/>
          </a:p>
        </p:txBody>
      </p:sp>
      <p:sp>
        <p:nvSpPr>
          <p:cNvPr id="15" name="Shape 10"/>
          <p:cNvSpPr/>
          <p:nvPr/>
        </p:nvSpPr>
        <p:spPr>
          <a:xfrm>
            <a:off x="7498080" y="1783080"/>
            <a:ext cx="4142232" cy="2971800"/>
          </a:xfrm>
          <a:prstGeom prst="roundRect">
            <a:avLst>
              <a:gd name="adj" fmla="val 2462"/>
            </a:avLst>
          </a:prstGeom>
          <a:solidFill>
            <a:srgbClr val="FFD23B"/>
          </a:solidFill>
          <a:ln w="12700">
            <a:solidFill>
              <a:srgbClr val="FFD23B"/>
            </a:solidFill>
            <a:prstDash val="solid"/>
          </a:ln>
        </p:spPr>
      </p:sp>
      <p:sp>
        <p:nvSpPr>
          <p:cNvPr id="16" name="Text 11"/>
          <p:cNvSpPr txBox="1"/>
          <p:nvPr/>
        </p:nvSpPr>
        <p:spPr>
          <a:xfrm>
            <a:off x="7726680" y="1783080"/>
            <a:ext cx="3703320" cy="297180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Không nhượng bộ ngay: bảo vệ bằng điều khoản hợp đồng và phương án dự phòng.</a:t>
            </a:r>
            <a:endParaRPr lang="en-US" sz="2000" dirty="0"/>
          </a:p>
        </p:txBody>
      </p:sp>
      <p:sp>
        <p:nvSpPr>
          <p:cNvPr id="17" name="Text 12"/>
          <p:cNvSpPr txBox="1"/>
          <p:nvPr/>
        </p:nvSpPr>
        <p:spPr>
          <a:xfrm>
            <a:off x="548640" y="5120640"/>
            <a:ext cx="11091672" cy="5486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Sẽ học kỹ ở Buổi 7 (ma trận Kraljic) và Buổi 10 (nhà cung ứng).</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Bên liên quan có thể “lên hạng”: cư dân thành Definitive khi báo chí và phường vào cuộc</a:t>
            </a:r>
            <a:endParaRPr lang="en-US" sz="2800" dirty="0"/>
          </a:p>
        </p:txBody>
      </p:sp>
      <p:sp>
        <p:nvSpPr>
          <p:cNvPr id="3" name="Shape 1"/>
          <p:cNvSpPr/>
          <p:nvPr/>
        </p:nvSpPr>
        <p:spPr>
          <a:xfrm>
            <a:off x="548640" y="1828800"/>
            <a:ext cx="3108960" cy="2194560"/>
          </a:xfrm>
          <a:prstGeom prst="roundRect">
            <a:avLst>
              <a:gd name="adj" fmla="val 3333"/>
            </a:avLst>
          </a:prstGeom>
          <a:solidFill>
            <a:srgbClr val="49B296"/>
          </a:solidFill>
          <a:ln w="12700">
            <a:solidFill>
              <a:srgbClr val="49B296"/>
            </a:solidFill>
            <a:prstDash val="solid"/>
          </a:ln>
        </p:spPr>
      </p:sp>
      <p:sp>
        <p:nvSpPr>
          <p:cNvPr id="4" name="Text 2"/>
          <p:cNvSpPr txBox="1"/>
          <p:nvPr/>
        </p:nvSpPr>
        <p:spPr>
          <a:xfrm>
            <a:off x="548640" y="1828800"/>
            <a:ext cx="3108960" cy="219456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Dependent</a:t>
            </a:r>
            <a:endParaRPr lang="en-US" sz="2200" dirty="0"/>
          </a:p>
          <a:p>
            <a:pPr algn="ctr" indent="0" marL="0">
              <a:buNone/>
            </a:pPr>
            <a:r>
              <a:rPr lang="en-US" sz="2200" b="1" dirty="0">
                <a:solidFill>
                  <a:srgbClr val="172849"/>
                </a:solidFill>
                <a:latin typeface="Alexandria" pitchFamily="34" charset="0"/>
                <a:ea typeface="Alexandria" pitchFamily="34" charset="-122"/>
                <a:cs typeface="Alexandria" pitchFamily="34" charset="-120"/>
              </a:rPr>
              <a:t>L + U</a:t>
            </a:r>
            <a:endParaRPr lang="en-US" sz="2200" dirty="0"/>
          </a:p>
        </p:txBody>
      </p:sp>
      <p:sp>
        <p:nvSpPr>
          <p:cNvPr id="5" name="Shape 3"/>
          <p:cNvSpPr/>
          <p:nvPr/>
        </p:nvSpPr>
        <p:spPr>
          <a:xfrm>
            <a:off x="3840480" y="2606040"/>
            <a:ext cx="914400" cy="640080"/>
          </a:xfrm>
          <a:prstGeom prst="rightArrow">
            <a:avLst/>
          </a:prstGeom>
          <a:solidFill>
            <a:srgbClr val="A9B6D3"/>
          </a:solidFill>
          <a:ln w="12700">
            <a:solidFill>
              <a:srgbClr val="A9B6D3"/>
            </a:solidFill>
            <a:prstDash val="solid"/>
          </a:ln>
        </p:spPr>
      </p:sp>
      <p:sp>
        <p:nvSpPr>
          <p:cNvPr id="6" name="Shape 4"/>
          <p:cNvSpPr/>
          <p:nvPr/>
        </p:nvSpPr>
        <p:spPr>
          <a:xfrm>
            <a:off x="4937760" y="1828800"/>
            <a:ext cx="2377440" cy="2194560"/>
          </a:xfrm>
          <a:prstGeom prst="roundRect">
            <a:avLst>
              <a:gd name="adj" fmla="val 3333"/>
            </a:avLst>
          </a:prstGeom>
          <a:solidFill>
            <a:srgbClr val="22395F"/>
          </a:solidFill>
          <a:ln w="12700">
            <a:solidFill>
              <a:srgbClr val="22395F"/>
            </a:solidFill>
            <a:prstDash val="solid"/>
          </a:ln>
        </p:spPr>
      </p:sp>
      <p:sp>
        <p:nvSpPr>
          <p:cNvPr id="7" name="Shape 5"/>
          <p:cNvSpPr/>
          <p:nvPr/>
        </p:nvSpPr>
        <p:spPr>
          <a:xfrm>
            <a:off x="5257800" y="2057400"/>
            <a:ext cx="731520" cy="731520"/>
          </a:xfrm>
          <a:prstGeom prst="ellipse">
            <a:avLst/>
          </a:prstGeom>
          <a:solidFill>
            <a:srgbClr val="09A1E5"/>
          </a:solidFill>
          <a:ln w="12700">
            <a:solidFill>
              <a:srgbClr val="09A1E5"/>
            </a:solidFill>
            <a:prstDash val="solid"/>
          </a:ln>
        </p:spPr>
      </p:sp>
      <p:pic>
        <p:nvPicPr>
          <p:cNvPr id="8" name="Image 0" descr="preencoded.png">    </p:cNvPr>
          <p:cNvPicPr>
            <a:picLocks noChangeAspect="1"/>
          </p:cNvPicPr>
          <p:nvPr/>
        </p:nvPicPr>
        <p:blipFill>
          <a:blip r:embed="rId1"/>
          <a:stretch>
            <a:fillRect/>
          </a:stretch>
        </p:blipFill>
        <p:spPr>
          <a:xfrm>
            <a:off x="5418734" y="2218334"/>
            <a:ext cx="409651" cy="409651"/>
          </a:xfrm>
          <a:prstGeom prst="rect">
            <a:avLst/>
          </a:prstGeom>
        </p:spPr>
      </p:pic>
      <p:sp>
        <p:nvSpPr>
          <p:cNvPr id="9" name="Shape 6"/>
          <p:cNvSpPr/>
          <p:nvPr/>
        </p:nvSpPr>
        <p:spPr>
          <a:xfrm>
            <a:off x="6263640" y="2057400"/>
            <a:ext cx="731520" cy="731520"/>
          </a:xfrm>
          <a:prstGeom prst="ellipse">
            <a:avLst/>
          </a:prstGeom>
          <a:solidFill>
            <a:srgbClr val="FF9259"/>
          </a:solidFill>
          <a:ln w="12700">
            <a:solidFill>
              <a:srgbClr val="FF9259"/>
            </a:solidFill>
            <a:prstDash val="solid"/>
          </a:ln>
        </p:spPr>
      </p:sp>
      <p:pic>
        <p:nvPicPr>
          <p:cNvPr id="10" name="Image 1" descr="preencoded.png">    </p:cNvPr>
          <p:cNvPicPr>
            <a:picLocks noChangeAspect="1"/>
          </p:cNvPicPr>
          <p:nvPr/>
        </p:nvPicPr>
        <p:blipFill>
          <a:blip r:embed="rId2"/>
          <a:stretch>
            <a:fillRect/>
          </a:stretch>
        </p:blipFill>
        <p:spPr>
          <a:xfrm>
            <a:off x="6424574" y="2218334"/>
            <a:ext cx="409651" cy="409651"/>
          </a:xfrm>
          <a:prstGeom prst="rect">
            <a:avLst/>
          </a:prstGeom>
        </p:spPr>
      </p:pic>
      <p:sp>
        <p:nvSpPr>
          <p:cNvPr id="11" name="Text 7"/>
          <p:cNvSpPr txBox="1"/>
          <p:nvPr/>
        </p:nvSpPr>
        <p:spPr>
          <a:xfrm>
            <a:off x="4937760" y="2926080"/>
            <a:ext cx="2377440" cy="914400"/>
          </a:xfrm>
          <a:prstGeom prst="rect">
            <a:avLst/>
          </a:prstGeom>
          <a:noFill/>
          <a:ln/>
        </p:spPr>
        <p:txBody>
          <a:bodyPr wrap="square" lIns="635" tIns="635" rIns="635" bIns="635" rtlCol="0" anchor="ctr"/>
          <a:lstStyle/>
          <a:p>
            <a:pPr algn="ctr" indent="0" marL="0">
              <a:buNone/>
            </a:pPr>
            <a:r>
              <a:rPr lang="en-US" sz="1500" dirty="0">
                <a:solidFill>
                  <a:srgbClr val="FBFAF4"/>
                </a:solidFill>
                <a:latin typeface="Alexandria" pitchFamily="34" charset="0"/>
                <a:ea typeface="Alexandria" pitchFamily="34" charset="-122"/>
                <a:cs typeface="Alexandria" pitchFamily="34" charset="-120"/>
              </a:rPr>
              <a:t>+ bài báo</a:t>
            </a:r>
            <a:endParaRPr lang="en-US" sz="1500" dirty="0"/>
          </a:p>
          <a:p>
            <a:pPr algn="ctr" indent="0" marL="0">
              <a:buNone/>
            </a:pPr>
            <a:r>
              <a:rPr lang="en-US" sz="1500" dirty="0">
                <a:solidFill>
                  <a:srgbClr val="FBFAF4"/>
                </a:solidFill>
                <a:latin typeface="Alexandria" pitchFamily="34" charset="0"/>
                <a:ea typeface="Alexandria" pitchFamily="34" charset="-122"/>
                <a:cs typeface="Alexandria" pitchFamily="34" charset="-120"/>
              </a:rPr>
              <a:t>+ phường kiểm tra</a:t>
            </a:r>
            <a:endParaRPr lang="en-US" sz="1500" dirty="0"/>
          </a:p>
        </p:txBody>
      </p:sp>
      <p:sp>
        <p:nvSpPr>
          <p:cNvPr id="12" name="Shape 8"/>
          <p:cNvSpPr/>
          <p:nvPr/>
        </p:nvSpPr>
        <p:spPr>
          <a:xfrm>
            <a:off x="7498080" y="2606040"/>
            <a:ext cx="914400" cy="640080"/>
          </a:xfrm>
          <a:prstGeom prst="rightArrow">
            <a:avLst/>
          </a:prstGeom>
          <a:solidFill>
            <a:srgbClr val="A9B6D3"/>
          </a:solidFill>
          <a:ln w="12700">
            <a:solidFill>
              <a:srgbClr val="A9B6D3"/>
            </a:solidFill>
            <a:prstDash val="solid"/>
          </a:ln>
        </p:spPr>
      </p:sp>
      <p:sp>
        <p:nvSpPr>
          <p:cNvPr id="13" name="Shape 9"/>
          <p:cNvSpPr/>
          <p:nvPr/>
        </p:nvSpPr>
        <p:spPr>
          <a:xfrm>
            <a:off x="8595360" y="1828800"/>
            <a:ext cx="3044952" cy="2194560"/>
          </a:xfrm>
          <a:prstGeom prst="roundRect">
            <a:avLst>
              <a:gd name="adj" fmla="val 3333"/>
            </a:avLst>
          </a:prstGeom>
          <a:solidFill>
            <a:srgbClr val="FFD23B"/>
          </a:solidFill>
          <a:ln w="12700">
            <a:solidFill>
              <a:srgbClr val="FFD23B"/>
            </a:solidFill>
            <a:prstDash val="solid"/>
          </a:ln>
        </p:spPr>
      </p:sp>
      <p:sp>
        <p:nvSpPr>
          <p:cNvPr id="14" name="Text 10"/>
          <p:cNvSpPr txBox="1"/>
          <p:nvPr/>
        </p:nvSpPr>
        <p:spPr>
          <a:xfrm>
            <a:off x="8595360" y="1828800"/>
            <a:ext cx="3044952" cy="219456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Definitive</a:t>
            </a:r>
            <a:endParaRPr lang="en-US" sz="2200" dirty="0"/>
          </a:p>
          <a:p>
            <a:pPr algn="ctr" indent="0" marL="0">
              <a:buNone/>
            </a:pPr>
            <a:r>
              <a:rPr lang="en-US" sz="2200" b="1" dirty="0">
                <a:solidFill>
                  <a:srgbClr val="172849"/>
                </a:solidFill>
                <a:latin typeface="Alexandria" pitchFamily="34" charset="0"/>
                <a:ea typeface="Alexandria" pitchFamily="34" charset="-122"/>
                <a:cs typeface="Alexandria" pitchFamily="34" charset="-120"/>
              </a:rPr>
              <a:t>P + L + U</a:t>
            </a:r>
            <a:endParaRPr lang="en-US" sz="2200" dirty="0"/>
          </a:p>
        </p:txBody>
      </p:sp>
      <p:sp>
        <p:nvSpPr>
          <p:cNvPr id="15" name="Shape 11"/>
          <p:cNvSpPr/>
          <p:nvPr/>
        </p:nvSpPr>
        <p:spPr>
          <a:xfrm>
            <a:off x="548640" y="4389120"/>
            <a:ext cx="11091672" cy="1371600"/>
          </a:xfrm>
          <a:prstGeom prst="roundRect">
            <a:avLst>
              <a:gd name="adj" fmla="val 5333"/>
            </a:avLst>
          </a:prstGeom>
          <a:solidFill>
            <a:srgbClr val="22395F"/>
          </a:solidFill>
          <a:ln w="12700">
            <a:solidFill>
              <a:srgbClr val="22395F"/>
            </a:solidFill>
            <a:prstDash val="solid"/>
          </a:ln>
        </p:spPr>
      </p:sp>
      <p:sp>
        <p:nvSpPr>
          <p:cNvPr id="16" name="Shape 12"/>
          <p:cNvSpPr/>
          <p:nvPr/>
        </p:nvSpPr>
        <p:spPr>
          <a:xfrm>
            <a:off x="777240" y="4663440"/>
            <a:ext cx="822960" cy="822960"/>
          </a:xfrm>
          <a:prstGeom prst="ellipse">
            <a:avLst/>
          </a:prstGeom>
          <a:solidFill>
            <a:srgbClr val="49B296"/>
          </a:solidFill>
          <a:ln w="12700">
            <a:solidFill>
              <a:srgbClr val="49B296"/>
            </a:solidFill>
            <a:prstDash val="solid"/>
          </a:ln>
        </p:spPr>
      </p:sp>
      <p:pic>
        <p:nvPicPr>
          <p:cNvPr id="17" name="Image 2" descr="preencoded.png">    </p:cNvPr>
          <p:cNvPicPr>
            <a:picLocks noChangeAspect="1"/>
          </p:cNvPicPr>
          <p:nvPr/>
        </p:nvPicPr>
        <p:blipFill>
          <a:blip r:embed="rId3"/>
          <a:stretch>
            <a:fillRect/>
          </a:stretch>
        </p:blipFill>
        <p:spPr>
          <a:xfrm>
            <a:off x="958291" y="4844491"/>
            <a:ext cx="460858" cy="460858"/>
          </a:xfrm>
          <a:prstGeom prst="rect">
            <a:avLst/>
          </a:prstGeom>
        </p:spPr>
      </p:pic>
      <p:sp>
        <p:nvSpPr>
          <p:cNvPr id="18" name="Text 13"/>
          <p:cNvSpPr txBox="1"/>
          <p:nvPr/>
        </p:nvSpPr>
        <p:spPr>
          <a:xfrm>
            <a:off x="1828800" y="4389120"/>
            <a:ext cx="9601200" cy="914400"/>
          </a:xfrm>
          <a:prstGeom prst="rect">
            <a:avLst/>
          </a:prstGeom>
          <a:noFill/>
          <a:ln/>
        </p:spPr>
        <p:txBody>
          <a:bodyPr wrap="square" lIns="635" tIns="635" rIns="635" bIns="635" rtlCol="0" anchor="ctr"/>
          <a:lstStyle/>
          <a:p>
            <a:pPr indent="0" marL="0">
              <a:buNone/>
            </a:pPr>
            <a:r>
              <a:rPr lang="en-US" sz="1800" i="1" dirty="0">
                <a:solidFill>
                  <a:srgbClr val="FBFAF4"/>
                </a:solidFill>
                <a:latin typeface="Alexandria" pitchFamily="34" charset="0"/>
                <a:ea typeface="Alexandria" pitchFamily="34" charset="-122"/>
                <a:cs typeface="Alexandria" pitchFamily="34" charset="-120"/>
              </a:rPr>
              <a:t>“Bên cấp bách nhất có thể là một loài chim quý làm tổ ngay tại địa điểm” — không phải bên có quyền lực nhất.</a:t>
            </a:r>
            <a:endParaRPr lang="en-US" sz="1800" dirty="0"/>
          </a:p>
        </p:txBody>
      </p:sp>
      <p:sp>
        <p:nvSpPr>
          <p:cNvPr id="19" name="Text 14"/>
          <p:cNvSpPr txBox="1"/>
          <p:nvPr/>
        </p:nvSpPr>
        <p:spPr>
          <a:xfrm>
            <a:off x="1828800" y="5257800"/>
            <a:ext cx="9601200" cy="411480"/>
          </a:xfrm>
          <a:prstGeom prst="rect">
            <a:avLst/>
          </a:prstGeom>
          <a:noFill/>
          <a:ln/>
        </p:spPr>
        <p:txBody>
          <a:bodyPr wrap="square" lIns="635" tIns="635" rIns="635" bIns="635" rtlCol="0" anchor="ctr"/>
          <a:lstStyle/>
          <a:p>
            <a:pPr indent="0" marL="0">
              <a:buNone/>
            </a:pPr>
            <a:r>
              <a:rPr lang="en-US" sz="1300" dirty="0">
                <a:solidFill>
                  <a:srgbClr val="A9B6D3"/>
                </a:solidFill>
                <a:latin typeface="Alexandria" pitchFamily="34" charset="0"/>
                <a:ea typeface="Alexandria" pitchFamily="34" charset="-122"/>
                <a:cs typeface="Alexandria" pitchFamily="34" charset="-120"/>
              </a:rPr>
              <a:t>(Holmes et al., 2015, tr. 26)</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Khi Grid và Salience cho kết quả khác nhau, đó là tín hiệu cảnh báo sớm</a:t>
            </a:r>
            <a:endParaRPr lang="en-US" sz="2800" dirty="0"/>
          </a:p>
        </p:txBody>
      </p:sp>
      <p:sp>
        <p:nvSpPr>
          <p:cNvPr id="3" name="Text 1"/>
          <p:cNvSpPr txBox="1"/>
          <p:nvPr/>
        </p:nvSpPr>
        <p:spPr>
          <a:xfrm>
            <a:off x="594360" y="1691640"/>
            <a:ext cx="246888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Bên</a:t>
            </a:r>
            <a:endParaRPr lang="en-US" sz="1500" dirty="0"/>
          </a:p>
        </p:txBody>
      </p:sp>
      <p:sp>
        <p:nvSpPr>
          <p:cNvPr id="4" name="Text 2"/>
          <p:cNvSpPr txBox="1"/>
          <p:nvPr/>
        </p:nvSpPr>
        <p:spPr>
          <a:xfrm>
            <a:off x="3108960" y="1691640"/>
            <a:ext cx="192024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Grid</a:t>
            </a:r>
            <a:endParaRPr lang="en-US" sz="1500" dirty="0"/>
          </a:p>
        </p:txBody>
      </p:sp>
      <p:sp>
        <p:nvSpPr>
          <p:cNvPr id="5" name="Text 3"/>
          <p:cNvSpPr txBox="1"/>
          <p:nvPr/>
        </p:nvSpPr>
        <p:spPr>
          <a:xfrm>
            <a:off x="5120640" y="1691640"/>
            <a:ext cx="201168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Salience</a:t>
            </a:r>
            <a:endParaRPr lang="en-US" sz="1500" dirty="0"/>
          </a:p>
        </p:txBody>
      </p:sp>
      <p:sp>
        <p:nvSpPr>
          <p:cNvPr id="6" name="Text 4"/>
          <p:cNvSpPr txBox="1"/>
          <p:nvPr/>
        </p:nvSpPr>
        <p:spPr>
          <a:xfrm>
            <a:off x="7223760" y="1691640"/>
            <a:ext cx="438912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Cảnh báo</a:t>
            </a:r>
            <a:endParaRPr lang="en-US" sz="1500" dirty="0"/>
          </a:p>
        </p:txBody>
      </p:sp>
      <p:sp>
        <p:nvSpPr>
          <p:cNvPr id="7" name="Shape 5"/>
          <p:cNvSpPr/>
          <p:nvPr/>
        </p:nvSpPr>
        <p:spPr>
          <a:xfrm>
            <a:off x="411480" y="2240280"/>
            <a:ext cx="11365992" cy="960120"/>
          </a:xfrm>
          <a:prstGeom prst="roundRect">
            <a:avLst>
              <a:gd name="adj" fmla="val 7619"/>
            </a:avLst>
          </a:prstGeom>
          <a:solidFill>
            <a:srgbClr val="22395F"/>
          </a:solidFill>
          <a:ln w="12700">
            <a:solidFill>
              <a:srgbClr val="22395F"/>
            </a:solidFill>
            <a:prstDash val="solid"/>
          </a:ln>
        </p:spPr>
      </p:sp>
      <p:sp>
        <p:nvSpPr>
          <p:cNvPr id="8" name="Text 6"/>
          <p:cNvSpPr txBox="1"/>
          <p:nvPr/>
        </p:nvSpPr>
        <p:spPr>
          <a:xfrm>
            <a:off x="594360" y="2240280"/>
            <a:ext cx="2468880" cy="96012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Cư dân lân cận</a:t>
            </a:r>
            <a:endParaRPr lang="en-US" sz="1600" dirty="0"/>
          </a:p>
        </p:txBody>
      </p:sp>
      <p:sp>
        <p:nvSpPr>
          <p:cNvPr id="9" name="Text 7"/>
          <p:cNvSpPr txBox="1"/>
          <p:nvPr/>
        </p:nvSpPr>
        <p:spPr>
          <a:xfrm>
            <a:off x="3108960" y="2240280"/>
            <a:ext cx="192024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Monitor</a:t>
            </a:r>
            <a:endParaRPr lang="en-US" sz="1600" dirty="0"/>
          </a:p>
        </p:txBody>
      </p:sp>
      <p:sp>
        <p:nvSpPr>
          <p:cNvPr id="10" name="Text 8"/>
          <p:cNvSpPr txBox="1"/>
          <p:nvPr/>
        </p:nvSpPr>
        <p:spPr>
          <a:xfrm>
            <a:off x="5120640" y="2240280"/>
            <a:ext cx="2011680" cy="960120"/>
          </a:xfrm>
          <a:prstGeom prst="rect">
            <a:avLst/>
          </a:prstGeom>
          <a:noFill/>
          <a:ln/>
        </p:spPr>
        <p:txBody>
          <a:bodyPr wrap="square" lIns="635" tIns="635" rIns="635" bIns="635" rtlCol="0" anchor="ctr"/>
          <a:lstStyle/>
          <a:p>
            <a:pPr indent="0" marL="0">
              <a:buNone/>
            </a:pPr>
            <a:r>
              <a:rPr lang="en-US" sz="1600" dirty="0">
                <a:solidFill>
                  <a:srgbClr val="FFD23B"/>
                </a:solidFill>
                <a:latin typeface="Alexandria" pitchFamily="34" charset="0"/>
                <a:ea typeface="Alexandria" pitchFamily="34" charset="-122"/>
                <a:cs typeface="Alexandria" pitchFamily="34" charset="-120"/>
              </a:rPr>
              <a:t>Dependent</a:t>
            </a:r>
            <a:endParaRPr lang="en-US" sz="1600" dirty="0"/>
          </a:p>
        </p:txBody>
      </p:sp>
      <p:sp>
        <p:nvSpPr>
          <p:cNvPr id="11" name="Text 9"/>
          <p:cNvSpPr txBox="1"/>
          <p:nvPr/>
        </p:nvSpPr>
        <p:spPr>
          <a:xfrm>
            <a:off x="7223760" y="2240280"/>
            <a:ext cx="438912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Chỉ cần “mượn” quyền lực là thành Definitive</a:t>
            </a:r>
            <a:endParaRPr lang="en-US" sz="1600" dirty="0"/>
          </a:p>
        </p:txBody>
      </p:sp>
      <p:sp>
        <p:nvSpPr>
          <p:cNvPr id="12" name="Shape 10"/>
          <p:cNvSpPr/>
          <p:nvPr/>
        </p:nvSpPr>
        <p:spPr>
          <a:xfrm>
            <a:off x="411480" y="3337560"/>
            <a:ext cx="11365992" cy="960120"/>
          </a:xfrm>
          <a:prstGeom prst="roundRect">
            <a:avLst>
              <a:gd name="adj" fmla="val 7619"/>
            </a:avLst>
          </a:prstGeom>
          <a:solidFill>
            <a:srgbClr val="22395F"/>
          </a:solidFill>
          <a:ln w="12700">
            <a:solidFill>
              <a:srgbClr val="22395F"/>
            </a:solidFill>
            <a:prstDash val="solid"/>
          </a:ln>
        </p:spPr>
      </p:sp>
      <p:sp>
        <p:nvSpPr>
          <p:cNvPr id="13" name="Text 11"/>
          <p:cNvSpPr txBox="1"/>
          <p:nvPr/>
        </p:nvSpPr>
        <p:spPr>
          <a:xfrm>
            <a:off x="594360" y="3337560"/>
            <a:ext cx="2468880" cy="96012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Nhà cung cấp độc quyền</a:t>
            </a:r>
            <a:endParaRPr lang="en-US" sz="1600" dirty="0"/>
          </a:p>
        </p:txBody>
      </p:sp>
      <p:sp>
        <p:nvSpPr>
          <p:cNvPr id="14" name="Text 12"/>
          <p:cNvSpPr txBox="1"/>
          <p:nvPr/>
        </p:nvSpPr>
        <p:spPr>
          <a:xfrm>
            <a:off x="3108960" y="3337560"/>
            <a:ext cx="192024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Keep satisfied</a:t>
            </a:r>
            <a:endParaRPr lang="en-US" sz="1600" dirty="0"/>
          </a:p>
        </p:txBody>
      </p:sp>
      <p:sp>
        <p:nvSpPr>
          <p:cNvPr id="15" name="Text 13"/>
          <p:cNvSpPr txBox="1"/>
          <p:nvPr/>
        </p:nvSpPr>
        <p:spPr>
          <a:xfrm>
            <a:off x="5120640" y="3337560"/>
            <a:ext cx="2011680" cy="960120"/>
          </a:xfrm>
          <a:prstGeom prst="rect">
            <a:avLst/>
          </a:prstGeom>
          <a:noFill/>
          <a:ln/>
        </p:spPr>
        <p:txBody>
          <a:bodyPr wrap="square" lIns="635" tIns="635" rIns="635" bIns="635" rtlCol="0" anchor="ctr"/>
          <a:lstStyle/>
          <a:p>
            <a:pPr indent="0" marL="0">
              <a:buNone/>
            </a:pPr>
            <a:r>
              <a:rPr lang="en-US" sz="1600" dirty="0">
                <a:solidFill>
                  <a:srgbClr val="FFD23B"/>
                </a:solidFill>
                <a:latin typeface="Alexandria" pitchFamily="34" charset="0"/>
                <a:ea typeface="Alexandria" pitchFamily="34" charset="-122"/>
                <a:cs typeface="Alexandria" pitchFamily="34" charset="-120"/>
              </a:rPr>
              <a:t>Dangerous khi đòi tăng giá</a:t>
            </a:r>
            <a:endParaRPr lang="en-US" sz="1600" dirty="0"/>
          </a:p>
        </p:txBody>
      </p:sp>
      <p:sp>
        <p:nvSpPr>
          <p:cNvPr id="16" name="Text 14"/>
          <p:cNvSpPr txBox="1"/>
          <p:nvPr/>
        </p:nvSpPr>
        <p:spPr>
          <a:xfrm>
            <a:off x="7223760" y="3337560"/>
            <a:ext cx="438912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Cần điều khoản hợp đồng và phương án B</a:t>
            </a:r>
            <a:endParaRPr lang="en-US" sz="1600" dirty="0"/>
          </a:p>
        </p:txBody>
      </p:sp>
      <p:sp>
        <p:nvSpPr>
          <p:cNvPr id="17" name="Shape 15"/>
          <p:cNvSpPr/>
          <p:nvPr/>
        </p:nvSpPr>
        <p:spPr>
          <a:xfrm>
            <a:off x="411480" y="4434840"/>
            <a:ext cx="11365992" cy="960120"/>
          </a:xfrm>
          <a:prstGeom prst="roundRect">
            <a:avLst>
              <a:gd name="adj" fmla="val 7619"/>
            </a:avLst>
          </a:prstGeom>
          <a:solidFill>
            <a:srgbClr val="22395F"/>
          </a:solidFill>
          <a:ln w="12700">
            <a:solidFill>
              <a:srgbClr val="22395F"/>
            </a:solidFill>
            <a:prstDash val="solid"/>
          </a:ln>
        </p:spPr>
      </p:sp>
      <p:sp>
        <p:nvSpPr>
          <p:cNvPr id="18" name="Text 16"/>
          <p:cNvSpPr txBox="1"/>
          <p:nvPr/>
        </p:nvSpPr>
        <p:spPr>
          <a:xfrm>
            <a:off x="594360" y="4434840"/>
            <a:ext cx="2468880" cy="96012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KOL dẫn chương trình</a:t>
            </a:r>
            <a:endParaRPr lang="en-US" sz="1600" dirty="0"/>
          </a:p>
        </p:txBody>
      </p:sp>
      <p:sp>
        <p:nvSpPr>
          <p:cNvPr id="19" name="Text 17"/>
          <p:cNvSpPr txBox="1"/>
          <p:nvPr/>
        </p:nvSpPr>
        <p:spPr>
          <a:xfrm>
            <a:off x="3108960" y="4434840"/>
            <a:ext cx="192024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Keep informed</a:t>
            </a:r>
            <a:endParaRPr lang="en-US" sz="1600" dirty="0"/>
          </a:p>
        </p:txBody>
      </p:sp>
      <p:sp>
        <p:nvSpPr>
          <p:cNvPr id="20" name="Text 18"/>
          <p:cNvSpPr txBox="1"/>
          <p:nvPr/>
        </p:nvSpPr>
        <p:spPr>
          <a:xfrm>
            <a:off x="5120640" y="4434840"/>
            <a:ext cx="2011680" cy="960120"/>
          </a:xfrm>
          <a:prstGeom prst="rect">
            <a:avLst/>
          </a:prstGeom>
          <a:noFill/>
          <a:ln/>
        </p:spPr>
        <p:txBody>
          <a:bodyPr wrap="square" lIns="635" tIns="635" rIns="635" bIns="635" rtlCol="0" anchor="ctr"/>
          <a:lstStyle/>
          <a:p>
            <a:pPr indent="0" marL="0">
              <a:buNone/>
            </a:pPr>
            <a:r>
              <a:rPr lang="en-US" sz="1600" dirty="0">
                <a:solidFill>
                  <a:srgbClr val="FFD23B"/>
                </a:solidFill>
                <a:latin typeface="Alexandria" pitchFamily="34" charset="0"/>
                <a:ea typeface="Alexandria" pitchFamily="34" charset="-122"/>
                <a:cs typeface="Alexandria" pitchFamily="34" charset="-120"/>
              </a:rPr>
              <a:t>Quyền lực biểu tượng</a:t>
            </a:r>
            <a:endParaRPr lang="en-US" sz="1600" dirty="0"/>
          </a:p>
        </p:txBody>
      </p:sp>
      <p:sp>
        <p:nvSpPr>
          <p:cNvPr id="21" name="Text 19"/>
          <p:cNvSpPr txBox="1"/>
          <p:nvPr/>
        </p:nvSpPr>
        <p:spPr>
          <a:xfrm>
            <a:off x="7223760" y="4434840"/>
            <a:ext cx="438912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Một bài đăng tiêu cực lan rất nhanh</a:t>
            </a:r>
            <a:endParaRPr lang="en-US" sz="1600" dirty="0"/>
          </a:p>
        </p:txBody>
      </p:sp>
      <p:sp>
        <p:nvSpPr>
          <p:cNvPr id="22" name="Text 20"/>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Đánh dấu ⭐ cho bên “không khớp” trên poster Thực hành 2.</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Quản trị bên liên quan là vòng lặp năm việc, không làm một lần rồi thôi</a:t>
            </a:r>
            <a:endParaRPr lang="en-US" sz="2800" dirty="0"/>
          </a:p>
        </p:txBody>
      </p:sp>
      <p:sp>
        <p:nvSpPr>
          <p:cNvPr id="3" name="Shape 1"/>
          <p:cNvSpPr/>
          <p:nvPr/>
        </p:nvSpPr>
        <p:spPr>
          <a:xfrm>
            <a:off x="2377440" y="1783080"/>
            <a:ext cx="594360" cy="594360"/>
          </a:xfrm>
          <a:prstGeom prst="ellipse">
            <a:avLst/>
          </a:prstGeom>
          <a:solidFill>
            <a:srgbClr val="FF5178"/>
          </a:solidFill>
          <a:ln w="12700">
            <a:solidFill>
              <a:srgbClr val="FF5178"/>
            </a:solidFill>
            <a:prstDash val="solid"/>
          </a:ln>
        </p:spPr>
      </p:sp>
      <p:sp>
        <p:nvSpPr>
          <p:cNvPr id="4" name="Text 2"/>
          <p:cNvSpPr txBox="1"/>
          <p:nvPr/>
        </p:nvSpPr>
        <p:spPr>
          <a:xfrm>
            <a:off x="2377440" y="1783080"/>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a:t>
            </a:r>
            <a:endParaRPr lang="en-US" sz="1800" dirty="0"/>
          </a:p>
        </p:txBody>
      </p:sp>
      <p:sp>
        <p:nvSpPr>
          <p:cNvPr id="5" name="Shape 3"/>
          <p:cNvSpPr/>
          <p:nvPr/>
        </p:nvSpPr>
        <p:spPr>
          <a:xfrm>
            <a:off x="3154680" y="1783080"/>
            <a:ext cx="6400800" cy="594360"/>
          </a:xfrm>
          <a:prstGeom prst="roundRect">
            <a:avLst>
              <a:gd name="adj" fmla="val 12308"/>
            </a:avLst>
          </a:prstGeom>
          <a:solidFill>
            <a:srgbClr val="22395F"/>
          </a:solidFill>
          <a:ln w="12700">
            <a:solidFill>
              <a:srgbClr val="22395F"/>
            </a:solidFill>
            <a:prstDash val="solid"/>
          </a:ln>
        </p:spPr>
      </p:sp>
      <p:sp>
        <p:nvSpPr>
          <p:cNvPr id="6" name="Text 4"/>
          <p:cNvSpPr txBox="1"/>
          <p:nvPr/>
        </p:nvSpPr>
        <p:spPr>
          <a:xfrm>
            <a:off x="3337560" y="1783080"/>
            <a:ext cx="612648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Nhận diện các bên</a:t>
            </a:r>
            <a:endParaRPr lang="en-US" sz="1800" dirty="0"/>
          </a:p>
        </p:txBody>
      </p:sp>
      <p:sp>
        <p:nvSpPr>
          <p:cNvPr id="7" name="Shape 5"/>
          <p:cNvSpPr/>
          <p:nvPr/>
        </p:nvSpPr>
        <p:spPr>
          <a:xfrm>
            <a:off x="2377440" y="2560320"/>
            <a:ext cx="594360" cy="594360"/>
          </a:xfrm>
          <a:prstGeom prst="ellipse">
            <a:avLst/>
          </a:prstGeom>
          <a:solidFill>
            <a:srgbClr val="FF9259"/>
          </a:solidFill>
          <a:ln w="12700">
            <a:solidFill>
              <a:srgbClr val="FF9259"/>
            </a:solidFill>
            <a:prstDash val="solid"/>
          </a:ln>
        </p:spPr>
      </p:sp>
      <p:sp>
        <p:nvSpPr>
          <p:cNvPr id="8" name="Text 6"/>
          <p:cNvSpPr txBox="1"/>
          <p:nvPr/>
        </p:nvSpPr>
        <p:spPr>
          <a:xfrm>
            <a:off x="2377440" y="2560320"/>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2</a:t>
            </a:r>
            <a:endParaRPr lang="en-US" sz="1800" dirty="0"/>
          </a:p>
        </p:txBody>
      </p:sp>
      <p:sp>
        <p:nvSpPr>
          <p:cNvPr id="9" name="Shape 7"/>
          <p:cNvSpPr/>
          <p:nvPr/>
        </p:nvSpPr>
        <p:spPr>
          <a:xfrm>
            <a:off x="3154680" y="2560320"/>
            <a:ext cx="6400800" cy="594360"/>
          </a:xfrm>
          <a:prstGeom prst="roundRect">
            <a:avLst>
              <a:gd name="adj" fmla="val 12308"/>
            </a:avLst>
          </a:prstGeom>
          <a:solidFill>
            <a:srgbClr val="22395F"/>
          </a:solidFill>
          <a:ln w="12700">
            <a:solidFill>
              <a:srgbClr val="22395F"/>
            </a:solidFill>
            <a:prstDash val="solid"/>
          </a:ln>
        </p:spPr>
      </p:sp>
      <p:sp>
        <p:nvSpPr>
          <p:cNvPr id="10" name="Text 8"/>
          <p:cNvSpPr txBox="1"/>
          <p:nvPr/>
        </p:nvSpPr>
        <p:spPr>
          <a:xfrm>
            <a:off x="3337560" y="2560320"/>
            <a:ext cx="612648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Phân tích và ưu tiên (Grid, Salience)</a:t>
            </a:r>
            <a:endParaRPr lang="en-US" sz="1800" dirty="0"/>
          </a:p>
        </p:txBody>
      </p:sp>
      <p:sp>
        <p:nvSpPr>
          <p:cNvPr id="11" name="Shape 9"/>
          <p:cNvSpPr/>
          <p:nvPr/>
        </p:nvSpPr>
        <p:spPr>
          <a:xfrm>
            <a:off x="2377440" y="3337560"/>
            <a:ext cx="594360" cy="594360"/>
          </a:xfrm>
          <a:prstGeom prst="ellipse">
            <a:avLst/>
          </a:prstGeom>
          <a:solidFill>
            <a:srgbClr val="FFD23B"/>
          </a:solidFill>
          <a:ln w="12700">
            <a:solidFill>
              <a:srgbClr val="FFD23B"/>
            </a:solidFill>
            <a:prstDash val="solid"/>
          </a:ln>
        </p:spPr>
      </p:sp>
      <p:sp>
        <p:nvSpPr>
          <p:cNvPr id="12" name="Text 10"/>
          <p:cNvSpPr txBox="1"/>
          <p:nvPr/>
        </p:nvSpPr>
        <p:spPr>
          <a:xfrm>
            <a:off x="2377440" y="3337560"/>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3</a:t>
            </a:r>
            <a:endParaRPr lang="en-US" sz="1800" dirty="0"/>
          </a:p>
        </p:txBody>
      </p:sp>
      <p:sp>
        <p:nvSpPr>
          <p:cNvPr id="13" name="Shape 11"/>
          <p:cNvSpPr/>
          <p:nvPr/>
        </p:nvSpPr>
        <p:spPr>
          <a:xfrm>
            <a:off x="3154680" y="3337560"/>
            <a:ext cx="6400800" cy="594360"/>
          </a:xfrm>
          <a:prstGeom prst="roundRect">
            <a:avLst>
              <a:gd name="adj" fmla="val 12308"/>
            </a:avLst>
          </a:prstGeom>
          <a:solidFill>
            <a:srgbClr val="22395F"/>
          </a:solidFill>
          <a:ln w="12700">
            <a:solidFill>
              <a:srgbClr val="22395F"/>
            </a:solidFill>
            <a:prstDash val="solid"/>
          </a:ln>
        </p:spPr>
      </p:sp>
      <p:sp>
        <p:nvSpPr>
          <p:cNvPr id="14" name="Text 12"/>
          <p:cNvSpPr txBox="1"/>
          <p:nvPr/>
        </p:nvSpPr>
        <p:spPr>
          <a:xfrm>
            <a:off x="3337560" y="3337560"/>
            <a:ext cx="612648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Chọn cách ứng xử cho từng nhóm</a:t>
            </a:r>
            <a:endParaRPr lang="en-US" sz="1800" dirty="0"/>
          </a:p>
        </p:txBody>
      </p:sp>
      <p:sp>
        <p:nvSpPr>
          <p:cNvPr id="15" name="Shape 13"/>
          <p:cNvSpPr/>
          <p:nvPr/>
        </p:nvSpPr>
        <p:spPr>
          <a:xfrm>
            <a:off x="2377440" y="4114800"/>
            <a:ext cx="594360" cy="594360"/>
          </a:xfrm>
          <a:prstGeom prst="ellipse">
            <a:avLst/>
          </a:prstGeom>
          <a:solidFill>
            <a:srgbClr val="49B296"/>
          </a:solidFill>
          <a:ln w="12700">
            <a:solidFill>
              <a:srgbClr val="49B296"/>
            </a:solidFill>
            <a:prstDash val="solid"/>
          </a:ln>
        </p:spPr>
      </p:sp>
      <p:sp>
        <p:nvSpPr>
          <p:cNvPr id="16" name="Text 14"/>
          <p:cNvSpPr txBox="1"/>
          <p:nvPr/>
        </p:nvSpPr>
        <p:spPr>
          <a:xfrm>
            <a:off x="2377440" y="4114800"/>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4</a:t>
            </a:r>
            <a:endParaRPr lang="en-US" sz="1800" dirty="0"/>
          </a:p>
        </p:txBody>
      </p:sp>
      <p:sp>
        <p:nvSpPr>
          <p:cNvPr id="17" name="Shape 15"/>
          <p:cNvSpPr/>
          <p:nvPr/>
        </p:nvSpPr>
        <p:spPr>
          <a:xfrm>
            <a:off x="3154680" y="4114800"/>
            <a:ext cx="6400800" cy="594360"/>
          </a:xfrm>
          <a:prstGeom prst="roundRect">
            <a:avLst>
              <a:gd name="adj" fmla="val 12308"/>
            </a:avLst>
          </a:prstGeom>
          <a:solidFill>
            <a:srgbClr val="22395F"/>
          </a:solidFill>
          <a:ln w="12700">
            <a:solidFill>
              <a:srgbClr val="22395F"/>
            </a:solidFill>
            <a:prstDash val="solid"/>
          </a:ln>
        </p:spPr>
      </p:sp>
      <p:sp>
        <p:nvSpPr>
          <p:cNvPr id="18" name="Text 16"/>
          <p:cNvSpPr txBox="1"/>
          <p:nvPr/>
        </p:nvSpPr>
        <p:spPr>
          <a:xfrm>
            <a:off x="3337560" y="4114800"/>
            <a:ext cx="612648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Giao tiếp hai chiều</a:t>
            </a:r>
            <a:endParaRPr lang="en-US" sz="1800" dirty="0"/>
          </a:p>
        </p:txBody>
      </p:sp>
      <p:sp>
        <p:nvSpPr>
          <p:cNvPr id="19" name="Shape 17"/>
          <p:cNvSpPr/>
          <p:nvPr/>
        </p:nvSpPr>
        <p:spPr>
          <a:xfrm>
            <a:off x="2377440" y="4892040"/>
            <a:ext cx="594360" cy="594360"/>
          </a:xfrm>
          <a:prstGeom prst="ellipse">
            <a:avLst/>
          </a:prstGeom>
          <a:solidFill>
            <a:srgbClr val="09A1E5"/>
          </a:solidFill>
          <a:ln w="12700">
            <a:solidFill>
              <a:srgbClr val="09A1E5"/>
            </a:solidFill>
            <a:prstDash val="solid"/>
          </a:ln>
        </p:spPr>
      </p:sp>
      <p:sp>
        <p:nvSpPr>
          <p:cNvPr id="20" name="Text 18"/>
          <p:cNvSpPr txBox="1"/>
          <p:nvPr/>
        </p:nvSpPr>
        <p:spPr>
          <a:xfrm>
            <a:off x="2377440" y="4892040"/>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5</a:t>
            </a:r>
            <a:endParaRPr lang="en-US" sz="1800" dirty="0"/>
          </a:p>
        </p:txBody>
      </p:sp>
      <p:sp>
        <p:nvSpPr>
          <p:cNvPr id="21" name="Shape 19"/>
          <p:cNvSpPr/>
          <p:nvPr/>
        </p:nvSpPr>
        <p:spPr>
          <a:xfrm>
            <a:off x="3154680" y="4892040"/>
            <a:ext cx="6400800" cy="594360"/>
          </a:xfrm>
          <a:prstGeom prst="roundRect">
            <a:avLst>
              <a:gd name="adj" fmla="val 12308"/>
            </a:avLst>
          </a:prstGeom>
          <a:solidFill>
            <a:srgbClr val="22395F"/>
          </a:solidFill>
          <a:ln w="12700">
            <a:solidFill>
              <a:srgbClr val="22395F"/>
            </a:solidFill>
            <a:prstDash val="solid"/>
          </a:ln>
        </p:spPr>
      </p:sp>
      <p:sp>
        <p:nvSpPr>
          <p:cNvPr id="22" name="Text 20"/>
          <p:cNvSpPr txBox="1"/>
          <p:nvPr/>
        </p:nvSpPr>
        <p:spPr>
          <a:xfrm>
            <a:off x="3337560" y="4892040"/>
            <a:ext cx="612648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Theo dõi, đánh giá, vẽ lại bản đồ</a:t>
            </a:r>
            <a:endParaRPr lang="en-US" sz="1800" dirty="0"/>
          </a:p>
        </p:txBody>
      </p:sp>
      <p:sp>
        <p:nvSpPr>
          <p:cNvPr id="23" name="Shape 21"/>
          <p:cNvSpPr/>
          <p:nvPr/>
        </p:nvSpPr>
        <p:spPr>
          <a:xfrm>
            <a:off x="9921240" y="2971800"/>
            <a:ext cx="1188720" cy="1188720"/>
          </a:xfrm>
          <a:prstGeom prst="ellipse">
            <a:avLst/>
          </a:prstGeom>
          <a:solidFill>
            <a:srgbClr val="49B296"/>
          </a:solidFill>
          <a:ln w="12700">
            <a:solidFill>
              <a:srgbClr val="49B296"/>
            </a:solidFill>
            <a:prstDash val="solid"/>
          </a:ln>
        </p:spPr>
      </p:sp>
      <p:pic>
        <p:nvPicPr>
          <p:cNvPr id="24" name="Image 0" descr="preencoded.png">    </p:cNvPr>
          <p:cNvPicPr>
            <a:picLocks noChangeAspect="1"/>
          </p:cNvPicPr>
          <p:nvPr/>
        </p:nvPicPr>
        <p:blipFill>
          <a:blip r:embed="rId1"/>
          <a:stretch>
            <a:fillRect/>
          </a:stretch>
        </p:blipFill>
        <p:spPr>
          <a:xfrm>
            <a:off x="10182758" y="3233318"/>
            <a:ext cx="665683" cy="665683"/>
          </a:xfrm>
          <a:prstGeom prst="rect">
            <a:avLst/>
          </a:prstGeom>
        </p:spPr>
      </p:pic>
      <p:sp>
        <p:nvSpPr>
          <p:cNvPr id="25" name="Text 22"/>
          <p:cNvSpPr txBox="1"/>
          <p:nvPr/>
        </p:nvSpPr>
        <p:spPr>
          <a:xfrm>
            <a:off x="9509760" y="4206240"/>
            <a:ext cx="2103120" cy="548640"/>
          </a:xfrm>
          <a:prstGeom prst="rect">
            <a:avLst/>
          </a:prstGeom>
          <a:noFill/>
          <a:ln/>
        </p:spPr>
        <p:txBody>
          <a:bodyPr wrap="square" lIns="635" tIns="635" rIns="635" bIns="635" rtlCol="0" anchor="ctr"/>
          <a:lstStyle/>
          <a:p>
            <a:pPr algn="ctr" indent="0" marL="0">
              <a:buNone/>
            </a:pPr>
            <a:r>
              <a:rPr lang="en-US" sz="1400" dirty="0">
                <a:solidFill>
                  <a:srgbClr val="A9B6D3"/>
                </a:solidFill>
                <a:latin typeface="Alexandria" pitchFamily="34" charset="0"/>
                <a:ea typeface="Alexandria" pitchFamily="34" charset="-122"/>
                <a:cs typeface="Alexandria" pitchFamily="34" charset="-120"/>
              </a:rPr>
              <a:t>lặp lại theo giai đoạn</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lỗi khiến bản đồ bên liên quan vô dụng</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Liệt kê nhân sự, crew, tình nguyện viên của chính agency</a:t>
            </a:r>
            <a:endParaRPr lang="en-US" sz="18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“Bên liên quan = người trả tiền cho mình”</a:t>
            </a:r>
            <a:endParaRPr lang="en-US" sz="18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“Quyền lực cao = phải chiều mọi yêu cầu”</a:t>
            </a:r>
            <a:endParaRPr lang="en-US" sz="18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800" b="1" dirty="0">
                <a:solidFill>
                  <a:srgbClr val="172849"/>
                </a:solidFill>
                <a:latin typeface="Alexandria" pitchFamily="34" charset="0"/>
                <a:ea typeface="Alexandria" pitchFamily="34" charset="-122"/>
                <a:cs typeface="Alexandria" pitchFamily="34" charset="-120"/>
              </a:rPr>
              <a:t>Bản đồ tốt ≠ danh sách dài.</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lời hứa với bên liên quan là một cam kết — có hợp đồng hay không</a:t>
            </a:r>
            <a:endParaRPr lang="en-US" sz="2800" dirty="0"/>
          </a:p>
        </p:txBody>
      </p:sp>
      <p:sp>
        <p:nvSpPr>
          <p:cNvPr id="3" name="Shape 1"/>
          <p:cNvSpPr/>
          <p:nvPr/>
        </p:nvSpPr>
        <p:spPr>
          <a:xfrm>
            <a:off x="548640" y="1783080"/>
            <a:ext cx="5486400" cy="2468880"/>
          </a:xfrm>
          <a:prstGeom prst="roundRect">
            <a:avLst>
              <a:gd name="adj" fmla="val 2963"/>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Có hợp đồng</a:t>
            </a:r>
            <a:endParaRPr lang="en-US" sz="2000" dirty="0"/>
          </a:p>
        </p:txBody>
      </p:sp>
      <p:sp>
        <p:nvSpPr>
          <p:cNvPr id="7" name="Text 4"/>
          <p:cNvSpPr txBox="1"/>
          <p:nvPr/>
        </p:nvSpPr>
        <p:spPr>
          <a:xfrm>
            <a:off x="777240" y="2971800"/>
            <a:ext cx="5029200" cy="164592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Quyền lợi ghi rõ; bên kia có thể đòi theo luật.</a:t>
            </a:r>
            <a:endParaRPr lang="en-US" sz="1800" dirty="0"/>
          </a:p>
        </p:txBody>
      </p:sp>
      <p:sp>
        <p:nvSpPr>
          <p:cNvPr id="8" name="Shape 5"/>
          <p:cNvSpPr/>
          <p:nvPr/>
        </p:nvSpPr>
        <p:spPr>
          <a:xfrm>
            <a:off x="6263640" y="1783080"/>
            <a:ext cx="5376672" cy="2468880"/>
          </a:xfrm>
          <a:prstGeom prst="roundRect">
            <a:avLst>
              <a:gd name="adj" fmla="val 2963"/>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Chỉ là lời hứa</a:t>
            </a:r>
            <a:endParaRPr lang="en-US" sz="2000" dirty="0"/>
          </a:p>
        </p:txBody>
      </p:sp>
      <p:sp>
        <p:nvSpPr>
          <p:cNvPr id="12" name="Text 8"/>
          <p:cNvSpPr txBox="1"/>
          <p:nvPr/>
        </p:nvSpPr>
        <p:spPr>
          <a:xfrm>
            <a:off x="6492240" y="2971800"/>
            <a:ext cx="4937760" cy="164592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Không kiện được — nhưng mất uy tín. “Họ hứa 200.000 người…”</a:t>
            </a:r>
            <a:endParaRPr lang="en-US" sz="1800" dirty="0"/>
          </a:p>
        </p:txBody>
      </p:sp>
      <p:sp>
        <p:nvSpPr>
          <p:cNvPr id="13" name="Text 9"/>
          <p:cNvSpPr txBox="1"/>
          <p:nvPr/>
        </p:nvSpPr>
        <p:spPr>
          <a:xfrm>
            <a:off x="548640" y="4572000"/>
            <a:ext cx="11091672" cy="640080"/>
          </a:xfrm>
          <a:prstGeom prst="rect">
            <a:avLst/>
          </a:prstGeom>
          <a:noFill/>
          <a:ln/>
        </p:spPr>
        <p:txBody>
          <a:bodyPr wrap="square" lIns="635" tIns="635" rIns="635" bIns="635" rtlCol="0" anchor="ctr"/>
          <a:lstStyle/>
          <a:p>
            <a:pPr indent="0" marL="0">
              <a:buNone/>
            </a:pPr>
            <a:r>
              <a:rPr lang="en-US" sz="2200" b="1" dirty="0">
                <a:solidFill>
                  <a:srgbClr val="FFD23B"/>
                </a:solidFill>
                <a:latin typeface="Alexandria" pitchFamily="34" charset="0"/>
                <a:ea typeface="Alexandria" pitchFamily="34" charset="-122"/>
                <a:cs typeface="Alexandria" pitchFamily="34" charset="-120"/>
              </a:rPr>
              <a:t>Chỉ hứa điều mình kiểm soát được; ghi lại điều đã hứa.</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33 phút: bản đồ quyền lực quanh khách hàng của nhóm</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Chọn 1 khách hàng từ dự án cũ của nhóm (mã hóa tên nếu cần)</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18’</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Poster A0, 3 khu vực: A danh sách ≥8 bên (P/S) · B Grid + 1 việc cụ thể mỗi ô · C Salience. Đánh dấu ⭐ 1 bên “không khớp”</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12’</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Xoay trạm theo chiều kim đồng hồ: mỗi poster nhận 1 câu hỏi (note vàng) + 1 phản biện (note hồng)</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FFD23B"/>
          </a:solidFill>
          <a:ln w="12700">
            <a:solidFill>
              <a:srgbClr val="FFD23B"/>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Trang 1 của Stakeholder Management Plan</a:t>
            </a:r>
            <a:endParaRPr lang="en-US" sz="1600" dirty="0"/>
          </a:p>
        </p:txBody>
      </p:sp>
      <p:sp>
        <p:nvSpPr>
          <p:cNvPr id="20" name="Text 17"/>
          <p:cNvSpPr txBox="1"/>
          <p:nvPr/>
        </p:nvSpPr>
        <p:spPr>
          <a:xfrm>
            <a:off x="548640" y="548640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Không chấp nhận phản biện kiểu “đẹp quá”, “tốt lắm”.</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Poster hôm nay là trang 1 của Stakeholder Management Plan</a:t>
            </a:r>
            <a:endParaRPr lang="en-US" sz="2800" dirty="0"/>
          </a:p>
        </p:txBody>
      </p:sp>
      <p:sp>
        <p:nvSpPr>
          <p:cNvPr id="3" name="Shape 1"/>
          <p:cNvSpPr/>
          <p:nvPr/>
        </p:nvSpPr>
        <p:spPr>
          <a:xfrm>
            <a:off x="548640" y="1783080"/>
            <a:ext cx="5120640" cy="3931920"/>
          </a:xfrm>
          <a:prstGeom prst="roundRect">
            <a:avLst>
              <a:gd name="adj" fmla="val 1860"/>
            </a:avLst>
          </a:prstGeom>
          <a:solidFill>
            <a:srgbClr val="FFD23B"/>
          </a:solidFill>
          <a:ln w="12700">
            <a:solidFill>
              <a:srgbClr val="FFD23B"/>
            </a:solidFill>
            <a:prstDash val="solid"/>
          </a:ln>
        </p:spPr>
      </p:sp>
      <p:sp>
        <p:nvSpPr>
          <p:cNvPr id="4" name="Text 2"/>
          <p:cNvSpPr txBox="1"/>
          <p:nvPr/>
        </p:nvSpPr>
        <p:spPr>
          <a:xfrm>
            <a:off x="777240" y="1920240"/>
            <a:ext cx="4663440" cy="640080"/>
          </a:xfrm>
          <a:prstGeom prst="rect">
            <a:avLst/>
          </a:prstGeom>
          <a:noFill/>
          <a:ln/>
        </p:spPr>
        <p:txBody>
          <a:bodyPr wrap="square" lIns="635" tIns="635" rIns="635" bIns="635" rtlCol="0" anchor="ctr"/>
          <a:lstStyle/>
          <a:p>
            <a:pPr indent="0" marL="0">
              <a:buNone/>
            </a:pPr>
            <a:r>
              <a:rPr lang="en-US" sz="2400" b="1" dirty="0">
                <a:solidFill>
                  <a:srgbClr val="172849"/>
                </a:solidFill>
                <a:latin typeface="Alexandria" pitchFamily="34" charset="0"/>
                <a:ea typeface="Alexandria" pitchFamily="34" charset="-122"/>
                <a:cs typeface="Alexandria" pitchFamily="34" charset="-120"/>
              </a:rPr>
              <a:t>5 phút: sửa ngay</a:t>
            </a:r>
            <a:endParaRPr lang="en-US" sz="2400" dirty="0"/>
          </a:p>
        </p:txBody>
      </p:sp>
      <p:sp>
        <p:nvSpPr>
          <p:cNvPr id="5" name="Text 3"/>
          <p:cNvSpPr txBox="1"/>
          <p:nvPr/>
        </p:nvSpPr>
        <p:spPr>
          <a:xfrm>
            <a:off x="777240" y="2651760"/>
            <a:ext cx="4663440" cy="2834640"/>
          </a:xfrm>
          <a:prstGeom prst="rect">
            <a:avLst/>
          </a:prstGeom>
          <a:noFill/>
          <a:ln/>
        </p:spPr>
        <p:txBody>
          <a:bodyPr wrap="square" lIns="635" tIns="635" rIns="635" bIns="635" rtlCol="0" anchor="t"/>
          <a:lstStyle/>
          <a:p>
            <a:pPr marL="342900" indent="-342900">
              <a:spcAft>
                <a:spcPts val="800"/>
              </a:spcAft>
              <a:buSzPct val="100000"/>
              <a:buChar char="•"/>
            </a:pPr>
            <a:r>
              <a:rPr lang="en-US" sz="1900" dirty="0">
                <a:solidFill>
                  <a:srgbClr val="172849"/>
                </a:solidFill>
                <a:latin typeface="Alexandria" pitchFamily="34" charset="0"/>
                <a:ea typeface="Alexandria" pitchFamily="34" charset="-122"/>
                <a:cs typeface="Alexandria" pitchFamily="34" charset="-120"/>
              </a:rPr>
              <a:t>Sửa theo phản biện vừa nhận</a:t>
            </a:r>
            <a:endParaRPr lang="en-US" sz="1900" dirty="0"/>
          </a:p>
          <a:p>
            <a:pPr marL="342900" indent="-342900">
              <a:spcAft>
                <a:spcPts val="800"/>
              </a:spcAft>
              <a:buSzPct val="100000"/>
              <a:buChar char="•"/>
            </a:pPr>
            <a:r>
              <a:rPr lang="en-US" sz="1900" dirty="0">
                <a:solidFill>
                  <a:srgbClr val="172849"/>
                </a:solidFill>
                <a:latin typeface="Alexandria" pitchFamily="34" charset="0"/>
                <a:ea typeface="Alexandria" pitchFamily="34" charset="-122"/>
                <a:cs typeface="Alexandria" pitchFamily="34" charset="-120"/>
              </a:rPr>
              <a:t>Ghi góc poster: sửa gì, vì sao</a:t>
            </a:r>
            <a:endParaRPr lang="en-US" sz="1900" dirty="0"/>
          </a:p>
          <a:p>
            <a:pPr marL="342900" indent="-342900">
              <a:spcAft>
                <a:spcPts val="800"/>
              </a:spcAft>
              <a:buSzPct val="100000"/>
              <a:buChar char="•"/>
            </a:pPr>
            <a:r>
              <a:rPr lang="en-US" sz="1900" dirty="0">
                <a:solidFill>
                  <a:srgbClr val="172849"/>
                </a:solidFill>
                <a:latin typeface="Alexandria" pitchFamily="34" charset="0"/>
                <a:ea typeface="Alexandria" pitchFamily="34" charset="-122"/>
                <a:cs typeface="Alexandria" pitchFamily="34" charset="-120"/>
              </a:rPr>
              <a:t>Chụp ảnh lưu lại (không nộp)</a:t>
            </a:r>
            <a:endParaRPr lang="en-US" sz="1900" dirty="0"/>
          </a:p>
        </p:txBody>
      </p:sp>
      <p:sp>
        <p:nvSpPr>
          <p:cNvPr id="6" name="Shape 4"/>
          <p:cNvSpPr/>
          <p:nvPr/>
        </p:nvSpPr>
        <p:spPr>
          <a:xfrm>
            <a:off x="6035040" y="1783080"/>
            <a:ext cx="5605272" cy="658368"/>
          </a:xfrm>
          <a:prstGeom prst="roundRect">
            <a:avLst>
              <a:gd name="adj" fmla="val 11111"/>
            </a:avLst>
          </a:prstGeom>
          <a:solidFill>
            <a:srgbClr val="22395F"/>
          </a:solidFill>
          <a:ln w="12700">
            <a:solidFill>
              <a:srgbClr val="22395F"/>
            </a:solidFill>
            <a:prstDash val="solid"/>
          </a:ln>
        </p:spPr>
      </p:sp>
      <p:sp>
        <p:nvSpPr>
          <p:cNvPr id="7" name="Text 5"/>
          <p:cNvSpPr txBox="1"/>
          <p:nvPr/>
        </p:nvSpPr>
        <p:spPr>
          <a:xfrm>
            <a:off x="6217920" y="1783080"/>
            <a:ext cx="1188720" cy="658368"/>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B1</a:t>
            </a:r>
            <a:endParaRPr lang="en-US" sz="1800" dirty="0"/>
          </a:p>
        </p:txBody>
      </p:sp>
      <p:sp>
        <p:nvSpPr>
          <p:cNvPr id="8" name="Text 6"/>
          <p:cNvSpPr txBox="1"/>
          <p:nvPr/>
        </p:nvSpPr>
        <p:spPr>
          <a:xfrm>
            <a:off x="7406640" y="1783080"/>
            <a:ext cx="4114800" cy="658368"/>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Bản đồ bên liên quan</a:t>
            </a:r>
            <a:endParaRPr lang="en-US" sz="1600" dirty="0"/>
          </a:p>
        </p:txBody>
      </p:sp>
      <p:sp>
        <p:nvSpPr>
          <p:cNvPr id="9" name="Shape 7"/>
          <p:cNvSpPr/>
          <p:nvPr/>
        </p:nvSpPr>
        <p:spPr>
          <a:xfrm>
            <a:off x="6035040" y="2587752"/>
            <a:ext cx="5605272" cy="658368"/>
          </a:xfrm>
          <a:prstGeom prst="roundRect">
            <a:avLst>
              <a:gd name="adj" fmla="val 11111"/>
            </a:avLst>
          </a:prstGeom>
          <a:solidFill>
            <a:srgbClr val="22395F"/>
          </a:solidFill>
          <a:ln w="12700">
            <a:solidFill>
              <a:srgbClr val="22395F"/>
            </a:solidFill>
            <a:prstDash val="solid"/>
          </a:ln>
        </p:spPr>
      </p:sp>
      <p:sp>
        <p:nvSpPr>
          <p:cNvPr id="10" name="Text 8"/>
          <p:cNvSpPr txBox="1"/>
          <p:nvPr/>
        </p:nvSpPr>
        <p:spPr>
          <a:xfrm>
            <a:off x="6217920" y="2587752"/>
            <a:ext cx="1188720" cy="658368"/>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B2–8</a:t>
            </a:r>
            <a:endParaRPr lang="en-US" sz="1800" dirty="0"/>
          </a:p>
        </p:txBody>
      </p:sp>
      <p:sp>
        <p:nvSpPr>
          <p:cNvPr id="11" name="Text 9"/>
          <p:cNvSpPr txBox="1"/>
          <p:nvPr/>
        </p:nvSpPr>
        <p:spPr>
          <a:xfrm>
            <a:off x="7406640" y="2587752"/>
            <a:ext cx="4114800" cy="658368"/>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Khách hàng (KAM)</a:t>
            </a:r>
            <a:endParaRPr lang="en-US" sz="1600" dirty="0"/>
          </a:p>
        </p:txBody>
      </p:sp>
      <p:sp>
        <p:nvSpPr>
          <p:cNvPr id="12" name="Shape 10"/>
          <p:cNvSpPr/>
          <p:nvPr/>
        </p:nvSpPr>
        <p:spPr>
          <a:xfrm>
            <a:off x="6035040" y="3392424"/>
            <a:ext cx="5605272" cy="658368"/>
          </a:xfrm>
          <a:prstGeom prst="roundRect">
            <a:avLst>
              <a:gd name="adj" fmla="val 11111"/>
            </a:avLst>
          </a:prstGeom>
          <a:solidFill>
            <a:srgbClr val="22395F"/>
          </a:solidFill>
          <a:ln w="12700">
            <a:solidFill>
              <a:srgbClr val="22395F"/>
            </a:solidFill>
            <a:prstDash val="solid"/>
          </a:ln>
        </p:spPr>
      </p:sp>
      <p:sp>
        <p:nvSpPr>
          <p:cNvPr id="13" name="Text 11"/>
          <p:cNvSpPr txBox="1"/>
          <p:nvPr/>
        </p:nvSpPr>
        <p:spPr>
          <a:xfrm>
            <a:off x="6217920" y="3392424"/>
            <a:ext cx="1188720" cy="658368"/>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B9–12</a:t>
            </a:r>
            <a:endParaRPr lang="en-US" sz="1800" dirty="0"/>
          </a:p>
        </p:txBody>
      </p:sp>
      <p:sp>
        <p:nvSpPr>
          <p:cNvPr id="14" name="Text 12"/>
          <p:cNvSpPr txBox="1"/>
          <p:nvPr/>
        </p:nvSpPr>
        <p:spPr>
          <a:xfrm>
            <a:off x="7406640" y="3392424"/>
            <a:ext cx="4114800" cy="658368"/>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Các bên quanh hành trình khách hàng</a:t>
            </a:r>
            <a:endParaRPr lang="en-US" sz="1600" dirty="0"/>
          </a:p>
        </p:txBody>
      </p:sp>
      <p:sp>
        <p:nvSpPr>
          <p:cNvPr id="15" name="Shape 13"/>
          <p:cNvSpPr/>
          <p:nvPr/>
        </p:nvSpPr>
        <p:spPr>
          <a:xfrm>
            <a:off x="6035040" y="4197096"/>
            <a:ext cx="5605272" cy="658368"/>
          </a:xfrm>
          <a:prstGeom prst="roundRect">
            <a:avLst>
              <a:gd name="adj" fmla="val 11111"/>
            </a:avLst>
          </a:prstGeom>
          <a:solidFill>
            <a:srgbClr val="22395F"/>
          </a:solidFill>
          <a:ln w="12700">
            <a:solidFill>
              <a:srgbClr val="22395F"/>
            </a:solidFill>
            <a:prstDash val="solid"/>
          </a:ln>
        </p:spPr>
      </p:sp>
      <p:sp>
        <p:nvSpPr>
          <p:cNvPr id="16" name="Text 14"/>
          <p:cNvSpPr txBox="1"/>
          <p:nvPr/>
        </p:nvSpPr>
        <p:spPr>
          <a:xfrm>
            <a:off x="6217920" y="4197096"/>
            <a:ext cx="1188720" cy="658368"/>
          </a:xfrm>
          <a:prstGeom prst="rect">
            <a:avLst/>
          </a:prstGeom>
          <a:noFill/>
          <a:ln/>
        </p:spPr>
        <p:txBody>
          <a:bodyPr wrap="square" lIns="635" tIns="635" rIns="635" bIns="635" rtlCol="0" anchor="ctr"/>
          <a:lstStyle/>
          <a:p>
            <a:pPr indent="0" marL="0">
              <a:buNone/>
            </a:pPr>
            <a:r>
              <a:rPr lang="en-US" sz="1800" b="1" dirty="0">
                <a:solidFill>
                  <a:srgbClr val="FF9259"/>
                </a:solidFill>
                <a:latin typeface="Alexandria" pitchFamily="34" charset="0"/>
                <a:ea typeface="Alexandria" pitchFamily="34" charset="-122"/>
                <a:cs typeface="Alexandria" pitchFamily="34" charset="-120"/>
              </a:rPr>
              <a:t>B13</a:t>
            </a:r>
            <a:endParaRPr lang="en-US" sz="1800" dirty="0"/>
          </a:p>
        </p:txBody>
      </p:sp>
      <p:sp>
        <p:nvSpPr>
          <p:cNvPr id="17" name="Text 15"/>
          <p:cNvSpPr txBox="1"/>
          <p:nvPr/>
        </p:nvSpPr>
        <p:spPr>
          <a:xfrm>
            <a:off x="7406640" y="4197096"/>
            <a:ext cx="4114800" cy="658368"/>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Ráp kế hoạch</a:t>
            </a:r>
            <a:endParaRPr lang="en-US" sz="1600" dirty="0"/>
          </a:p>
        </p:txBody>
      </p:sp>
      <p:sp>
        <p:nvSpPr>
          <p:cNvPr id="18" name="Shape 16"/>
          <p:cNvSpPr/>
          <p:nvPr/>
        </p:nvSpPr>
        <p:spPr>
          <a:xfrm>
            <a:off x="6035040" y="5001768"/>
            <a:ext cx="5605272" cy="658368"/>
          </a:xfrm>
          <a:prstGeom prst="roundRect">
            <a:avLst>
              <a:gd name="adj" fmla="val 11111"/>
            </a:avLst>
          </a:prstGeom>
          <a:solidFill>
            <a:srgbClr val="22395F"/>
          </a:solidFill>
          <a:ln w="12700">
            <a:solidFill>
              <a:srgbClr val="22395F"/>
            </a:solidFill>
            <a:prstDash val="solid"/>
          </a:ln>
        </p:spPr>
      </p:sp>
      <p:sp>
        <p:nvSpPr>
          <p:cNvPr id="19" name="Text 17"/>
          <p:cNvSpPr txBox="1"/>
          <p:nvPr/>
        </p:nvSpPr>
        <p:spPr>
          <a:xfrm>
            <a:off x="6217920" y="5001768"/>
            <a:ext cx="1188720" cy="658368"/>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B14–15</a:t>
            </a:r>
            <a:endParaRPr lang="en-US" sz="1800" dirty="0"/>
          </a:p>
        </p:txBody>
      </p:sp>
      <p:sp>
        <p:nvSpPr>
          <p:cNvPr id="20" name="Text 18"/>
          <p:cNvSpPr txBox="1"/>
          <p:nvPr/>
        </p:nvSpPr>
        <p:spPr>
          <a:xfrm>
            <a:off x="7406640" y="5001768"/>
            <a:ext cx="4114800" cy="658368"/>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Bảo vệ</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cùng một nhà tài trợ có thể là primary ở sự kiện này, secondary ở sự kiện khác?</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Cư dân lân cận: Monitor trên Grid nhưng Dependent trên Salience. Điều đó cảnh báo gì?</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Kể một bên có tính cấp bách cao nhưng không có quyền lực trong một sự kiện bạn biết.</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Trong dự án cũ, bên nào bạn đã đánh giá thấp? Theo Salience, nó thiếu thuộc tính nào — điều gì có thể cho nó thêm thuộc tính đó?</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Điều bạn còn mơ hồ nhất sau buổi hôm nay là gì?</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2: vì sao không phải khách hàng nào cũng là Key Account</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2 · KAM mindset</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Có một bên mà nếu mất, agency mất luôn doanh thu năm sau: khách hàng. Nhưng không phải khách hàng nào cũng đáng đầu tư như nhau.</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poster hôm nay</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Hồ sơ dự án cũ: brief, kế hoạch, báo cáo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Clarkson, M. B. E. (1995). A stakeholder framework for analyzing and evaluating corporate social performance.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Academy of Management Review, 20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(1), 92–117.</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Freeman, R. E. (1984).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Strategic management: A stakeholder approach</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Pitman.</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Getz, D., Andersson, T., &amp; Larson, M. (2006). Festival stakeholder roles: Concepts and case studies.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Event Management, 10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(2), 103–122.</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Holmes, K., Hughes, M., Mair, J., &amp; Carlsen, J. (2015).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Events and sustainability</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Routledge.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Mendelow, A. L. (1981). Environmental scanning: The impact of the stakeholder concept.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ICIS 1981 Proceedings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20. https://aisel.aisnet.org/icis1981/20/</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Mitchell, R. K., Agle, B. R., &amp; Wood, D. J. (1997). Toward a theory of stakeholder identification and salience: Defining the principle of who and what really counts.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Academy of Management Review, 22</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(4), 853–886.</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Trần Nguyễn Huỳnh Như. (2023).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Chương 2: Khách hàng trọng yếu trong sự kiện</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[Slide bài giảng].</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Van Niekerk, M., &amp; Getz, D. (2019).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Event stakeholders: Theory and methods for event management and tourism</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Goodfellow Publishers.</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 Hệ sinh thái các bên liên quan bên ngoài của sự kiện</dc:title>
  <dc:subject>PptxGenJS Presentation</dc:subject>
  <dc:creator>Đoàn Nguyễn Bảo Quyên</dc:creator>
  <cp:lastModifiedBy>Đoàn Nguyễn Bảo Quyên</cp:lastModifiedBy>
  <cp:revision>1</cp:revision>
  <dcterms:created xsi:type="dcterms:W3CDTF">2026-10-04T04:17:20Z</dcterms:created>
  <dcterms:modified xsi:type="dcterms:W3CDTF">2026-10-04T04:17:20Z</dcterms:modified>
</cp:coreProperties>
</file>