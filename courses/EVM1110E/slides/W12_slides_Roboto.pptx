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12 — Bài 12: Tận dụng mạng lưới và xử lý xung đột. Đây là buổi cuối của Phần 3. Buổi 9, 10, 11 ta học từng bên: nhà tài trợ, nhà cung cấp – địa điểm, báo chí – KOL. Hôm nay ta nhìn cả mạng lưới — và những lúc các bên va nhau.
(GV: Phần 3, buổi 4/4. Nhắc SV mở các trang SMP đã làm (dùng ở Thực hành 2 — buổi chạy thử bảo vệ). Mở đầu bằng 2–3 “điều còn mơ hồ” từ phiếu Buổi 11 (≤3 phút).)
Hỏi lớp: —
Chuyển ý: Một đêm diễn không diễn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Tối 28/12/2025, Hà Nội. Khán giả đã vào Cung thi đấu; sân khấu, âm thanh ánh sáng đã dựng xong. Nhưng 40 nghệ sĩ không lên sân khấu. Báo chí đưa tin nguyên nhân là tranh chấp thanh toán giữa nghệ sĩ và nhà sản xuất. Giơ tay: vấn đề nằm ở nhà tổ chức, nghệ sĩ, cả hai — hay ở khoảng trống giữa các bên?
(GV: Giáo án S1. Chốt: “Ta không phán xử ai — vụ việc đang được xử lý theo pháp luật. Nhưng địa điểm, âm thanh ánh sáng, khán giả — những bên không tranh chấp — đều chịu thiệt. Một mạng lưới vỡ ở một mối nối là vỡ cả.” Không dùng ảnh chân dung, không nêu tên cá nhân.)
Hỏi lớp: “A, B, C hay D?”
Chuyển ý: Mạng lưới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 Phát ở giữa, cùng 600 khách VIP. Quanh đó: nhà tài trợ — Bình An, GlobalCard, Buổi 9. Nhà cung cấp và địa điểm — khách sạn B, AV, nhà in, xe, Buổi 10. Báo chí và KOL — nhà báo kinh tế, TS. Nam, chị Mai Anh, Buổi 11. Nova nằm ở mọi mối nối. Và các bên này cũng quan hệ với nhau — có lúc lợi ích của họ va nhau.
(GV: Alt-text: sơ đồ hình sao ba nhánh, An Phát ở giữa. Mọi tên là giả định.)
Hỏi lớp: —
Chuyển ý: Mạng lưới này đáng giá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12.1. Dyer và Singh, 1998, quan điểm quan hệ: nguồn lực then chốt của doanh nghiệp có thể nằm ngoài ranh giới doanh nghiệp — trong quan hệ giữa các doanh nghiệp, tạo ra lợi ích gọi là relational rents. Morgan và Hunt, Buổi 4: quan hệ thành công cần cam kết và niềm tin. Và mặt trái, theo Dowson: khi nhiều bên cùng chi mà có bên phải trả nhiều hơn thỏa thuận ban đầu, họ có thể không bao giờ làm việc với nhau nữa. Leverage của môn này là giá trị do quan hệ dài hạn tạo ra — không phải dùng thế lớn để ép đối tác.
(GV: Quyết định GV 3 (định nghĩa leverage). Y01, Y02 đọc tóm tắt.)
Hỏi lớp: —
Chuyển ý: Bốn nguồn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nguồn relational rents, và ví dụ với Nova. Tài sản đặc thù cho quan hệ: Nova thuộc sơ đồ, quy trình bếp, giờ dựng của khách sạn quen. Thói quen chia sẻ tri thức: họp rút kinh nghiệm chung với nhà cung cấp sau mỗi sự kiện. Nguồn lực bổ trợ: đơn vị livestream quen cộng AV khách sạn làm được việc mỗi bên không làm một mình. Quản trị hiệu quả: hợp đồng khung, cơ chế xử lý tranh chấp đã thống nhất. Nhờ quan hệ lâu năm, Nova làm được cho An Phát những việc agency khác không làm được. Ví dụ thật: Techcombank từ nhà tài trợ thành nhà đồng đầu tư.
(GV: Lecture notes §1.2. Hiểu lầm: “quan hệ lâu năm thì không cần hợp đồng chặt” → quản trị hiệu quả là một nguồn giá trị.)
Hỏi lớp: —
Chuyển ý: Đối tác thành công làm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Mohr và Spekman, 1994, nghiên cứu đặc điểm của quan hệ đối tác thành công. Thuộc tính: cam kết, phối hợp, niềm tin. Giao tiếp: chất lượng thông tin, chia sẻ, cùng tham gia. Và cách xử lý xung đột: cùng giải quyết vấn đề — joint problem solving. Minh bạch và cùng giải quyết xung đột là hai mặt của một quan hệ bền.
(GV: Y03 đọc tóm tắt; kiểm định trên quan hệ nhà sản xuất – đại lý. [VERIFY: các kỹ thuật khác ngoài joint problem solving.])
Hỏi lớp: —
Chuyển ý: Vì sao minh bạch khó?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ẩn dụ từ chuỗi cung ứng: hiệu ứng roi da. Thông tin truyền qua mỗi mắt xích bị bóp méo, càng đi xa càng lệch. Yêu cầu của anh Minh đi qua Nova, qua khách sạn, đến bếp. “Bàn chay cho 12 khách” có thể đến bếp thành “12 suất chay”, hay “bàn số 12 ăn chay”. Mỗi lần truyền miệng là một lần lệch.
(GV: Quyết định GV 7: một slide, ghi rõ là ẩn dụ. Nếu trễ giờ: bỏ slide này (giáo án). Alt-text: bốn cột cao dần nối bằng mũi tên.)
Hỏi lớp: —
Chuyển ý: Khi thiếu minh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báo chí đưa tin về đêm diễn đó: một số nghệ sĩ cho biết chưa nhận thanh toán, chưa có hợp đồng chính thức, được hẹn nhiều lần; một nhạc sĩ trả lại cát-sê trước 4 ngày khi thấy dấu hiệu không ổn. Một luật sư nhận xét thị trường thiếu ký quỹ, bảo lãnh, bảo hiểm hủy sự kiện. Hỏi: nếu Nova là agency của một nhà tài trợ show này, tín hiệu cảnh báo nào có thể thấy trước?
(GV: Y09. Chỉ nêu sự kiện đã đưa tin; vụ việc đang được xử lý. Nối Buổi 10: Dowson khuyên kiểm tra năng lực tài chính của đối tác trước khi ký.)
Hỏi lớp: “Tín hiệu cảnh báo nào thấy được trước?”
Chuyển ý: Công cụ minh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Công cụ minh bạch của ngành: APEX Event Specifications Guide — ESG. Định nghĩa: tài liệu nhà tổ chức dùng để truyền đạt rõ ràng, chính xác mọi yêu cầu của sự kiện tới địa điểm và nhà cung cấp. Ba phần: Narrative — tổng quan; Function Schedule — lịch từng hoạt động; Function Set-up Order — yêu cầu cho từng hoạt động. Trường bắt buộc có ngày sửa đổi, đầu mối chính, họp trước và họp sau sự kiện. Bộ APEX xuyên suốt môn: RFP ở Buổi 10, ESG hôm nay, báo cáo sau sự kiện ở Buổi 8. Minh bạch không phải kể hết cho mọi người — mà là mọi bên cùng đọc một phiên bản đúng, biết ai đổi gì, khi nào.
(GV: Y07 nguyên văn: “the document used by an event organizer to convey information clearly and accurately to appropriate venue(s) and/or suppliers regarding all requirements for an event”. Dowson (2023, Hình 5.7) có mẫu function sheet tương tự (Buổi 10).)
Hỏi lớp: —
Chuyển ý: Giới hạn của minh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Giới hạn của minh bạch. Chia sẻ với cả mạng lưới: yêu cầu, thông số, sơ đồ; lịch, giờ dựng, mốc duyệt; mọi thay đổi kèm ngày sửa đổi; lịch thanh toán; ai là đầu mối, leo thang đến ai. Bảo mật: danh sách và thông tin cá nhân khách của An Phát — trừ phần cần thiết, có sự đồng ý; giá của nhà cung cấp khác; và thông tin nội bộ của An Phát.
(GV: Lecture notes §1.5 — nhận định. Hiểu lầm: “minh bạch là chia sẻ mọi thứ”.)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T trừ 5 ngày trước gala. Chị Thảo, KAMer của Nova, nhận bốn tin trong một buổi sáng. Bình An muốn đặt bàn tư vấn ngay cạnh khu tiệc, khác thỏa thuận đã ký. Khách sạn B có tiệc cưới kéo dài, giờ dựng lùi sang 13 giờ; đơn vị livestream và bếp tranh nhau khu hậu cần. Một báo điện tử nêu tên TS. Nam là thành viên hội đồng quản trị của một công ty đang bị thanh tra, chưa có kết luận. Nhà in báo trễ backdrop một ngày vì file được duyệt muộn, đề nghị phụ phí in gấp 15 triệu. Bảy phút phân tích; tám phút ưu tiên và giải pháp; năm phút viết tin nhắn gửi anh Minh.
(GV: Phiếu W12_activity_S3_tuan_cuoi_truoc_gala.md. Mốc phút 30–50. Ghi thứ tự ưu tiên của 6 nhóm lên bảng. Gợi ý: tin 3 (TS. Nam) dùng ở S5 — SCCT; tin 4: lỗi duyệt muộn có thể từ phía An Phát — minh bạch hai chiều.)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vì sao xung đột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12.2. Getz, Andersson và Larson, 2006, phân vai trò bên liên quan của lễ hội thành bảy loại: cơ quan quản lý, bên hỗ trợ, đồng sản xuất, nhà cung cấp, cộng tác, khán giả, bên chịu tác động. Phát hiện chính: bên liên quan chủ chốt giữ nhiều vai cùng lúc. Một bên nhiều vai thì lợi ích của các vai có thể đi ngược nhau — đó là nguồn gốc của xung đột lợi ích.
(GV: Y04. Donald Getz là tác giả giáo trình chính của môn (Event Stakeholders, 2019).)
Hỏi lớp: —
Chuyển ý: Trong mạng lưới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Trong mạng lưới An Phát. Khách sạn vừa là địa điểm vừa là nhà cung cấp AV độc quyền — có thể ưu tiên doanh thu AV hơn livestream của An Phát. Bình An vừa là nhà tài trợ vừa là đối tác kinh doanh của An Phát — muốn bán hàng tại gala, đi ngược trải nghiệm khách VIP. Chị Mai Anh vừa là diễn giả vừa là khách hàng của An Phát — muốn quảng bá công ty mình, trong khi nội dung cần trung lập. Định nghĩa làm việc của môn: xung đột lợi ích là khi lợi ích của một bên bên ngoài — hoặc các vai khác nhau của cùng một bên — đi ngược những gì Nova đã cam kết với Key Account.
(GV: Quyết định GV 4.)
Hỏi lớp: —
Chuyển ý: Xung đột có bình thường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Larson và Wikström, 2001, mô tả mạng lưới làm sự kiện là một quảng trường chợ chính trị: không gian mở, có bên trung tâm, có bên ngoại vi; mỗi bên tham gia để theo đuổi lợi ích riêng. Có lợi ích, xung đột, quyền lực — và không ai có quyền hợp pháp với toàn mạng lưới. Larson, 2002, nêu các quá trình chính trị: gác cổng, đàm phán, xây liên minh, xây niềm tin, xây bản sắc — và bản sắc chung giúp giảm xáo trộn. Nhiệm vụ của Nova: không xóa xung đột, mà quản lý nó.
(GV: Y11 nguyên văn: project network “does not have any legitimate authority for the network as a whole” (dẫn Hellgren &amp; Stjernberg, 1995). Case trong bài: World Championships in Athletics 1995, Storsjöyran.)
Hỏi lớp: —
Chuyển ý: Đồng thuận hay xung đột?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Larson và Wikström đưa ra sáu chiều để nhìn một quan hệ: lợi ích chung hay khác nhau; hài hòa hay căng thẳng; hợp tác hay trò chơi quyền lực; cam kết chung hay riêng; niềm tin hay nghi ngờ; đối thoại hay đàm phán. Kết luận: đồng thuận và xung đột không phải hai cực — chúng đan xen trong mọi quan hệ. Một phát hiện quan trọng: dự án có tính chính danh thấp thì thiên về xung đột; chính danh cao thì thiên về đồng thuận. Và hai chiến lược: xây tính chính danh khi chưa được thừa nhận, xây cam kết chung khi đã có chính danh. Với Nova: làm việc lần đầu với một nhà cung cấp, việc đầu tiên là xây chính danh.
(GV: Y11 — đã đọc toàn văn. Bảng 6 chiều dùng tốt ở Thực hành 2 và Buổi 13 (SMP): mỗi quan hệ đang ở cột nào? Nhận định: “Nova lần đầu làm việc → xây chính danh” là áp dụng của người soạn.)
Hỏi lớp: —
Chuyển ý: Vậy Nova làm gì khi xung đột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bước bảo vệ deliverables. Một: deliverable nào bị đe dọa — bắt đầu từ cam kết với Key Account, không từ bên đang to tiếng nhất. Hai: ai liên quan, giữ vai gì, nổi bật đến đâu — quyền lực, chính đáng, cấp bách, Buổi 1. Ba: lợi ích đằng sau lập trường — Bình An đòi bàn tư vấn cạnh khu tiệc, nhưng thứ họ cần là khách hẹn gặp, Buổi 7. Bốn: cùng giải quyết; nếu không được, leo thang theo thứ tự đã thống nhất. Năm: thông báo minh bạch cho Key Account và cập nhật ESG cho mọi bên.
(GV: Lecture notes §2.3 — nhận định. Alt-text: năm bậc thang. Hiểu lầm: “giải quyết xung đột = chọn bên đúng” → bảo vệ deliverable; giải pháp tốt thường đáp ứng lợi ích của cả hai bên. Nếu trễ giờ: bỏ ví dụ Mỹ Đình (giáo án) — đã bỏ khỏi deck, chỉ nhắc miệng nếu cần.)
Hỏi lớp: —
Chuyển ý: Bước 5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năm — báo Key Account. Tin nhắn bốn ý. Chuyện gì: khách sạn B lùi giờ dựng từ 8 giờ sang 13 giờ vì tiệc cưới tối hôm trước. Ảnh hưởng: thời gian dựng và thử livestream còn 5 tiếng thay vì 10. Nova đề xuất: dựng trước phần LED tại phòng phụ, thử livestream từ 13 giờ 30, bổ sung 4 kỹ thuật viên. Cần anh quyết: đồng ý lùi tổng duyệt sang 16 giờ, hay yêu cầu khách sạn bồi hoàn theo hợp đồng? Giấu khách để khỏi mất điểm — Key Account phát hiện muộn còn mất niềm tin hơn.
(GV: Ví dụ giả định, dựng từ tin 2 của Thực hành 1. Ai chịu chi phí bổ sung là quyết định thương mại của Nova — ví dụ chỉ minh họa.)
Hỏi lớp: —
Chuyển ý: Khi một bên gây sự cố.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Khi một bên trong mạng lưới gây sự cố. Coombs, 2007, lý thuyết truyền thông khủng hoảng theo tình huống — SCCT: mức đe dọa danh tiếng phụ thuộc trách nhiệm mà bên liên quan quy cho tổ chức. Nhóm nạn nhân: trách nhiệm rất thấp — tin đồn, bị giả mạo. Nhóm tai nạn: thấp — lỗi kỹ thuật không lường trước. Nhóm có thể ngăn ngừa: rất cao — lỗi con người, sai phạm. Mức đe dọa còn tăng theo lịch sử khủng hoảng và danh tiếng trước đó. Một diễn giả vướng vụ việc: ban đầu An Phát gần nhóm nạn nhân. Nhưng nếu thông tin đã có từ trước mà không ai kiểm tra, khách thấy đó là lỗi có thể ngăn ngừa — đó là lý do của due diligence ở Buổi 11.
(GV: Y08. Ranh giới (giáo án): SCCT chỉ ở mức phối hợp bên liên quan, không dạy toàn bộ truyền thông khủng hoảng. Nối Happy Day Concert (Buổi 9): thương hiệu bị giả mạo → gần nhóm nạn nhân.)
Hỏi lớp: —
Chuyển ý: Các cách phản hồi.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Coombs nêu các nhóm chiến lược phản hồi. Phủ nhận — deny: phủ nhận, chỉ ra người gây ra; hợp khi là tin đồn, thông tin sai. Giảm nhẹ — diminish: bào chữa, giải thích; hợp với nhóm tai nạn. Xây lại — rebuild: xin lỗi, bồi thường, sửa sai; cần khi trách nhiệm cao. Và bổ trợ — bolstering: nhắc việc tốt, tri ân, bày tỏ quan tâm đến người bị ảnh hưởng. Môn PR các bạn đã học nguyên tắc: nói sớm và nói sự thật — không nói dối, chối bỏ, che giấu. Phủ nhận chỉ dùng khi thông tin thật sự sai.
(GV: Y08, Y12. Ghép “hợp khi” với nhóm trách nhiệm là gợi ý của SCCT, rút gọn.)
Hỏi lớp: —
Chuyển ý: Ai nói gì với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PR các bạn đã học ma trận: đối tượng, thông điệp chính, phương tiện, thời gian, người phát ngôn. Áp vào mạng lưới gala. 600 khách: chuyện gì, ảnh hưởng gì đến họ, An Phát làm gì — gửi riêng, sớm nhất, An Phát nói. Nhà tài trợ: ảnh hưởng đến quyền lợi và phương án bù — gọi trực tiếp trước khi công bố. Nhà cung cấp: thay đổi yêu cầu, lịch — cập nhật ESG ngay, Nova nói. Báo chí: thông tin đã xác minh — người phát ngôn của An Phát. Nova soạn ma trận và bản nháp; An Phát quyết và phát ngôn.
(GV: Y12 (slide bộ môn bài 6, ba giai đoạn trước – trong – sau). Nội dung ma trận gala là giả định.)
Hỏi lớp: —
Chuyển ý: Vai trò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Vai trò của Nova khi một đối tác gây sự cố. Xác minh sự việc, không phản ứng theo tin đồn. Giữ deliverables — có diễn giả dự phòng không, đổi kịch bản thế nào. Đưa phương án và khuyến nghị mức phản hồi. Và ghi vào báo cáo sau sự kiện để lần sau không lặp lại. Nova không nói thay An Phát. Trong vụ Kera, các đối tác đã phản hồi bằng cách gỡ hình ảnh, chấm dứt hợp đồng. Nếu báo chí đưa tin chưa chính xác về một bên — ví dụ diễn giả — Luật Báo chí 2025, Điều 36: tổ chức có quyền gửi ý kiến phản hồi bằng văn bản; báo phải đăng hoặc trả lời bằng văn bản lý do không đăng.
(GV: Nối tin 3 của Thực hành 1 (TS. Nam, “đang bị thanh tra, chưa có kết luận”): chưa có kết luận → xác minh, không vội đổi diễn giả, nhưng chuẩn bị phương án dự phòng; An Phát quyết. Điều 34: cải chính khi báo thông tin sai sự thật.)
Hỏi lớp: —
Chuyển ý: Năm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câu hỏi khi một bên gây sự cố. Một: sự việc đã được xác minh chưa? Hai: trong mắt khách của An Phát, ai chịu trách nhiệm? Ba: deliverable nào bị ảnh hưởng, phương án dự phòng là gì? Bốn: Nova khuyến nghị An Phát phản hồi ở mức nào? Năm: ai báo cho ai, khi nào?
(GV: Lecture notes §3.4.)
Hỏi lớp: —
Chuyển ý: Thực hành 2 — chạy thử bảo vệ SMP.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 đây là buổi chạy thử bảo vệ SMP. Mười ba phút: trên A1, đặt khách hàng của nhóm ở giữa, vẽ ít nhất 5 bên bên ngoài; đánh dấu bên giữ nhiều vai; vẽ 2 xung đột có thể xảy ra, mỗi xung đột ghi deliverable bị đe dọa, lợi ích thật, cách phòng trước và cách xử lý; ghi một cơ chế minh bạch cho cả mạng lưới. Mười phút: xoay trạm 2 vòng, mỗi vòng 5 phút; một người ở lại trình bày 1 phút; các bạn đóng vai hội đồng bảo vệ — để lại một câu hỏi phản biện và một điểm yếu. Bốn phút cuối: sửa một điểm, ghi lại câu hỏi khó nhất.
(GV: Phiếu W12_activity_S6_mang_luoi_smp.md (phương án B — quyết định GV). Mốc phút 93–123. Ghi các câu hỏi phản biện lặp lại lên bảng — danh sách ôn tập bảo vệ. Nếu trễ giờ: xoay 1 vòng (tiết kiệm 5 phút).)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12. Mục 12.1: giá trị của Nova nằm một phần trong quan hệ dài hạn với mạng lưới; minh bạch là mọi bên đọc một phiên bản đúng, và bảo mật thông tin khách và giá. Mục 12.2: xung đột thường đến từ một bên nhiều vai; đồng thuận và xung đột đan xen; năm bước bảo vệ deliverables. Và sự cố: phân loại theo mức trách nhiệm; Nova xác minh, khuyến nghị, soạn ma trận — Key Account quyết và phát ngôn.
Hỏi lớp: —
Chuyển ý: Phần 3 khép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3 khép lại. Buổi 9: nhà tài trợ — điểm chạm làm giàu trải nghiệm khách. Buổi 10: nhà cung cấp và địa điểm — điểm chạm ở giai đoạn mua và sau mua. Buổi 11: báo chí và KOL — khuếch đại điểm chạm trước sự kiện. Buổi 12: cả mạng lưới — minh bạch, xử lý xung đột, sự cố. Buổi 13 ráp tất cả thành Stakeholder Management Plan xoay quanh Key Account Plan.
(GV: Đề cương 13.2: Value Delivery. Value Planning Framework A–E (Marcos et al., 2018, Ch.3) là khung của Buổi 13.)
Hỏi lớp: —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trong SMP của nhóm, bên liên quan bên ngoài nào giữ nhiều vai nhất — điều đó có thể gây xung đột gì với deliverable cam kết cho khách hàng? Hai: một câu hỏi phản biện nhóm nhận được hôm nay mà chưa trả lời được — nhóm sẽ bổ sung gì trước buổi bảo vệ?
(GV: Xem: (a) nhận ra xung đột do vai chồng chéo, không chỉ “bên kia xấu”; (b) nối với deliverable của Key Account; (c) câu hỏi phản biện cụ thể, kế hoạch bổ sung khả thi.)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13 ta ráp tất cả thành Stakeholder Management Plan xoay quanh Key Account Plan. Mang theo toàn bộ trang SMP đã làm và danh sách câu hỏi phản biện hôm nay.
(GV: Câu nối theo giáo án. [NEEDS PROFESSOR INPUT: nếu AM2 có bài cho Buổi 12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12, theo APA 7.
(GV: Larson (2002) (Y05), báo chí (Y09), slide bộ môn (Y12), Luật Báo chí 2025 (Y13): danh mục đầy đủ trong buoi-12_tu-lieu-tong-hop.md, mục 6 và 8.)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12: Tận dụng mạng lưới và xử lý xung đột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12</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Leverage &amp; Resolving Network Conflicts</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mạng lưới vỡ ở một mối nối là vỡ cả</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“Về đây bốn cánh chim trời”, Hà Nội, 28/12/2025</a:t>
            </a:r>
            <a:endParaRPr lang="en-US" sz="17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Khán giả đã vào; sân khấu, âm thanh ánh sáng đã dựng xong</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40 nghệ sĩ không lên sân khấu</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Báo chí đưa tin nguyên nhân: tranh chấp thanh toán giữa nghệ sĩ và nhà sản xuất</a:t>
            </a:r>
            <a:endParaRPr lang="en-US" sz="1600" dirty="0"/>
          </a:p>
        </p:txBody>
      </p:sp>
      <p:sp>
        <p:nvSpPr>
          <p:cNvPr id="8" name="Shape 5"/>
          <p:cNvSpPr/>
          <p:nvPr/>
        </p:nvSpPr>
        <p:spPr>
          <a:xfrm>
            <a:off x="7452360" y="1783080"/>
            <a:ext cx="418795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680960" y="1874520"/>
            <a:ext cx="374904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Giơ tay: vấn đề nằm ở…</a:t>
            </a:r>
            <a:endParaRPr lang="en-US" sz="1700" dirty="0"/>
          </a:p>
        </p:txBody>
      </p:sp>
      <p:sp>
        <p:nvSpPr>
          <p:cNvPr id="10" name="Shape 7"/>
          <p:cNvSpPr/>
          <p:nvPr/>
        </p:nvSpPr>
        <p:spPr>
          <a:xfrm>
            <a:off x="7680960" y="2560320"/>
            <a:ext cx="3730752" cy="640080"/>
          </a:xfrm>
          <a:prstGeom prst="roundRect">
            <a:avLst>
              <a:gd name="adj" fmla="val 11429"/>
            </a:avLst>
          </a:prstGeom>
          <a:solidFill>
            <a:srgbClr val="FF9259"/>
          </a:solidFill>
          <a:ln w="12700">
            <a:solidFill>
              <a:srgbClr val="FF9259"/>
            </a:solidFill>
            <a:prstDash val="solid"/>
          </a:ln>
        </p:spPr>
      </p:sp>
      <p:sp>
        <p:nvSpPr>
          <p:cNvPr id="11" name="Text 8"/>
          <p:cNvSpPr txBox="1"/>
          <p:nvPr/>
        </p:nvSpPr>
        <p:spPr>
          <a:xfrm>
            <a:off x="7818120" y="2560320"/>
            <a:ext cx="34747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A · Nhà tổ chức</a:t>
            </a:r>
            <a:endParaRPr lang="en-US" sz="1600" dirty="0"/>
          </a:p>
        </p:txBody>
      </p:sp>
      <p:sp>
        <p:nvSpPr>
          <p:cNvPr id="12" name="Shape 9"/>
          <p:cNvSpPr/>
          <p:nvPr/>
        </p:nvSpPr>
        <p:spPr>
          <a:xfrm>
            <a:off x="7680960" y="3319272"/>
            <a:ext cx="3730752" cy="640080"/>
          </a:xfrm>
          <a:prstGeom prst="roundRect">
            <a:avLst>
              <a:gd name="adj" fmla="val 11429"/>
            </a:avLst>
          </a:prstGeom>
          <a:solidFill>
            <a:srgbClr val="09A1E5"/>
          </a:solidFill>
          <a:ln w="12700">
            <a:solidFill>
              <a:srgbClr val="09A1E5"/>
            </a:solidFill>
            <a:prstDash val="solid"/>
          </a:ln>
        </p:spPr>
      </p:sp>
      <p:sp>
        <p:nvSpPr>
          <p:cNvPr id="13" name="Text 10"/>
          <p:cNvSpPr txBox="1"/>
          <p:nvPr/>
        </p:nvSpPr>
        <p:spPr>
          <a:xfrm>
            <a:off x="7818120" y="3319272"/>
            <a:ext cx="34747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 · Nghệ sĩ</a:t>
            </a:r>
            <a:endParaRPr lang="en-US" sz="1600" dirty="0"/>
          </a:p>
        </p:txBody>
      </p:sp>
      <p:sp>
        <p:nvSpPr>
          <p:cNvPr id="14" name="Shape 11"/>
          <p:cNvSpPr/>
          <p:nvPr/>
        </p:nvSpPr>
        <p:spPr>
          <a:xfrm>
            <a:off x="7680960" y="4078224"/>
            <a:ext cx="3730752" cy="640080"/>
          </a:xfrm>
          <a:prstGeom prst="roundRect">
            <a:avLst>
              <a:gd name="adj" fmla="val 11429"/>
            </a:avLst>
          </a:prstGeom>
          <a:solidFill>
            <a:srgbClr val="962B7C"/>
          </a:solidFill>
          <a:ln w="12700">
            <a:solidFill>
              <a:srgbClr val="962B7C"/>
            </a:solidFill>
            <a:prstDash val="solid"/>
          </a:ln>
        </p:spPr>
      </p:sp>
      <p:sp>
        <p:nvSpPr>
          <p:cNvPr id="15" name="Text 12"/>
          <p:cNvSpPr txBox="1"/>
          <p:nvPr/>
        </p:nvSpPr>
        <p:spPr>
          <a:xfrm>
            <a:off x="7818120" y="4078224"/>
            <a:ext cx="3474720" cy="64008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C · Cả hai</a:t>
            </a:r>
            <a:endParaRPr lang="en-US" sz="1600" dirty="0"/>
          </a:p>
        </p:txBody>
      </p:sp>
      <p:sp>
        <p:nvSpPr>
          <p:cNvPr id="16" name="Shape 13"/>
          <p:cNvSpPr/>
          <p:nvPr/>
        </p:nvSpPr>
        <p:spPr>
          <a:xfrm>
            <a:off x="7680960" y="4837176"/>
            <a:ext cx="3730752" cy="640080"/>
          </a:xfrm>
          <a:prstGeom prst="roundRect">
            <a:avLst>
              <a:gd name="adj" fmla="val 11429"/>
            </a:avLst>
          </a:prstGeom>
          <a:solidFill>
            <a:srgbClr val="49B296"/>
          </a:solidFill>
          <a:ln w="12700">
            <a:solidFill>
              <a:srgbClr val="49B296"/>
            </a:solidFill>
            <a:prstDash val="solid"/>
          </a:ln>
        </p:spPr>
      </p:sp>
      <p:sp>
        <p:nvSpPr>
          <p:cNvPr id="17" name="Text 14"/>
          <p:cNvSpPr txBox="1"/>
          <p:nvPr/>
        </p:nvSpPr>
        <p:spPr>
          <a:xfrm>
            <a:off x="7818120" y="4837176"/>
            <a:ext cx="34747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D · Khoảng trống giữa các bên</a:t>
            </a:r>
            <a:endParaRPr lang="en-US" sz="1600" dirty="0"/>
          </a:p>
        </p:txBody>
      </p:sp>
      <p:sp>
        <p:nvSpPr>
          <p:cNvPr id="18"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Báo Văn hóa (3/1/2026); Nhân Dân (23/1/2026); Dân trí (31/12/2025) (Y09). Vụ việc đang được xử lý theo pháp luật — không quy lỗi cá nhân.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Sau Buổi 9–11, An Phát đứng giữa một mạng lưới — Nova ở mọi mối nối</a:t>
            </a:r>
            <a:endParaRPr lang="en-US" sz="2800" dirty="0"/>
          </a:p>
        </p:txBody>
      </p:sp>
      <p:sp>
        <p:nvSpPr>
          <p:cNvPr id="3" name="Shape 1"/>
          <p:cNvSpPr/>
          <p:nvPr/>
        </p:nvSpPr>
        <p:spPr>
          <a:xfrm>
            <a:off x="4727448" y="237744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377440"/>
            <a:ext cx="2743200" cy="27432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AN PHÁT</a:t>
            </a:r>
            <a:endParaRPr lang="en-US" sz="1800" dirty="0"/>
          </a:p>
          <a:p>
            <a:pPr algn="ctr" indent="0" marL="0">
              <a:buNone/>
            </a:pPr>
            <a:r>
              <a:rPr lang="en-US" sz="1800" b="1" dirty="0">
                <a:solidFill>
                  <a:srgbClr val="172849"/>
                </a:solidFill>
                <a:latin typeface="Roboto" pitchFamily="34" charset="0"/>
                <a:ea typeface="Roboto" pitchFamily="34" charset="-122"/>
                <a:cs typeface="Roboto" pitchFamily="34" charset="-120"/>
              </a:rPr>
              <a:t>+ 600 khách VIP</a:t>
            </a:r>
            <a:endParaRPr lang="en-US" sz="1800" dirty="0"/>
          </a:p>
        </p:txBody>
      </p:sp>
      <p:sp>
        <p:nvSpPr>
          <p:cNvPr id="5" name="Shape 3"/>
          <p:cNvSpPr/>
          <p:nvPr/>
        </p:nvSpPr>
        <p:spPr>
          <a:xfrm>
            <a:off x="548640" y="1783080"/>
            <a:ext cx="3657600" cy="1371600"/>
          </a:xfrm>
          <a:prstGeom prst="roundRect">
            <a:avLst>
              <a:gd name="adj" fmla="val 5333"/>
            </a:avLst>
          </a:prstGeom>
          <a:solidFill>
            <a:srgbClr val="49B296"/>
          </a:solidFill>
          <a:ln w="12700">
            <a:solidFill>
              <a:srgbClr val="49B296"/>
            </a:solidFill>
            <a:prstDash val="solid"/>
          </a:ln>
        </p:spPr>
      </p:sp>
      <p:sp>
        <p:nvSpPr>
          <p:cNvPr id="6" name="Text 4"/>
          <p:cNvSpPr txBox="1"/>
          <p:nvPr/>
        </p:nvSpPr>
        <p:spPr>
          <a:xfrm>
            <a:off x="685800" y="1828800"/>
            <a:ext cx="3383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tài trợ (Buổi 9)</a:t>
            </a:r>
            <a:endParaRPr lang="en-US" sz="1500" dirty="0"/>
          </a:p>
        </p:txBody>
      </p:sp>
      <p:sp>
        <p:nvSpPr>
          <p:cNvPr id="7" name="Text 5"/>
          <p:cNvSpPr txBox="1"/>
          <p:nvPr/>
        </p:nvSpPr>
        <p:spPr>
          <a:xfrm>
            <a:off x="685800" y="2240280"/>
            <a:ext cx="338328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Bình An · GlobalCard</a:t>
            </a:r>
            <a:endParaRPr lang="en-US" sz="1400" dirty="0"/>
          </a:p>
        </p:txBody>
      </p:sp>
      <p:sp>
        <p:nvSpPr>
          <p:cNvPr id="8" name="Shape 6"/>
          <p:cNvSpPr/>
          <p:nvPr/>
        </p:nvSpPr>
        <p:spPr>
          <a:xfrm>
            <a:off x="7982712" y="1783080"/>
            <a:ext cx="3657600" cy="1371600"/>
          </a:xfrm>
          <a:prstGeom prst="roundRect">
            <a:avLst>
              <a:gd name="adj" fmla="val 5333"/>
            </a:avLst>
          </a:prstGeom>
          <a:solidFill>
            <a:srgbClr val="09A1E5"/>
          </a:solidFill>
          <a:ln w="12700">
            <a:solidFill>
              <a:srgbClr val="09A1E5"/>
            </a:solidFill>
            <a:prstDash val="solid"/>
          </a:ln>
        </p:spPr>
      </p:sp>
      <p:sp>
        <p:nvSpPr>
          <p:cNvPr id="9" name="Text 7"/>
          <p:cNvSpPr txBox="1"/>
          <p:nvPr/>
        </p:nvSpPr>
        <p:spPr>
          <a:xfrm>
            <a:off x="8119872" y="1828800"/>
            <a:ext cx="3383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cung cấp – địa điểm (Buổi 10)</a:t>
            </a:r>
            <a:endParaRPr lang="en-US" sz="1500" dirty="0"/>
          </a:p>
        </p:txBody>
      </p:sp>
      <p:sp>
        <p:nvSpPr>
          <p:cNvPr id="10" name="Text 8"/>
          <p:cNvSpPr txBox="1"/>
          <p:nvPr/>
        </p:nvSpPr>
        <p:spPr>
          <a:xfrm>
            <a:off x="8119872" y="2240280"/>
            <a:ext cx="3383280" cy="82296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Khách sạn B · AV – livestream · nhà in · xe</a:t>
            </a:r>
            <a:endParaRPr lang="en-US" sz="1400" dirty="0"/>
          </a:p>
        </p:txBody>
      </p:sp>
      <p:sp>
        <p:nvSpPr>
          <p:cNvPr id="11" name="Shape 9"/>
          <p:cNvSpPr/>
          <p:nvPr/>
        </p:nvSpPr>
        <p:spPr>
          <a:xfrm>
            <a:off x="4270248" y="5257800"/>
            <a:ext cx="3657600" cy="914400"/>
          </a:xfrm>
          <a:prstGeom prst="roundRect">
            <a:avLst>
              <a:gd name="adj" fmla="val 8000"/>
            </a:avLst>
          </a:prstGeom>
          <a:solidFill>
            <a:srgbClr val="FF9259"/>
          </a:solidFill>
          <a:ln w="12700">
            <a:solidFill>
              <a:srgbClr val="FF9259"/>
            </a:solidFill>
            <a:prstDash val="solid"/>
          </a:ln>
        </p:spPr>
      </p:sp>
      <p:sp>
        <p:nvSpPr>
          <p:cNvPr id="12" name="Text 10"/>
          <p:cNvSpPr txBox="1"/>
          <p:nvPr/>
        </p:nvSpPr>
        <p:spPr>
          <a:xfrm>
            <a:off x="4407408" y="5303520"/>
            <a:ext cx="3383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Báo chí – KOL (Buổi 11)</a:t>
            </a:r>
            <a:endParaRPr lang="en-US" sz="1500" dirty="0"/>
          </a:p>
        </p:txBody>
      </p:sp>
      <p:sp>
        <p:nvSpPr>
          <p:cNvPr id="13" name="Text 11"/>
          <p:cNvSpPr txBox="1"/>
          <p:nvPr/>
        </p:nvSpPr>
        <p:spPr>
          <a:xfrm>
            <a:off x="4407408" y="5715000"/>
            <a:ext cx="3383280" cy="41148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Nhà báo kinh tế · TS. Nam · chị Mai Anh</a:t>
            </a:r>
            <a:endParaRPr lang="en-US" sz="1400" dirty="0"/>
          </a:p>
        </p:txBody>
      </p:sp>
      <p:sp>
        <p:nvSpPr>
          <p:cNvPr id="14" name="Shape 12"/>
          <p:cNvSpPr/>
          <p:nvPr/>
        </p:nvSpPr>
        <p:spPr>
          <a:xfrm>
            <a:off x="4206240" y="2468880"/>
            <a:ext cx="731520" cy="457200"/>
          </a:xfrm>
          <a:prstGeom prst="line">
            <a:avLst/>
          </a:prstGeom>
          <a:noFill/>
          <a:ln w="25400">
            <a:solidFill>
              <a:srgbClr val="A9B6D3"/>
            </a:solidFill>
            <a:prstDash val="solid"/>
          </a:ln>
        </p:spPr>
      </p:sp>
      <p:sp>
        <p:nvSpPr>
          <p:cNvPr id="15" name="Shape 13"/>
          <p:cNvSpPr/>
          <p:nvPr/>
        </p:nvSpPr>
        <p:spPr>
          <a:xfrm flipV="1">
            <a:off x="7269480" y="2468880"/>
            <a:ext cx="713232" cy="457200"/>
          </a:xfrm>
          <a:prstGeom prst="line">
            <a:avLst/>
          </a:prstGeom>
          <a:noFill/>
          <a:ln w="25400">
            <a:solidFill>
              <a:srgbClr val="A9B6D3"/>
            </a:solidFill>
            <a:prstDash val="solid"/>
          </a:ln>
        </p:spPr>
      </p:sp>
      <p:sp>
        <p:nvSpPr>
          <p:cNvPr id="16" name="Shape 14"/>
          <p:cNvSpPr/>
          <p:nvPr/>
        </p:nvSpPr>
        <p:spPr>
          <a:xfrm>
            <a:off x="6099048" y="5120640"/>
            <a:ext cx="0" cy="137160"/>
          </a:xfrm>
          <a:prstGeom prst="line">
            <a:avLst/>
          </a:prstGeom>
          <a:noFill/>
          <a:ln w="25400">
            <a:solidFill>
              <a:srgbClr val="A9B6D3"/>
            </a:solidFill>
            <a:prstDash val="solid"/>
          </a:ln>
        </p:spPr>
      </p:sp>
      <p:sp>
        <p:nvSpPr>
          <p:cNvPr id="17" name="Shape 15"/>
          <p:cNvSpPr/>
          <p:nvPr/>
        </p:nvSpPr>
        <p:spPr>
          <a:xfrm>
            <a:off x="548640" y="3429000"/>
            <a:ext cx="3291840" cy="1463040"/>
          </a:xfrm>
          <a:prstGeom prst="roundRect">
            <a:avLst>
              <a:gd name="adj" fmla="val 5000"/>
            </a:avLst>
          </a:prstGeom>
          <a:solidFill>
            <a:srgbClr val="22395F"/>
          </a:solidFill>
          <a:ln w="12700">
            <a:solidFill>
              <a:srgbClr val="22395F"/>
            </a:solidFill>
            <a:prstDash val="solid"/>
          </a:ln>
        </p:spPr>
      </p:sp>
      <p:sp>
        <p:nvSpPr>
          <p:cNvPr id="18" name="Text 16"/>
          <p:cNvSpPr txBox="1"/>
          <p:nvPr/>
        </p:nvSpPr>
        <p:spPr>
          <a:xfrm>
            <a:off x="685800" y="3429000"/>
            <a:ext cx="3017520" cy="146304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Nova ở mọi mối nối — và các bên cũng quan hệ với nhau</a:t>
            </a:r>
            <a:endParaRPr lang="en-US" sz="1500" dirty="0"/>
          </a:p>
        </p:txBody>
      </p:sp>
      <p:sp>
        <p:nvSpPr>
          <p:cNvPr id="19" name="Shape 17"/>
          <p:cNvSpPr/>
          <p:nvPr/>
        </p:nvSpPr>
        <p:spPr>
          <a:xfrm>
            <a:off x="8348472" y="3429000"/>
            <a:ext cx="3291840" cy="1463040"/>
          </a:xfrm>
          <a:prstGeom prst="roundRect">
            <a:avLst>
              <a:gd name="adj" fmla="val 5000"/>
            </a:avLst>
          </a:prstGeom>
          <a:solidFill>
            <a:srgbClr val="22395F"/>
          </a:solidFill>
          <a:ln w="12700">
            <a:solidFill>
              <a:srgbClr val="22395F"/>
            </a:solidFill>
            <a:prstDash val="solid"/>
          </a:ln>
        </p:spPr>
      </p:sp>
      <p:sp>
        <p:nvSpPr>
          <p:cNvPr id="20" name="Text 18"/>
          <p:cNvSpPr txBox="1"/>
          <p:nvPr/>
        </p:nvSpPr>
        <p:spPr>
          <a:xfrm>
            <a:off x="8485632" y="3429000"/>
            <a:ext cx="3017520" cy="146304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Khách sạn ↔ AV, nhà tài trợ ↔ báo chí, diễn giả ↔ khách… có lúc lợi ích va nhau</a:t>
            </a:r>
            <a:endParaRPr lang="en-US" sz="14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phần giá trị của agency nằm trong quan hệ, không chỉ trong agency</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Dyer &amp; Singh (1998)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Nguồn lực then chốt của doanh nghiệp có thể vượt ra ngoài ranh giới doanh nghiệp, nằm trong quan hệ giữa các doanh nghiệp — tạo ra “relational rents”.</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(Y01 — relational view)</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Morgan &amp; Hunt (1994)</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Quan hệ thành công cần cam kết và niềm tin (đã học ở Buổi 4).</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(Y02)</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Dowson et al. (2023)</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Khi nhiều bên cùng chi mà có bên phải trả nhiều hơn thỏa thuận ban đầu, họ “may choose not to do business with the others again”.</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(V15, tr. 224)</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Leverage = giá trị do quan hệ dài hạn tạo ra — không phải dùng thế lớn để ép đối tác.</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nguồn relational rents trong mạng lưới của Nova</a:t>
            </a:r>
            <a:endParaRPr lang="en-US" sz="2800" dirty="0"/>
          </a:p>
        </p:txBody>
      </p:sp>
      <p:sp>
        <p:nvSpPr>
          <p:cNvPr id="3" name="Shape 1"/>
          <p:cNvSpPr/>
          <p:nvPr/>
        </p:nvSpPr>
        <p:spPr>
          <a:xfrm>
            <a:off x="548640" y="1783080"/>
            <a:ext cx="36027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34198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Nguồn (Dyer &amp; Singh)</a:t>
            </a:r>
            <a:endParaRPr lang="en-US" sz="1500" dirty="0"/>
          </a:p>
        </p:txBody>
      </p:sp>
      <p:sp>
        <p:nvSpPr>
          <p:cNvPr id="5" name="Shape 3"/>
          <p:cNvSpPr/>
          <p:nvPr/>
        </p:nvSpPr>
        <p:spPr>
          <a:xfrm>
            <a:off x="4206240" y="1783080"/>
            <a:ext cx="737920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4297680" y="1783080"/>
            <a:ext cx="719632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Ví dụ trong mạng lưới của Nova</a:t>
            </a:r>
            <a:endParaRPr lang="en-US" sz="1500" dirty="0"/>
          </a:p>
        </p:txBody>
      </p:sp>
      <p:sp>
        <p:nvSpPr>
          <p:cNvPr id="7" name="Shape 5"/>
          <p:cNvSpPr/>
          <p:nvPr/>
        </p:nvSpPr>
        <p:spPr>
          <a:xfrm>
            <a:off x="548640" y="2404872"/>
            <a:ext cx="3602736" cy="566928"/>
          </a:xfrm>
          <a:prstGeom prst="roundRect">
            <a:avLst>
              <a:gd name="adj" fmla="val 12903"/>
            </a:avLst>
          </a:prstGeom>
          <a:solidFill>
            <a:srgbClr val="FFD23B"/>
          </a:solidFill>
          <a:ln w="12700">
            <a:solidFill>
              <a:srgbClr val="FFD23B"/>
            </a:solidFill>
            <a:prstDash val="solid"/>
          </a:ln>
        </p:spPr>
      </p:sp>
      <p:sp>
        <p:nvSpPr>
          <p:cNvPr id="8" name="Text 6"/>
          <p:cNvSpPr txBox="1"/>
          <p:nvPr/>
        </p:nvSpPr>
        <p:spPr>
          <a:xfrm>
            <a:off x="658368" y="240487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Tài sản đặc thù cho quan hệ</a:t>
            </a:r>
            <a:endParaRPr lang="en-US" sz="1500" dirty="0"/>
          </a:p>
        </p:txBody>
      </p:sp>
      <p:sp>
        <p:nvSpPr>
          <p:cNvPr id="9" name="Shape 7"/>
          <p:cNvSpPr/>
          <p:nvPr/>
        </p:nvSpPr>
        <p:spPr>
          <a:xfrm>
            <a:off x="4206240" y="2404872"/>
            <a:ext cx="7379208" cy="566928"/>
          </a:xfrm>
          <a:prstGeom prst="roundRect">
            <a:avLst>
              <a:gd name="adj" fmla="val 12903"/>
            </a:avLst>
          </a:prstGeom>
          <a:solidFill>
            <a:srgbClr val="22395F"/>
          </a:solidFill>
          <a:ln w="12700">
            <a:solidFill>
              <a:srgbClr val="22395F"/>
            </a:solidFill>
            <a:prstDash val="solid"/>
          </a:ln>
        </p:spPr>
      </p:sp>
      <p:sp>
        <p:nvSpPr>
          <p:cNvPr id="10" name="Text 8"/>
          <p:cNvSpPr txBox="1"/>
          <p:nvPr/>
        </p:nvSpPr>
        <p:spPr>
          <a:xfrm>
            <a:off x="4315968" y="240487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Nova thuộc sơ đồ, quy trình bếp, giờ dựng của khách sạn quen</a:t>
            </a:r>
            <a:endParaRPr lang="en-US" sz="1500" dirty="0"/>
          </a:p>
        </p:txBody>
      </p:sp>
      <p:sp>
        <p:nvSpPr>
          <p:cNvPr id="11" name="Shape 9"/>
          <p:cNvSpPr/>
          <p:nvPr/>
        </p:nvSpPr>
        <p:spPr>
          <a:xfrm>
            <a:off x="548640" y="3044952"/>
            <a:ext cx="3602736" cy="566928"/>
          </a:xfrm>
          <a:prstGeom prst="roundRect">
            <a:avLst>
              <a:gd name="adj" fmla="val 12903"/>
            </a:avLst>
          </a:prstGeom>
          <a:solidFill>
            <a:srgbClr val="FFD23B"/>
          </a:solidFill>
          <a:ln w="12700">
            <a:solidFill>
              <a:srgbClr val="FFD23B"/>
            </a:solidFill>
            <a:prstDash val="solid"/>
          </a:ln>
        </p:spPr>
      </p:sp>
      <p:sp>
        <p:nvSpPr>
          <p:cNvPr id="12" name="Text 10"/>
          <p:cNvSpPr txBox="1"/>
          <p:nvPr/>
        </p:nvSpPr>
        <p:spPr>
          <a:xfrm>
            <a:off x="658368" y="304495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Thói quen chia sẻ tri thức</a:t>
            </a:r>
            <a:endParaRPr lang="en-US" sz="1500" dirty="0"/>
          </a:p>
        </p:txBody>
      </p:sp>
      <p:sp>
        <p:nvSpPr>
          <p:cNvPr id="13" name="Shape 11"/>
          <p:cNvSpPr/>
          <p:nvPr/>
        </p:nvSpPr>
        <p:spPr>
          <a:xfrm>
            <a:off x="4206240" y="3044952"/>
            <a:ext cx="7379208"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4315968" y="304495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Họp rút kinh nghiệm chung với nhà cung cấp sau mỗi sự kiện</a:t>
            </a:r>
            <a:endParaRPr lang="en-US" sz="1500" dirty="0"/>
          </a:p>
        </p:txBody>
      </p:sp>
      <p:sp>
        <p:nvSpPr>
          <p:cNvPr id="15" name="Shape 13"/>
          <p:cNvSpPr/>
          <p:nvPr/>
        </p:nvSpPr>
        <p:spPr>
          <a:xfrm>
            <a:off x="548640" y="3685032"/>
            <a:ext cx="3602736" cy="566928"/>
          </a:xfrm>
          <a:prstGeom prst="roundRect">
            <a:avLst>
              <a:gd name="adj" fmla="val 12903"/>
            </a:avLst>
          </a:prstGeom>
          <a:solidFill>
            <a:srgbClr val="FFD23B"/>
          </a:solidFill>
          <a:ln w="12700">
            <a:solidFill>
              <a:srgbClr val="FFD23B"/>
            </a:solidFill>
            <a:prstDash val="solid"/>
          </a:ln>
        </p:spPr>
      </p:sp>
      <p:sp>
        <p:nvSpPr>
          <p:cNvPr id="16" name="Text 14"/>
          <p:cNvSpPr txBox="1"/>
          <p:nvPr/>
        </p:nvSpPr>
        <p:spPr>
          <a:xfrm>
            <a:off x="658368" y="368503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Nguồn lực bổ trợ</a:t>
            </a:r>
            <a:endParaRPr lang="en-US" sz="1500" dirty="0"/>
          </a:p>
        </p:txBody>
      </p:sp>
      <p:sp>
        <p:nvSpPr>
          <p:cNvPr id="17" name="Shape 15"/>
          <p:cNvSpPr/>
          <p:nvPr/>
        </p:nvSpPr>
        <p:spPr>
          <a:xfrm>
            <a:off x="4206240" y="3685032"/>
            <a:ext cx="7379208"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4315968" y="368503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Đơn vị livestream quen + AV khách sạn làm được việc mỗi bên không làm một mình</a:t>
            </a:r>
            <a:endParaRPr lang="en-US" sz="1500" dirty="0"/>
          </a:p>
        </p:txBody>
      </p:sp>
      <p:sp>
        <p:nvSpPr>
          <p:cNvPr id="19" name="Shape 17"/>
          <p:cNvSpPr/>
          <p:nvPr/>
        </p:nvSpPr>
        <p:spPr>
          <a:xfrm>
            <a:off x="548640" y="4325112"/>
            <a:ext cx="3602736" cy="566928"/>
          </a:xfrm>
          <a:prstGeom prst="roundRect">
            <a:avLst>
              <a:gd name="adj" fmla="val 12903"/>
            </a:avLst>
          </a:prstGeom>
          <a:solidFill>
            <a:srgbClr val="FFD23B"/>
          </a:solidFill>
          <a:ln w="12700">
            <a:solidFill>
              <a:srgbClr val="FFD23B"/>
            </a:solidFill>
            <a:prstDash val="solid"/>
          </a:ln>
        </p:spPr>
      </p:sp>
      <p:sp>
        <p:nvSpPr>
          <p:cNvPr id="20" name="Text 18"/>
          <p:cNvSpPr txBox="1"/>
          <p:nvPr/>
        </p:nvSpPr>
        <p:spPr>
          <a:xfrm>
            <a:off x="658368" y="432511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Quản trị hiệu quả</a:t>
            </a:r>
            <a:endParaRPr lang="en-US" sz="1500" dirty="0"/>
          </a:p>
        </p:txBody>
      </p:sp>
      <p:sp>
        <p:nvSpPr>
          <p:cNvPr id="21" name="Shape 19"/>
          <p:cNvSpPr/>
          <p:nvPr/>
        </p:nvSpPr>
        <p:spPr>
          <a:xfrm>
            <a:off x="4206240" y="4325112"/>
            <a:ext cx="7379208" cy="566928"/>
          </a:xfrm>
          <a:prstGeom prst="roundRect">
            <a:avLst>
              <a:gd name="adj" fmla="val 12903"/>
            </a:avLst>
          </a:prstGeom>
          <a:solidFill>
            <a:srgbClr val="22395F"/>
          </a:solidFill>
          <a:ln w="12700">
            <a:solidFill>
              <a:srgbClr val="22395F"/>
            </a:solidFill>
            <a:prstDash val="solid"/>
          </a:ln>
        </p:spPr>
      </p:sp>
      <p:sp>
        <p:nvSpPr>
          <p:cNvPr id="22" name="Text 20"/>
          <p:cNvSpPr txBox="1"/>
          <p:nvPr/>
        </p:nvSpPr>
        <p:spPr>
          <a:xfrm>
            <a:off x="4315968" y="432511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Hợp đồng khung, cam kết dài hạn, cơ chế xử lý tranh chấp đã thống nhất</a:t>
            </a:r>
            <a:endParaRPr lang="en-US" sz="1500" dirty="0"/>
          </a:p>
        </p:txBody>
      </p:sp>
      <p:sp>
        <p:nvSpPr>
          <p:cNvPr id="23" name="Shape 21"/>
          <p:cNvSpPr/>
          <p:nvPr/>
        </p:nvSpPr>
        <p:spPr>
          <a:xfrm>
            <a:off x="548640" y="5074920"/>
            <a:ext cx="11091672" cy="640080"/>
          </a:xfrm>
          <a:prstGeom prst="roundRect">
            <a:avLst>
              <a:gd name="adj" fmla="val 11429"/>
            </a:avLst>
          </a:prstGeom>
          <a:solidFill>
            <a:srgbClr val="22395F"/>
          </a:solidFill>
          <a:ln w="12700">
            <a:solidFill>
              <a:srgbClr val="22395F"/>
            </a:solidFill>
            <a:prstDash val="solid"/>
          </a:ln>
        </p:spPr>
      </p:sp>
      <p:sp>
        <p:nvSpPr>
          <p:cNvPr id="24" name="Text 22"/>
          <p:cNvSpPr txBox="1"/>
          <p:nvPr/>
        </p:nvSpPr>
        <p:spPr>
          <a:xfrm>
            <a:off x="777240" y="5074920"/>
            <a:ext cx="10698480" cy="64008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Ví dụ thật: Techcombank — nhà tài trợ concert 2024, “nhà đồng đầu tư” 2025 (Buổi 9): quan hệ dài hạn mở ra cấu trúc hợp tác mới.</a:t>
            </a:r>
            <a:endParaRPr lang="en-US" sz="1500" dirty="0"/>
          </a:p>
        </p:txBody>
      </p:sp>
      <p:sp>
        <p:nvSpPr>
          <p:cNvPr id="25"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Dyer &amp; Singh (1998) (Y01). Ví dụ Nova: nhận định của người soạn. Techcombank: U08.</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Đối tác thành công giao tiếp tốt và cùng giải quyết vấn đề</a:t>
            </a:r>
            <a:endParaRPr lang="en-US" sz="2800" dirty="0"/>
          </a:p>
        </p:txBody>
      </p:sp>
      <p:sp>
        <p:nvSpPr>
          <p:cNvPr id="3" name="Shape 1"/>
          <p:cNvSpPr/>
          <p:nvPr/>
        </p:nvSpPr>
        <p:spPr>
          <a:xfrm>
            <a:off x="548640" y="1783080"/>
            <a:ext cx="3566160" cy="2926080"/>
          </a:xfrm>
          <a:prstGeom prst="roundRect">
            <a:avLst>
              <a:gd name="adj" fmla="val 2500"/>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49B296"/>
                </a:solidFill>
                <a:latin typeface="Roboto" pitchFamily="34" charset="0"/>
                <a:ea typeface="Roboto" pitchFamily="34" charset="-122"/>
                <a:cs typeface="Roboto" pitchFamily="34" charset="-120"/>
              </a:rPr>
              <a:t>Thuộc tính</a:t>
            </a:r>
            <a:endParaRPr lang="en-US" sz="2000" dirty="0"/>
          </a:p>
        </p:txBody>
      </p:sp>
      <p:sp>
        <p:nvSpPr>
          <p:cNvPr id="7" name="Text 4"/>
          <p:cNvSpPr txBox="1"/>
          <p:nvPr/>
        </p:nvSpPr>
        <p:spPr>
          <a:xfrm>
            <a:off x="777240" y="3611880"/>
            <a:ext cx="3108960" cy="1005840"/>
          </a:xfrm>
          <a:prstGeom prst="rect">
            <a:avLst/>
          </a:prstGeom>
          <a:noFill/>
          <a:ln/>
        </p:spPr>
        <p:txBody>
          <a:bodyPr wrap="square" lIns="635" tIns="635" rIns="635" bIns="635" rtlCol="0" anchor="t"/>
          <a:lstStyle/>
          <a:p>
            <a:pPr algn="ctr" indent="0" marL="0">
              <a:buNone/>
            </a:pPr>
            <a:r>
              <a:rPr lang="en-US" sz="1550" dirty="0">
                <a:solidFill>
                  <a:srgbClr val="FBFAF4"/>
                </a:solidFill>
                <a:latin typeface="Roboto" pitchFamily="34" charset="0"/>
                <a:ea typeface="Roboto" pitchFamily="34" charset="-122"/>
                <a:cs typeface="Roboto" pitchFamily="34" charset="-120"/>
              </a:rPr>
              <a:t>Cam kết · phối hợp · niềm tin</a:t>
            </a:r>
            <a:endParaRPr lang="en-US" sz="1550" dirty="0"/>
          </a:p>
        </p:txBody>
      </p:sp>
      <p:sp>
        <p:nvSpPr>
          <p:cNvPr id="8" name="Shape 5"/>
          <p:cNvSpPr/>
          <p:nvPr/>
        </p:nvSpPr>
        <p:spPr>
          <a:xfrm>
            <a:off x="4325112" y="1783080"/>
            <a:ext cx="3566160" cy="2926080"/>
          </a:xfrm>
          <a:prstGeom prst="roundRect">
            <a:avLst>
              <a:gd name="adj" fmla="val 2500"/>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D23B"/>
                </a:solidFill>
                <a:latin typeface="Roboto" pitchFamily="34" charset="0"/>
                <a:ea typeface="Roboto" pitchFamily="34" charset="-122"/>
                <a:cs typeface="Roboto" pitchFamily="34" charset="-120"/>
              </a:rPr>
              <a:t>Giao tiếp</a:t>
            </a:r>
            <a:endParaRPr lang="en-US" sz="2000" dirty="0"/>
          </a:p>
        </p:txBody>
      </p:sp>
      <p:sp>
        <p:nvSpPr>
          <p:cNvPr id="12" name="Text 8"/>
          <p:cNvSpPr txBox="1"/>
          <p:nvPr/>
        </p:nvSpPr>
        <p:spPr>
          <a:xfrm>
            <a:off x="4553712" y="3611880"/>
            <a:ext cx="3108960" cy="1005840"/>
          </a:xfrm>
          <a:prstGeom prst="rect">
            <a:avLst/>
          </a:prstGeom>
          <a:noFill/>
          <a:ln/>
        </p:spPr>
        <p:txBody>
          <a:bodyPr wrap="square" lIns="635" tIns="635" rIns="635" bIns="635" rtlCol="0" anchor="t"/>
          <a:lstStyle/>
          <a:p>
            <a:pPr algn="ctr" indent="0" marL="0">
              <a:buNone/>
            </a:pPr>
            <a:r>
              <a:rPr lang="en-US" sz="1550" dirty="0">
                <a:solidFill>
                  <a:srgbClr val="FBFAF4"/>
                </a:solidFill>
                <a:latin typeface="Roboto" pitchFamily="34" charset="0"/>
                <a:ea typeface="Roboto" pitchFamily="34" charset="-122"/>
                <a:cs typeface="Roboto" pitchFamily="34" charset="-120"/>
              </a:rPr>
              <a:t>Chất lượng thông tin · chia sẻ · cùng tham gia</a:t>
            </a:r>
            <a:endParaRPr lang="en-US" sz="1550" dirty="0"/>
          </a:p>
        </p:txBody>
      </p:sp>
      <p:sp>
        <p:nvSpPr>
          <p:cNvPr id="13" name="Shape 9"/>
          <p:cNvSpPr/>
          <p:nvPr/>
        </p:nvSpPr>
        <p:spPr>
          <a:xfrm>
            <a:off x="8101584" y="1783080"/>
            <a:ext cx="3566160" cy="2926080"/>
          </a:xfrm>
          <a:prstGeom prst="roundRect">
            <a:avLst>
              <a:gd name="adj" fmla="val 2500"/>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5178"/>
                </a:solidFill>
                <a:latin typeface="Roboto" pitchFamily="34" charset="0"/>
                <a:ea typeface="Roboto" pitchFamily="34" charset="-122"/>
                <a:cs typeface="Roboto" pitchFamily="34" charset="-120"/>
              </a:rPr>
              <a:t>Xử lý xung đột</a:t>
            </a:r>
            <a:endParaRPr lang="en-US" sz="2000" dirty="0"/>
          </a:p>
        </p:txBody>
      </p:sp>
      <p:sp>
        <p:nvSpPr>
          <p:cNvPr id="17" name="Text 12"/>
          <p:cNvSpPr txBox="1"/>
          <p:nvPr/>
        </p:nvSpPr>
        <p:spPr>
          <a:xfrm>
            <a:off x="8330184" y="3611880"/>
            <a:ext cx="3108960" cy="1005840"/>
          </a:xfrm>
          <a:prstGeom prst="rect">
            <a:avLst/>
          </a:prstGeom>
          <a:noFill/>
          <a:ln/>
        </p:spPr>
        <p:txBody>
          <a:bodyPr wrap="square" lIns="635" tIns="635" rIns="635" bIns="635" rtlCol="0" anchor="t"/>
          <a:lstStyle/>
          <a:p>
            <a:pPr algn="ctr" indent="0" marL="0">
              <a:buNone/>
            </a:pPr>
            <a:r>
              <a:rPr lang="en-US" sz="1550" dirty="0">
                <a:solidFill>
                  <a:srgbClr val="FBFAF4"/>
                </a:solidFill>
                <a:latin typeface="Roboto" pitchFamily="34" charset="0"/>
                <a:ea typeface="Roboto" pitchFamily="34" charset="-122"/>
                <a:cs typeface="Roboto" pitchFamily="34" charset="-120"/>
              </a:rPr>
              <a:t>Cùng giải quyết vấn đề (joint problem solving)</a:t>
            </a:r>
            <a:endParaRPr lang="en-US" sz="1550" dirty="0"/>
          </a:p>
        </p:txBody>
      </p:sp>
      <p:sp>
        <p:nvSpPr>
          <p:cNvPr id="18" name="Shape 13"/>
          <p:cNvSpPr/>
          <p:nvPr/>
        </p:nvSpPr>
        <p:spPr>
          <a:xfrm>
            <a:off x="548640" y="4892040"/>
            <a:ext cx="11091672" cy="822960"/>
          </a:xfrm>
          <a:prstGeom prst="roundRect">
            <a:avLst>
              <a:gd name="adj" fmla="val 8889"/>
            </a:avLst>
          </a:prstGeom>
          <a:solidFill>
            <a:srgbClr val="FFD23B"/>
          </a:solidFill>
          <a:ln w="12700">
            <a:solidFill>
              <a:srgbClr val="FFD23B"/>
            </a:solidFill>
            <a:prstDash val="solid"/>
          </a:ln>
        </p:spPr>
      </p:sp>
      <p:sp>
        <p:nvSpPr>
          <p:cNvPr id="19" name="Text 14"/>
          <p:cNvSpPr txBox="1"/>
          <p:nvPr/>
        </p:nvSpPr>
        <p:spPr>
          <a:xfrm>
            <a:off x="777240" y="4892040"/>
            <a:ext cx="10698480" cy="82296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Minh bạch (giao tiếp) và cùng giải quyết xung đột là hai mặt của một quan hệ bền.</a:t>
            </a:r>
            <a:endParaRPr lang="en-US" sz="1700" dirty="0"/>
          </a:p>
        </p:txBody>
      </p:sp>
      <p:sp>
        <p:nvSpPr>
          <p:cNvPr id="20"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Mohr &amp; Spekman (1994), Strategic Management Journal (Y03) — đọc tóm tắt; các kỹ thuật xử lý xung đột khác [VERIFY].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lần truyền miệng là một lần lệch</a:t>
            </a:r>
            <a:endParaRPr lang="en-US" sz="2800" dirty="0"/>
          </a:p>
        </p:txBody>
      </p:sp>
      <p:sp>
        <p:nvSpPr>
          <p:cNvPr id="3" name="Shape 1"/>
          <p:cNvSpPr/>
          <p:nvPr/>
        </p:nvSpPr>
        <p:spPr>
          <a:xfrm>
            <a:off x="548640" y="3017520"/>
            <a:ext cx="2377440" cy="822960"/>
          </a:xfrm>
          <a:prstGeom prst="roundRect">
            <a:avLst>
              <a:gd name="adj" fmla="val 8889"/>
            </a:avLst>
          </a:prstGeom>
          <a:solidFill>
            <a:srgbClr val="49B296"/>
          </a:solidFill>
          <a:ln w="12700">
            <a:solidFill>
              <a:srgbClr val="49B296"/>
            </a:solidFill>
            <a:prstDash val="solid"/>
          </a:ln>
        </p:spPr>
      </p:sp>
      <p:sp>
        <p:nvSpPr>
          <p:cNvPr id="4" name="Text 2"/>
          <p:cNvSpPr txBox="1"/>
          <p:nvPr/>
        </p:nvSpPr>
        <p:spPr>
          <a:xfrm>
            <a:off x="548640"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Anh Minh</a:t>
            </a:r>
            <a:endParaRPr lang="en-US" sz="1600" dirty="0"/>
          </a:p>
        </p:txBody>
      </p:sp>
      <p:sp>
        <p:nvSpPr>
          <p:cNvPr id="5" name="Shape 3"/>
          <p:cNvSpPr/>
          <p:nvPr/>
        </p:nvSpPr>
        <p:spPr>
          <a:xfrm>
            <a:off x="2971800" y="3108960"/>
            <a:ext cx="320040" cy="365760"/>
          </a:xfrm>
          <a:prstGeom prst="rightArrow">
            <a:avLst/>
          </a:prstGeom>
          <a:solidFill>
            <a:srgbClr val="A9B6D3"/>
          </a:solidFill>
          <a:ln w="12700">
            <a:solidFill>
              <a:srgbClr val="A9B6D3"/>
            </a:solidFill>
            <a:prstDash val="solid"/>
          </a:ln>
        </p:spPr>
      </p:sp>
      <p:sp>
        <p:nvSpPr>
          <p:cNvPr id="6" name="Shape 4"/>
          <p:cNvSpPr/>
          <p:nvPr/>
        </p:nvSpPr>
        <p:spPr>
          <a:xfrm>
            <a:off x="3364992" y="2743200"/>
            <a:ext cx="2377440" cy="1097280"/>
          </a:xfrm>
          <a:prstGeom prst="roundRect">
            <a:avLst>
              <a:gd name="adj" fmla="val 6667"/>
            </a:avLst>
          </a:prstGeom>
          <a:solidFill>
            <a:srgbClr val="FFD23B"/>
          </a:solidFill>
          <a:ln w="12700">
            <a:solidFill>
              <a:srgbClr val="FFD23B"/>
            </a:solidFill>
            <a:prstDash val="solid"/>
          </a:ln>
        </p:spPr>
      </p:sp>
      <p:sp>
        <p:nvSpPr>
          <p:cNvPr id="7" name="Text 5"/>
          <p:cNvSpPr txBox="1"/>
          <p:nvPr/>
        </p:nvSpPr>
        <p:spPr>
          <a:xfrm>
            <a:off x="3364992"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Nova</a:t>
            </a:r>
            <a:endParaRPr lang="en-US" sz="1600" dirty="0"/>
          </a:p>
        </p:txBody>
      </p:sp>
      <p:sp>
        <p:nvSpPr>
          <p:cNvPr id="8" name="Shape 6"/>
          <p:cNvSpPr/>
          <p:nvPr/>
        </p:nvSpPr>
        <p:spPr>
          <a:xfrm>
            <a:off x="5788152" y="3108960"/>
            <a:ext cx="320040" cy="365760"/>
          </a:xfrm>
          <a:prstGeom prst="rightArrow">
            <a:avLst/>
          </a:prstGeom>
          <a:solidFill>
            <a:srgbClr val="A9B6D3"/>
          </a:solidFill>
          <a:ln w="12700">
            <a:solidFill>
              <a:srgbClr val="A9B6D3"/>
            </a:solidFill>
            <a:prstDash val="solid"/>
          </a:ln>
        </p:spPr>
      </p:sp>
      <p:sp>
        <p:nvSpPr>
          <p:cNvPr id="9" name="Shape 7"/>
          <p:cNvSpPr/>
          <p:nvPr/>
        </p:nvSpPr>
        <p:spPr>
          <a:xfrm>
            <a:off x="6181344" y="2468880"/>
            <a:ext cx="2377440" cy="1371600"/>
          </a:xfrm>
          <a:prstGeom prst="roundRect">
            <a:avLst>
              <a:gd name="adj" fmla="val 5333"/>
            </a:avLst>
          </a:prstGeom>
          <a:solidFill>
            <a:srgbClr val="FF9259"/>
          </a:solidFill>
          <a:ln w="12700">
            <a:solidFill>
              <a:srgbClr val="FF9259"/>
            </a:solidFill>
            <a:prstDash val="solid"/>
          </a:ln>
        </p:spPr>
      </p:sp>
      <p:sp>
        <p:nvSpPr>
          <p:cNvPr id="10" name="Text 8"/>
          <p:cNvSpPr txBox="1"/>
          <p:nvPr/>
        </p:nvSpPr>
        <p:spPr>
          <a:xfrm>
            <a:off x="6181344"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Khách sạn</a:t>
            </a:r>
            <a:endParaRPr lang="en-US" sz="1600" dirty="0"/>
          </a:p>
        </p:txBody>
      </p:sp>
      <p:sp>
        <p:nvSpPr>
          <p:cNvPr id="11" name="Shape 9"/>
          <p:cNvSpPr/>
          <p:nvPr/>
        </p:nvSpPr>
        <p:spPr>
          <a:xfrm>
            <a:off x="8604504" y="3108960"/>
            <a:ext cx="320040" cy="365760"/>
          </a:xfrm>
          <a:prstGeom prst="rightArrow">
            <a:avLst/>
          </a:prstGeom>
          <a:solidFill>
            <a:srgbClr val="A9B6D3"/>
          </a:solidFill>
          <a:ln w="12700">
            <a:solidFill>
              <a:srgbClr val="A9B6D3"/>
            </a:solidFill>
            <a:prstDash val="solid"/>
          </a:ln>
        </p:spPr>
      </p:sp>
      <p:sp>
        <p:nvSpPr>
          <p:cNvPr id="12" name="Shape 10"/>
          <p:cNvSpPr/>
          <p:nvPr/>
        </p:nvSpPr>
        <p:spPr>
          <a:xfrm>
            <a:off x="8997696" y="2148840"/>
            <a:ext cx="2377440" cy="1691640"/>
          </a:xfrm>
          <a:prstGeom prst="roundRect">
            <a:avLst>
              <a:gd name="adj" fmla="val 4324"/>
            </a:avLst>
          </a:prstGeom>
          <a:solidFill>
            <a:srgbClr val="FF5178"/>
          </a:solidFill>
          <a:ln w="12700">
            <a:solidFill>
              <a:srgbClr val="FF5178"/>
            </a:solidFill>
            <a:prstDash val="solid"/>
          </a:ln>
        </p:spPr>
      </p:sp>
      <p:sp>
        <p:nvSpPr>
          <p:cNvPr id="13" name="Text 11"/>
          <p:cNvSpPr txBox="1"/>
          <p:nvPr/>
        </p:nvSpPr>
        <p:spPr>
          <a:xfrm>
            <a:off x="8997696"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Bếp</a:t>
            </a:r>
            <a:endParaRPr lang="en-US" sz="1600" dirty="0"/>
          </a:p>
        </p:txBody>
      </p:sp>
      <p:sp>
        <p:nvSpPr>
          <p:cNvPr id="14" name="Shape 12"/>
          <p:cNvSpPr/>
          <p:nvPr/>
        </p:nvSpPr>
        <p:spPr>
          <a:xfrm>
            <a:off x="548640" y="4572000"/>
            <a:ext cx="11091672" cy="1143000"/>
          </a:xfrm>
          <a:prstGeom prst="roundRect">
            <a:avLst>
              <a:gd name="adj" fmla="val 6400"/>
            </a:avLst>
          </a:prstGeom>
          <a:solidFill>
            <a:srgbClr val="22395F"/>
          </a:solidFill>
          <a:ln w="12700">
            <a:solidFill>
              <a:srgbClr val="22395F"/>
            </a:solidFill>
            <a:prstDash val="solid"/>
          </a:ln>
        </p:spPr>
      </p:sp>
      <p:sp>
        <p:nvSpPr>
          <p:cNvPr id="15" name="Text 13"/>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550" dirty="0">
                <a:solidFill>
                  <a:srgbClr val="FBFAF4"/>
                </a:solidFill>
                <a:latin typeface="Roboto" pitchFamily="34" charset="0"/>
                <a:ea typeface="Roboto" pitchFamily="34" charset="-122"/>
                <a:cs typeface="Roboto" pitchFamily="34" charset="-120"/>
              </a:rPr>
              <a:t>Ẩn dụ từ chuỗi cung ứng: thông tin qua mỗi mắt xích bị bóp méo, càng xa càng lệch (bullwhip effect). Yêu cầu “bàn chay cho 12 khách” có thể đến bếp thành “12 suất chay” — hay “bàn 12 chay”?</a:t>
            </a:r>
            <a:endParaRPr lang="en-US" sz="1550" dirty="0"/>
          </a:p>
        </p:txBody>
      </p:sp>
      <p:sp>
        <p:nvSpPr>
          <p:cNvPr id="16" name="Text 1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ẨN DỤ — Lee, Padmanabhan &amp; Whang (1997), Management Science (Y06); không phải nghiên cứu về sự kiện (quyết định GV 7). Ví dụ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Thiếu minh bạch thì những bên không tranh chấp cũng chịu thiệt</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621792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Theo báo chí đưa tin (“Về đây bốn cánh chim trời”)</a:t>
            </a:r>
            <a:endParaRPr lang="en-US" sz="1600" dirty="0"/>
          </a:p>
        </p:txBody>
      </p:sp>
      <p:sp>
        <p:nvSpPr>
          <p:cNvPr id="5" name="Text 3"/>
          <p:cNvSpPr txBox="1"/>
          <p:nvPr/>
        </p:nvSpPr>
        <p:spPr>
          <a:xfrm>
            <a:off x="777240" y="2468880"/>
            <a:ext cx="6217920" cy="3108960"/>
          </a:xfrm>
          <a:prstGeom prst="rect">
            <a:avLst/>
          </a:prstGeom>
          <a:noFill/>
          <a:ln/>
        </p:spPr>
        <p:txBody>
          <a:bodyPr wrap="square" lIns="635" tIns="635" rIns="635" bIns="635" rtlCol="0" anchor="t"/>
          <a:lstStyle/>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Một số nghệ sĩ cho biết chưa nhận thanh toán, chưa có hợp đồng chính thức, được hẹn nhiều lần</a:t>
            </a:r>
            <a:endParaRPr lang="en-US" sz="1550" dirty="0"/>
          </a:p>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Một nhạc sĩ trả lại cát-sê trước 4 ngày khi thấy “dấu hiệu không ổn”</a:t>
            </a:r>
            <a:endParaRPr lang="en-US" sz="1550" dirty="0"/>
          </a:p>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Một luật sư nhận xét thị trường thiếu ký quỹ, bảo lãnh, bảo hiểm hủy sự kiện</a:t>
            </a:r>
            <a:endParaRPr lang="en-US" sz="1550" dirty="0"/>
          </a:p>
        </p:txBody>
      </p:sp>
      <p:sp>
        <p:nvSpPr>
          <p:cNvPr id="6" name="Shape 4"/>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7" name="Text 5"/>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550" b="1" dirty="0">
                <a:solidFill>
                  <a:srgbClr val="172849"/>
                </a:solidFill>
                <a:latin typeface="Roboto" pitchFamily="34" charset="0"/>
                <a:ea typeface="Roboto" pitchFamily="34" charset="-122"/>
                <a:cs typeface="Roboto" pitchFamily="34" charset="-120"/>
              </a:rPr>
              <a:t>Nếu Nova là agency của một nhà tài trợ show này — tín hiệu cảnh báo nào thấy được trước?</a:t>
            </a:r>
            <a:endParaRPr lang="en-US" sz="1550" dirty="0"/>
          </a:p>
          <a:p>
            <a:pPr indent="0" marL="0">
              <a:buNone/>
            </a:pPr>
            <a:endParaRPr lang="en-US" sz="1550" dirty="0"/>
          </a:p>
          <a:p>
            <a:pPr indent="0" marL="0">
              <a:buNone/>
            </a:pPr>
            <a:r>
              <a:rPr lang="en-US" sz="1550" b="1" dirty="0">
                <a:solidFill>
                  <a:srgbClr val="172849"/>
                </a:solidFill>
                <a:latin typeface="Roboto" pitchFamily="34" charset="0"/>
                <a:ea typeface="Roboto" pitchFamily="34" charset="-122"/>
                <a:cs typeface="Roboto" pitchFamily="34" charset="-120"/>
              </a:rPr>
              <a:t>Gợi ý: hợp đồng chưa ký sát ngày · lịch thanh toán không rõ · các bên không nói chuyện với nhau.</a:t>
            </a:r>
            <a:endParaRPr lang="en-US" sz="1550" dirty="0"/>
          </a:p>
        </p:txBody>
      </p:sp>
      <p:sp>
        <p:nvSpPr>
          <p:cNvPr id="8" name="Text 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Báo Văn hóa (3/1/2026); Nhân Dân (23/1/2026) — ý kiến chuyên gia, chưa KCC (Y09). Không quy lỗi cá nhân.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Minh bạch là mọi bên cùng đọc một phiên bản đúng — APEX ESG</a:t>
            </a:r>
            <a:endParaRPr lang="en-US" sz="2800" dirty="0"/>
          </a:p>
        </p:txBody>
      </p:sp>
      <p:sp>
        <p:nvSpPr>
          <p:cNvPr id="3" name="Shape 1"/>
          <p:cNvSpPr/>
          <p:nvPr/>
        </p:nvSpPr>
        <p:spPr>
          <a:xfrm>
            <a:off x="548640" y="1783080"/>
            <a:ext cx="3566160" cy="1463040"/>
          </a:xfrm>
          <a:prstGeom prst="roundRect">
            <a:avLst>
              <a:gd name="adj" fmla="val 5000"/>
            </a:avLst>
          </a:prstGeom>
          <a:solidFill>
            <a:srgbClr val="49B296"/>
          </a:solidFill>
          <a:ln w="12700">
            <a:solidFill>
              <a:srgbClr val="49B296"/>
            </a:solidFill>
            <a:prstDash val="solid"/>
          </a:ln>
        </p:spPr>
      </p:sp>
      <p:sp>
        <p:nvSpPr>
          <p:cNvPr id="4" name="Text 2"/>
          <p:cNvSpPr txBox="1"/>
          <p:nvPr/>
        </p:nvSpPr>
        <p:spPr>
          <a:xfrm>
            <a:off x="731520" y="1828800"/>
            <a:ext cx="3200400" cy="64008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Narrative</a:t>
            </a:r>
            <a:endParaRPr lang="en-US" sz="1800" dirty="0"/>
          </a:p>
        </p:txBody>
      </p:sp>
      <p:sp>
        <p:nvSpPr>
          <p:cNvPr id="5" name="Text 3"/>
          <p:cNvSpPr txBox="1"/>
          <p:nvPr/>
        </p:nvSpPr>
        <p:spPr>
          <a:xfrm>
            <a:off x="731520" y="2468880"/>
            <a:ext cx="3200400" cy="640080"/>
          </a:xfrm>
          <a:prstGeom prst="rect">
            <a:avLst/>
          </a:prstGeom>
          <a:noFill/>
          <a:ln/>
        </p:spPr>
        <p:txBody>
          <a:bodyPr wrap="square" lIns="635" tIns="635" rIns="635" bIns="635" rtlCol="0" anchor="ctr"/>
          <a:lstStyle/>
          <a:p>
            <a:pPr algn="ctr" indent="0" marL="0">
              <a:buNone/>
            </a:pPr>
            <a:r>
              <a:rPr lang="en-US" sz="1500" dirty="0">
                <a:solidFill>
                  <a:srgbClr val="172849"/>
                </a:solidFill>
                <a:latin typeface="Roboto" pitchFamily="34" charset="0"/>
                <a:ea typeface="Roboto" pitchFamily="34" charset="-122"/>
                <a:cs typeface="Roboto" pitchFamily="34" charset="-120"/>
              </a:rPr>
              <a:t>Tổng quan sự kiện</a:t>
            </a:r>
            <a:endParaRPr lang="en-US" sz="1500" dirty="0"/>
          </a:p>
        </p:txBody>
      </p:sp>
      <p:sp>
        <p:nvSpPr>
          <p:cNvPr id="6" name="Shape 4"/>
          <p:cNvSpPr/>
          <p:nvPr/>
        </p:nvSpPr>
        <p:spPr>
          <a:xfrm>
            <a:off x="4325112" y="1783080"/>
            <a:ext cx="3566160" cy="1463040"/>
          </a:xfrm>
          <a:prstGeom prst="roundRect">
            <a:avLst>
              <a:gd name="adj" fmla="val 5000"/>
            </a:avLst>
          </a:prstGeom>
          <a:solidFill>
            <a:srgbClr val="FFD23B"/>
          </a:solidFill>
          <a:ln w="12700">
            <a:solidFill>
              <a:srgbClr val="FFD23B"/>
            </a:solidFill>
            <a:prstDash val="solid"/>
          </a:ln>
        </p:spPr>
      </p:sp>
      <p:sp>
        <p:nvSpPr>
          <p:cNvPr id="7" name="Text 5"/>
          <p:cNvSpPr txBox="1"/>
          <p:nvPr/>
        </p:nvSpPr>
        <p:spPr>
          <a:xfrm>
            <a:off x="4507992" y="1828800"/>
            <a:ext cx="3200400" cy="64008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Function Schedule</a:t>
            </a:r>
            <a:endParaRPr lang="en-US" sz="1800" dirty="0"/>
          </a:p>
        </p:txBody>
      </p:sp>
      <p:sp>
        <p:nvSpPr>
          <p:cNvPr id="8" name="Text 6"/>
          <p:cNvSpPr txBox="1"/>
          <p:nvPr/>
        </p:nvSpPr>
        <p:spPr>
          <a:xfrm>
            <a:off x="4507992" y="2468880"/>
            <a:ext cx="3200400" cy="640080"/>
          </a:xfrm>
          <a:prstGeom prst="rect">
            <a:avLst/>
          </a:prstGeom>
          <a:noFill/>
          <a:ln/>
        </p:spPr>
        <p:txBody>
          <a:bodyPr wrap="square" lIns="635" tIns="635" rIns="635" bIns="635" rtlCol="0" anchor="ctr"/>
          <a:lstStyle/>
          <a:p>
            <a:pPr algn="ctr" indent="0" marL="0">
              <a:buNone/>
            </a:pPr>
            <a:r>
              <a:rPr lang="en-US" sz="1500" dirty="0">
                <a:solidFill>
                  <a:srgbClr val="172849"/>
                </a:solidFill>
                <a:latin typeface="Roboto" pitchFamily="34" charset="0"/>
                <a:ea typeface="Roboto" pitchFamily="34" charset="-122"/>
                <a:cs typeface="Roboto" pitchFamily="34" charset="-120"/>
              </a:rPr>
              <a:t>Lịch từng hoạt động</a:t>
            </a:r>
            <a:endParaRPr lang="en-US" sz="1500" dirty="0"/>
          </a:p>
        </p:txBody>
      </p:sp>
      <p:sp>
        <p:nvSpPr>
          <p:cNvPr id="9" name="Shape 7"/>
          <p:cNvSpPr/>
          <p:nvPr/>
        </p:nvSpPr>
        <p:spPr>
          <a:xfrm>
            <a:off x="8101584" y="1783080"/>
            <a:ext cx="3566160" cy="1463040"/>
          </a:xfrm>
          <a:prstGeom prst="roundRect">
            <a:avLst>
              <a:gd name="adj" fmla="val 5000"/>
            </a:avLst>
          </a:prstGeom>
          <a:solidFill>
            <a:srgbClr val="FF9259"/>
          </a:solidFill>
          <a:ln w="12700">
            <a:solidFill>
              <a:srgbClr val="FF9259"/>
            </a:solidFill>
            <a:prstDash val="solid"/>
          </a:ln>
        </p:spPr>
      </p:sp>
      <p:sp>
        <p:nvSpPr>
          <p:cNvPr id="10" name="Text 8"/>
          <p:cNvSpPr txBox="1"/>
          <p:nvPr/>
        </p:nvSpPr>
        <p:spPr>
          <a:xfrm>
            <a:off x="8284464" y="1828800"/>
            <a:ext cx="3200400" cy="64008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Function Set-up Order</a:t>
            </a:r>
            <a:endParaRPr lang="en-US" sz="1800" dirty="0"/>
          </a:p>
        </p:txBody>
      </p:sp>
      <p:sp>
        <p:nvSpPr>
          <p:cNvPr id="11" name="Text 9"/>
          <p:cNvSpPr txBox="1"/>
          <p:nvPr/>
        </p:nvSpPr>
        <p:spPr>
          <a:xfrm>
            <a:off x="8284464" y="2468880"/>
            <a:ext cx="3200400" cy="640080"/>
          </a:xfrm>
          <a:prstGeom prst="rect">
            <a:avLst/>
          </a:prstGeom>
          <a:noFill/>
          <a:ln/>
        </p:spPr>
        <p:txBody>
          <a:bodyPr wrap="square" lIns="635" tIns="635" rIns="635" bIns="635" rtlCol="0" anchor="ctr"/>
          <a:lstStyle/>
          <a:p>
            <a:pPr algn="ctr" indent="0" marL="0">
              <a:buNone/>
            </a:pPr>
            <a:r>
              <a:rPr lang="en-US" sz="1500" dirty="0">
                <a:solidFill>
                  <a:srgbClr val="172849"/>
                </a:solidFill>
                <a:latin typeface="Roboto" pitchFamily="34" charset="0"/>
                <a:ea typeface="Roboto" pitchFamily="34" charset="-122"/>
                <a:cs typeface="Roboto" pitchFamily="34" charset="-120"/>
              </a:rPr>
              <a:t>Yêu cầu cho từng hoạt động</a:t>
            </a:r>
            <a:endParaRPr lang="en-US" sz="1500" dirty="0"/>
          </a:p>
        </p:txBody>
      </p:sp>
      <p:sp>
        <p:nvSpPr>
          <p:cNvPr id="12" name="Shape 10"/>
          <p:cNvSpPr/>
          <p:nvPr/>
        </p:nvSpPr>
        <p:spPr>
          <a:xfrm>
            <a:off x="548640" y="3429000"/>
            <a:ext cx="11091672" cy="1005840"/>
          </a:xfrm>
          <a:prstGeom prst="roundRect">
            <a:avLst>
              <a:gd name="adj" fmla="val 7273"/>
            </a:avLst>
          </a:prstGeom>
          <a:solidFill>
            <a:srgbClr val="22395F"/>
          </a:solidFill>
          <a:ln w="12700">
            <a:solidFill>
              <a:srgbClr val="22395F"/>
            </a:solidFill>
            <a:prstDash val="solid"/>
          </a:ln>
        </p:spPr>
      </p:sp>
      <p:sp>
        <p:nvSpPr>
          <p:cNvPr id="13" name="Text 11"/>
          <p:cNvSpPr txBox="1"/>
          <p:nvPr/>
        </p:nvSpPr>
        <p:spPr>
          <a:xfrm>
            <a:off x="777240" y="3429000"/>
            <a:ext cx="10698480" cy="10058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Trường bắt buộc: ngày sửa đổi · đầu mối chính · họp trước sự kiện · họp sau sự kiện.</a:t>
            </a:r>
            <a:endParaRPr lang="en-US" sz="1700" dirty="0"/>
          </a:p>
        </p:txBody>
      </p:sp>
      <p:sp>
        <p:nvSpPr>
          <p:cNvPr id="14" name="Shape 12"/>
          <p:cNvSpPr/>
          <p:nvPr/>
        </p:nvSpPr>
        <p:spPr>
          <a:xfrm>
            <a:off x="2377440" y="4663440"/>
            <a:ext cx="2103120" cy="914400"/>
          </a:xfrm>
          <a:prstGeom prst="roundRect">
            <a:avLst>
              <a:gd name="adj" fmla="val 8000"/>
            </a:avLst>
          </a:prstGeom>
          <a:solidFill>
            <a:srgbClr val="09A1E5"/>
          </a:solidFill>
          <a:ln w="12700">
            <a:solidFill>
              <a:srgbClr val="09A1E5"/>
            </a:solidFill>
            <a:prstDash val="solid"/>
          </a:ln>
        </p:spPr>
      </p:sp>
      <p:sp>
        <p:nvSpPr>
          <p:cNvPr id="15" name="Text 13"/>
          <p:cNvSpPr txBox="1"/>
          <p:nvPr/>
        </p:nvSpPr>
        <p:spPr>
          <a:xfrm>
            <a:off x="2377440" y="4663440"/>
            <a:ext cx="21031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RFP · Buổi 10</a:t>
            </a:r>
            <a:endParaRPr lang="en-US" sz="1600" dirty="0"/>
          </a:p>
        </p:txBody>
      </p:sp>
      <p:sp>
        <p:nvSpPr>
          <p:cNvPr id="16" name="Shape 14"/>
          <p:cNvSpPr/>
          <p:nvPr/>
        </p:nvSpPr>
        <p:spPr>
          <a:xfrm>
            <a:off x="4526280" y="4937760"/>
            <a:ext cx="502920" cy="365760"/>
          </a:xfrm>
          <a:prstGeom prst="rightArrow">
            <a:avLst/>
          </a:prstGeom>
          <a:solidFill>
            <a:srgbClr val="A9B6D3"/>
          </a:solidFill>
          <a:ln w="12700">
            <a:solidFill>
              <a:srgbClr val="A9B6D3"/>
            </a:solidFill>
            <a:prstDash val="solid"/>
          </a:ln>
        </p:spPr>
      </p:sp>
      <p:sp>
        <p:nvSpPr>
          <p:cNvPr id="17" name="Shape 15"/>
          <p:cNvSpPr/>
          <p:nvPr/>
        </p:nvSpPr>
        <p:spPr>
          <a:xfrm>
            <a:off x="5120640" y="4663440"/>
            <a:ext cx="2103120" cy="914400"/>
          </a:xfrm>
          <a:prstGeom prst="roundRect">
            <a:avLst>
              <a:gd name="adj" fmla="val 8000"/>
            </a:avLst>
          </a:prstGeom>
          <a:solidFill>
            <a:srgbClr val="49B296"/>
          </a:solidFill>
          <a:ln w="12700">
            <a:solidFill>
              <a:srgbClr val="49B296"/>
            </a:solidFill>
            <a:prstDash val="solid"/>
          </a:ln>
        </p:spPr>
      </p:sp>
      <p:sp>
        <p:nvSpPr>
          <p:cNvPr id="18" name="Text 16"/>
          <p:cNvSpPr txBox="1"/>
          <p:nvPr/>
        </p:nvSpPr>
        <p:spPr>
          <a:xfrm>
            <a:off x="5120640" y="4663440"/>
            <a:ext cx="21031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ESG · Buổi 12</a:t>
            </a:r>
            <a:endParaRPr lang="en-US" sz="1600" dirty="0"/>
          </a:p>
        </p:txBody>
      </p:sp>
      <p:sp>
        <p:nvSpPr>
          <p:cNvPr id="19" name="Shape 17"/>
          <p:cNvSpPr/>
          <p:nvPr/>
        </p:nvSpPr>
        <p:spPr>
          <a:xfrm>
            <a:off x="7269480" y="4937760"/>
            <a:ext cx="502920" cy="365760"/>
          </a:xfrm>
          <a:prstGeom prst="rightArrow">
            <a:avLst/>
          </a:prstGeom>
          <a:solidFill>
            <a:srgbClr val="A9B6D3"/>
          </a:solidFill>
          <a:ln w="12700">
            <a:solidFill>
              <a:srgbClr val="A9B6D3"/>
            </a:solidFill>
            <a:prstDash val="solid"/>
          </a:ln>
        </p:spPr>
      </p:sp>
      <p:sp>
        <p:nvSpPr>
          <p:cNvPr id="20" name="Shape 18"/>
          <p:cNvSpPr/>
          <p:nvPr/>
        </p:nvSpPr>
        <p:spPr>
          <a:xfrm>
            <a:off x="7863840" y="4663440"/>
            <a:ext cx="2103120" cy="914400"/>
          </a:xfrm>
          <a:prstGeom prst="roundRect">
            <a:avLst>
              <a:gd name="adj" fmla="val 8000"/>
            </a:avLst>
          </a:prstGeom>
          <a:solidFill>
            <a:srgbClr val="962B7C"/>
          </a:solidFill>
          <a:ln w="12700">
            <a:solidFill>
              <a:srgbClr val="962B7C"/>
            </a:solidFill>
            <a:prstDash val="solid"/>
          </a:ln>
        </p:spPr>
      </p:sp>
      <p:sp>
        <p:nvSpPr>
          <p:cNvPr id="21" name="Text 19"/>
          <p:cNvSpPr txBox="1"/>
          <p:nvPr/>
        </p:nvSpPr>
        <p:spPr>
          <a:xfrm>
            <a:off x="7863840" y="4663440"/>
            <a:ext cx="2103120" cy="9144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PER · Buổi 8</a:t>
            </a:r>
            <a:endParaRPr lang="en-US" sz="1600" dirty="0"/>
          </a:p>
        </p:txBody>
      </p:sp>
      <p:sp>
        <p:nvSpPr>
          <p:cNvPr id="22" name="Text 2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Convention Industry Council (2005), APEX Event Specifications Guide (Y07) [VERIFY: có bản mới hơn 2005]. Bộ APEX xuyên suốt môn.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Minh bạch về yêu cầu, lịch, thanh toán — bảo mật về khách và giá</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36953"/>
            <a:ext cx="435254" cy="435254"/>
          </a:xfrm>
          <a:prstGeom prst="rect">
            <a:avLst/>
          </a:prstGeom>
        </p:spPr>
      </p:pic>
      <p:sp>
        <p:nvSpPr>
          <p:cNvPr id="6" name="Text 3"/>
          <p:cNvSpPr txBox="1"/>
          <p:nvPr/>
        </p:nvSpPr>
        <p:spPr>
          <a:xfrm>
            <a:off x="1737360" y="1965960"/>
            <a:ext cx="4114800" cy="77724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Chia sẻ với cả mạng lưới</a:t>
            </a:r>
            <a:endParaRPr lang="en-US" sz="1800" dirty="0"/>
          </a:p>
        </p:txBody>
      </p:sp>
      <p:sp>
        <p:nvSpPr>
          <p:cNvPr id="7" name="Text 4"/>
          <p:cNvSpPr txBox="1"/>
          <p:nvPr/>
        </p:nvSpPr>
        <p:spPr>
          <a:xfrm>
            <a:off x="822960" y="2880360"/>
            <a:ext cx="5029200" cy="274320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Yêu cầu, thông số, sơ đồ</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Lịch, giờ dựng, mốc duyệt</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Mọi thay đổi — kèm ngày sửa đổi</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Lịch thanh toán với từng nhà cung cấp</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Ai là đầu mối, leo thang đến ai</a:t>
            </a:r>
            <a:endParaRPr lang="en-US" sz="1600" dirty="0"/>
          </a:p>
        </p:txBody>
      </p:sp>
      <p:sp>
        <p:nvSpPr>
          <p:cNvPr id="8" name="Shape 5"/>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9" name="Shape 6"/>
          <p:cNvSpPr/>
          <p:nvPr/>
        </p:nvSpPr>
        <p:spPr>
          <a:xfrm>
            <a:off x="6492240" y="196596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36953"/>
            <a:ext cx="435254" cy="435254"/>
          </a:xfrm>
          <a:prstGeom prst="rect">
            <a:avLst/>
          </a:prstGeom>
        </p:spPr>
      </p:pic>
      <p:sp>
        <p:nvSpPr>
          <p:cNvPr id="11" name="Text 7"/>
          <p:cNvSpPr txBox="1"/>
          <p:nvPr/>
        </p:nvSpPr>
        <p:spPr>
          <a:xfrm>
            <a:off x="7452360" y="1965960"/>
            <a:ext cx="4023360" cy="77724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Bảo mật</a:t>
            </a:r>
            <a:endParaRPr lang="en-US" sz="1800" dirty="0"/>
          </a:p>
        </p:txBody>
      </p:sp>
      <p:sp>
        <p:nvSpPr>
          <p:cNvPr id="12" name="Text 8"/>
          <p:cNvSpPr txBox="1"/>
          <p:nvPr/>
        </p:nvSpPr>
        <p:spPr>
          <a:xfrm>
            <a:off x="6537960" y="2880360"/>
            <a:ext cx="4937760" cy="274320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Danh sách, thông tin cá nhân khách của An Phát (trừ phần cần thiết, có đồng ý)</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Giá của nhà cung cấp khác</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Thông tin nội bộ của An Phát</a:t>
            </a:r>
            <a:endParaRPr lang="en-US" sz="16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người soạn (lecture notes §1.5). Dữ liệu cá nhân: [VERIFY: văn bản hiện hành].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tuần cuối trước gala — bốn tin trong một buổi sáng</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Mỗi tin: deliverable nào bị đe dọa? bên đó giữ vai nào (nhiều vai?)? lợi ích thật đằng sau là gì?</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Xếp ưu tiên 4 xung đột; với 2 xung đột ưu tiên nhất: giải pháp cùng giải quyết + nếu không được thì leo thang đến ai</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Viết tin nhắn 3–4 câu chị Thảo gửi anh Minh: chuyện gì · ảnh hưởng · Nova đề xuất · cần anh Minh quyết gì</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phân tích trên A3 + tin nhắn — mẫu cho phần “xung đột” trong SMP</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T-5 ngày: Bình An · khách sạn B · TS. Nam · nhà in.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Bên liên quan chủ chốt thường giữ nhiều vai cùng lúc</a:t>
            </a:r>
            <a:endParaRPr lang="en-US" sz="2800" dirty="0"/>
          </a:p>
        </p:txBody>
      </p:sp>
      <p:sp>
        <p:nvSpPr>
          <p:cNvPr id="3" name="Shape 1"/>
          <p:cNvSpPr/>
          <p:nvPr/>
        </p:nvSpPr>
        <p:spPr>
          <a:xfrm>
            <a:off x="548640" y="1828800"/>
            <a:ext cx="1463040" cy="1188720"/>
          </a:xfrm>
          <a:prstGeom prst="roundRect">
            <a:avLst>
              <a:gd name="adj" fmla="val 6154"/>
            </a:avLst>
          </a:prstGeom>
          <a:solidFill>
            <a:srgbClr val="49B296"/>
          </a:solidFill>
          <a:ln w="12700">
            <a:solidFill>
              <a:srgbClr val="49B296"/>
            </a:solidFill>
            <a:prstDash val="solid"/>
          </a:ln>
        </p:spPr>
      </p:sp>
      <p:sp>
        <p:nvSpPr>
          <p:cNvPr id="4" name="Text 2"/>
          <p:cNvSpPr txBox="1"/>
          <p:nvPr/>
        </p:nvSpPr>
        <p:spPr>
          <a:xfrm>
            <a:off x="5943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Cơ quan quản lý</a:t>
            </a:r>
            <a:endParaRPr lang="en-US" sz="1400" dirty="0"/>
          </a:p>
        </p:txBody>
      </p:sp>
      <p:sp>
        <p:nvSpPr>
          <p:cNvPr id="5" name="Shape 3"/>
          <p:cNvSpPr/>
          <p:nvPr/>
        </p:nvSpPr>
        <p:spPr>
          <a:xfrm>
            <a:off x="2148840" y="1828800"/>
            <a:ext cx="1463040" cy="1188720"/>
          </a:xfrm>
          <a:prstGeom prst="roundRect">
            <a:avLst>
              <a:gd name="adj" fmla="val 6154"/>
            </a:avLst>
          </a:prstGeom>
          <a:solidFill>
            <a:srgbClr val="FFD23B"/>
          </a:solidFill>
          <a:ln w="12700">
            <a:solidFill>
              <a:srgbClr val="FFD23B"/>
            </a:solidFill>
            <a:prstDash val="solid"/>
          </a:ln>
        </p:spPr>
      </p:sp>
      <p:sp>
        <p:nvSpPr>
          <p:cNvPr id="6" name="Text 4"/>
          <p:cNvSpPr txBox="1"/>
          <p:nvPr/>
        </p:nvSpPr>
        <p:spPr>
          <a:xfrm>
            <a:off x="21945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Bên hỗ trợ</a:t>
            </a:r>
            <a:endParaRPr lang="en-US" sz="1400" dirty="0"/>
          </a:p>
        </p:txBody>
      </p:sp>
      <p:sp>
        <p:nvSpPr>
          <p:cNvPr id="7" name="Shape 5"/>
          <p:cNvSpPr/>
          <p:nvPr/>
        </p:nvSpPr>
        <p:spPr>
          <a:xfrm>
            <a:off x="3749040" y="1828800"/>
            <a:ext cx="1463040" cy="1188720"/>
          </a:xfrm>
          <a:prstGeom prst="roundRect">
            <a:avLst>
              <a:gd name="adj" fmla="val 6154"/>
            </a:avLst>
          </a:prstGeom>
          <a:solidFill>
            <a:srgbClr val="09A1E5"/>
          </a:solidFill>
          <a:ln w="12700">
            <a:solidFill>
              <a:srgbClr val="09A1E5"/>
            </a:solidFill>
            <a:prstDash val="solid"/>
          </a:ln>
        </p:spPr>
      </p:sp>
      <p:sp>
        <p:nvSpPr>
          <p:cNvPr id="8" name="Text 6"/>
          <p:cNvSpPr txBox="1"/>
          <p:nvPr/>
        </p:nvSpPr>
        <p:spPr>
          <a:xfrm>
            <a:off x="37947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Đồng sản xuất</a:t>
            </a:r>
            <a:endParaRPr lang="en-US" sz="1400" dirty="0"/>
          </a:p>
        </p:txBody>
      </p:sp>
      <p:sp>
        <p:nvSpPr>
          <p:cNvPr id="9" name="Shape 7"/>
          <p:cNvSpPr/>
          <p:nvPr/>
        </p:nvSpPr>
        <p:spPr>
          <a:xfrm>
            <a:off x="5349240" y="1828800"/>
            <a:ext cx="1463040" cy="1188720"/>
          </a:xfrm>
          <a:prstGeom prst="roundRect">
            <a:avLst>
              <a:gd name="adj" fmla="val 6154"/>
            </a:avLst>
          </a:prstGeom>
          <a:solidFill>
            <a:srgbClr val="FF9259"/>
          </a:solidFill>
          <a:ln w="12700">
            <a:solidFill>
              <a:srgbClr val="FF9259"/>
            </a:solidFill>
            <a:prstDash val="solid"/>
          </a:ln>
        </p:spPr>
      </p:sp>
      <p:sp>
        <p:nvSpPr>
          <p:cNvPr id="10" name="Text 8"/>
          <p:cNvSpPr txBox="1"/>
          <p:nvPr/>
        </p:nvSpPr>
        <p:spPr>
          <a:xfrm>
            <a:off x="53949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Nhà cung cấp</a:t>
            </a:r>
            <a:endParaRPr lang="en-US" sz="1400" dirty="0"/>
          </a:p>
        </p:txBody>
      </p:sp>
      <p:sp>
        <p:nvSpPr>
          <p:cNvPr id="11" name="Shape 9"/>
          <p:cNvSpPr/>
          <p:nvPr/>
        </p:nvSpPr>
        <p:spPr>
          <a:xfrm>
            <a:off x="6949440" y="1828800"/>
            <a:ext cx="1463040" cy="1188720"/>
          </a:xfrm>
          <a:prstGeom prst="roundRect">
            <a:avLst>
              <a:gd name="adj" fmla="val 6154"/>
            </a:avLst>
          </a:prstGeom>
          <a:solidFill>
            <a:srgbClr val="FF5178"/>
          </a:solidFill>
          <a:ln w="12700">
            <a:solidFill>
              <a:srgbClr val="FF5178"/>
            </a:solidFill>
            <a:prstDash val="solid"/>
          </a:ln>
        </p:spPr>
      </p:sp>
      <p:sp>
        <p:nvSpPr>
          <p:cNvPr id="12" name="Text 10"/>
          <p:cNvSpPr txBox="1"/>
          <p:nvPr/>
        </p:nvSpPr>
        <p:spPr>
          <a:xfrm>
            <a:off x="69951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Cộng tác</a:t>
            </a:r>
            <a:endParaRPr lang="en-US" sz="1400" dirty="0"/>
          </a:p>
        </p:txBody>
      </p:sp>
      <p:sp>
        <p:nvSpPr>
          <p:cNvPr id="13" name="Shape 11"/>
          <p:cNvSpPr/>
          <p:nvPr/>
        </p:nvSpPr>
        <p:spPr>
          <a:xfrm>
            <a:off x="8549640" y="1828800"/>
            <a:ext cx="1463040" cy="1188720"/>
          </a:xfrm>
          <a:prstGeom prst="roundRect">
            <a:avLst>
              <a:gd name="adj" fmla="val 6154"/>
            </a:avLst>
          </a:prstGeom>
          <a:solidFill>
            <a:srgbClr val="962B7C"/>
          </a:solidFill>
          <a:ln w="12700">
            <a:solidFill>
              <a:srgbClr val="962B7C"/>
            </a:solidFill>
            <a:prstDash val="solid"/>
          </a:ln>
        </p:spPr>
      </p:sp>
      <p:sp>
        <p:nvSpPr>
          <p:cNvPr id="14" name="Text 12"/>
          <p:cNvSpPr txBox="1"/>
          <p:nvPr/>
        </p:nvSpPr>
        <p:spPr>
          <a:xfrm>
            <a:off x="85953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FBFAF4"/>
                </a:solidFill>
                <a:latin typeface="Roboto" pitchFamily="34" charset="0"/>
                <a:ea typeface="Roboto" pitchFamily="34" charset="-122"/>
                <a:cs typeface="Roboto" pitchFamily="34" charset="-120"/>
              </a:rPr>
              <a:t>Khán giả</a:t>
            </a:r>
            <a:endParaRPr lang="en-US" sz="1400" dirty="0"/>
          </a:p>
        </p:txBody>
      </p:sp>
      <p:sp>
        <p:nvSpPr>
          <p:cNvPr id="15" name="Shape 13"/>
          <p:cNvSpPr/>
          <p:nvPr/>
        </p:nvSpPr>
        <p:spPr>
          <a:xfrm>
            <a:off x="10149840" y="1828800"/>
            <a:ext cx="1463040" cy="1188720"/>
          </a:xfrm>
          <a:prstGeom prst="roundRect">
            <a:avLst>
              <a:gd name="adj" fmla="val 6154"/>
            </a:avLst>
          </a:prstGeom>
          <a:solidFill>
            <a:srgbClr val="A9B6D3"/>
          </a:solidFill>
          <a:ln w="12700">
            <a:solidFill>
              <a:srgbClr val="A9B6D3"/>
            </a:solidFill>
            <a:prstDash val="solid"/>
          </a:ln>
        </p:spPr>
      </p:sp>
      <p:sp>
        <p:nvSpPr>
          <p:cNvPr id="16" name="Text 14"/>
          <p:cNvSpPr txBox="1"/>
          <p:nvPr/>
        </p:nvSpPr>
        <p:spPr>
          <a:xfrm>
            <a:off x="101955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Bên chịu tác động</a:t>
            </a:r>
            <a:endParaRPr lang="en-US" sz="1400" dirty="0"/>
          </a:p>
        </p:txBody>
      </p:sp>
      <p:sp>
        <p:nvSpPr>
          <p:cNvPr id="17" name="Shape 15"/>
          <p:cNvSpPr/>
          <p:nvPr/>
        </p:nvSpPr>
        <p:spPr>
          <a:xfrm>
            <a:off x="548640" y="3291840"/>
            <a:ext cx="11091672" cy="2423160"/>
          </a:xfrm>
          <a:prstGeom prst="roundRect">
            <a:avLst>
              <a:gd name="adj" fmla="val 3019"/>
            </a:avLst>
          </a:prstGeom>
          <a:solidFill>
            <a:srgbClr val="22395F"/>
          </a:solidFill>
          <a:ln w="12700">
            <a:solidFill>
              <a:srgbClr val="22395F"/>
            </a:solidFill>
            <a:prstDash val="solid"/>
          </a:ln>
        </p:spPr>
      </p:sp>
      <p:sp>
        <p:nvSpPr>
          <p:cNvPr id="18" name="Text 16"/>
          <p:cNvSpPr txBox="1"/>
          <p:nvPr/>
        </p:nvSpPr>
        <p:spPr>
          <a:xfrm>
            <a:off x="777240" y="3383280"/>
            <a:ext cx="10698480" cy="2240280"/>
          </a:xfrm>
          <a:prstGeom prst="rect">
            <a:avLst/>
          </a:prstGeom>
          <a:noFill/>
          <a:ln/>
        </p:spPr>
        <p:txBody>
          <a:bodyPr wrap="square" lIns="635" tIns="635" rIns="635" bIns="635" rtlCol="0" anchor="t"/>
          <a:lstStyle/>
          <a:p>
            <a:pPr indent="0" marL="0">
              <a:buNone/>
            </a:pPr>
            <a:r>
              <a:rPr lang="en-US" sz="1650" dirty="0">
                <a:solidFill>
                  <a:srgbClr val="FBFAF4"/>
                </a:solidFill>
                <a:latin typeface="Roboto" pitchFamily="34" charset="0"/>
                <a:ea typeface="Roboto" pitchFamily="34" charset="-122"/>
                <a:cs typeface="Roboto" pitchFamily="34" charset="-120"/>
              </a:rPr>
              <a:t>Getz, Andersson &amp; Larson (2006): bên liên quan chủ chốt của lễ hội giữ nhiều vai cùng lúc. Sự kiện được tạo ra trong và bởi một tập hợp quan hệ bên liên quan được quản lý.</a:t>
            </a:r>
            <a:endParaRPr lang="en-US" sz="1650" dirty="0"/>
          </a:p>
          <a:p>
            <a:pPr indent="0" marL="0">
              <a:buNone/>
            </a:pPr>
            <a:endParaRPr lang="en-US" sz="1650" dirty="0"/>
          </a:p>
          <a:p>
            <a:pPr indent="0" marL="0">
              <a:buNone/>
            </a:pPr>
            <a:r>
              <a:rPr lang="en-US" sz="1650" dirty="0">
                <a:solidFill>
                  <a:srgbClr val="FBFAF4"/>
                </a:solidFill>
                <a:latin typeface="Roboto" pitchFamily="34" charset="0"/>
                <a:ea typeface="Roboto" pitchFamily="34" charset="-122"/>
                <a:cs typeface="Roboto" pitchFamily="34" charset="-120"/>
              </a:rPr>
              <a:t>Một bên nhiều vai → lợi ích của các vai có thể đi ngược nhau → nguồn gốc của xung đột lợi ích.</a:t>
            </a:r>
            <a:endParaRPr lang="en-US" sz="165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Getz, Andersson &amp; Larson (2006), Event Management (Y04) — đọc tóm tắt.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Xung đột lợi ích sinh ra từ vai chồng chéo — ngay trong mạng lưới An Phát</a:t>
            </a:r>
            <a:endParaRPr lang="en-US" sz="2800" dirty="0"/>
          </a:p>
        </p:txBody>
      </p:sp>
      <p:sp>
        <p:nvSpPr>
          <p:cNvPr id="3" name="Shape 1"/>
          <p:cNvSpPr/>
          <p:nvPr/>
        </p:nvSpPr>
        <p:spPr>
          <a:xfrm>
            <a:off x="548640" y="1783080"/>
            <a:ext cx="232257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13969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Bên</a:t>
            </a:r>
            <a:endParaRPr lang="en-US" sz="1450" dirty="0"/>
          </a:p>
        </p:txBody>
      </p:sp>
      <p:sp>
        <p:nvSpPr>
          <p:cNvPr id="5" name="Shape 3"/>
          <p:cNvSpPr/>
          <p:nvPr/>
        </p:nvSpPr>
        <p:spPr>
          <a:xfrm>
            <a:off x="2926080" y="1783080"/>
            <a:ext cx="23225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017520" y="1783080"/>
            <a:ext cx="213969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Vai 1</a:t>
            </a:r>
            <a:endParaRPr lang="en-US" sz="1450" dirty="0"/>
          </a:p>
        </p:txBody>
      </p:sp>
      <p:sp>
        <p:nvSpPr>
          <p:cNvPr id="7" name="Shape 5"/>
          <p:cNvSpPr/>
          <p:nvPr/>
        </p:nvSpPr>
        <p:spPr>
          <a:xfrm>
            <a:off x="5303520" y="1783080"/>
            <a:ext cx="268833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5394960" y="1783080"/>
            <a:ext cx="25054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Vai 2</a:t>
            </a:r>
            <a:endParaRPr lang="en-US" sz="1450" dirty="0"/>
          </a:p>
        </p:txBody>
      </p:sp>
      <p:sp>
        <p:nvSpPr>
          <p:cNvPr id="9" name="Shape 7"/>
          <p:cNvSpPr/>
          <p:nvPr/>
        </p:nvSpPr>
        <p:spPr>
          <a:xfrm>
            <a:off x="8046720" y="1783080"/>
            <a:ext cx="3538728" cy="548640"/>
          </a:xfrm>
          <a:prstGeom prst="roundRect">
            <a:avLst>
              <a:gd name="adj" fmla="val 13333"/>
            </a:avLst>
          </a:prstGeom>
          <a:solidFill>
            <a:srgbClr val="FF5178"/>
          </a:solidFill>
          <a:ln w="12700">
            <a:solidFill>
              <a:srgbClr val="FF5178"/>
            </a:solidFill>
            <a:prstDash val="solid"/>
          </a:ln>
        </p:spPr>
      </p:sp>
      <p:sp>
        <p:nvSpPr>
          <p:cNvPr id="10" name="Text 8"/>
          <p:cNvSpPr txBox="1"/>
          <p:nvPr/>
        </p:nvSpPr>
        <p:spPr>
          <a:xfrm>
            <a:off x="8138160" y="1783080"/>
            <a:ext cx="335584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Xung đột có thể</a:t>
            </a:r>
            <a:endParaRPr lang="en-US" sz="1450" dirty="0"/>
          </a:p>
        </p:txBody>
      </p:sp>
      <p:sp>
        <p:nvSpPr>
          <p:cNvPr id="11" name="Shape 9"/>
          <p:cNvSpPr/>
          <p:nvPr/>
        </p:nvSpPr>
        <p:spPr>
          <a:xfrm>
            <a:off x="548640" y="2404872"/>
            <a:ext cx="2322576" cy="658368"/>
          </a:xfrm>
          <a:prstGeom prst="roundRect">
            <a:avLst>
              <a:gd name="adj" fmla="val 11111"/>
            </a:avLst>
          </a:prstGeom>
          <a:solidFill>
            <a:srgbClr val="FFD23B"/>
          </a:solidFill>
          <a:ln w="12700">
            <a:solidFill>
              <a:srgbClr val="FFD23B"/>
            </a:solidFill>
            <a:prstDash val="solid"/>
          </a:ln>
        </p:spPr>
      </p:sp>
      <p:sp>
        <p:nvSpPr>
          <p:cNvPr id="12" name="Text 10"/>
          <p:cNvSpPr txBox="1"/>
          <p:nvPr/>
        </p:nvSpPr>
        <p:spPr>
          <a:xfrm>
            <a:off x="658368" y="2404872"/>
            <a:ext cx="2103120" cy="658368"/>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Khách sạn</a:t>
            </a:r>
            <a:endParaRPr lang="en-US" sz="1450" dirty="0"/>
          </a:p>
        </p:txBody>
      </p:sp>
      <p:sp>
        <p:nvSpPr>
          <p:cNvPr id="13" name="Shape 11"/>
          <p:cNvSpPr/>
          <p:nvPr/>
        </p:nvSpPr>
        <p:spPr>
          <a:xfrm>
            <a:off x="2926080" y="2404872"/>
            <a:ext cx="2322576"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3035808" y="2404872"/>
            <a:ext cx="210312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Địa điểm</a:t>
            </a:r>
            <a:endParaRPr lang="en-US" sz="1450" dirty="0"/>
          </a:p>
        </p:txBody>
      </p:sp>
      <p:sp>
        <p:nvSpPr>
          <p:cNvPr id="15" name="Shape 13"/>
          <p:cNvSpPr/>
          <p:nvPr/>
        </p:nvSpPr>
        <p:spPr>
          <a:xfrm>
            <a:off x="5303520" y="2404872"/>
            <a:ext cx="2688336"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5413248" y="2404872"/>
            <a:ext cx="246888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Nhà cung cấp AV độc quyền</a:t>
            </a:r>
            <a:endParaRPr lang="en-US" sz="1450" dirty="0"/>
          </a:p>
        </p:txBody>
      </p:sp>
      <p:sp>
        <p:nvSpPr>
          <p:cNvPr id="17" name="Shape 15"/>
          <p:cNvSpPr/>
          <p:nvPr/>
        </p:nvSpPr>
        <p:spPr>
          <a:xfrm>
            <a:off x="8046720" y="2404872"/>
            <a:ext cx="3538728"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8156448" y="2404872"/>
            <a:ext cx="3319272"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Ưu tiên doanh thu AV hơn livestream của An Phát</a:t>
            </a:r>
            <a:endParaRPr lang="en-US" sz="1450" dirty="0"/>
          </a:p>
        </p:txBody>
      </p:sp>
      <p:sp>
        <p:nvSpPr>
          <p:cNvPr id="19" name="Shape 17"/>
          <p:cNvSpPr/>
          <p:nvPr/>
        </p:nvSpPr>
        <p:spPr>
          <a:xfrm>
            <a:off x="548640" y="3136392"/>
            <a:ext cx="2322576" cy="658368"/>
          </a:xfrm>
          <a:prstGeom prst="roundRect">
            <a:avLst>
              <a:gd name="adj" fmla="val 11111"/>
            </a:avLst>
          </a:prstGeom>
          <a:solidFill>
            <a:srgbClr val="FFD23B"/>
          </a:solidFill>
          <a:ln w="12700">
            <a:solidFill>
              <a:srgbClr val="FFD23B"/>
            </a:solidFill>
            <a:prstDash val="solid"/>
          </a:ln>
        </p:spPr>
      </p:sp>
      <p:sp>
        <p:nvSpPr>
          <p:cNvPr id="20" name="Text 18"/>
          <p:cNvSpPr txBox="1"/>
          <p:nvPr/>
        </p:nvSpPr>
        <p:spPr>
          <a:xfrm>
            <a:off x="658368" y="3136392"/>
            <a:ext cx="2103120" cy="658368"/>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Bảo hiểm Bình An</a:t>
            </a:r>
            <a:endParaRPr lang="en-US" sz="1450" dirty="0"/>
          </a:p>
        </p:txBody>
      </p:sp>
      <p:sp>
        <p:nvSpPr>
          <p:cNvPr id="21" name="Shape 19"/>
          <p:cNvSpPr/>
          <p:nvPr/>
        </p:nvSpPr>
        <p:spPr>
          <a:xfrm>
            <a:off x="2926080" y="3136392"/>
            <a:ext cx="2322576"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3035808" y="3136392"/>
            <a:ext cx="210312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Nhà tài trợ</a:t>
            </a:r>
            <a:endParaRPr lang="en-US" sz="1450" dirty="0"/>
          </a:p>
        </p:txBody>
      </p:sp>
      <p:sp>
        <p:nvSpPr>
          <p:cNvPr id="23" name="Shape 21"/>
          <p:cNvSpPr/>
          <p:nvPr/>
        </p:nvSpPr>
        <p:spPr>
          <a:xfrm>
            <a:off x="5303520" y="3136392"/>
            <a:ext cx="268833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5413248" y="3136392"/>
            <a:ext cx="246888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Đối tác kinh doanh của An Phát</a:t>
            </a:r>
            <a:endParaRPr lang="en-US" sz="1450" dirty="0"/>
          </a:p>
        </p:txBody>
      </p:sp>
      <p:sp>
        <p:nvSpPr>
          <p:cNvPr id="25" name="Shape 23"/>
          <p:cNvSpPr/>
          <p:nvPr/>
        </p:nvSpPr>
        <p:spPr>
          <a:xfrm>
            <a:off x="8046720" y="3136392"/>
            <a:ext cx="353872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8156448" y="3136392"/>
            <a:ext cx="3319272"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Muốn bán hàng tại gala ↔ trải nghiệm khách VIP</a:t>
            </a:r>
            <a:endParaRPr lang="en-US" sz="1450" dirty="0"/>
          </a:p>
        </p:txBody>
      </p:sp>
      <p:sp>
        <p:nvSpPr>
          <p:cNvPr id="27" name="Shape 25"/>
          <p:cNvSpPr/>
          <p:nvPr/>
        </p:nvSpPr>
        <p:spPr>
          <a:xfrm>
            <a:off x="548640" y="3867912"/>
            <a:ext cx="2322576" cy="658368"/>
          </a:xfrm>
          <a:prstGeom prst="roundRect">
            <a:avLst>
              <a:gd name="adj" fmla="val 11111"/>
            </a:avLst>
          </a:prstGeom>
          <a:solidFill>
            <a:srgbClr val="FFD23B"/>
          </a:solidFill>
          <a:ln w="12700">
            <a:solidFill>
              <a:srgbClr val="FFD23B"/>
            </a:solidFill>
            <a:prstDash val="solid"/>
          </a:ln>
        </p:spPr>
      </p:sp>
      <p:sp>
        <p:nvSpPr>
          <p:cNvPr id="28" name="Text 26"/>
          <p:cNvSpPr txBox="1"/>
          <p:nvPr/>
        </p:nvSpPr>
        <p:spPr>
          <a:xfrm>
            <a:off x="658368" y="3867912"/>
            <a:ext cx="2103120" cy="658368"/>
          </a:xfrm>
          <a:prstGeom prst="rect">
            <a:avLst/>
          </a:prstGeom>
          <a:noFill/>
          <a:ln/>
        </p:spPr>
        <p:txBody>
          <a:bodyPr wrap="square" lIns="635" tIns="635" rIns="635" bIns="635" rtlCol="0" anchor="ctr"/>
          <a:lstStyle/>
          <a:p>
            <a:pPr indent="0" marL="0">
              <a:buNone/>
            </a:pPr>
            <a:r>
              <a:rPr lang="en-US" sz="1450" b="1" dirty="0">
                <a:solidFill>
                  <a:srgbClr val="172849"/>
                </a:solidFill>
                <a:latin typeface="Roboto" pitchFamily="34" charset="0"/>
                <a:ea typeface="Roboto" pitchFamily="34" charset="-122"/>
                <a:cs typeface="Roboto" pitchFamily="34" charset="-120"/>
              </a:rPr>
              <a:t>Chị Mai Anh</a:t>
            </a:r>
            <a:endParaRPr lang="en-US" sz="1450" dirty="0"/>
          </a:p>
        </p:txBody>
      </p:sp>
      <p:sp>
        <p:nvSpPr>
          <p:cNvPr id="29" name="Shape 27"/>
          <p:cNvSpPr/>
          <p:nvPr/>
        </p:nvSpPr>
        <p:spPr>
          <a:xfrm>
            <a:off x="2926080" y="3867912"/>
            <a:ext cx="2322576" cy="658368"/>
          </a:xfrm>
          <a:prstGeom prst="roundRect">
            <a:avLst>
              <a:gd name="adj" fmla="val 11111"/>
            </a:avLst>
          </a:prstGeom>
          <a:solidFill>
            <a:srgbClr val="22395F"/>
          </a:solidFill>
          <a:ln w="12700">
            <a:solidFill>
              <a:srgbClr val="22395F"/>
            </a:solidFill>
            <a:prstDash val="solid"/>
          </a:ln>
        </p:spPr>
      </p:sp>
      <p:sp>
        <p:nvSpPr>
          <p:cNvPr id="30" name="Text 28"/>
          <p:cNvSpPr txBox="1"/>
          <p:nvPr/>
        </p:nvSpPr>
        <p:spPr>
          <a:xfrm>
            <a:off x="3035808" y="3867912"/>
            <a:ext cx="210312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Diễn giả</a:t>
            </a:r>
            <a:endParaRPr lang="en-US" sz="1450" dirty="0"/>
          </a:p>
        </p:txBody>
      </p:sp>
      <p:sp>
        <p:nvSpPr>
          <p:cNvPr id="31" name="Shape 29"/>
          <p:cNvSpPr/>
          <p:nvPr/>
        </p:nvSpPr>
        <p:spPr>
          <a:xfrm>
            <a:off x="5303520" y="3867912"/>
            <a:ext cx="2688336" cy="658368"/>
          </a:xfrm>
          <a:prstGeom prst="roundRect">
            <a:avLst>
              <a:gd name="adj" fmla="val 11111"/>
            </a:avLst>
          </a:prstGeom>
          <a:solidFill>
            <a:srgbClr val="22395F"/>
          </a:solidFill>
          <a:ln w="12700">
            <a:solidFill>
              <a:srgbClr val="22395F"/>
            </a:solidFill>
            <a:prstDash val="solid"/>
          </a:ln>
        </p:spPr>
      </p:sp>
      <p:sp>
        <p:nvSpPr>
          <p:cNvPr id="32" name="Text 30"/>
          <p:cNvSpPr txBox="1"/>
          <p:nvPr/>
        </p:nvSpPr>
        <p:spPr>
          <a:xfrm>
            <a:off x="5413248" y="3867912"/>
            <a:ext cx="246888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Khách hàng của An Phát</a:t>
            </a:r>
            <a:endParaRPr lang="en-US" sz="1450" dirty="0"/>
          </a:p>
        </p:txBody>
      </p:sp>
      <p:sp>
        <p:nvSpPr>
          <p:cNvPr id="33" name="Shape 31"/>
          <p:cNvSpPr/>
          <p:nvPr/>
        </p:nvSpPr>
        <p:spPr>
          <a:xfrm>
            <a:off x="8046720" y="3867912"/>
            <a:ext cx="3538728" cy="658368"/>
          </a:xfrm>
          <a:prstGeom prst="roundRect">
            <a:avLst>
              <a:gd name="adj" fmla="val 11111"/>
            </a:avLst>
          </a:prstGeom>
          <a:solidFill>
            <a:srgbClr val="22395F"/>
          </a:solidFill>
          <a:ln w="12700">
            <a:solidFill>
              <a:srgbClr val="22395F"/>
            </a:solidFill>
            <a:prstDash val="solid"/>
          </a:ln>
        </p:spPr>
      </p:sp>
      <p:sp>
        <p:nvSpPr>
          <p:cNvPr id="34" name="Text 32"/>
          <p:cNvSpPr txBox="1"/>
          <p:nvPr/>
        </p:nvSpPr>
        <p:spPr>
          <a:xfrm>
            <a:off x="8156448" y="3867912"/>
            <a:ext cx="3319272" cy="658368"/>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Muốn quảng bá công ty mình ↔ nội dung trung lập</a:t>
            </a:r>
            <a:endParaRPr lang="en-US" sz="1450" dirty="0"/>
          </a:p>
        </p:txBody>
      </p:sp>
      <p:sp>
        <p:nvSpPr>
          <p:cNvPr id="35" name="Shape 33"/>
          <p:cNvSpPr/>
          <p:nvPr/>
        </p:nvSpPr>
        <p:spPr>
          <a:xfrm>
            <a:off x="548640" y="4709160"/>
            <a:ext cx="11091672" cy="1005840"/>
          </a:xfrm>
          <a:prstGeom prst="roundRect">
            <a:avLst>
              <a:gd name="adj" fmla="val 7273"/>
            </a:avLst>
          </a:prstGeom>
          <a:solidFill>
            <a:srgbClr val="22395F"/>
          </a:solidFill>
          <a:ln w="12700">
            <a:solidFill>
              <a:srgbClr val="22395F"/>
            </a:solidFill>
            <a:prstDash val="solid"/>
          </a:ln>
        </p:spPr>
      </p:sp>
      <p:sp>
        <p:nvSpPr>
          <p:cNvPr id="36" name="Text 34"/>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500" dirty="0">
                <a:solidFill>
                  <a:srgbClr val="FFD23B"/>
                </a:solidFill>
                <a:latin typeface="Roboto" pitchFamily="34" charset="0"/>
                <a:ea typeface="Roboto" pitchFamily="34" charset="-122"/>
                <a:cs typeface="Roboto" pitchFamily="34" charset="-120"/>
              </a:rPr>
              <a:t>Định nghĩa làm việc của môn: xung đột lợi ích là khi lợi ích của một bên liên quan bên ngoài — hoặc các vai khác nhau của cùng một bên — đi ngược những gì Nova đã cam kết với Key Account.</a:t>
            </a:r>
            <a:endParaRPr lang="en-US" sz="1500" dirty="0"/>
          </a:p>
        </p:txBody>
      </p:sp>
      <p:sp>
        <p:nvSpPr>
          <p:cNvPr id="37" name="Text 3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Ví dụ giả định từ Buổi 9–11. Định nghĩa: quyết định GV 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Mạng lưới sự kiện là một “quảng trường chợ chính trị” — xung đột là bình thường</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900" b="1" dirty="0">
                <a:solidFill>
                  <a:srgbClr val="FF9259"/>
                </a:solidFill>
                <a:latin typeface="Roboto" pitchFamily="34" charset="0"/>
                <a:ea typeface="Roboto" pitchFamily="34" charset="-122"/>
                <a:cs typeface="Roboto" pitchFamily="34" charset="-120"/>
              </a:rPr>
              <a:t>Political market square</a:t>
            </a:r>
            <a:endParaRPr lang="en-US" sz="1900" dirty="0"/>
          </a:p>
        </p:txBody>
      </p:sp>
      <p:sp>
        <p:nvSpPr>
          <p:cNvPr id="7" name="Text 4"/>
          <p:cNvSpPr txBox="1"/>
          <p:nvPr/>
        </p:nvSpPr>
        <p:spPr>
          <a:xfrm>
            <a:off x="822960" y="2926080"/>
            <a:ext cx="5029200" cy="2651760"/>
          </a:xfrm>
          <a:prstGeom prst="rect">
            <a:avLst/>
          </a:prstGeom>
          <a:noFill/>
          <a:ln/>
        </p:spPr>
        <p:txBody>
          <a:bodyPr wrap="square" lIns="635" tIns="635" rIns="635" bIns="635" rtlCol="0" anchor="t"/>
          <a:lstStyle/>
          <a:p>
            <a:pPr indent="0" marL="0">
              <a:buNone/>
            </a:pPr>
            <a:r>
              <a:rPr lang="en-US" sz="1550" dirty="0">
                <a:solidFill>
                  <a:srgbClr val="FBFAF4"/>
                </a:solidFill>
                <a:latin typeface="Roboto" pitchFamily="34" charset="0"/>
                <a:ea typeface="Roboto" pitchFamily="34" charset="-122"/>
                <a:cs typeface="Roboto" pitchFamily="34" charset="-120"/>
              </a:rPr>
              <a:t>Mạng lưới làm sự kiện là một không gian mở: có bên trung tâm, có bên ngoại vi; mỗi bên tham gia để theo đuổi lợi ích của mình. Có lợi ích, xung đột, quyền lực — và không có ai có quyền hợp pháp với toàn mạng lưới.</a:t>
            </a:r>
            <a:endParaRPr lang="en-US" sz="1550" dirty="0"/>
          </a:p>
        </p:txBody>
      </p:sp>
      <p:sp>
        <p:nvSpPr>
          <p:cNvPr id="8" name="Shape 5"/>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6446520" y="1874520"/>
            <a:ext cx="501091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Quá trình chính trị: gác cổng · đàm phán · xây liên minh · xây niềm tin · xây bản sắc.</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Bản sắc chung giúp giảm xáo trộn.</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Nhiệm vụ của Nova: không xóa xung đột — quản lý nó.</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Larson &amp; Wikström (2001), Event Management, đã đọc toàn văn (Y11); Larson (2002) (Y05).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Đồng thuận và xung đột không phải hai cực — chúng đan xen trong mọi quan hệ</a:t>
            </a:r>
            <a:endParaRPr lang="en-US" sz="2800" dirty="0"/>
          </a:p>
        </p:txBody>
      </p:sp>
      <p:sp>
        <p:nvSpPr>
          <p:cNvPr id="3" name="Shape 1"/>
          <p:cNvSpPr/>
          <p:nvPr/>
        </p:nvSpPr>
        <p:spPr>
          <a:xfrm>
            <a:off x="548640" y="1783080"/>
            <a:ext cx="3602736" cy="457200"/>
          </a:xfrm>
          <a:prstGeom prst="roundRect">
            <a:avLst>
              <a:gd name="adj" fmla="val 16000"/>
            </a:avLst>
          </a:prstGeom>
          <a:solidFill>
            <a:srgbClr val="49B296"/>
          </a:solidFill>
          <a:ln w="12700">
            <a:solidFill>
              <a:srgbClr val="49B296"/>
            </a:solidFill>
            <a:prstDash val="solid"/>
          </a:ln>
        </p:spPr>
      </p:sp>
      <p:sp>
        <p:nvSpPr>
          <p:cNvPr id="4" name="Text 2"/>
          <p:cNvSpPr txBox="1"/>
          <p:nvPr/>
        </p:nvSpPr>
        <p:spPr>
          <a:xfrm>
            <a:off x="640080" y="1783080"/>
            <a:ext cx="3419856"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Đồng thuận</a:t>
            </a:r>
            <a:endParaRPr lang="en-US" sz="1500" dirty="0"/>
          </a:p>
        </p:txBody>
      </p:sp>
      <p:sp>
        <p:nvSpPr>
          <p:cNvPr id="5" name="Shape 3"/>
          <p:cNvSpPr/>
          <p:nvPr/>
        </p:nvSpPr>
        <p:spPr>
          <a:xfrm>
            <a:off x="4206240" y="1783080"/>
            <a:ext cx="3602736" cy="457200"/>
          </a:xfrm>
          <a:prstGeom prst="roundRect">
            <a:avLst>
              <a:gd name="adj" fmla="val 16000"/>
            </a:avLst>
          </a:prstGeom>
          <a:solidFill>
            <a:srgbClr val="FF5178"/>
          </a:solidFill>
          <a:ln w="12700">
            <a:solidFill>
              <a:srgbClr val="FF5178"/>
            </a:solidFill>
            <a:prstDash val="solid"/>
          </a:ln>
        </p:spPr>
      </p:sp>
      <p:sp>
        <p:nvSpPr>
          <p:cNvPr id="6" name="Text 4"/>
          <p:cNvSpPr txBox="1"/>
          <p:nvPr/>
        </p:nvSpPr>
        <p:spPr>
          <a:xfrm>
            <a:off x="4297680" y="1783080"/>
            <a:ext cx="3419856"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Xung đột</a:t>
            </a:r>
            <a:endParaRPr lang="en-US" sz="1500" dirty="0"/>
          </a:p>
        </p:txBody>
      </p:sp>
      <p:sp>
        <p:nvSpPr>
          <p:cNvPr id="7" name="Shape 5"/>
          <p:cNvSpPr/>
          <p:nvPr/>
        </p:nvSpPr>
        <p:spPr>
          <a:xfrm>
            <a:off x="548640" y="2313432"/>
            <a:ext cx="3602736" cy="402336"/>
          </a:xfrm>
          <a:prstGeom prst="roundRect">
            <a:avLst>
              <a:gd name="adj" fmla="val 18182"/>
            </a:avLst>
          </a:prstGeom>
          <a:solidFill>
            <a:srgbClr val="22395F"/>
          </a:solidFill>
          <a:ln w="12700">
            <a:solidFill>
              <a:srgbClr val="22395F"/>
            </a:solidFill>
            <a:prstDash val="solid"/>
          </a:ln>
        </p:spPr>
      </p:sp>
      <p:sp>
        <p:nvSpPr>
          <p:cNvPr id="8" name="Text 6"/>
          <p:cNvSpPr txBox="1"/>
          <p:nvPr/>
        </p:nvSpPr>
        <p:spPr>
          <a:xfrm>
            <a:off x="658368" y="2313432"/>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Lợi ích chung</a:t>
            </a:r>
            <a:endParaRPr lang="en-US" sz="1500" dirty="0"/>
          </a:p>
        </p:txBody>
      </p:sp>
      <p:sp>
        <p:nvSpPr>
          <p:cNvPr id="9" name="Shape 7"/>
          <p:cNvSpPr/>
          <p:nvPr/>
        </p:nvSpPr>
        <p:spPr>
          <a:xfrm>
            <a:off x="4206240" y="2313432"/>
            <a:ext cx="3602736" cy="402336"/>
          </a:xfrm>
          <a:prstGeom prst="roundRect">
            <a:avLst>
              <a:gd name="adj" fmla="val 18182"/>
            </a:avLst>
          </a:prstGeom>
          <a:solidFill>
            <a:srgbClr val="22395F"/>
          </a:solidFill>
          <a:ln w="12700">
            <a:solidFill>
              <a:srgbClr val="22395F"/>
            </a:solidFill>
            <a:prstDash val="solid"/>
          </a:ln>
        </p:spPr>
      </p:sp>
      <p:sp>
        <p:nvSpPr>
          <p:cNvPr id="10" name="Text 8"/>
          <p:cNvSpPr txBox="1"/>
          <p:nvPr/>
        </p:nvSpPr>
        <p:spPr>
          <a:xfrm>
            <a:off x="4315968" y="2313432"/>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Lợi ích khác nhau</a:t>
            </a:r>
            <a:endParaRPr lang="en-US" sz="1500" dirty="0"/>
          </a:p>
        </p:txBody>
      </p:sp>
      <p:sp>
        <p:nvSpPr>
          <p:cNvPr id="11" name="Shape 9"/>
          <p:cNvSpPr/>
          <p:nvPr/>
        </p:nvSpPr>
        <p:spPr>
          <a:xfrm>
            <a:off x="548640" y="2788920"/>
            <a:ext cx="3602736" cy="402336"/>
          </a:xfrm>
          <a:prstGeom prst="roundRect">
            <a:avLst>
              <a:gd name="adj" fmla="val 18182"/>
            </a:avLst>
          </a:prstGeom>
          <a:solidFill>
            <a:srgbClr val="22395F"/>
          </a:solidFill>
          <a:ln w="12700">
            <a:solidFill>
              <a:srgbClr val="22395F"/>
            </a:solidFill>
            <a:prstDash val="solid"/>
          </a:ln>
        </p:spPr>
      </p:sp>
      <p:sp>
        <p:nvSpPr>
          <p:cNvPr id="12" name="Text 10"/>
          <p:cNvSpPr txBox="1"/>
          <p:nvPr/>
        </p:nvSpPr>
        <p:spPr>
          <a:xfrm>
            <a:off x="658368" y="2788920"/>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Hài hòa</a:t>
            </a:r>
            <a:endParaRPr lang="en-US" sz="1500" dirty="0"/>
          </a:p>
        </p:txBody>
      </p:sp>
      <p:sp>
        <p:nvSpPr>
          <p:cNvPr id="13" name="Shape 11"/>
          <p:cNvSpPr/>
          <p:nvPr/>
        </p:nvSpPr>
        <p:spPr>
          <a:xfrm>
            <a:off x="4206240" y="2788920"/>
            <a:ext cx="3602736" cy="402336"/>
          </a:xfrm>
          <a:prstGeom prst="roundRect">
            <a:avLst>
              <a:gd name="adj" fmla="val 18182"/>
            </a:avLst>
          </a:prstGeom>
          <a:solidFill>
            <a:srgbClr val="22395F"/>
          </a:solidFill>
          <a:ln w="12700">
            <a:solidFill>
              <a:srgbClr val="22395F"/>
            </a:solidFill>
            <a:prstDash val="solid"/>
          </a:ln>
        </p:spPr>
      </p:sp>
      <p:sp>
        <p:nvSpPr>
          <p:cNvPr id="14" name="Text 12"/>
          <p:cNvSpPr txBox="1"/>
          <p:nvPr/>
        </p:nvSpPr>
        <p:spPr>
          <a:xfrm>
            <a:off x="4315968" y="2788920"/>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Căng thẳng</a:t>
            </a:r>
            <a:endParaRPr lang="en-US" sz="1500" dirty="0"/>
          </a:p>
        </p:txBody>
      </p:sp>
      <p:sp>
        <p:nvSpPr>
          <p:cNvPr id="15" name="Shape 13"/>
          <p:cNvSpPr/>
          <p:nvPr/>
        </p:nvSpPr>
        <p:spPr>
          <a:xfrm>
            <a:off x="548640" y="3264408"/>
            <a:ext cx="3602736" cy="402336"/>
          </a:xfrm>
          <a:prstGeom prst="roundRect">
            <a:avLst>
              <a:gd name="adj" fmla="val 18182"/>
            </a:avLst>
          </a:prstGeom>
          <a:solidFill>
            <a:srgbClr val="22395F"/>
          </a:solidFill>
          <a:ln w="12700">
            <a:solidFill>
              <a:srgbClr val="22395F"/>
            </a:solidFill>
            <a:prstDash val="solid"/>
          </a:ln>
        </p:spPr>
      </p:sp>
      <p:sp>
        <p:nvSpPr>
          <p:cNvPr id="16" name="Text 14"/>
          <p:cNvSpPr txBox="1"/>
          <p:nvPr/>
        </p:nvSpPr>
        <p:spPr>
          <a:xfrm>
            <a:off x="658368" y="3264408"/>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Hợp tác</a:t>
            </a:r>
            <a:endParaRPr lang="en-US" sz="1500" dirty="0"/>
          </a:p>
        </p:txBody>
      </p:sp>
      <p:sp>
        <p:nvSpPr>
          <p:cNvPr id="17" name="Shape 15"/>
          <p:cNvSpPr/>
          <p:nvPr/>
        </p:nvSpPr>
        <p:spPr>
          <a:xfrm>
            <a:off x="4206240" y="3264408"/>
            <a:ext cx="3602736" cy="402336"/>
          </a:xfrm>
          <a:prstGeom prst="roundRect">
            <a:avLst>
              <a:gd name="adj" fmla="val 18182"/>
            </a:avLst>
          </a:prstGeom>
          <a:solidFill>
            <a:srgbClr val="22395F"/>
          </a:solidFill>
          <a:ln w="12700">
            <a:solidFill>
              <a:srgbClr val="22395F"/>
            </a:solidFill>
            <a:prstDash val="solid"/>
          </a:ln>
        </p:spPr>
      </p:sp>
      <p:sp>
        <p:nvSpPr>
          <p:cNvPr id="18" name="Text 16"/>
          <p:cNvSpPr txBox="1"/>
          <p:nvPr/>
        </p:nvSpPr>
        <p:spPr>
          <a:xfrm>
            <a:off x="4315968" y="3264408"/>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Trò chơi quyền lực</a:t>
            </a:r>
            <a:endParaRPr lang="en-US" sz="1500" dirty="0"/>
          </a:p>
        </p:txBody>
      </p:sp>
      <p:sp>
        <p:nvSpPr>
          <p:cNvPr id="19" name="Shape 17"/>
          <p:cNvSpPr/>
          <p:nvPr/>
        </p:nvSpPr>
        <p:spPr>
          <a:xfrm>
            <a:off x="548640" y="3739896"/>
            <a:ext cx="3602736" cy="402336"/>
          </a:xfrm>
          <a:prstGeom prst="roundRect">
            <a:avLst>
              <a:gd name="adj" fmla="val 18182"/>
            </a:avLst>
          </a:prstGeom>
          <a:solidFill>
            <a:srgbClr val="22395F"/>
          </a:solidFill>
          <a:ln w="12700">
            <a:solidFill>
              <a:srgbClr val="22395F"/>
            </a:solidFill>
            <a:prstDash val="solid"/>
          </a:ln>
        </p:spPr>
      </p:sp>
      <p:sp>
        <p:nvSpPr>
          <p:cNvPr id="20" name="Text 18"/>
          <p:cNvSpPr txBox="1"/>
          <p:nvPr/>
        </p:nvSpPr>
        <p:spPr>
          <a:xfrm>
            <a:off x="658368" y="3739896"/>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Cam kết chung</a:t>
            </a:r>
            <a:endParaRPr lang="en-US" sz="1500" dirty="0"/>
          </a:p>
        </p:txBody>
      </p:sp>
      <p:sp>
        <p:nvSpPr>
          <p:cNvPr id="21" name="Shape 19"/>
          <p:cNvSpPr/>
          <p:nvPr/>
        </p:nvSpPr>
        <p:spPr>
          <a:xfrm>
            <a:off x="4206240" y="3739896"/>
            <a:ext cx="3602736" cy="402336"/>
          </a:xfrm>
          <a:prstGeom prst="roundRect">
            <a:avLst>
              <a:gd name="adj" fmla="val 18182"/>
            </a:avLst>
          </a:prstGeom>
          <a:solidFill>
            <a:srgbClr val="22395F"/>
          </a:solidFill>
          <a:ln w="12700">
            <a:solidFill>
              <a:srgbClr val="22395F"/>
            </a:solidFill>
            <a:prstDash val="solid"/>
          </a:ln>
        </p:spPr>
      </p:sp>
      <p:sp>
        <p:nvSpPr>
          <p:cNvPr id="22" name="Text 20"/>
          <p:cNvSpPr txBox="1"/>
          <p:nvPr/>
        </p:nvSpPr>
        <p:spPr>
          <a:xfrm>
            <a:off x="4315968" y="3739896"/>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Cam kết riêng</a:t>
            </a:r>
            <a:endParaRPr lang="en-US" sz="1500" dirty="0"/>
          </a:p>
        </p:txBody>
      </p:sp>
      <p:sp>
        <p:nvSpPr>
          <p:cNvPr id="23" name="Shape 21"/>
          <p:cNvSpPr/>
          <p:nvPr/>
        </p:nvSpPr>
        <p:spPr>
          <a:xfrm>
            <a:off x="548640" y="4215384"/>
            <a:ext cx="3602736" cy="402336"/>
          </a:xfrm>
          <a:prstGeom prst="roundRect">
            <a:avLst>
              <a:gd name="adj" fmla="val 18182"/>
            </a:avLst>
          </a:prstGeom>
          <a:solidFill>
            <a:srgbClr val="22395F"/>
          </a:solidFill>
          <a:ln w="12700">
            <a:solidFill>
              <a:srgbClr val="22395F"/>
            </a:solidFill>
            <a:prstDash val="solid"/>
          </a:ln>
        </p:spPr>
      </p:sp>
      <p:sp>
        <p:nvSpPr>
          <p:cNvPr id="24" name="Text 22"/>
          <p:cNvSpPr txBox="1"/>
          <p:nvPr/>
        </p:nvSpPr>
        <p:spPr>
          <a:xfrm>
            <a:off x="658368" y="4215384"/>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Niềm tin</a:t>
            </a:r>
            <a:endParaRPr lang="en-US" sz="1500" dirty="0"/>
          </a:p>
        </p:txBody>
      </p:sp>
      <p:sp>
        <p:nvSpPr>
          <p:cNvPr id="25" name="Shape 23"/>
          <p:cNvSpPr/>
          <p:nvPr/>
        </p:nvSpPr>
        <p:spPr>
          <a:xfrm>
            <a:off x="4206240" y="4215384"/>
            <a:ext cx="3602736" cy="402336"/>
          </a:xfrm>
          <a:prstGeom prst="roundRect">
            <a:avLst>
              <a:gd name="adj" fmla="val 18182"/>
            </a:avLst>
          </a:prstGeom>
          <a:solidFill>
            <a:srgbClr val="22395F"/>
          </a:solidFill>
          <a:ln w="12700">
            <a:solidFill>
              <a:srgbClr val="22395F"/>
            </a:solidFill>
            <a:prstDash val="solid"/>
          </a:ln>
        </p:spPr>
      </p:sp>
      <p:sp>
        <p:nvSpPr>
          <p:cNvPr id="26" name="Text 24"/>
          <p:cNvSpPr txBox="1"/>
          <p:nvPr/>
        </p:nvSpPr>
        <p:spPr>
          <a:xfrm>
            <a:off x="4315968" y="4215384"/>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Nghi ngờ</a:t>
            </a:r>
            <a:endParaRPr lang="en-US" sz="1500" dirty="0"/>
          </a:p>
        </p:txBody>
      </p:sp>
      <p:sp>
        <p:nvSpPr>
          <p:cNvPr id="27" name="Shape 25"/>
          <p:cNvSpPr/>
          <p:nvPr/>
        </p:nvSpPr>
        <p:spPr>
          <a:xfrm>
            <a:off x="548640" y="4690872"/>
            <a:ext cx="3602736" cy="402336"/>
          </a:xfrm>
          <a:prstGeom prst="roundRect">
            <a:avLst>
              <a:gd name="adj" fmla="val 18182"/>
            </a:avLst>
          </a:prstGeom>
          <a:solidFill>
            <a:srgbClr val="22395F"/>
          </a:solidFill>
          <a:ln w="12700">
            <a:solidFill>
              <a:srgbClr val="22395F"/>
            </a:solidFill>
            <a:prstDash val="solid"/>
          </a:ln>
        </p:spPr>
      </p:sp>
      <p:sp>
        <p:nvSpPr>
          <p:cNvPr id="28" name="Text 26"/>
          <p:cNvSpPr txBox="1"/>
          <p:nvPr/>
        </p:nvSpPr>
        <p:spPr>
          <a:xfrm>
            <a:off x="658368" y="4690872"/>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Đối thoại</a:t>
            </a:r>
            <a:endParaRPr lang="en-US" sz="1500" dirty="0"/>
          </a:p>
        </p:txBody>
      </p:sp>
      <p:sp>
        <p:nvSpPr>
          <p:cNvPr id="29" name="Shape 27"/>
          <p:cNvSpPr/>
          <p:nvPr/>
        </p:nvSpPr>
        <p:spPr>
          <a:xfrm>
            <a:off x="4206240" y="4690872"/>
            <a:ext cx="3602736" cy="402336"/>
          </a:xfrm>
          <a:prstGeom prst="roundRect">
            <a:avLst>
              <a:gd name="adj" fmla="val 18182"/>
            </a:avLst>
          </a:prstGeom>
          <a:solidFill>
            <a:srgbClr val="22395F"/>
          </a:solidFill>
          <a:ln w="12700">
            <a:solidFill>
              <a:srgbClr val="22395F"/>
            </a:solidFill>
            <a:prstDash val="solid"/>
          </a:ln>
        </p:spPr>
      </p:sp>
      <p:sp>
        <p:nvSpPr>
          <p:cNvPr id="30" name="Text 28"/>
          <p:cNvSpPr txBox="1"/>
          <p:nvPr/>
        </p:nvSpPr>
        <p:spPr>
          <a:xfrm>
            <a:off x="4315968" y="4690872"/>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Đàm phán</a:t>
            </a:r>
            <a:endParaRPr lang="en-US" sz="1500" dirty="0"/>
          </a:p>
        </p:txBody>
      </p:sp>
      <p:sp>
        <p:nvSpPr>
          <p:cNvPr id="31" name="Shape 29"/>
          <p:cNvSpPr/>
          <p:nvPr/>
        </p:nvSpPr>
        <p:spPr>
          <a:xfrm>
            <a:off x="8092440" y="1783080"/>
            <a:ext cx="3547872" cy="1828800"/>
          </a:xfrm>
          <a:prstGeom prst="roundRect">
            <a:avLst>
              <a:gd name="adj" fmla="val 4000"/>
            </a:avLst>
          </a:prstGeom>
          <a:solidFill>
            <a:srgbClr val="FFD23B"/>
          </a:solidFill>
          <a:ln w="12700">
            <a:solidFill>
              <a:srgbClr val="FFD23B"/>
            </a:solidFill>
            <a:prstDash val="solid"/>
          </a:ln>
        </p:spPr>
      </p:sp>
      <p:sp>
        <p:nvSpPr>
          <p:cNvPr id="32" name="Text 30"/>
          <p:cNvSpPr txBox="1"/>
          <p:nvPr/>
        </p:nvSpPr>
        <p:spPr>
          <a:xfrm>
            <a:off x="8229600" y="1783080"/>
            <a:ext cx="3291840" cy="182880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Chính danh thấp → thiên về xung đột</a:t>
            </a:r>
            <a:endParaRPr lang="en-US" sz="1500" dirty="0"/>
          </a:p>
          <a:p>
            <a:pPr indent="0" marL="0">
              <a:buNone/>
            </a:pPr>
            <a:r>
              <a:rPr lang="en-US" sz="1500" b="1" dirty="0">
                <a:solidFill>
                  <a:srgbClr val="172849"/>
                </a:solidFill>
                <a:latin typeface="Roboto" pitchFamily="34" charset="0"/>
                <a:ea typeface="Roboto" pitchFamily="34" charset="-122"/>
                <a:cs typeface="Roboto" pitchFamily="34" charset="-120"/>
              </a:rPr>
              <a:t>Chính danh cao → thiên về đồng thuận</a:t>
            </a:r>
            <a:endParaRPr lang="en-US" sz="1500" dirty="0"/>
          </a:p>
        </p:txBody>
      </p:sp>
      <p:sp>
        <p:nvSpPr>
          <p:cNvPr id="33" name="Shape 31"/>
          <p:cNvSpPr/>
          <p:nvPr/>
        </p:nvSpPr>
        <p:spPr>
          <a:xfrm>
            <a:off x="8092440" y="3749040"/>
            <a:ext cx="3547872" cy="1965960"/>
          </a:xfrm>
          <a:prstGeom prst="roundRect">
            <a:avLst>
              <a:gd name="adj" fmla="val 3721"/>
            </a:avLst>
          </a:prstGeom>
          <a:solidFill>
            <a:srgbClr val="22395F"/>
          </a:solidFill>
          <a:ln w="12700">
            <a:solidFill>
              <a:srgbClr val="22395F"/>
            </a:solidFill>
            <a:prstDash val="solid"/>
          </a:ln>
        </p:spPr>
      </p:sp>
      <p:sp>
        <p:nvSpPr>
          <p:cNvPr id="34" name="Text 32"/>
          <p:cNvSpPr txBox="1"/>
          <p:nvPr/>
        </p:nvSpPr>
        <p:spPr>
          <a:xfrm>
            <a:off x="8229600" y="3794760"/>
            <a:ext cx="3291840" cy="187452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Hai chiến lược:</a:t>
            </a:r>
            <a:endParaRPr lang="en-US" sz="1450" dirty="0"/>
          </a:p>
          <a:p>
            <a:pPr indent="0" marL="0">
              <a:buNone/>
            </a:pPr>
            <a:r>
              <a:rPr lang="en-US" sz="1450" dirty="0">
                <a:solidFill>
                  <a:srgbClr val="FBFAF4"/>
                </a:solidFill>
                <a:latin typeface="Roboto" pitchFamily="34" charset="0"/>
                <a:ea typeface="Roboto" pitchFamily="34" charset="-122"/>
                <a:cs typeface="Roboto" pitchFamily="34" charset="-120"/>
              </a:rPr>
              <a:t>• Xây tính chính danh — khi chưa được thừa nhận</a:t>
            </a:r>
            <a:endParaRPr lang="en-US" sz="1450" dirty="0"/>
          </a:p>
          <a:p>
            <a:pPr indent="0" marL="0">
              <a:buNone/>
            </a:pPr>
            <a:r>
              <a:rPr lang="en-US" sz="1450" dirty="0">
                <a:solidFill>
                  <a:srgbClr val="FBFAF4"/>
                </a:solidFill>
                <a:latin typeface="Roboto" pitchFamily="34" charset="0"/>
                <a:ea typeface="Roboto" pitchFamily="34" charset="-122"/>
                <a:cs typeface="Roboto" pitchFamily="34" charset="-120"/>
              </a:rPr>
              <a:t>• Xây cam kết chung — khi đã có chính danh</a:t>
            </a:r>
            <a:endParaRPr lang="en-US" sz="1450" dirty="0"/>
          </a:p>
        </p:txBody>
      </p:sp>
      <p:sp>
        <p:nvSpPr>
          <p:cNvPr id="35" name="Text 3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Larson &amp; Wikström (2001, Bảng 1, tr. 53; kết luận tr. 62–63) (Y11). Dùng làm khung chẩn đoán từng quan hệ trong SMP.</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Năm bước bảo vệ deliverables khi mạng lưới xung đột</a:t>
            </a:r>
            <a:endParaRPr lang="en-US" sz="2800" dirty="0"/>
          </a:p>
        </p:txBody>
      </p:sp>
      <p:sp>
        <p:nvSpPr>
          <p:cNvPr id="3" name="Shape 1"/>
          <p:cNvSpPr/>
          <p:nvPr/>
        </p:nvSpPr>
        <p:spPr>
          <a:xfrm>
            <a:off x="548640" y="1783080"/>
            <a:ext cx="640080" cy="676656"/>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548640" y="1783080"/>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a:t>
            </a:r>
            <a:endParaRPr lang="en-US" sz="2000" dirty="0"/>
          </a:p>
        </p:txBody>
      </p:sp>
      <p:sp>
        <p:nvSpPr>
          <p:cNvPr id="5" name="Shape 3"/>
          <p:cNvSpPr/>
          <p:nvPr/>
        </p:nvSpPr>
        <p:spPr>
          <a:xfrm>
            <a:off x="1325880" y="1783080"/>
            <a:ext cx="4206240" cy="676656"/>
          </a:xfrm>
          <a:prstGeom prst="roundRect">
            <a:avLst>
              <a:gd name="adj" fmla="val 10811"/>
            </a:avLst>
          </a:prstGeom>
          <a:solidFill>
            <a:srgbClr val="22395F"/>
          </a:solidFill>
          <a:ln w="12700">
            <a:solidFill>
              <a:srgbClr val="22395F"/>
            </a:solidFill>
            <a:prstDash val="solid"/>
          </a:ln>
        </p:spPr>
      </p:sp>
      <p:sp>
        <p:nvSpPr>
          <p:cNvPr id="6" name="Text 4"/>
          <p:cNvSpPr txBox="1"/>
          <p:nvPr/>
        </p:nvSpPr>
        <p:spPr>
          <a:xfrm>
            <a:off x="1463040" y="1783080"/>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Deliverable nào bị đe dọa?</a:t>
            </a:r>
            <a:endParaRPr lang="en-US" sz="1500" dirty="0"/>
          </a:p>
        </p:txBody>
      </p:sp>
      <p:sp>
        <p:nvSpPr>
          <p:cNvPr id="7" name="Text 5"/>
          <p:cNvSpPr txBox="1"/>
          <p:nvPr/>
        </p:nvSpPr>
        <p:spPr>
          <a:xfrm>
            <a:off x="5669280" y="1783080"/>
            <a:ext cx="597103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Roboto" pitchFamily="34" charset="0"/>
                <a:ea typeface="Roboto" pitchFamily="34" charset="-122"/>
                <a:cs typeface="Roboto" pitchFamily="34" charset="-120"/>
              </a:rPr>
              <a:t>Bắt đầu từ cam kết với Key Account, không từ bên đang to tiếng nhất</a:t>
            </a:r>
            <a:endParaRPr lang="en-US" sz="1350" dirty="0"/>
          </a:p>
        </p:txBody>
      </p:sp>
      <p:sp>
        <p:nvSpPr>
          <p:cNvPr id="8" name="Shape 6"/>
          <p:cNvSpPr/>
          <p:nvPr/>
        </p:nvSpPr>
        <p:spPr>
          <a:xfrm>
            <a:off x="822960" y="2569464"/>
            <a:ext cx="640080" cy="676656"/>
          </a:xfrm>
          <a:prstGeom prst="roundRect">
            <a:avLst>
              <a:gd name="adj" fmla="val 11429"/>
            </a:avLst>
          </a:prstGeom>
          <a:solidFill>
            <a:srgbClr val="FFD23B"/>
          </a:solidFill>
          <a:ln w="12700">
            <a:solidFill>
              <a:srgbClr val="FFD23B"/>
            </a:solidFill>
            <a:prstDash val="solid"/>
          </a:ln>
        </p:spPr>
      </p:sp>
      <p:sp>
        <p:nvSpPr>
          <p:cNvPr id="9" name="Text 7"/>
          <p:cNvSpPr txBox="1"/>
          <p:nvPr/>
        </p:nvSpPr>
        <p:spPr>
          <a:xfrm>
            <a:off x="822960" y="2569464"/>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a:t>
            </a:r>
            <a:endParaRPr lang="en-US" sz="2000" dirty="0"/>
          </a:p>
        </p:txBody>
      </p:sp>
      <p:sp>
        <p:nvSpPr>
          <p:cNvPr id="10" name="Shape 8"/>
          <p:cNvSpPr/>
          <p:nvPr/>
        </p:nvSpPr>
        <p:spPr>
          <a:xfrm>
            <a:off x="1600200" y="2569464"/>
            <a:ext cx="4206240" cy="676656"/>
          </a:xfrm>
          <a:prstGeom prst="roundRect">
            <a:avLst>
              <a:gd name="adj" fmla="val 10811"/>
            </a:avLst>
          </a:prstGeom>
          <a:solidFill>
            <a:srgbClr val="22395F"/>
          </a:solidFill>
          <a:ln w="12700">
            <a:solidFill>
              <a:srgbClr val="22395F"/>
            </a:solidFill>
            <a:prstDash val="solid"/>
          </a:ln>
        </p:spPr>
      </p:sp>
      <p:sp>
        <p:nvSpPr>
          <p:cNvPr id="11" name="Text 9"/>
          <p:cNvSpPr txBox="1"/>
          <p:nvPr/>
        </p:nvSpPr>
        <p:spPr>
          <a:xfrm>
            <a:off x="1737360" y="2569464"/>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Ai liên quan, giữ vai gì, nổi bật đến đâu?</a:t>
            </a:r>
            <a:endParaRPr lang="en-US" sz="1500" dirty="0"/>
          </a:p>
        </p:txBody>
      </p:sp>
      <p:sp>
        <p:nvSpPr>
          <p:cNvPr id="12" name="Text 10"/>
          <p:cNvSpPr txBox="1"/>
          <p:nvPr/>
        </p:nvSpPr>
        <p:spPr>
          <a:xfrm>
            <a:off x="5943600" y="2569464"/>
            <a:ext cx="569671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Roboto" pitchFamily="34" charset="0"/>
                <a:ea typeface="Roboto" pitchFamily="34" charset="-122"/>
                <a:cs typeface="Roboto" pitchFamily="34" charset="-120"/>
              </a:rPr>
              <a:t>Quyền lực – chính đáng – cấp bách (Mitchell et al., Buổi 1)</a:t>
            </a:r>
            <a:endParaRPr lang="en-US" sz="1350" dirty="0"/>
          </a:p>
        </p:txBody>
      </p:sp>
      <p:sp>
        <p:nvSpPr>
          <p:cNvPr id="13" name="Shape 11"/>
          <p:cNvSpPr/>
          <p:nvPr/>
        </p:nvSpPr>
        <p:spPr>
          <a:xfrm>
            <a:off x="1097280" y="3355848"/>
            <a:ext cx="640080" cy="676656"/>
          </a:xfrm>
          <a:prstGeom prst="roundRect">
            <a:avLst>
              <a:gd name="adj" fmla="val 11429"/>
            </a:avLst>
          </a:prstGeom>
          <a:solidFill>
            <a:srgbClr val="FF9259"/>
          </a:solidFill>
          <a:ln w="12700">
            <a:solidFill>
              <a:srgbClr val="FF9259"/>
            </a:solidFill>
            <a:prstDash val="solid"/>
          </a:ln>
        </p:spPr>
      </p:sp>
      <p:sp>
        <p:nvSpPr>
          <p:cNvPr id="14" name="Text 12"/>
          <p:cNvSpPr txBox="1"/>
          <p:nvPr/>
        </p:nvSpPr>
        <p:spPr>
          <a:xfrm>
            <a:off x="1097280" y="3355848"/>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3</a:t>
            </a:r>
            <a:endParaRPr lang="en-US" sz="2000" dirty="0"/>
          </a:p>
        </p:txBody>
      </p:sp>
      <p:sp>
        <p:nvSpPr>
          <p:cNvPr id="15" name="Shape 13"/>
          <p:cNvSpPr/>
          <p:nvPr/>
        </p:nvSpPr>
        <p:spPr>
          <a:xfrm>
            <a:off x="1874520" y="3355848"/>
            <a:ext cx="4206240" cy="676656"/>
          </a:xfrm>
          <a:prstGeom prst="roundRect">
            <a:avLst>
              <a:gd name="adj" fmla="val 10811"/>
            </a:avLst>
          </a:prstGeom>
          <a:solidFill>
            <a:srgbClr val="22395F"/>
          </a:solidFill>
          <a:ln w="12700">
            <a:solidFill>
              <a:srgbClr val="22395F"/>
            </a:solidFill>
            <a:prstDash val="solid"/>
          </a:ln>
        </p:spPr>
      </p:sp>
      <p:sp>
        <p:nvSpPr>
          <p:cNvPr id="16" name="Text 14"/>
          <p:cNvSpPr txBox="1"/>
          <p:nvPr/>
        </p:nvSpPr>
        <p:spPr>
          <a:xfrm>
            <a:off x="2011680" y="3355848"/>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Lợi ích đằng sau lập trường?</a:t>
            </a:r>
            <a:endParaRPr lang="en-US" sz="1500" dirty="0"/>
          </a:p>
        </p:txBody>
      </p:sp>
      <p:sp>
        <p:nvSpPr>
          <p:cNvPr id="17" name="Text 15"/>
          <p:cNvSpPr txBox="1"/>
          <p:nvPr/>
        </p:nvSpPr>
        <p:spPr>
          <a:xfrm>
            <a:off x="6217920" y="3355848"/>
            <a:ext cx="542239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Roboto" pitchFamily="34" charset="0"/>
                <a:ea typeface="Roboto" pitchFamily="34" charset="-122"/>
                <a:cs typeface="Roboto" pitchFamily="34" charset="-120"/>
              </a:rPr>
              <a:t>Bình An đòi bàn cạnh khu tiệc — thứ họ cần là khách hẹn gặp (Buổi 7)</a:t>
            </a:r>
            <a:endParaRPr lang="en-US" sz="1350" dirty="0"/>
          </a:p>
        </p:txBody>
      </p:sp>
      <p:sp>
        <p:nvSpPr>
          <p:cNvPr id="18" name="Shape 16"/>
          <p:cNvSpPr/>
          <p:nvPr/>
        </p:nvSpPr>
        <p:spPr>
          <a:xfrm>
            <a:off x="1371600" y="4142232"/>
            <a:ext cx="640080" cy="676656"/>
          </a:xfrm>
          <a:prstGeom prst="roundRect">
            <a:avLst>
              <a:gd name="adj" fmla="val 11429"/>
            </a:avLst>
          </a:prstGeom>
          <a:solidFill>
            <a:srgbClr val="FF5178"/>
          </a:solidFill>
          <a:ln w="12700">
            <a:solidFill>
              <a:srgbClr val="FF5178"/>
            </a:solidFill>
            <a:prstDash val="solid"/>
          </a:ln>
        </p:spPr>
      </p:sp>
      <p:sp>
        <p:nvSpPr>
          <p:cNvPr id="19" name="Text 17"/>
          <p:cNvSpPr txBox="1"/>
          <p:nvPr/>
        </p:nvSpPr>
        <p:spPr>
          <a:xfrm>
            <a:off x="1371600" y="4142232"/>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4</a:t>
            </a:r>
            <a:endParaRPr lang="en-US" sz="2000" dirty="0"/>
          </a:p>
        </p:txBody>
      </p:sp>
      <p:sp>
        <p:nvSpPr>
          <p:cNvPr id="20" name="Shape 18"/>
          <p:cNvSpPr/>
          <p:nvPr/>
        </p:nvSpPr>
        <p:spPr>
          <a:xfrm>
            <a:off x="2148840" y="4142232"/>
            <a:ext cx="4206240" cy="676656"/>
          </a:xfrm>
          <a:prstGeom prst="roundRect">
            <a:avLst>
              <a:gd name="adj" fmla="val 10811"/>
            </a:avLst>
          </a:prstGeom>
          <a:solidFill>
            <a:srgbClr val="22395F"/>
          </a:solidFill>
          <a:ln w="12700">
            <a:solidFill>
              <a:srgbClr val="22395F"/>
            </a:solidFill>
            <a:prstDash val="solid"/>
          </a:ln>
        </p:spPr>
      </p:sp>
      <p:sp>
        <p:nvSpPr>
          <p:cNvPr id="21" name="Text 19"/>
          <p:cNvSpPr txBox="1"/>
          <p:nvPr/>
        </p:nvSpPr>
        <p:spPr>
          <a:xfrm>
            <a:off x="2286000" y="4142232"/>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Cùng giải quyết — hoặc leo thang</a:t>
            </a:r>
            <a:endParaRPr lang="en-US" sz="1500" dirty="0"/>
          </a:p>
        </p:txBody>
      </p:sp>
      <p:sp>
        <p:nvSpPr>
          <p:cNvPr id="22" name="Text 20"/>
          <p:cNvSpPr txBox="1"/>
          <p:nvPr/>
        </p:nvSpPr>
        <p:spPr>
          <a:xfrm>
            <a:off x="6492240" y="4142232"/>
            <a:ext cx="514807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Roboto" pitchFamily="34" charset="0"/>
                <a:ea typeface="Roboto" pitchFamily="34" charset="-122"/>
                <a:cs typeface="Roboto" pitchFamily="34" charset="-120"/>
              </a:rPr>
              <a:t>Joint problem solving; nếu không được: người phụ trách → lãnh đạo Nova → Key Account</a:t>
            </a:r>
            <a:endParaRPr lang="en-US" sz="1350" dirty="0"/>
          </a:p>
        </p:txBody>
      </p:sp>
      <p:sp>
        <p:nvSpPr>
          <p:cNvPr id="23" name="Shape 21"/>
          <p:cNvSpPr/>
          <p:nvPr/>
        </p:nvSpPr>
        <p:spPr>
          <a:xfrm>
            <a:off x="1645920" y="4928616"/>
            <a:ext cx="640080" cy="676656"/>
          </a:xfrm>
          <a:prstGeom prst="roundRect">
            <a:avLst>
              <a:gd name="adj" fmla="val 11429"/>
            </a:avLst>
          </a:prstGeom>
          <a:solidFill>
            <a:srgbClr val="09A1E5"/>
          </a:solidFill>
          <a:ln w="12700">
            <a:solidFill>
              <a:srgbClr val="09A1E5"/>
            </a:solidFill>
            <a:prstDash val="solid"/>
          </a:ln>
        </p:spPr>
      </p:sp>
      <p:sp>
        <p:nvSpPr>
          <p:cNvPr id="24" name="Text 22"/>
          <p:cNvSpPr txBox="1"/>
          <p:nvPr/>
        </p:nvSpPr>
        <p:spPr>
          <a:xfrm>
            <a:off x="1645920" y="4928616"/>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5</a:t>
            </a:r>
            <a:endParaRPr lang="en-US" sz="2000" dirty="0"/>
          </a:p>
        </p:txBody>
      </p:sp>
      <p:sp>
        <p:nvSpPr>
          <p:cNvPr id="25" name="Shape 23"/>
          <p:cNvSpPr/>
          <p:nvPr/>
        </p:nvSpPr>
        <p:spPr>
          <a:xfrm>
            <a:off x="2423160" y="4928616"/>
            <a:ext cx="4206240" cy="676656"/>
          </a:xfrm>
          <a:prstGeom prst="roundRect">
            <a:avLst>
              <a:gd name="adj" fmla="val 10811"/>
            </a:avLst>
          </a:prstGeom>
          <a:solidFill>
            <a:srgbClr val="22395F"/>
          </a:solidFill>
          <a:ln w="12700">
            <a:solidFill>
              <a:srgbClr val="22395F"/>
            </a:solidFill>
            <a:prstDash val="solid"/>
          </a:ln>
        </p:spPr>
      </p:sp>
      <p:sp>
        <p:nvSpPr>
          <p:cNvPr id="26" name="Text 24"/>
          <p:cNvSpPr txBox="1"/>
          <p:nvPr/>
        </p:nvSpPr>
        <p:spPr>
          <a:xfrm>
            <a:off x="2560320" y="4928616"/>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Thông báo Key Account + cập nhật ESG</a:t>
            </a:r>
            <a:endParaRPr lang="en-US" sz="1500" dirty="0"/>
          </a:p>
        </p:txBody>
      </p:sp>
      <p:sp>
        <p:nvSpPr>
          <p:cNvPr id="27" name="Text 25"/>
          <p:cNvSpPr txBox="1"/>
          <p:nvPr/>
        </p:nvSpPr>
        <p:spPr>
          <a:xfrm>
            <a:off x="6766560" y="4928616"/>
            <a:ext cx="487375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Roboto" pitchFamily="34" charset="0"/>
                <a:ea typeface="Roboto" pitchFamily="34" charset="-122"/>
                <a:cs typeface="Roboto" pitchFamily="34" charset="-120"/>
              </a:rPr>
              <a:t>Chuyện gì · ảnh hưởng · Nova đề xuất · cần quyết gì</a:t>
            </a:r>
            <a:endParaRPr lang="en-US" sz="1350" dirty="0"/>
          </a:p>
        </p:txBody>
      </p:sp>
      <p:sp>
        <p:nvSpPr>
          <p:cNvPr id="28" name="Text 2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Quy trình do người soạn dựng từ Mohr &amp; Spekman (Y03), đàm phán tích hợp (Buổi 7), Mitchell, Agle &amp; Wood (Buổi 1). Chiếu suốt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Giấu Key Account là cách mất niềm tin nhanh nhất</a:t>
            </a:r>
            <a:endParaRPr lang="en-US" sz="2800" dirty="0"/>
          </a:p>
        </p:txBody>
      </p:sp>
      <p:sp>
        <p:nvSpPr>
          <p:cNvPr id="3" name="Shape 1"/>
          <p:cNvSpPr/>
          <p:nvPr/>
        </p:nvSpPr>
        <p:spPr>
          <a:xfrm>
            <a:off x="548640" y="1783080"/>
            <a:ext cx="2377440" cy="777240"/>
          </a:xfrm>
          <a:prstGeom prst="roundRect">
            <a:avLst>
              <a:gd name="adj" fmla="val 9412"/>
            </a:avLst>
          </a:prstGeom>
          <a:solidFill>
            <a:srgbClr val="49B296"/>
          </a:solidFill>
          <a:ln w="12700">
            <a:solidFill>
              <a:srgbClr val="49B296"/>
            </a:solidFill>
            <a:prstDash val="solid"/>
          </a:ln>
        </p:spPr>
      </p:sp>
      <p:sp>
        <p:nvSpPr>
          <p:cNvPr id="4" name="Text 2"/>
          <p:cNvSpPr txBox="1"/>
          <p:nvPr/>
        </p:nvSpPr>
        <p:spPr>
          <a:xfrm>
            <a:off x="685800" y="17830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Chuyện gì</a:t>
            </a:r>
            <a:endParaRPr lang="en-US" sz="1600" dirty="0"/>
          </a:p>
        </p:txBody>
      </p:sp>
      <p:sp>
        <p:nvSpPr>
          <p:cNvPr id="5" name="Shape 3"/>
          <p:cNvSpPr/>
          <p:nvPr/>
        </p:nvSpPr>
        <p:spPr>
          <a:xfrm>
            <a:off x="3063240" y="1783080"/>
            <a:ext cx="8577072" cy="777240"/>
          </a:xfrm>
          <a:prstGeom prst="roundRect">
            <a:avLst>
              <a:gd name="adj" fmla="val 9412"/>
            </a:avLst>
          </a:prstGeom>
          <a:solidFill>
            <a:srgbClr val="22395F"/>
          </a:solidFill>
          <a:ln w="12700">
            <a:solidFill>
              <a:srgbClr val="22395F"/>
            </a:solidFill>
            <a:prstDash val="solid"/>
          </a:ln>
        </p:spPr>
      </p:sp>
      <p:sp>
        <p:nvSpPr>
          <p:cNvPr id="6" name="Text 4"/>
          <p:cNvSpPr txBox="1"/>
          <p:nvPr/>
        </p:nvSpPr>
        <p:spPr>
          <a:xfrm>
            <a:off x="3246120" y="17830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Roboto" pitchFamily="34" charset="0"/>
                <a:ea typeface="Roboto" pitchFamily="34" charset="-122"/>
                <a:cs typeface="Roboto" pitchFamily="34" charset="-120"/>
              </a:rPr>
              <a:t>Khách sạn B lùi giờ dựng ngày 12/12 từ 8h sang 13h vì tiệc cưới tối 11/12.</a:t>
            </a:r>
            <a:endParaRPr lang="en-US" sz="1550" dirty="0"/>
          </a:p>
        </p:txBody>
      </p:sp>
      <p:sp>
        <p:nvSpPr>
          <p:cNvPr id="7" name="Shape 5"/>
          <p:cNvSpPr/>
          <p:nvPr/>
        </p:nvSpPr>
        <p:spPr>
          <a:xfrm>
            <a:off x="548640" y="2697480"/>
            <a:ext cx="2377440" cy="777240"/>
          </a:xfrm>
          <a:prstGeom prst="roundRect">
            <a:avLst>
              <a:gd name="adj" fmla="val 9412"/>
            </a:avLst>
          </a:prstGeom>
          <a:solidFill>
            <a:srgbClr val="FFD23B"/>
          </a:solidFill>
          <a:ln w="12700">
            <a:solidFill>
              <a:srgbClr val="FFD23B"/>
            </a:solidFill>
            <a:prstDash val="solid"/>
          </a:ln>
        </p:spPr>
      </p:sp>
      <p:sp>
        <p:nvSpPr>
          <p:cNvPr id="8" name="Text 6"/>
          <p:cNvSpPr txBox="1"/>
          <p:nvPr/>
        </p:nvSpPr>
        <p:spPr>
          <a:xfrm>
            <a:off x="685800" y="26974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Ảnh hưởng</a:t>
            </a:r>
            <a:endParaRPr lang="en-US" sz="1600" dirty="0"/>
          </a:p>
        </p:txBody>
      </p:sp>
      <p:sp>
        <p:nvSpPr>
          <p:cNvPr id="9" name="Shape 7"/>
          <p:cNvSpPr/>
          <p:nvPr/>
        </p:nvSpPr>
        <p:spPr>
          <a:xfrm>
            <a:off x="3063240" y="2697480"/>
            <a:ext cx="8577072" cy="777240"/>
          </a:xfrm>
          <a:prstGeom prst="roundRect">
            <a:avLst>
              <a:gd name="adj" fmla="val 9412"/>
            </a:avLst>
          </a:prstGeom>
          <a:solidFill>
            <a:srgbClr val="22395F"/>
          </a:solidFill>
          <a:ln w="12700">
            <a:solidFill>
              <a:srgbClr val="22395F"/>
            </a:solidFill>
            <a:prstDash val="solid"/>
          </a:ln>
        </p:spPr>
      </p:sp>
      <p:sp>
        <p:nvSpPr>
          <p:cNvPr id="10" name="Text 8"/>
          <p:cNvSpPr txBox="1"/>
          <p:nvPr/>
        </p:nvSpPr>
        <p:spPr>
          <a:xfrm>
            <a:off x="3246120" y="26974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Roboto" pitchFamily="34" charset="0"/>
                <a:ea typeface="Roboto" pitchFamily="34" charset="-122"/>
                <a:cs typeface="Roboto" pitchFamily="34" charset="-120"/>
              </a:rPr>
              <a:t>Thời gian dựng sân khấu và thử livestream còn 5 tiếng thay vì 10.</a:t>
            </a:r>
            <a:endParaRPr lang="en-US" sz="1550" dirty="0"/>
          </a:p>
        </p:txBody>
      </p:sp>
      <p:sp>
        <p:nvSpPr>
          <p:cNvPr id="11" name="Shape 9"/>
          <p:cNvSpPr/>
          <p:nvPr/>
        </p:nvSpPr>
        <p:spPr>
          <a:xfrm>
            <a:off x="548640" y="3611880"/>
            <a:ext cx="2377440" cy="777240"/>
          </a:xfrm>
          <a:prstGeom prst="roundRect">
            <a:avLst>
              <a:gd name="adj" fmla="val 9412"/>
            </a:avLst>
          </a:prstGeom>
          <a:solidFill>
            <a:srgbClr val="FF9259"/>
          </a:solidFill>
          <a:ln w="12700">
            <a:solidFill>
              <a:srgbClr val="FF9259"/>
            </a:solidFill>
            <a:prstDash val="solid"/>
          </a:ln>
        </p:spPr>
      </p:sp>
      <p:sp>
        <p:nvSpPr>
          <p:cNvPr id="12" name="Text 10"/>
          <p:cNvSpPr txBox="1"/>
          <p:nvPr/>
        </p:nvSpPr>
        <p:spPr>
          <a:xfrm>
            <a:off x="685800" y="36118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Nova đề xuất</a:t>
            </a:r>
            <a:endParaRPr lang="en-US" sz="1600" dirty="0"/>
          </a:p>
        </p:txBody>
      </p:sp>
      <p:sp>
        <p:nvSpPr>
          <p:cNvPr id="13" name="Shape 11"/>
          <p:cNvSpPr/>
          <p:nvPr/>
        </p:nvSpPr>
        <p:spPr>
          <a:xfrm>
            <a:off x="3063240" y="3611880"/>
            <a:ext cx="8577072" cy="777240"/>
          </a:xfrm>
          <a:prstGeom prst="roundRect">
            <a:avLst>
              <a:gd name="adj" fmla="val 9412"/>
            </a:avLst>
          </a:prstGeom>
          <a:solidFill>
            <a:srgbClr val="22395F"/>
          </a:solidFill>
          <a:ln w="12700">
            <a:solidFill>
              <a:srgbClr val="22395F"/>
            </a:solidFill>
            <a:prstDash val="solid"/>
          </a:ln>
        </p:spPr>
      </p:sp>
      <p:sp>
        <p:nvSpPr>
          <p:cNvPr id="14" name="Text 12"/>
          <p:cNvSpPr txBox="1"/>
          <p:nvPr/>
        </p:nvSpPr>
        <p:spPr>
          <a:xfrm>
            <a:off x="3246120" y="36118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Roboto" pitchFamily="34" charset="0"/>
                <a:ea typeface="Roboto" pitchFamily="34" charset="-122"/>
                <a:cs typeface="Roboto" pitchFamily="34" charset="-120"/>
              </a:rPr>
              <a:t>Dựng trước phần LED tại phòng phụ; thử livestream từ 13h30; bổ sung 4 kỹ thuật viên (chi phí Nova chịu).</a:t>
            </a:r>
            <a:endParaRPr lang="en-US" sz="1550" dirty="0"/>
          </a:p>
        </p:txBody>
      </p:sp>
      <p:sp>
        <p:nvSpPr>
          <p:cNvPr id="15" name="Shape 13"/>
          <p:cNvSpPr/>
          <p:nvPr/>
        </p:nvSpPr>
        <p:spPr>
          <a:xfrm>
            <a:off x="548640" y="4526280"/>
            <a:ext cx="2377440" cy="777240"/>
          </a:xfrm>
          <a:prstGeom prst="roundRect">
            <a:avLst>
              <a:gd name="adj" fmla="val 9412"/>
            </a:avLst>
          </a:prstGeom>
          <a:solidFill>
            <a:srgbClr val="FF5178"/>
          </a:solidFill>
          <a:ln w="12700">
            <a:solidFill>
              <a:srgbClr val="FF5178"/>
            </a:solidFill>
            <a:prstDash val="solid"/>
          </a:ln>
        </p:spPr>
      </p:sp>
      <p:sp>
        <p:nvSpPr>
          <p:cNvPr id="16" name="Text 14"/>
          <p:cNvSpPr txBox="1"/>
          <p:nvPr/>
        </p:nvSpPr>
        <p:spPr>
          <a:xfrm>
            <a:off x="685800" y="45262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Cần anh quyết</a:t>
            </a:r>
            <a:endParaRPr lang="en-US" sz="1600" dirty="0"/>
          </a:p>
        </p:txBody>
      </p:sp>
      <p:sp>
        <p:nvSpPr>
          <p:cNvPr id="17" name="Shape 15"/>
          <p:cNvSpPr/>
          <p:nvPr/>
        </p:nvSpPr>
        <p:spPr>
          <a:xfrm>
            <a:off x="3063240" y="4526280"/>
            <a:ext cx="8577072" cy="777240"/>
          </a:xfrm>
          <a:prstGeom prst="roundRect">
            <a:avLst>
              <a:gd name="adj" fmla="val 9412"/>
            </a:avLst>
          </a:prstGeom>
          <a:solidFill>
            <a:srgbClr val="22395F"/>
          </a:solidFill>
          <a:ln w="12700">
            <a:solidFill>
              <a:srgbClr val="22395F"/>
            </a:solidFill>
            <a:prstDash val="solid"/>
          </a:ln>
        </p:spPr>
      </p:sp>
      <p:sp>
        <p:nvSpPr>
          <p:cNvPr id="18" name="Text 16"/>
          <p:cNvSpPr txBox="1"/>
          <p:nvPr/>
        </p:nvSpPr>
        <p:spPr>
          <a:xfrm>
            <a:off x="3246120" y="45262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Roboto" pitchFamily="34" charset="0"/>
                <a:ea typeface="Roboto" pitchFamily="34" charset="-122"/>
                <a:cs typeface="Roboto" pitchFamily="34" charset="-120"/>
              </a:rPr>
              <a:t>Đồng ý lùi tổng duyệt sang 16h, hay yêu cầu khách sạn bồi hoàn theo hợp đồng?</a:t>
            </a:r>
            <a:endParaRPr lang="en-US" sz="1550" dirty="0"/>
          </a:p>
        </p:txBody>
      </p:sp>
      <p:sp>
        <p:nvSpPr>
          <p:cNvPr id="19" name="Shape 17"/>
          <p:cNvSpPr/>
          <p:nvPr/>
        </p:nvSpPr>
        <p:spPr>
          <a:xfrm>
            <a:off x="548640" y="5486400"/>
            <a:ext cx="11091672" cy="365760"/>
          </a:xfrm>
          <a:prstGeom prst="roundRect">
            <a:avLst>
              <a:gd name="adj" fmla="val 20000"/>
            </a:avLst>
          </a:prstGeom>
          <a:solidFill>
            <a:srgbClr val="22395F"/>
          </a:solidFill>
          <a:ln w="12700">
            <a:solidFill>
              <a:srgbClr val="22395F"/>
            </a:solidFill>
            <a:prstDash val="solid"/>
          </a:ln>
        </p:spPr>
      </p:sp>
      <p:sp>
        <p:nvSpPr>
          <p:cNvPr id="20" name="Text 18"/>
          <p:cNvSpPr txBox="1"/>
          <p:nvPr/>
        </p:nvSpPr>
        <p:spPr>
          <a:xfrm>
            <a:off x="777240" y="5486400"/>
            <a:ext cx="10698480" cy="365760"/>
          </a:xfrm>
          <a:prstGeom prst="rect">
            <a:avLst/>
          </a:prstGeom>
          <a:noFill/>
          <a:ln/>
        </p:spPr>
        <p:txBody>
          <a:bodyPr wrap="square" lIns="635" tIns="635" rIns="635" bIns="635" rtlCol="0" anchor="ctr"/>
          <a:lstStyle/>
          <a:p>
            <a:pPr indent="0" marL="0">
              <a:buNone/>
            </a:pPr>
            <a:r>
              <a:rPr lang="en-US" sz="1350" i="1" dirty="0">
                <a:solidFill>
                  <a:srgbClr val="A9B6D3"/>
                </a:solidFill>
                <a:latin typeface="Roboto" pitchFamily="34" charset="0"/>
                <a:ea typeface="Roboto" pitchFamily="34" charset="-122"/>
                <a:cs typeface="Roboto" pitchFamily="34" charset="-120"/>
              </a:rPr>
              <a:t>Ví dụ giả định. Key Account phát hiện muộn còn mất niềm tin hơn (Morgan &amp; Hunt; Mohr &amp; Spekman).</a:t>
            </a:r>
            <a:endParaRPr lang="en-US" sz="13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Trách nhiệm mà khách quy cho Key Account quyết định cách phản hồi</a:t>
            </a:r>
            <a:endParaRPr lang="en-US" sz="2800" dirty="0"/>
          </a:p>
        </p:txBody>
      </p:sp>
      <p:sp>
        <p:nvSpPr>
          <p:cNvPr id="3" name="Shape 1"/>
          <p:cNvSpPr/>
          <p:nvPr/>
        </p:nvSpPr>
        <p:spPr>
          <a:xfrm>
            <a:off x="548640" y="1783080"/>
            <a:ext cx="31455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9626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Nhóm</a:t>
            </a:r>
            <a:endParaRPr lang="en-US" sz="1500" dirty="0"/>
          </a:p>
        </p:txBody>
      </p:sp>
      <p:sp>
        <p:nvSpPr>
          <p:cNvPr id="5" name="Shape 3"/>
          <p:cNvSpPr/>
          <p:nvPr/>
        </p:nvSpPr>
        <p:spPr>
          <a:xfrm>
            <a:off x="3749040" y="1783080"/>
            <a:ext cx="314553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840480" y="1783080"/>
            <a:ext cx="29626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Trách nhiệm quy cho tổ chức</a:t>
            </a:r>
            <a:endParaRPr lang="en-US" sz="1500" dirty="0"/>
          </a:p>
        </p:txBody>
      </p:sp>
      <p:sp>
        <p:nvSpPr>
          <p:cNvPr id="7" name="Shape 5"/>
          <p:cNvSpPr/>
          <p:nvPr/>
        </p:nvSpPr>
        <p:spPr>
          <a:xfrm>
            <a:off x="6949440" y="1783080"/>
            <a:ext cx="463600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040880" y="1783080"/>
            <a:ext cx="445312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Ví dụ</a:t>
            </a:r>
            <a:endParaRPr lang="en-US" sz="1500" dirty="0"/>
          </a:p>
        </p:txBody>
      </p:sp>
      <p:sp>
        <p:nvSpPr>
          <p:cNvPr id="9" name="Shape 7"/>
          <p:cNvSpPr/>
          <p:nvPr/>
        </p:nvSpPr>
        <p:spPr>
          <a:xfrm>
            <a:off x="548640" y="2404872"/>
            <a:ext cx="3145536" cy="548640"/>
          </a:xfrm>
          <a:prstGeom prst="roundRect">
            <a:avLst>
              <a:gd name="adj" fmla="val 13333"/>
            </a:avLst>
          </a:prstGeom>
          <a:solidFill>
            <a:srgbClr val="FFD23B"/>
          </a:solidFill>
          <a:ln w="12700">
            <a:solidFill>
              <a:srgbClr val="FFD23B"/>
            </a:solidFill>
            <a:prstDash val="solid"/>
          </a:ln>
        </p:spPr>
      </p:sp>
      <p:sp>
        <p:nvSpPr>
          <p:cNvPr id="10" name="Text 8"/>
          <p:cNvSpPr txBox="1"/>
          <p:nvPr/>
        </p:nvSpPr>
        <p:spPr>
          <a:xfrm>
            <a:off x="658368" y="2404872"/>
            <a:ext cx="29260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Nạn nhân (victim)</a:t>
            </a:r>
            <a:endParaRPr lang="en-US" sz="1500" dirty="0"/>
          </a:p>
        </p:txBody>
      </p:sp>
      <p:sp>
        <p:nvSpPr>
          <p:cNvPr id="11" name="Shape 9"/>
          <p:cNvSpPr/>
          <p:nvPr/>
        </p:nvSpPr>
        <p:spPr>
          <a:xfrm>
            <a:off x="3749040" y="2404872"/>
            <a:ext cx="3145536" cy="548640"/>
          </a:xfrm>
          <a:prstGeom prst="roundRect">
            <a:avLst>
              <a:gd name="adj" fmla="val 13333"/>
            </a:avLst>
          </a:prstGeom>
          <a:solidFill>
            <a:srgbClr val="22395F"/>
          </a:solidFill>
          <a:ln w="12700">
            <a:solidFill>
              <a:srgbClr val="22395F"/>
            </a:solidFill>
            <a:prstDash val="solid"/>
          </a:ln>
        </p:spPr>
      </p:sp>
      <p:sp>
        <p:nvSpPr>
          <p:cNvPr id="12" name="Text 10"/>
          <p:cNvSpPr txBox="1"/>
          <p:nvPr/>
        </p:nvSpPr>
        <p:spPr>
          <a:xfrm>
            <a:off x="3858768" y="2404872"/>
            <a:ext cx="292608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Rất thấp</a:t>
            </a:r>
            <a:endParaRPr lang="en-US" sz="1500" dirty="0"/>
          </a:p>
        </p:txBody>
      </p:sp>
      <p:sp>
        <p:nvSpPr>
          <p:cNvPr id="13" name="Shape 11"/>
          <p:cNvSpPr/>
          <p:nvPr/>
        </p:nvSpPr>
        <p:spPr>
          <a:xfrm>
            <a:off x="6949440" y="2404872"/>
            <a:ext cx="4636008" cy="548640"/>
          </a:xfrm>
          <a:prstGeom prst="roundRect">
            <a:avLst>
              <a:gd name="adj" fmla="val 13333"/>
            </a:avLst>
          </a:prstGeom>
          <a:solidFill>
            <a:srgbClr val="22395F"/>
          </a:solidFill>
          <a:ln w="12700">
            <a:solidFill>
              <a:srgbClr val="22395F"/>
            </a:solidFill>
            <a:prstDash val="solid"/>
          </a:ln>
        </p:spPr>
      </p:sp>
      <p:sp>
        <p:nvSpPr>
          <p:cNvPr id="14" name="Text 12"/>
          <p:cNvSpPr txBox="1"/>
          <p:nvPr/>
        </p:nvSpPr>
        <p:spPr>
          <a:xfrm>
            <a:off x="7059168" y="2404872"/>
            <a:ext cx="4416552" cy="5486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Tin đồn, giả mạo thương hiệu, thiên tai</a:t>
            </a:r>
            <a:endParaRPr lang="en-US" sz="1500" dirty="0"/>
          </a:p>
        </p:txBody>
      </p:sp>
      <p:sp>
        <p:nvSpPr>
          <p:cNvPr id="15" name="Shape 13"/>
          <p:cNvSpPr/>
          <p:nvPr/>
        </p:nvSpPr>
        <p:spPr>
          <a:xfrm>
            <a:off x="548640" y="3026664"/>
            <a:ext cx="3145536" cy="548640"/>
          </a:xfrm>
          <a:prstGeom prst="roundRect">
            <a:avLst>
              <a:gd name="adj" fmla="val 13333"/>
            </a:avLst>
          </a:prstGeom>
          <a:solidFill>
            <a:srgbClr val="FFD23B"/>
          </a:solidFill>
          <a:ln w="12700">
            <a:solidFill>
              <a:srgbClr val="FFD23B"/>
            </a:solidFill>
            <a:prstDash val="solid"/>
          </a:ln>
        </p:spPr>
      </p:sp>
      <p:sp>
        <p:nvSpPr>
          <p:cNvPr id="16" name="Text 14"/>
          <p:cNvSpPr txBox="1"/>
          <p:nvPr/>
        </p:nvSpPr>
        <p:spPr>
          <a:xfrm>
            <a:off x="658368" y="3026664"/>
            <a:ext cx="29260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Tai nạn (accidental)</a:t>
            </a:r>
            <a:endParaRPr lang="en-US" sz="1500" dirty="0"/>
          </a:p>
        </p:txBody>
      </p:sp>
      <p:sp>
        <p:nvSpPr>
          <p:cNvPr id="17" name="Shape 15"/>
          <p:cNvSpPr/>
          <p:nvPr/>
        </p:nvSpPr>
        <p:spPr>
          <a:xfrm>
            <a:off x="3749040" y="3026664"/>
            <a:ext cx="3145536" cy="548640"/>
          </a:xfrm>
          <a:prstGeom prst="roundRect">
            <a:avLst>
              <a:gd name="adj" fmla="val 13333"/>
            </a:avLst>
          </a:prstGeom>
          <a:solidFill>
            <a:srgbClr val="22395F"/>
          </a:solidFill>
          <a:ln w="12700">
            <a:solidFill>
              <a:srgbClr val="22395F"/>
            </a:solidFill>
            <a:prstDash val="solid"/>
          </a:ln>
        </p:spPr>
      </p:sp>
      <p:sp>
        <p:nvSpPr>
          <p:cNvPr id="18" name="Text 16"/>
          <p:cNvSpPr txBox="1"/>
          <p:nvPr/>
        </p:nvSpPr>
        <p:spPr>
          <a:xfrm>
            <a:off x="3858768" y="3026664"/>
            <a:ext cx="292608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Thấp</a:t>
            </a:r>
            <a:endParaRPr lang="en-US" sz="1500" dirty="0"/>
          </a:p>
        </p:txBody>
      </p:sp>
      <p:sp>
        <p:nvSpPr>
          <p:cNvPr id="19" name="Shape 17"/>
          <p:cNvSpPr/>
          <p:nvPr/>
        </p:nvSpPr>
        <p:spPr>
          <a:xfrm>
            <a:off x="6949440" y="3026664"/>
            <a:ext cx="4636008" cy="548640"/>
          </a:xfrm>
          <a:prstGeom prst="roundRect">
            <a:avLst>
              <a:gd name="adj" fmla="val 13333"/>
            </a:avLst>
          </a:prstGeom>
          <a:solidFill>
            <a:srgbClr val="22395F"/>
          </a:solidFill>
          <a:ln w="12700">
            <a:solidFill>
              <a:srgbClr val="22395F"/>
            </a:solidFill>
            <a:prstDash val="solid"/>
          </a:ln>
        </p:spPr>
      </p:sp>
      <p:sp>
        <p:nvSpPr>
          <p:cNvPr id="20" name="Text 18"/>
          <p:cNvSpPr txBox="1"/>
          <p:nvPr/>
        </p:nvSpPr>
        <p:spPr>
          <a:xfrm>
            <a:off x="7059168" y="3026664"/>
            <a:ext cx="4416552" cy="5486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Lỗi kỹ thuật không lường trước</a:t>
            </a:r>
            <a:endParaRPr lang="en-US" sz="1500" dirty="0"/>
          </a:p>
        </p:txBody>
      </p:sp>
      <p:sp>
        <p:nvSpPr>
          <p:cNvPr id="21" name="Shape 19"/>
          <p:cNvSpPr/>
          <p:nvPr/>
        </p:nvSpPr>
        <p:spPr>
          <a:xfrm>
            <a:off x="548640" y="3648456"/>
            <a:ext cx="3145536" cy="548640"/>
          </a:xfrm>
          <a:prstGeom prst="roundRect">
            <a:avLst>
              <a:gd name="adj" fmla="val 13333"/>
            </a:avLst>
          </a:prstGeom>
          <a:solidFill>
            <a:srgbClr val="FFD23B"/>
          </a:solidFill>
          <a:ln w="12700">
            <a:solidFill>
              <a:srgbClr val="FFD23B"/>
            </a:solidFill>
            <a:prstDash val="solid"/>
          </a:ln>
        </p:spPr>
      </p:sp>
      <p:sp>
        <p:nvSpPr>
          <p:cNvPr id="22" name="Text 20"/>
          <p:cNvSpPr txBox="1"/>
          <p:nvPr/>
        </p:nvSpPr>
        <p:spPr>
          <a:xfrm>
            <a:off x="658368" y="3648456"/>
            <a:ext cx="29260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Có thể ngăn ngừa (preventable)</a:t>
            </a:r>
            <a:endParaRPr lang="en-US" sz="1500" dirty="0"/>
          </a:p>
        </p:txBody>
      </p:sp>
      <p:sp>
        <p:nvSpPr>
          <p:cNvPr id="23" name="Shape 21"/>
          <p:cNvSpPr/>
          <p:nvPr/>
        </p:nvSpPr>
        <p:spPr>
          <a:xfrm>
            <a:off x="3749040" y="3648456"/>
            <a:ext cx="3145536" cy="548640"/>
          </a:xfrm>
          <a:prstGeom prst="roundRect">
            <a:avLst>
              <a:gd name="adj" fmla="val 13333"/>
            </a:avLst>
          </a:prstGeom>
          <a:solidFill>
            <a:srgbClr val="22395F"/>
          </a:solidFill>
          <a:ln w="12700">
            <a:solidFill>
              <a:srgbClr val="22395F"/>
            </a:solidFill>
            <a:prstDash val="solid"/>
          </a:ln>
        </p:spPr>
      </p:sp>
      <p:sp>
        <p:nvSpPr>
          <p:cNvPr id="24" name="Text 22"/>
          <p:cNvSpPr txBox="1"/>
          <p:nvPr/>
        </p:nvSpPr>
        <p:spPr>
          <a:xfrm>
            <a:off x="3858768" y="3648456"/>
            <a:ext cx="292608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Rất cao</a:t>
            </a:r>
            <a:endParaRPr lang="en-US" sz="1500" dirty="0"/>
          </a:p>
        </p:txBody>
      </p:sp>
      <p:sp>
        <p:nvSpPr>
          <p:cNvPr id="25" name="Shape 23"/>
          <p:cNvSpPr/>
          <p:nvPr/>
        </p:nvSpPr>
        <p:spPr>
          <a:xfrm>
            <a:off x="6949440" y="3648456"/>
            <a:ext cx="4636008" cy="548640"/>
          </a:xfrm>
          <a:prstGeom prst="roundRect">
            <a:avLst>
              <a:gd name="adj" fmla="val 13333"/>
            </a:avLst>
          </a:prstGeom>
          <a:solidFill>
            <a:srgbClr val="22395F"/>
          </a:solidFill>
          <a:ln w="12700">
            <a:solidFill>
              <a:srgbClr val="22395F"/>
            </a:solidFill>
            <a:prstDash val="solid"/>
          </a:ln>
        </p:spPr>
      </p:sp>
      <p:sp>
        <p:nvSpPr>
          <p:cNvPr id="26" name="Text 24"/>
          <p:cNvSpPr txBox="1"/>
          <p:nvPr/>
        </p:nvSpPr>
        <p:spPr>
          <a:xfrm>
            <a:off x="7059168" y="3648456"/>
            <a:ext cx="4416552" cy="5486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Lỗi con người, sai phạm, bỏ qua dấu hiệu</a:t>
            </a:r>
            <a:endParaRPr lang="en-US" sz="1500" dirty="0"/>
          </a:p>
        </p:txBody>
      </p:sp>
      <p:sp>
        <p:nvSpPr>
          <p:cNvPr id="27" name="Shape 25"/>
          <p:cNvSpPr/>
          <p:nvPr/>
        </p:nvSpPr>
        <p:spPr>
          <a:xfrm>
            <a:off x="548640" y="4434840"/>
            <a:ext cx="11091672" cy="1280160"/>
          </a:xfrm>
          <a:prstGeom prst="roundRect">
            <a:avLst>
              <a:gd name="adj" fmla="val 5714"/>
            </a:avLst>
          </a:prstGeom>
          <a:solidFill>
            <a:srgbClr val="22395F"/>
          </a:solidFill>
          <a:ln w="12700">
            <a:solidFill>
              <a:srgbClr val="22395F"/>
            </a:solidFill>
            <a:prstDash val="solid"/>
          </a:ln>
        </p:spPr>
      </p:sp>
      <p:sp>
        <p:nvSpPr>
          <p:cNvPr id="28" name="Text 26"/>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Mức đe dọa danh tiếng còn tăng theo lịch sử khủng hoảng và danh tiếng quan hệ trước đó.</a:t>
            </a:r>
            <a:endParaRPr lang="en-US" sz="1450" dirty="0"/>
          </a:p>
          <a:p>
            <a:pPr indent="0" marL="0">
              <a:buNone/>
            </a:pPr>
            <a:r>
              <a:rPr lang="en-US" sz="1450" dirty="0">
                <a:solidFill>
                  <a:srgbClr val="FBFAF4"/>
                </a:solidFill>
                <a:latin typeface="Roboto" pitchFamily="34" charset="0"/>
                <a:ea typeface="Roboto" pitchFamily="34" charset="-122"/>
                <a:cs typeface="Roboto" pitchFamily="34" charset="-120"/>
              </a:rPr>
              <a:t>Một diễn giả vướng vụ việc: ban đầu An Phát gần nhóm “nạn nhân” — nhưng nếu thông tin đã có từ trước mà không ai kiểm tra, khách thấy đó là lỗi “có thể ngăn ngừa” (lý do của due diligence, Buổi 11).</a:t>
            </a:r>
            <a:endParaRPr lang="en-US" sz="145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Coombs (2007), Corporate Reputation Review (Y08). Áp vào mạng lưới An Phát: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Phủ nhận, giảm nhẹ hay xây lại — chọn theo mức trách nhiệm</a:t>
            </a:r>
            <a:endParaRPr lang="en-US" sz="2800" dirty="0"/>
          </a:p>
        </p:txBody>
      </p:sp>
      <p:sp>
        <p:nvSpPr>
          <p:cNvPr id="3" name="Shape 1"/>
          <p:cNvSpPr/>
          <p:nvPr/>
        </p:nvSpPr>
        <p:spPr>
          <a:xfrm>
            <a:off x="548640" y="1783080"/>
            <a:ext cx="2651760" cy="685800"/>
          </a:xfrm>
          <a:prstGeom prst="roundRect">
            <a:avLst>
              <a:gd name="adj" fmla="val 10667"/>
            </a:avLst>
          </a:prstGeom>
          <a:solidFill>
            <a:srgbClr val="FF5178"/>
          </a:solidFill>
          <a:ln w="12700">
            <a:solidFill>
              <a:srgbClr val="FF5178"/>
            </a:solidFill>
            <a:prstDash val="solid"/>
          </a:ln>
        </p:spPr>
      </p:sp>
      <p:sp>
        <p:nvSpPr>
          <p:cNvPr id="4" name="Text 2"/>
          <p:cNvSpPr txBox="1"/>
          <p:nvPr/>
        </p:nvSpPr>
        <p:spPr>
          <a:xfrm>
            <a:off x="548640"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Deny</a:t>
            </a:r>
            <a:endParaRPr lang="en-US" sz="1900" dirty="0"/>
          </a:p>
        </p:txBody>
      </p:sp>
      <p:sp>
        <p:nvSpPr>
          <p:cNvPr id="5" name="Shape 3"/>
          <p:cNvSpPr/>
          <p:nvPr/>
        </p:nvSpPr>
        <p:spPr>
          <a:xfrm>
            <a:off x="548640" y="2560320"/>
            <a:ext cx="2651760" cy="2011680"/>
          </a:xfrm>
          <a:prstGeom prst="roundRect">
            <a:avLst>
              <a:gd name="adj" fmla="val 3636"/>
            </a:avLst>
          </a:prstGeom>
          <a:solidFill>
            <a:srgbClr val="22395F"/>
          </a:solidFill>
          <a:ln w="12700">
            <a:solidFill>
              <a:srgbClr val="22395F"/>
            </a:solidFill>
            <a:prstDash val="solid"/>
          </a:ln>
        </p:spPr>
      </p:sp>
      <p:sp>
        <p:nvSpPr>
          <p:cNvPr id="6" name="Text 4"/>
          <p:cNvSpPr txBox="1"/>
          <p:nvPr/>
        </p:nvSpPr>
        <p:spPr>
          <a:xfrm>
            <a:off x="685800"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Phủ nhận, chỉ ra người gây ra</a:t>
            </a:r>
            <a:endParaRPr lang="en-US" sz="1500" dirty="0"/>
          </a:p>
        </p:txBody>
      </p:sp>
      <p:sp>
        <p:nvSpPr>
          <p:cNvPr id="7" name="Text 5"/>
          <p:cNvSpPr txBox="1"/>
          <p:nvPr/>
        </p:nvSpPr>
        <p:spPr>
          <a:xfrm>
            <a:off x="685800"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Roboto" pitchFamily="34" charset="0"/>
                <a:ea typeface="Roboto" pitchFamily="34" charset="-122"/>
                <a:cs typeface="Roboto" pitchFamily="34" charset="-120"/>
              </a:rPr>
              <a:t>Hợp khi là tin đồn, thông tin sai</a:t>
            </a:r>
            <a:endParaRPr lang="en-US" sz="1350" dirty="0"/>
          </a:p>
        </p:txBody>
      </p:sp>
      <p:sp>
        <p:nvSpPr>
          <p:cNvPr id="8" name="Shape 6"/>
          <p:cNvSpPr/>
          <p:nvPr/>
        </p:nvSpPr>
        <p:spPr>
          <a:xfrm>
            <a:off x="3364992" y="1783080"/>
            <a:ext cx="2651760" cy="685800"/>
          </a:xfrm>
          <a:prstGeom prst="roundRect">
            <a:avLst>
              <a:gd name="adj" fmla="val 10667"/>
            </a:avLst>
          </a:prstGeom>
          <a:solidFill>
            <a:srgbClr val="FFD23B"/>
          </a:solidFill>
          <a:ln w="12700">
            <a:solidFill>
              <a:srgbClr val="FFD23B"/>
            </a:solidFill>
            <a:prstDash val="solid"/>
          </a:ln>
        </p:spPr>
      </p:sp>
      <p:sp>
        <p:nvSpPr>
          <p:cNvPr id="9" name="Text 7"/>
          <p:cNvSpPr txBox="1"/>
          <p:nvPr/>
        </p:nvSpPr>
        <p:spPr>
          <a:xfrm>
            <a:off x="3364992"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Diminish</a:t>
            </a:r>
            <a:endParaRPr lang="en-US" sz="1900" dirty="0"/>
          </a:p>
        </p:txBody>
      </p:sp>
      <p:sp>
        <p:nvSpPr>
          <p:cNvPr id="10" name="Shape 8"/>
          <p:cNvSpPr/>
          <p:nvPr/>
        </p:nvSpPr>
        <p:spPr>
          <a:xfrm>
            <a:off x="3364992" y="2560320"/>
            <a:ext cx="2651760" cy="2011680"/>
          </a:xfrm>
          <a:prstGeom prst="roundRect">
            <a:avLst>
              <a:gd name="adj" fmla="val 3636"/>
            </a:avLst>
          </a:prstGeom>
          <a:solidFill>
            <a:srgbClr val="22395F"/>
          </a:solidFill>
          <a:ln w="12700">
            <a:solidFill>
              <a:srgbClr val="22395F"/>
            </a:solidFill>
            <a:prstDash val="solid"/>
          </a:ln>
        </p:spPr>
      </p:sp>
      <p:sp>
        <p:nvSpPr>
          <p:cNvPr id="11" name="Text 9"/>
          <p:cNvSpPr txBox="1"/>
          <p:nvPr/>
        </p:nvSpPr>
        <p:spPr>
          <a:xfrm>
            <a:off x="3502152"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Bào chữa, giải thích, giảm mức nghiêm trọng</a:t>
            </a:r>
            <a:endParaRPr lang="en-US" sz="1500" dirty="0"/>
          </a:p>
        </p:txBody>
      </p:sp>
      <p:sp>
        <p:nvSpPr>
          <p:cNvPr id="12" name="Text 10"/>
          <p:cNvSpPr txBox="1"/>
          <p:nvPr/>
        </p:nvSpPr>
        <p:spPr>
          <a:xfrm>
            <a:off x="3502152"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Roboto" pitchFamily="34" charset="0"/>
                <a:ea typeface="Roboto" pitchFamily="34" charset="-122"/>
                <a:cs typeface="Roboto" pitchFamily="34" charset="-120"/>
              </a:rPr>
              <a:t>Hợp với nhóm tai nạn</a:t>
            </a:r>
            <a:endParaRPr lang="en-US" sz="1350" dirty="0"/>
          </a:p>
        </p:txBody>
      </p:sp>
      <p:sp>
        <p:nvSpPr>
          <p:cNvPr id="13" name="Shape 11"/>
          <p:cNvSpPr/>
          <p:nvPr/>
        </p:nvSpPr>
        <p:spPr>
          <a:xfrm>
            <a:off x="6181344" y="1783080"/>
            <a:ext cx="2651760" cy="685800"/>
          </a:xfrm>
          <a:prstGeom prst="roundRect">
            <a:avLst>
              <a:gd name="adj" fmla="val 10667"/>
            </a:avLst>
          </a:prstGeom>
          <a:solidFill>
            <a:srgbClr val="49B296"/>
          </a:solidFill>
          <a:ln w="12700">
            <a:solidFill>
              <a:srgbClr val="49B296"/>
            </a:solidFill>
            <a:prstDash val="solid"/>
          </a:ln>
        </p:spPr>
      </p:sp>
      <p:sp>
        <p:nvSpPr>
          <p:cNvPr id="14" name="Text 12"/>
          <p:cNvSpPr txBox="1"/>
          <p:nvPr/>
        </p:nvSpPr>
        <p:spPr>
          <a:xfrm>
            <a:off x="6181344"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Rebuild</a:t>
            </a:r>
            <a:endParaRPr lang="en-US" sz="1900" dirty="0"/>
          </a:p>
        </p:txBody>
      </p:sp>
      <p:sp>
        <p:nvSpPr>
          <p:cNvPr id="15" name="Shape 13"/>
          <p:cNvSpPr/>
          <p:nvPr/>
        </p:nvSpPr>
        <p:spPr>
          <a:xfrm>
            <a:off x="6181344" y="2560320"/>
            <a:ext cx="2651760" cy="2011680"/>
          </a:xfrm>
          <a:prstGeom prst="roundRect">
            <a:avLst>
              <a:gd name="adj" fmla="val 3636"/>
            </a:avLst>
          </a:prstGeom>
          <a:solidFill>
            <a:srgbClr val="22395F"/>
          </a:solidFill>
          <a:ln w="12700">
            <a:solidFill>
              <a:srgbClr val="22395F"/>
            </a:solidFill>
            <a:prstDash val="solid"/>
          </a:ln>
        </p:spPr>
      </p:sp>
      <p:sp>
        <p:nvSpPr>
          <p:cNvPr id="16" name="Text 14"/>
          <p:cNvSpPr txBox="1"/>
          <p:nvPr/>
        </p:nvSpPr>
        <p:spPr>
          <a:xfrm>
            <a:off x="6318504"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Xin lỗi, bồi thường, sửa sai</a:t>
            </a:r>
            <a:endParaRPr lang="en-US" sz="1500" dirty="0"/>
          </a:p>
        </p:txBody>
      </p:sp>
      <p:sp>
        <p:nvSpPr>
          <p:cNvPr id="17" name="Text 15"/>
          <p:cNvSpPr txBox="1"/>
          <p:nvPr/>
        </p:nvSpPr>
        <p:spPr>
          <a:xfrm>
            <a:off x="6318504"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Roboto" pitchFamily="34" charset="0"/>
                <a:ea typeface="Roboto" pitchFamily="34" charset="-122"/>
                <a:cs typeface="Roboto" pitchFamily="34" charset="-120"/>
              </a:rPr>
              <a:t>Cần khi trách nhiệm cao</a:t>
            </a:r>
            <a:endParaRPr lang="en-US" sz="1350" dirty="0"/>
          </a:p>
        </p:txBody>
      </p:sp>
      <p:sp>
        <p:nvSpPr>
          <p:cNvPr id="18" name="Shape 16"/>
          <p:cNvSpPr/>
          <p:nvPr/>
        </p:nvSpPr>
        <p:spPr>
          <a:xfrm>
            <a:off x="8997696" y="1783080"/>
            <a:ext cx="2651760" cy="685800"/>
          </a:xfrm>
          <a:prstGeom prst="roundRect">
            <a:avLst>
              <a:gd name="adj" fmla="val 10667"/>
            </a:avLst>
          </a:prstGeom>
          <a:solidFill>
            <a:srgbClr val="09A1E5"/>
          </a:solidFill>
          <a:ln w="12700">
            <a:solidFill>
              <a:srgbClr val="09A1E5"/>
            </a:solidFill>
            <a:prstDash val="solid"/>
          </a:ln>
        </p:spPr>
      </p:sp>
      <p:sp>
        <p:nvSpPr>
          <p:cNvPr id="19" name="Text 17"/>
          <p:cNvSpPr txBox="1"/>
          <p:nvPr/>
        </p:nvSpPr>
        <p:spPr>
          <a:xfrm>
            <a:off x="8997696"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Bolstering</a:t>
            </a:r>
            <a:endParaRPr lang="en-US" sz="1900" dirty="0"/>
          </a:p>
        </p:txBody>
      </p:sp>
      <p:sp>
        <p:nvSpPr>
          <p:cNvPr id="20" name="Shape 18"/>
          <p:cNvSpPr/>
          <p:nvPr/>
        </p:nvSpPr>
        <p:spPr>
          <a:xfrm>
            <a:off x="8997696" y="2560320"/>
            <a:ext cx="2651760" cy="2011680"/>
          </a:xfrm>
          <a:prstGeom prst="roundRect">
            <a:avLst>
              <a:gd name="adj" fmla="val 3636"/>
            </a:avLst>
          </a:prstGeom>
          <a:solidFill>
            <a:srgbClr val="22395F"/>
          </a:solidFill>
          <a:ln w="12700">
            <a:solidFill>
              <a:srgbClr val="22395F"/>
            </a:solidFill>
            <a:prstDash val="solid"/>
          </a:ln>
        </p:spPr>
      </p:sp>
      <p:sp>
        <p:nvSpPr>
          <p:cNvPr id="21" name="Text 19"/>
          <p:cNvSpPr txBox="1"/>
          <p:nvPr/>
        </p:nvSpPr>
        <p:spPr>
          <a:xfrm>
            <a:off x="9134856"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Nhắc việc tốt, tri ân, quan tâm người bị ảnh hưởng</a:t>
            </a:r>
            <a:endParaRPr lang="en-US" sz="1500" dirty="0"/>
          </a:p>
        </p:txBody>
      </p:sp>
      <p:sp>
        <p:nvSpPr>
          <p:cNvPr id="22" name="Text 20"/>
          <p:cNvSpPr txBox="1"/>
          <p:nvPr/>
        </p:nvSpPr>
        <p:spPr>
          <a:xfrm>
            <a:off x="9134856"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Roboto" pitchFamily="34" charset="0"/>
                <a:ea typeface="Roboto" pitchFamily="34" charset="-122"/>
                <a:cs typeface="Roboto" pitchFamily="34" charset="-120"/>
              </a:rPr>
              <a:t>Bổ trợ cho các cách trên</a:t>
            </a:r>
            <a:endParaRPr lang="en-US" sz="1350" dirty="0"/>
          </a:p>
        </p:txBody>
      </p:sp>
      <p:sp>
        <p:nvSpPr>
          <p:cNvPr id="23" name="Shape 21"/>
          <p:cNvSpPr/>
          <p:nvPr/>
        </p:nvSpPr>
        <p:spPr>
          <a:xfrm>
            <a:off x="548640" y="4754880"/>
            <a:ext cx="11091672" cy="960120"/>
          </a:xfrm>
          <a:prstGeom prst="roundRect">
            <a:avLst>
              <a:gd name="adj" fmla="val 7619"/>
            </a:avLst>
          </a:prstGeom>
          <a:solidFill>
            <a:srgbClr val="FFD23B"/>
          </a:solidFill>
          <a:ln w="12700">
            <a:solidFill>
              <a:srgbClr val="FFD23B"/>
            </a:solidFill>
            <a:prstDash val="solid"/>
          </a:ln>
        </p:spPr>
      </p:sp>
      <p:sp>
        <p:nvSpPr>
          <p:cNvPr id="24" name="Text 22"/>
          <p:cNvSpPr txBox="1"/>
          <p:nvPr/>
        </p:nvSpPr>
        <p:spPr>
          <a:xfrm>
            <a:off x="777240" y="4754880"/>
            <a:ext cx="10698480" cy="9601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Môn PR (Bài 6): “nói sớm và nói sự thật” — không nói dối, chối bỏ, che giấu. Phủ nhận chỉ dùng khi thông tin thật sự sai.</a:t>
            </a:r>
            <a:endParaRPr lang="en-US" sz="1600" dirty="0"/>
          </a:p>
        </p:txBody>
      </p:sp>
      <p:sp>
        <p:nvSpPr>
          <p:cNvPr id="25"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Coombs (2007) (Y08); slide môn PR trong TCSK, Bài 6 (Y12).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Ma trận phản hồi: mỗi đối tượng một thông điệp, một kênh, một người nói</a:t>
            </a:r>
            <a:endParaRPr lang="en-US" sz="2800" dirty="0"/>
          </a:p>
        </p:txBody>
      </p:sp>
      <p:sp>
        <p:nvSpPr>
          <p:cNvPr id="3" name="Shape 1"/>
          <p:cNvSpPr/>
          <p:nvPr/>
        </p:nvSpPr>
        <p:spPr>
          <a:xfrm>
            <a:off x="548640" y="1783080"/>
            <a:ext cx="22311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04825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Đối tượng</a:t>
            </a:r>
            <a:endParaRPr lang="en-US" sz="1300" dirty="0"/>
          </a:p>
        </p:txBody>
      </p:sp>
      <p:sp>
        <p:nvSpPr>
          <p:cNvPr id="5" name="Shape 3"/>
          <p:cNvSpPr/>
          <p:nvPr/>
        </p:nvSpPr>
        <p:spPr>
          <a:xfrm>
            <a:off x="2834640" y="1783080"/>
            <a:ext cx="32369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926080" y="1783080"/>
            <a:ext cx="305409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Thông điệp chính</a:t>
            </a:r>
            <a:endParaRPr lang="en-US" sz="1300" dirty="0"/>
          </a:p>
        </p:txBody>
      </p:sp>
      <p:sp>
        <p:nvSpPr>
          <p:cNvPr id="7" name="Shape 5"/>
          <p:cNvSpPr/>
          <p:nvPr/>
        </p:nvSpPr>
        <p:spPr>
          <a:xfrm>
            <a:off x="6126480" y="1783080"/>
            <a:ext cx="213969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6217920" y="1783080"/>
            <a:ext cx="195681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Kênh</a:t>
            </a:r>
            <a:endParaRPr lang="en-US" sz="1300" dirty="0"/>
          </a:p>
        </p:txBody>
      </p:sp>
      <p:sp>
        <p:nvSpPr>
          <p:cNvPr id="9" name="Shape 7"/>
          <p:cNvSpPr/>
          <p:nvPr/>
        </p:nvSpPr>
        <p:spPr>
          <a:xfrm>
            <a:off x="8321040" y="1783080"/>
            <a:ext cx="1408176" cy="548640"/>
          </a:xfrm>
          <a:prstGeom prst="roundRect">
            <a:avLst>
              <a:gd name="adj" fmla="val 13333"/>
            </a:avLst>
          </a:prstGeom>
          <a:solidFill>
            <a:srgbClr val="FF9259"/>
          </a:solidFill>
          <a:ln w="12700">
            <a:solidFill>
              <a:srgbClr val="FF9259"/>
            </a:solidFill>
            <a:prstDash val="solid"/>
          </a:ln>
        </p:spPr>
      </p:sp>
      <p:sp>
        <p:nvSpPr>
          <p:cNvPr id="10" name="Text 8"/>
          <p:cNvSpPr txBox="1"/>
          <p:nvPr/>
        </p:nvSpPr>
        <p:spPr>
          <a:xfrm>
            <a:off x="8412480" y="1783080"/>
            <a:ext cx="122529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Khi nào</a:t>
            </a:r>
            <a:endParaRPr lang="en-US" sz="1300" dirty="0"/>
          </a:p>
        </p:txBody>
      </p:sp>
      <p:sp>
        <p:nvSpPr>
          <p:cNvPr id="11" name="Shape 9"/>
          <p:cNvSpPr/>
          <p:nvPr/>
        </p:nvSpPr>
        <p:spPr>
          <a:xfrm>
            <a:off x="9784080" y="1783080"/>
            <a:ext cx="1801368" cy="548640"/>
          </a:xfrm>
          <a:prstGeom prst="roundRect">
            <a:avLst>
              <a:gd name="adj" fmla="val 13333"/>
            </a:avLst>
          </a:prstGeom>
          <a:solidFill>
            <a:srgbClr val="FF5178"/>
          </a:solidFill>
          <a:ln w="12700">
            <a:solidFill>
              <a:srgbClr val="FF5178"/>
            </a:solidFill>
            <a:prstDash val="solid"/>
          </a:ln>
        </p:spPr>
      </p:sp>
      <p:sp>
        <p:nvSpPr>
          <p:cNvPr id="12" name="Text 10"/>
          <p:cNvSpPr txBox="1"/>
          <p:nvPr/>
        </p:nvSpPr>
        <p:spPr>
          <a:xfrm>
            <a:off x="9875520" y="1783080"/>
            <a:ext cx="1618488"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Ai nói</a:t>
            </a:r>
            <a:endParaRPr lang="en-US" sz="1300" dirty="0"/>
          </a:p>
        </p:txBody>
      </p:sp>
      <p:sp>
        <p:nvSpPr>
          <p:cNvPr id="13" name="Shape 11"/>
          <p:cNvSpPr/>
          <p:nvPr/>
        </p:nvSpPr>
        <p:spPr>
          <a:xfrm>
            <a:off x="548640" y="2404872"/>
            <a:ext cx="2231136" cy="566928"/>
          </a:xfrm>
          <a:prstGeom prst="roundRect">
            <a:avLst>
              <a:gd name="adj" fmla="val 12903"/>
            </a:avLst>
          </a:prstGeom>
          <a:solidFill>
            <a:srgbClr val="FFD23B"/>
          </a:solidFill>
          <a:ln w="12700">
            <a:solidFill>
              <a:srgbClr val="FFD23B"/>
            </a:solidFill>
            <a:prstDash val="solid"/>
          </a:ln>
        </p:spPr>
      </p:sp>
      <p:sp>
        <p:nvSpPr>
          <p:cNvPr id="14" name="Text 12"/>
          <p:cNvSpPr txBox="1"/>
          <p:nvPr/>
        </p:nvSpPr>
        <p:spPr>
          <a:xfrm>
            <a:off x="658368" y="240487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600 khách</a:t>
            </a:r>
            <a:endParaRPr lang="en-US" sz="1300" dirty="0"/>
          </a:p>
        </p:txBody>
      </p:sp>
      <p:sp>
        <p:nvSpPr>
          <p:cNvPr id="15" name="Shape 13"/>
          <p:cNvSpPr/>
          <p:nvPr/>
        </p:nvSpPr>
        <p:spPr>
          <a:xfrm>
            <a:off x="2834640" y="2404872"/>
            <a:ext cx="3236976" cy="566928"/>
          </a:xfrm>
          <a:prstGeom prst="roundRect">
            <a:avLst>
              <a:gd name="adj" fmla="val 12903"/>
            </a:avLst>
          </a:prstGeom>
          <a:solidFill>
            <a:srgbClr val="22395F"/>
          </a:solidFill>
          <a:ln w="12700">
            <a:solidFill>
              <a:srgbClr val="22395F"/>
            </a:solidFill>
            <a:prstDash val="solid"/>
          </a:ln>
        </p:spPr>
      </p:sp>
      <p:sp>
        <p:nvSpPr>
          <p:cNvPr id="16" name="Text 14"/>
          <p:cNvSpPr txBox="1"/>
          <p:nvPr/>
        </p:nvSpPr>
        <p:spPr>
          <a:xfrm>
            <a:off x="2944368" y="240487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Chuyện gì, ảnh hưởng gì đến họ, An Phát làm gì</a:t>
            </a:r>
            <a:endParaRPr lang="en-US" sz="1300" dirty="0"/>
          </a:p>
        </p:txBody>
      </p:sp>
      <p:sp>
        <p:nvSpPr>
          <p:cNvPr id="17" name="Shape 15"/>
          <p:cNvSpPr/>
          <p:nvPr/>
        </p:nvSpPr>
        <p:spPr>
          <a:xfrm>
            <a:off x="6126480" y="2404872"/>
            <a:ext cx="2139696"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6236208" y="240487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Thư, tin nhắn riêng</a:t>
            </a:r>
            <a:endParaRPr lang="en-US" sz="1300" dirty="0"/>
          </a:p>
        </p:txBody>
      </p:sp>
      <p:sp>
        <p:nvSpPr>
          <p:cNvPr id="19" name="Shape 17"/>
          <p:cNvSpPr/>
          <p:nvPr/>
        </p:nvSpPr>
        <p:spPr>
          <a:xfrm>
            <a:off x="8321040" y="2404872"/>
            <a:ext cx="1408176" cy="566928"/>
          </a:xfrm>
          <a:prstGeom prst="roundRect">
            <a:avLst>
              <a:gd name="adj" fmla="val 12903"/>
            </a:avLst>
          </a:prstGeom>
          <a:solidFill>
            <a:srgbClr val="22395F"/>
          </a:solidFill>
          <a:ln w="12700">
            <a:solidFill>
              <a:srgbClr val="22395F"/>
            </a:solidFill>
            <a:prstDash val="solid"/>
          </a:ln>
        </p:spPr>
      </p:sp>
      <p:sp>
        <p:nvSpPr>
          <p:cNvPr id="20" name="Text 18"/>
          <p:cNvSpPr txBox="1"/>
          <p:nvPr/>
        </p:nvSpPr>
        <p:spPr>
          <a:xfrm>
            <a:off x="8430768" y="240487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Sớm nhất</a:t>
            </a:r>
            <a:endParaRPr lang="en-US" sz="1300" dirty="0"/>
          </a:p>
        </p:txBody>
      </p:sp>
      <p:sp>
        <p:nvSpPr>
          <p:cNvPr id="21" name="Shape 19"/>
          <p:cNvSpPr/>
          <p:nvPr/>
        </p:nvSpPr>
        <p:spPr>
          <a:xfrm>
            <a:off x="9784080" y="2404872"/>
            <a:ext cx="1801368" cy="566928"/>
          </a:xfrm>
          <a:prstGeom prst="roundRect">
            <a:avLst>
              <a:gd name="adj" fmla="val 12903"/>
            </a:avLst>
          </a:prstGeom>
          <a:solidFill>
            <a:srgbClr val="22395F"/>
          </a:solidFill>
          <a:ln w="12700">
            <a:solidFill>
              <a:srgbClr val="22395F"/>
            </a:solidFill>
            <a:prstDash val="solid"/>
          </a:ln>
        </p:spPr>
      </p:sp>
      <p:sp>
        <p:nvSpPr>
          <p:cNvPr id="22" name="Text 20"/>
          <p:cNvSpPr txBox="1"/>
          <p:nvPr/>
        </p:nvSpPr>
        <p:spPr>
          <a:xfrm>
            <a:off x="9893808" y="240487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An Phát</a:t>
            </a:r>
            <a:endParaRPr lang="en-US" sz="1300" dirty="0"/>
          </a:p>
        </p:txBody>
      </p:sp>
      <p:sp>
        <p:nvSpPr>
          <p:cNvPr id="23" name="Shape 21"/>
          <p:cNvSpPr/>
          <p:nvPr/>
        </p:nvSpPr>
        <p:spPr>
          <a:xfrm>
            <a:off x="548640" y="3044952"/>
            <a:ext cx="2231136" cy="566928"/>
          </a:xfrm>
          <a:prstGeom prst="roundRect">
            <a:avLst>
              <a:gd name="adj" fmla="val 12903"/>
            </a:avLst>
          </a:prstGeom>
          <a:solidFill>
            <a:srgbClr val="FFD23B"/>
          </a:solidFill>
          <a:ln w="12700">
            <a:solidFill>
              <a:srgbClr val="FFD23B"/>
            </a:solidFill>
            <a:prstDash val="solid"/>
          </a:ln>
        </p:spPr>
      </p:sp>
      <p:sp>
        <p:nvSpPr>
          <p:cNvPr id="24" name="Text 22"/>
          <p:cNvSpPr txBox="1"/>
          <p:nvPr/>
        </p:nvSpPr>
        <p:spPr>
          <a:xfrm>
            <a:off x="658368" y="304495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Nhà tài trợ</a:t>
            </a:r>
            <a:endParaRPr lang="en-US" sz="1300" dirty="0"/>
          </a:p>
        </p:txBody>
      </p:sp>
      <p:sp>
        <p:nvSpPr>
          <p:cNvPr id="25" name="Shape 23"/>
          <p:cNvSpPr/>
          <p:nvPr/>
        </p:nvSpPr>
        <p:spPr>
          <a:xfrm>
            <a:off x="2834640" y="3044952"/>
            <a:ext cx="3236976" cy="566928"/>
          </a:xfrm>
          <a:prstGeom prst="roundRect">
            <a:avLst>
              <a:gd name="adj" fmla="val 12903"/>
            </a:avLst>
          </a:prstGeom>
          <a:solidFill>
            <a:srgbClr val="22395F"/>
          </a:solidFill>
          <a:ln w="12700">
            <a:solidFill>
              <a:srgbClr val="22395F"/>
            </a:solidFill>
            <a:prstDash val="solid"/>
          </a:ln>
        </p:spPr>
      </p:sp>
      <p:sp>
        <p:nvSpPr>
          <p:cNvPr id="26" name="Text 24"/>
          <p:cNvSpPr txBox="1"/>
          <p:nvPr/>
        </p:nvSpPr>
        <p:spPr>
          <a:xfrm>
            <a:off x="2944368" y="304495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Ảnh hưởng đến quyền lợi; phương án bù</a:t>
            </a:r>
            <a:endParaRPr lang="en-US" sz="1300" dirty="0"/>
          </a:p>
        </p:txBody>
      </p:sp>
      <p:sp>
        <p:nvSpPr>
          <p:cNvPr id="27" name="Shape 25"/>
          <p:cNvSpPr/>
          <p:nvPr/>
        </p:nvSpPr>
        <p:spPr>
          <a:xfrm>
            <a:off x="6126480" y="3044952"/>
            <a:ext cx="2139696" cy="566928"/>
          </a:xfrm>
          <a:prstGeom prst="roundRect">
            <a:avLst>
              <a:gd name="adj" fmla="val 12903"/>
            </a:avLst>
          </a:prstGeom>
          <a:solidFill>
            <a:srgbClr val="22395F"/>
          </a:solidFill>
          <a:ln w="12700">
            <a:solidFill>
              <a:srgbClr val="22395F"/>
            </a:solidFill>
            <a:prstDash val="solid"/>
          </a:ln>
        </p:spPr>
      </p:sp>
      <p:sp>
        <p:nvSpPr>
          <p:cNvPr id="28" name="Text 26"/>
          <p:cNvSpPr txBox="1"/>
          <p:nvPr/>
        </p:nvSpPr>
        <p:spPr>
          <a:xfrm>
            <a:off x="6236208" y="304495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Gọi trực tiếp</a:t>
            </a:r>
            <a:endParaRPr lang="en-US" sz="1300" dirty="0"/>
          </a:p>
        </p:txBody>
      </p:sp>
      <p:sp>
        <p:nvSpPr>
          <p:cNvPr id="29" name="Shape 27"/>
          <p:cNvSpPr/>
          <p:nvPr/>
        </p:nvSpPr>
        <p:spPr>
          <a:xfrm>
            <a:off x="8321040" y="3044952"/>
            <a:ext cx="1408176" cy="566928"/>
          </a:xfrm>
          <a:prstGeom prst="roundRect">
            <a:avLst>
              <a:gd name="adj" fmla="val 12903"/>
            </a:avLst>
          </a:prstGeom>
          <a:solidFill>
            <a:srgbClr val="22395F"/>
          </a:solidFill>
          <a:ln w="12700">
            <a:solidFill>
              <a:srgbClr val="22395F"/>
            </a:solidFill>
            <a:prstDash val="solid"/>
          </a:ln>
        </p:spPr>
      </p:sp>
      <p:sp>
        <p:nvSpPr>
          <p:cNvPr id="30" name="Text 28"/>
          <p:cNvSpPr txBox="1"/>
          <p:nvPr/>
        </p:nvSpPr>
        <p:spPr>
          <a:xfrm>
            <a:off x="8430768" y="304495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Trước khi công bố</a:t>
            </a:r>
            <a:endParaRPr lang="en-US" sz="1300" dirty="0"/>
          </a:p>
        </p:txBody>
      </p:sp>
      <p:sp>
        <p:nvSpPr>
          <p:cNvPr id="31" name="Shape 29"/>
          <p:cNvSpPr/>
          <p:nvPr/>
        </p:nvSpPr>
        <p:spPr>
          <a:xfrm>
            <a:off x="9784080" y="3044952"/>
            <a:ext cx="1801368" cy="566928"/>
          </a:xfrm>
          <a:prstGeom prst="roundRect">
            <a:avLst>
              <a:gd name="adj" fmla="val 12903"/>
            </a:avLst>
          </a:prstGeom>
          <a:solidFill>
            <a:srgbClr val="22395F"/>
          </a:solidFill>
          <a:ln w="12700">
            <a:solidFill>
              <a:srgbClr val="22395F"/>
            </a:solidFill>
            <a:prstDash val="solid"/>
          </a:ln>
        </p:spPr>
      </p:sp>
      <p:sp>
        <p:nvSpPr>
          <p:cNvPr id="32" name="Text 30"/>
          <p:cNvSpPr txBox="1"/>
          <p:nvPr/>
        </p:nvSpPr>
        <p:spPr>
          <a:xfrm>
            <a:off x="9893808" y="304495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An Phát + Nova</a:t>
            </a:r>
            <a:endParaRPr lang="en-US" sz="1300" dirty="0"/>
          </a:p>
        </p:txBody>
      </p:sp>
      <p:sp>
        <p:nvSpPr>
          <p:cNvPr id="33" name="Shape 31"/>
          <p:cNvSpPr/>
          <p:nvPr/>
        </p:nvSpPr>
        <p:spPr>
          <a:xfrm>
            <a:off x="548640" y="3685032"/>
            <a:ext cx="2231136" cy="566928"/>
          </a:xfrm>
          <a:prstGeom prst="roundRect">
            <a:avLst>
              <a:gd name="adj" fmla="val 12903"/>
            </a:avLst>
          </a:prstGeom>
          <a:solidFill>
            <a:srgbClr val="FFD23B"/>
          </a:solidFill>
          <a:ln w="12700">
            <a:solidFill>
              <a:srgbClr val="FFD23B"/>
            </a:solidFill>
            <a:prstDash val="solid"/>
          </a:ln>
        </p:spPr>
      </p:sp>
      <p:sp>
        <p:nvSpPr>
          <p:cNvPr id="34" name="Text 32"/>
          <p:cNvSpPr txBox="1"/>
          <p:nvPr/>
        </p:nvSpPr>
        <p:spPr>
          <a:xfrm>
            <a:off x="658368" y="368503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Nhà cung cấp</a:t>
            </a:r>
            <a:endParaRPr lang="en-US" sz="1300" dirty="0"/>
          </a:p>
        </p:txBody>
      </p:sp>
      <p:sp>
        <p:nvSpPr>
          <p:cNvPr id="35" name="Shape 33"/>
          <p:cNvSpPr/>
          <p:nvPr/>
        </p:nvSpPr>
        <p:spPr>
          <a:xfrm>
            <a:off x="2834640" y="3685032"/>
            <a:ext cx="3236976" cy="566928"/>
          </a:xfrm>
          <a:prstGeom prst="roundRect">
            <a:avLst>
              <a:gd name="adj" fmla="val 12903"/>
            </a:avLst>
          </a:prstGeom>
          <a:solidFill>
            <a:srgbClr val="22395F"/>
          </a:solidFill>
          <a:ln w="12700">
            <a:solidFill>
              <a:srgbClr val="22395F"/>
            </a:solidFill>
            <a:prstDash val="solid"/>
          </a:ln>
        </p:spPr>
      </p:sp>
      <p:sp>
        <p:nvSpPr>
          <p:cNvPr id="36" name="Text 34"/>
          <p:cNvSpPr txBox="1"/>
          <p:nvPr/>
        </p:nvSpPr>
        <p:spPr>
          <a:xfrm>
            <a:off x="2944368" y="368503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Thay đổi yêu cầu, lịch (cập nhật ESG)</a:t>
            </a:r>
            <a:endParaRPr lang="en-US" sz="1300" dirty="0"/>
          </a:p>
        </p:txBody>
      </p:sp>
      <p:sp>
        <p:nvSpPr>
          <p:cNvPr id="37" name="Shape 35"/>
          <p:cNvSpPr/>
          <p:nvPr/>
        </p:nvSpPr>
        <p:spPr>
          <a:xfrm>
            <a:off x="6126480" y="3685032"/>
            <a:ext cx="2139696" cy="566928"/>
          </a:xfrm>
          <a:prstGeom prst="roundRect">
            <a:avLst>
              <a:gd name="adj" fmla="val 12903"/>
            </a:avLst>
          </a:prstGeom>
          <a:solidFill>
            <a:srgbClr val="22395F"/>
          </a:solidFill>
          <a:ln w="12700">
            <a:solidFill>
              <a:srgbClr val="22395F"/>
            </a:solidFill>
            <a:prstDash val="solid"/>
          </a:ln>
        </p:spPr>
      </p:sp>
      <p:sp>
        <p:nvSpPr>
          <p:cNvPr id="38" name="Text 36"/>
          <p:cNvSpPr txBox="1"/>
          <p:nvPr/>
        </p:nvSpPr>
        <p:spPr>
          <a:xfrm>
            <a:off x="6236208" y="368503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ESG, họp nhanh</a:t>
            </a:r>
            <a:endParaRPr lang="en-US" sz="1300" dirty="0"/>
          </a:p>
        </p:txBody>
      </p:sp>
      <p:sp>
        <p:nvSpPr>
          <p:cNvPr id="39" name="Shape 37"/>
          <p:cNvSpPr/>
          <p:nvPr/>
        </p:nvSpPr>
        <p:spPr>
          <a:xfrm>
            <a:off x="8321040" y="3685032"/>
            <a:ext cx="1408176" cy="566928"/>
          </a:xfrm>
          <a:prstGeom prst="roundRect">
            <a:avLst>
              <a:gd name="adj" fmla="val 12903"/>
            </a:avLst>
          </a:prstGeom>
          <a:solidFill>
            <a:srgbClr val="22395F"/>
          </a:solidFill>
          <a:ln w="12700">
            <a:solidFill>
              <a:srgbClr val="22395F"/>
            </a:solidFill>
            <a:prstDash val="solid"/>
          </a:ln>
        </p:spPr>
      </p:sp>
      <p:sp>
        <p:nvSpPr>
          <p:cNvPr id="40" name="Text 38"/>
          <p:cNvSpPr txBox="1"/>
          <p:nvPr/>
        </p:nvSpPr>
        <p:spPr>
          <a:xfrm>
            <a:off x="8430768" y="368503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Ngay</a:t>
            </a:r>
            <a:endParaRPr lang="en-US" sz="1300" dirty="0"/>
          </a:p>
        </p:txBody>
      </p:sp>
      <p:sp>
        <p:nvSpPr>
          <p:cNvPr id="41" name="Shape 39"/>
          <p:cNvSpPr/>
          <p:nvPr/>
        </p:nvSpPr>
        <p:spPr>
          <a:xfrm>
            <a:off x="9784080" y="3685032"/>
            <a:ext cx="1801368" cy="566928"/>
          </a:xfrm>
          <a:prstGeom prst="roundRect">
            <a:avLst>
              <a:gd name="adj" fmla="val 12903"/>
            </a:avLst>
          </a:prstGeom>
          <a:solidFill>
            <a:srgbClr val="22395F"/>
          </a:solidFill>
          <a:ln w="12700">
            <a:solidFill>
              <a:srgbClr val="22395F"/>
            </a:solidFill>
            <a:prstDash val="solid"/>
          </a:ln>
        </p:spPr>
      </p:sp>
      <p:sp>
        <p:nvSpPr>
          <p:cNvPr id="42" name="Text 40"/>
          <p:cNvSpPr txBox="1"/>
          <p:nvPr/>
        </p:nvSpPr>
        <p:spPr>
          <a:xfrm>
            <a:off x="9893808" y="368503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Nova</a:t>
            </a:r>
            <a:endParaRPr lang="en-US" sz="1300" dirty="0"/>
          </a:p>
        </p:txBody>
      </p:sp>
      <p:sp>
        <p:nvSpPr>
          <p:cNvPr id="43" name="Shape 41"/>
          <p:cNvSpPr/>
          <p:nvPr/>
        </p:nvSpPr>
        <p:spPr>
          <a:xfrm>
            <a:off x="548640" y="4325112"/>
            <a:ext cx="2231136" cy="566928"/>
          </a:xfrm>
          <a:prstGeom prst="roundRect">
            <a:avLst>
              <a:gd name="adj" fmla="val 12903"/>
            </a:avLst>
          </a:prstGeom>
          <a:solidFill>
            <a:srgbClr val="FFD23B"/>
          </a:solidFill>
          <a:ln w="12700">
            <a:solidFill>
              <a:srgbClr val="FFD23B"/>
            </a:solidFill>
            <a:prstDash val="solid"/>
          </a:ln>
        </p:spPr>
      </p:sp>
      <p:sp>
        <p:nvSpPr>
          <p:cNvPr id="44" name="Text 42"/>
          <p:cNvSpPr txBox="1"/>
          <p:nvPr/>
        </p:nvSpPr>
        <p:spPr>
          <a:xfrm>
            <a:off x="658368" y="432511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Roboto" pitchFamily="34" charset="0"/>
                <a:ea typeface="Roboto" pitchFamily="34" charset="-122"/>
                <a:cs typeface="Roboto" pitchFamily="34" charset="-120"/>
              </a:rPr>
              <a:t>Báo chí</a:t>
            </a:r>
            <a:endParaRPr lang="en-US" sz="1300" dirty="0"/>
          </a:p>
        </p:txBody>
      </p:sp>
      <p:sp>
        <p:nvSpPr>
          <p:cNvPr id="45" name="Shape 43"/>
          <p:cNvSpPr/>
          <p:nvPr/>
        </p:nvSpPr>
        <p:spPr>
          <a:xfrm>
            <a:off x="2834640" y="4325112"/>
            <a:ext cx="3236976" cy="566928"/>
          </a:xfrm>
          <a:prstGeom prst="roundRect">
            <a:avLst>
              <a:gd name="adj" fmla="val 12903"/>
            </a:avLst>
          </a:prstGeom>
          <a:solidFill>
            <a:srgbClr val="22395F"/>
          </a:solidFill>
          <a:ln w="12700">
            <a:solidFill>
              <a:srgbClr val="22395F"/>
            </a:solidFill>
            <a:prstDash val="solid"/>
          </a:ln>
        </p:spPr>
      </p:sp>
      <p:sp>
        <p:nvSpPr>
          <p:cNvPr id="46" name="Text 44"/>
          <p:cNvSpPr txBox="1"/>
          <p:nvPr/>
        </p:nvSpPr>
        <p:spPr>
          <a:xfrm>
            <a:off x="2944368" y="432511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Thông tin đã xác minh</a:t>
            </a:r>
            <a:endParaRPr lang="en-US" sz="1300" dirty="0"/>
          </a:p>
        </p:txBody>
      </p:sp>
      <p:sp>
        <p:nvSpPr>
          <p:cNvPr id="47" name="Shape 45"/>
          <p:cNvSpPr/>
          <p:nvPr/>
        </p:nvSpPr>
        <p:spPr>
          <a:xfrm>
            <a:off x="6126480" y="4325112"/>
            <a:ext cx="2139696" cy="566928"/>
          </a:xfrm>
          <a:prstGeom prst="roundRect">
            <a:avLst>
              <a:gd name="adj" fmla="val 12903"/>
            </a:avLst>
          </a:prstGeom>
          <a:solidFill>
            <a:srgbClr val="22395F"/>
          </a:solidFill>
          <a:ln w="12700">
            <a:solidFill>
              <a:srgbClr val="22395F"/>
            </a:solidFill>
            <a:prstDash val="solid"/>
          </a:ln>
        </p:spPr>
      </p:sp>
      <p:sp>
        <p:nvSpPr>
          <p:cNvPr id="48" name="Text 46"/>
          <p:cNvSpPr txBox="1"/>
          <p:nvPr/>
        </p:nvSpPr>
        <p:spPr>
          <a:xfrm>
            <a:off x="6236208" y="432511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Thông cáo, trả lời phỏng vấn</a:t>
            </a:r>
            <a:endParaRPr lang="en-US" sz="1300" dirty="0"/>
          </a:p>
        </p:txBody>
      </p:sp>
      <p:sp>
        <p:nvSpPr>
          <p:cNvPr id="49" name="Shape 47"/>
          <p:cNvSpPr/>
          <p:nvPr/>
        </p:nvSpPr>
        <p:spPr>
          <a:xfrm>
            <a:off x="8321040" y="4325112"/>
            <a:ext cx="1408176" cy="566928"/>
          </a:xfrm>
          <a:prstGeom prst="roundRect">
            <a:avLst>
              <a:gd name="adj" fmla="val 12903"/>
            </a:avLst>
          </a:prstGeom>
          <a:solidFill>
            <a:srgbClr val="22395F"/>
          </a:solidFill>
          <a:ln w="12700">
            <a:solidFill>
              <a:srgbClr val="22395F"/>
            </a:solidFill>
            <a:prstDash val="solid"/>
          </a:ln>
        </p:spPr>
      </p:sp>
      <p:sp>
        <p:nvSpPr>
          <p:cNvPr id="50" name="Text 48"/>
          <p:cNvSpPr txBox="1"/>
          <p:nvPr/>
        </p:nvSpPr>
        <p:spPr>
          <a:xfrm>
            <a:off x="8430768" y="432511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Khi có thông tin</a:t>
            </a:r>
            <a:endParaRPr lang="en-US" sz="1300" dirty="0"/>
          </a:p>
        </p:txBody>
      </p:sp>
      <p:sp>
        <p:nvSpPr>
          <p:cNvPr id="51" name="Shape 49"/>
          <p:cNvSpPr/>
          <p:nvPr/>
        </p:nvSpPr>
        <p:spPr>
          <a:xfrm>
            <a:off x="9784080" y="4325112"/>
            <a:ext cx="1801368" cy="566928"/>
          </a:xfrm>
          <a:prstGeom prst="roundRect">
            <a:avLst>
              <a:gd name="adj" fmla="val 12903"/>
            </a:avLst>
          </a:prstGeom>
          <a:solidFill>
            <a:srgbClr val="22395F"/>
          </a:solidFill>
          <a:ln w="12700">
            <a:solidFill>
              <a:srgbClr val="22395F"/>
            </a:solidFill>
            <a:prstDash val="solid"/>
          </a:ln>
        </p:spPr>
      </p:sp>
      <p:sp>
        <p:nvSpPr>
          <p:cNvPr id="52" name="Text 50"/>
          <p:cNvSpPr txBox="1"/>
          <p:nvPr/>
        </p:nvSpPr>
        <p:spPr>
          <a:xfrm>
            <a:off x="9893808" y="432511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Roboto" pitchFamily="34" charset="0"/>
                <a:ea typeface="Roboto" pitchFamily="34" charset="-122"/>
                <a:cs typeface="Roboto" pitchFamily="34" charset="-120"/>
              </a:rPr>
              <a:t>Người phát ngôn An Phát</a:t>
            </a:r>
            <a:endParaRPr lang="en-US" sz="1300" dirty="0"/>
          </a:p>
        </p:txBody>
      </p:sp>
      <p:sp>
        <p:nvSpPr>
          <p:cNvPr id="53" name="Shape 51"/>
          <p:cNvSpPr/>
          <p:nvPr/>
        </p:nvSpPr>
        <p:spPr>
          <a:xfrm>
            <a:off x="548640" y="5166360"/>
            <a:ext cx="11091672" cy="548640"/>
          </a:xfrm>
          <a:prstGeom prst="roundRect">
            <a:avLst>
              <a:gd name="adj" fmla="val 13333"/>
            </a:avLst>
          </a:prstGeom>
          <a:solidFill>
            <a:srgbClr val="22395F"/>
          </a:solidFill>
          <a:ln w="12700">
            <a:solidFill>
              <a:srgbClr val="22395F"/>
            </a:solidFill>
            <a:prstDash val="solid"/>
          </a:ln>
        </p:spPr>
      </p:sp>
      <p:sp>
        <p:nvSpPr>
          <p:cNvPr id="54" name="Text 52"/>
          <p:cNvSpPr txBox="1"/>
          <p:nvPr/>
        </p:nvSpPr>
        <p:spPr>
          <a:xfrm>
            <a:off x="777240" y="5166360"/>
            <a:ext cx="1069848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Nova soạn ma trận và bản nháp — An Phát quyết và phát ngôn.</a:t>
            </a:r>
            <a:endParaRPr lang="en-US" sz="1600" dirty="0"/>
          </a:p>
        </p:txBody>
      </p:sp>
      <p:sp>
        <p:nvSpPr>
          <p:cNvPr id="55" name="Text 5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Khung: slide môn PR trong TCSK, Bài 6 — ma trận đối tượng × thông điệp × phương tiện × thời gian × người phát ngôn (Y12). Nội dung gala: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Khi một đối tác gây sự cố: Nova xác minh và khuyến nghị — Key Account quyết</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Nova làm</a:t>
            </a:r>
            <a:endParaRPr lang="en-US" sz="1800" dirty="0"/>
          </a:p>
        </p:txBody>
      </p:sp>
      <p:sp>
        <p:nvSpPr>
          <p:cNvPr id="5" name="Text 3"/>
          <p:cNvSpPr txBox="1"/>
          <p:nvPr/>
        </p:nvSpPr>
        <p:spPr>
          <a:xfrm>
            <a:off x="777240" y="2423160"/>
            <a:ext cx="5029200" cy="32004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Xác minh sự việc, không phản ứng theo tin đồn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Giữ deliverables: diễn giả dự phòng, đổi kịch bản</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Đưa phương án và khuyến nghị mức phản hồi</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Ghi vào báo cáo sau sự kiện (Buổi 8)</a:t>
            </a:r>
            <a:endParaRPr lang="en-US" sz="1600" dirty="0"/>
          </a:p>
        </p:txBody>
      </p:sp>
      <p:sp>
        <p:nvSpPr>
          <p:cNvPr id="6" name="Shape 4"/>
          <p:cNvSpPr/>
          <p:nvPr/>
        </p:nvSpPr>
        <p:spPr>
          <a:xfrm>
            <a:off x="6263640" y="1783080"/>
            <a:ext cx="5376672" cy="2103120"/>
          </a:xfrm>
          <a:prstGeom prst="roundRect">
            <a:avLst>
              <a:gd name="adj" fmla="val 3478"/>
            </a:avLst>
          </a:prstGeom>
          <a:solidFill>
            <a:srgbClr val="FFD23B"/>
          </a:solidFill>
          <a:ln w="12700">
            <a:solidFill>
              <a:srgbClr val="FFD23B"/>
            </a:solidFill>
            <a:prstDash val="solid"/>
          </a:ln>
        </p:spPr>
      </p:sp>
      <p:sp>
        <p:nvSpPr>
          <p:cNvPr id="7" name="Text 5"/>
          <p:cNvSpPr txBox="1"/>
          <p:nvPr/>
        </p:nvSpPr>
        <p:spPr>
          <a:xfrm>
            <a:off x="6446520" y="1874520"/>
            <a:ext cx="5010912" cy="1920240"/>
          </a:xfrm>
          <a:prstGeom prst="rect">
            <a:avLst/>
          </a:prstGeom>
          <a:noFill/>
          <a:ln/>
        </p:spPr>
        <p:txBody>
          <a:bodyPr wrap="square" lIns="635" tIns="635" rIns="635" bIns="635" rtlCol="0" anchor="t"/>
          <a:lstStyle/>
          <a:p>
            <a:pPr indent="0" marL="0">
              <a:buNone/>
            </a:pPr>
            <a:r>
              <a:rPr lang="en-US" sz="1550" b="1" dirty="0">
                <a:solidFill>
                  <a:srgbClr val="172849"/>
                </a:solidFill>
                <a:latin typeface="Roboto" pitchFamily="34" charset="0"/>
                <a:ea typeface="Roboto" pitchFamily="34" charset="-122"/>
                <a:cs typeface="Roboto" pitchFamily="34" charset="-120"/>
              </a:rPr>
              <a:t>Nova không nói thay An Phát.</a:t>
            </a:r>
            <a:endParaRPr lang="en-US" sz="1550" dirty="0"/>
          </a:p>
          <a:p>
            <a:pPr indent="0" marL="0">
              <a:buNone/>
            </a:pPr>
            <a:endParaRPr lang="en-US" sz="1550" dirty="0"/>
          </a:p>
          <a:p>
            <a:pPr indent="0" marL="0">
              <a:buNone/>
            </a:pPr>
            <a:r>
              <a:rPr lang="en-US" sz="1550" b="1" dirty="0">
                <a:solidFill>
                  <a:srgbClr val="172849"/>
                </a:solidFill>
                <a:latin typeface="Roboto" pitchFamily="34" charset="0"/>
                <a:ea typeface="Roboto" pitchFamily="34" charset="-122"/>
                <a:cs typeface="Roboto" pitchFamily="34" charset="-120"/>
              </a:rPr>
              <a:t>Vụ Kera: thương hiệu hợp tác gỡ hình ảnh; công ty quản lý chấm dứt hợp đồng (X06).</a:t>
            </a:r>
            <a:endParaRPr lang="en-US" sz="1550" dirty="0"/>
          </a:p>
        </p:txBody>
      </p:sp>
      <p:sp>
        <p:nvSpPr>
          <p:cNvPr id="8" name="Shape 6"/>
          <p:cNvSpPr/>
          <p:nvPr/>
        </p:nvSpPr>
        <p:spPr>
          <a:xfrm>
            <a:off x="6263640" y="4023360"/>
            <a:ext cx="5376672" cy="1691640"/>
          </a:xfrm>
          <a:prstGeom prst="roundRect">
            <a:avLst>
              <a:gd name="adj" fmla="val 4324"/>
            </a:avLst>
          </a:prstGeom>
          <a:solidFill>
            <a:srgbClr val="22395F"/>
          </a:solidFill>
          <a:ln w="12700">
            <a:solidFill>
              <a:srgbClr val="22395F"/>
            </a:solidFill>
            <a:prstDash val="solid"/>
          </a:ln>
        </p:spPr>
      </p:sp>
      <p:sp>
        <p:nvSpPr>
          <p:cNvPr id="9" name="Text 7"/>
          <p:cNvSpPr txBox="1"/>
          <p:nvPr/>
        </p:nvSpPr>
        <p:spPr>
          <a:xfrm>
            <a:off x="6446520" y="4069080"/>
            <a:ext cx="5010912" cy="1600200"/>
          </a:xfrm>
          <a:prstGeom prst="rect">
            <a:avLst/>
          </a:prstGeom>
          <a:noFill/>
          <a:ln/>
        </p:spPr>
        <p:txBody>
          <a:bodyPr wrap="square" lIns="635" tIns="635" rIns="635" bIns="635" rtlCol="0" anchor="t"/>
          <a:lstStyle/>
          <a:p>
            <a:pPr indent="0" marL="0">
              <a:buNone/>
            </a:pPr>
            <a:r>
              <a:rPr lang="en-US" sz="1450" dirty="0">
                <a:solidFill>
                  <a:srgbClr val="FBFAF4"/>
                </a:solidFill>
                <a:latin typeface="Roboto" pitchFamily="34" charset="0"/>
                <a:ea typeface="Roboto" pitchFamily="34" charset="-122"/>
                <a:cs typeface="Roboto" pitchFamily="34" charset="-120"/>
              </a:rPr>
              <a:t>Báo chí đưa tin chưa chính xác? Luật Báo chí 2025 (Điều 36): tổ chức có quyền gửi ý kiến phản hồi bằng văn bản; báo phải đăng hoặc trả lời lý do.</a:t>
            </a:r>
            <a:endParaRPr lang="en-US" sz="1450" dirty="0"/>
          </a:p>
        </p:txBody>
      </p:sp>
      <p:sp>
        <p:nvSpPr>
          <p:cNvPr id="10"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X06 (Buổi 11); Luật số 126/2025/QH15, Điều 34, 36 — đã đối chiếu nguyên văn (Y13). Vai trò Nova: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Năm câu hỏi khi một bên trong mạng lưới gây sự cố</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a:t>
            </a:r>
            <a:endParaRPr lang="en-US" sz="2000" dirty="0"/>
          </a:p>
        </p:txBody>
      </p:sp>
      <p:sp>
        <p:nvSpPr>
          <p:cNvPr id="5" name="Shape 3"/>
          <p:cNvSpPr/>
          <p:nvPr/>
        </p:nvSpPr>
        <p:spPr>
          <a:xfrm>
            <a:off x="1371600" y="1783080"/>
            <a:ext cx="658368" cy="658368"/>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16441" y="1927921"/>
            <a:ext cx="368686" cy="368686"/>
          </a:xfrm>
          <a:prstGeom prst="rect">
            <a:avLst/>
          </a:prstGeom>
        </p:spPr>
      </p:pic>
      <p:sp>
        <p:nvSpPr>
          <p:cNvPr id="7" name="Shape 4"/>
          <p:cNvSpPr/>
          <p:nvPr/>
        </p:nvSpPr>
        <p:spPr>
          <a:xfrm>
            <a:off x="2194560" y="1783080"/>
            <a:ext cx="9445752" cy="658368"/>
          </a:xfrm>
          <a:prstGeom prst="roundRect">
            <a:avLst>
              <a:gd name="adj" fmla="val 11111"/>
            </a:avLst>
          </a:prstGeom>
          <a:solidFill>
            <a:srgbClr val="22395F"/>
          </a:solidFill>
          <a:ln w="12700">
            <a:solidFill>
              <a:srgbClr val="22395F"/>
            </a:solidFill>
            <a:prstDash val="solid"/>
          </a:ln>
        </p:spPr>
      </p:sp>
      <p:sp>
        <p:nvSpPr>
          <p:cNvPr id="8" name="Text 5"/>
          <p:cNvSpPr txBox="1"/>
          <p:nvPr/>
        </p:nvSpPr>
        <p:spPr>
          <a:xfrm>
            <a:off x="2423160" y="1783080"/>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Roboto" pitchFamily="34" charset="0"/>
                <a:ea typeface="Roboto" pitchFamily="34" charset="-122"/>
                <a:cs typeface="Roboto" pitchFamily="34" charset="-120"/>
              </a:rPr>
              <a:t>Sự việc đã được xác minh chưa?</a:t>
            </a:r>
            <a:endParaRPr lang="en-US" sz="1850" dirty="0"/>
          </a:p>
        </p:txBody>
      </p:sp>
      <p:sp>
        <p:nvSpPr>
          <p:cNvPr id="9" name="Shape 6"/>
          <p:cNvSpPr/>
          <p:nvPr/>
        </p:nvSpPr>
        <p:spPr>
          <a:xfrm>
            <a:off x="548640" y="2587752"/>
            <a:ext cx="658368" cy="658368"/>
          </a:xfrm>
          <a:prstGeom prst="ellipse">
            <a:avLst/>
          </a:prstGeom>
          <a:solidFill>
            <a:srgbClr val="FFD23B"/>
          </a:solidFill>
          <a:ln w="12700">
            <a:solidFill>
              <a:srgbClr val="FFD23B"/>
            </a:solidFill>
            <a:prstDash val="solid"/>
          </a:ln>
        </p:spPr>
      </p:sp>
      <p:sp>
        <p:nvSpPr>
          <p:cNvPr id="10" name="Text 7"/>
          <p:cNvSpPr txBox="1"/>
          <p:nvPr/>
        </p:nvSpPr>
        <p:spPr>
          <a:xfrm>
            <a:off x="548640" y="2587752"/>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a:t>
            </a:r>
            <a:endParaRPr lang="en-US" sz="2000" dirty="0"/>
          </a:p>
        </p:txBody>
      </p:sp>
      <p:sp>
        <p:nvSpPr>
          <p:cNvPr id="11" name="Shape 8"/>
          <p:cNvSpPr/>
          <p:nvPr/>
        </p:nvSpPr>
        <p:spPr>
          <a:xfrm>
            <a:off x="1371600" y="2587752"/>
            <a:ext cx="658368" cy="658368"/>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16441" y="2732593"/>
            <a:ext cx="368686" cy="368686"/>
          </a:xfrm>
          <a:prstGeom prst="rect">
            <a:avLst/>
          </a:prstGeom>
        </p:spPr>
      </p:pic>
      <p:sp>
        <p:nvSpPr>
          <p:cNvPr id="13" name="Shape 9"/>
          <p:cNvSpPr/>
          <p:nvPr/>
        </p:nvSpPr>
        <p:spPr>
          <a:xfrm>
            <a:off x="2194560" y="2587752"/>
            <a:ext cx="9445752" cy="658368"/>
          </a:xfrm>
          <a:prstGeom prst="roundRect">
            <a:avLst>
              <a:gd name="adj" fmla="val 11111"/>
            </a:avLst>
          </a:prstGeom>
          <a:solidFill>
            <a:srgbClr val="22395F"/>
          </a:solidFill>
          <a:ln w="12700">
            <a:solidFill>
              <a:srgbClr val="22395F"/>
            </a:solidFill>
            <a:prstDash val="solid"/>
          </a:ln>
        </p:spPr>
      </p:sp>
      <p:sp>
        <p:nvSpPr>
          <p:cNvPr id="14" name="Text 10"/>
          <p:cNvSpPr txBox="1"/>
          <p:nvPr/>
        </p:nvSpPr>
        <p:spPr>
          <a:xfrm>
            <a:off x="2423160" y="2587752"/>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Roboto" pitchFamily="34" charset="0"/>
                <a:ea typeface="Roboto" pitchFamily="34" charset="-122"/>
                <a:cs typeface="Roboto" pitchFamily="34" charset="-120"/>
              </a:rPr>
              <a:t>Trong mắt khách của An Phát, ai chịu trách nhiệm (SCCT)?</a:t>
            </a:r>
            <a:endParaRPr lang="en-US" sz="1850" dirty="0"/>
          </a:p>
        </p:txBody>
      </p:sp>
      <p:sp>
        <p:nvSpPr>
          <p:cNvPr id="15" name="Shape 11"/>
          <p:cNvSpPr/>
          <p:nvPr/>
        </p:nvSpPr>
        <p:spPr>
          <a:xfrm>
            <a:off x="548640" y="3392424"/>
            <a:ext cx="658368" cy="658368"/>
          </a:xfrm>
          <a:prstGeom prst="ellipse">
            <a:avLst/>
          </a:prstGeom>
          <a:solidFill>
            <a:srgbClr val="FF9259"/>
          </a:solidFill>
          <a:ln w="12700">
            <a:solidFill>
              <a:srgbClr val="FF9259"/>
            </a:solidFill>
            <a:prstDash val="solid"/>
          </a:ln>
        </p:spPr>
      </p:sp>
      <p:sp>
        <p:nvSpPr>
          <p:cNvPr id="16" name="Text 12"/>
          <p:cNvSpPr txBox="1"/>
          <p:nvPr/>
        </p:nvSpPr>
        <p:spPr>
          <a:xfrm>
            <a:off x="548640" y="3392424"/>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3</a:t>
            </a:r>
            <a:endParaRPr lang="en-US" sz="2000" dirty="0"/>
          </a:p>
        </p:txBody>
      </p:sp>
      <p:sp>
        <p:nvSpPr>
          <p:cNvPr id="17" name="Shape 13"/>
          <p:cNvSpPr/>
          <p:nvPr/>
        </p:nvSpPr>
        <p:spPr>
          <a:xfrm>
            <a:off x="1371600" y="3392424"/>
            <a:ext cx="658368" cy="658368"/>
          </a:xfrm>
          <a:prstGeom prst="ellipse">
            <a:avLst/>
          </a:prstGeom>
          <a:solidFill>
            <a:srgbClr val="FF9259"/>
          </a:solidFill>
          <a:ln w="12700">
            <a:solidFill>
              <a:srgbClr val="FF9259"/>
            </a:solidFill>
            <a:prstDash val="solid"/>
          </a:ln>
        </p:spPr>
      </p:sp>
      <p:pic>
        <p:nvPicPr>
          <p:cNvPr id="18" name="Image 2" descr="preencoded.png">    </p:cNvPr>
          <p:cNvPicPr>
            <a:picLocks noChangeAspect="1"/>
          </p:cNvPicPr>
          <p:nvPr/>
        </p:nvPicPr>
        <p:blipFill>
          <a:blip r:embed="rId3"/>
          <a:stretch>
            <a:fillRect/>
          </a:stretch>
        </p:blipFill>
        <p:spPr>
          <a:xfrm>
            <a:off x="1516441" y="3537265"/>
            <a:ext cx="368686" cy="368686"/>
          </a:xfrm>
          <a:prstGeom prst="rect">
            <a:avLst/>
          </a:prstGeom>
        </p:spPr>
      </p:pic>
      <p:sp>
        <p:nvSpPr>
          <p:cNvPr id="19" name="Shape 14"/>
          <p:cNvSpPr/>
          <p:nvPr/>
        </p:nvSpPr>
        <p:spPr>
          <a:xfrm>
            <a:off x="2194560" y="3392424"/>
            <a:ext cx="9445752" cy="658368"/>
          </a:xfrm>
          <a:prstGeom prst="roundRect">
            <a:avLst>
              <a:gd name="adj" fmla="val 11111"/>
            </a:avLst>
          </a:prstGeom>
          <a:solidFill>
            <a:srgbClr val="22395F"/>
          </a:solidFill>
          <a:ln w="12700">
            <a:solidFill>
              <a:srgbClr val="22395F"/>
            </a:solidFill>
            <a:prstDash val="solid"/>
          </a:ln>
        </p:spPr>
      </p:sp>
      <p:sp>
        <p:nvSpPr>
          <p:cNvPr id="20" name="Text 15"/>
          <p:cNvSpPr txBox="1"/>
          <p:nvPr/>
        </p:nvSpPr>
        <p:spPr>
          <a:xfrm>
            <a:off x="2423160" y="3392424"/>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Roboto" pitchFamily="34" charset="0"/>
                <a:ea typeface="Roboto" pitchFamily="34" charset="-122"/>
                <a:cs typeface="Roboto" pitchFamily="34" charset="-120"/>
              </a:rPr>
              <a:t>Deliverable nào bị ảnh hưởng? Phương án dự phòng?</a:t>
            </a:r>
            <a:endParaRPr lang="en-US" sz="1850" dirty="0"/>
          </a:p>
        </p:txBody>
      </p:sp>
      <p:sp>
        <p:nvSpPr>
          <p:cNvPr id="21" name="Shape 16"/>
          <p:cNvSpPr/>
          <p:nvPr/>
        </p:nvSpPr>
        <p:spPr>
          <a:xfrm>
            <a:off x="548640" y="4197096"/>
            <a:ext cx="658368" cy="658368"/>
          </a:xfrm>
          <a:prstGeom prst="ellipse">
            <a:avLst/>
          </a:prstGeom>
          <a:solidFill>
            <a:srgbClr val="FF5178"/>
          </a:solidFill>
          <a:ln w="12700">
            <a:solidFill>
              <a:srgbClr val="FF5178"/>
            </a:solidFill>
            <a:prstDash val="solid"/>
          </a:ln>
        </p:spPr>
      </p:sp>
      <p:sp>
        <p:nvSpPr>
          <p:cNvPr id="22" name="Text 17"/>
          <p:cNvSpPr txBox="1"/>
          <p:nvPr/>
        </p:nvSpPr>
        <p:spPr>
          <a:xfrm>
            <a:off x="548640" y="4197096"/>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4</a:t>
            </a:r>
            <a:endParaRPr lang="en-US" sz="2000" dirty="0"/>
          </a:p>
        </p:txBody>
      </p:sp>
      <p:sp>
        <p:nvSpPr>
          <p:cNvPr id="23" name="Shape 18"/>
          <p:cNvSpPr/>
          <p:nvPr/>
        </p:nvSpPr>
        <p:spPr>
          <a:xfrm>
            <a:off x="1371600" y="4197096"/>
            <a:ext cx="658368" cy="658368"/>
          </a:xfrm>
          <a:prstGeom prst="ellipse">
            <a:avLst/>
          </a:prstGeom>
          <a:solidFill>
            <a:srgbClr val="FF5178"/>
          </a:solidFill>
          <a:ln w="12700">
            <a:solidFill>
              <a:srgbClr val="FF5178"/>
            </a:solidFill>
            <a:prstDash val="solid"/>
          </a:ln>
        </p:spPr>
      </p:sp>
      <p:pic>
        <p:nvPicPr>
          <p:cNvPr id="24" name="Image 3" descr="preencoded.png">    </p:cNvPr>
          <p:cNvPicPr>
            <a:picLocks noChangeAspect="1"/>
          </p:cNvPicPr>
          <p:nvPr/>
        </p:nvPicPr>
        <p:blipFill>
          <a:blip r:embed="rId4"/>
          <a:stretch>
            <a:fillRect/>
          </a:stretch>
        </p:blipFill>
        <p:spPr>
          <a:xfrm>
            <a:off x="1516441" y="4341937"/>
            <a:ext cx="368686" cy="368686"/>
          </a:xfrm>
          <a:prstGeom prst="rect">
            <a:avLst/>
          </a:prstGeom>
        </p:spPr>
      </p:pic>
      <p:sp>
        <p:nvSpPr>
          <p:cNvPr id="25" name="Shape 19"/>
          <p:cNvSpPr/>
          <p:nvPr/>
        </p:nvSpPr>
        <p:spPr>
          <a:xfrm>
            <a:off x="2194560" y="4197096"/>
            <a:ext cx="9445752" cy="658368"/>
          </a:xfrm>
          <a:prstGeom prst="roundRect">
            <a:avLst>
              <a:gd name="adj" fmla="val 11111"/>
            </a:avLst>
          </a:prstGeom>
          <a:solidFill>
            <a:srgbClr val="22395F"/>
          </a:solidFill>
          <a:ln w="12700">
            <a:solidFill>
              <a:srgbClr val="22395F"/>
            </a:solidFill>
            <a:prstDash val="solid"/>
          </a:ln>
        </p:spPr>
      </p:sp>
      <p:sp>
        <p:nvSpPr>
          <p:cNvPr id="26" name="Text 20"/>
          <p:cNvSpPr txBox="1"/>
          <p:nvPr/>
        </p:nvSpPr>
        <p:spPr>
          <a:xfrm>
            <a:off x="2423160" y="4197096"/>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Roboto" pitchFamily="34" charset="0"/>
                <a:ea typeface="Roboto" pitchFamily="34" charset="-122"/>
                <a:cs typeface="Roboto" pitchFamily="34" charset="-120"/>
              </a:rPr>
              <a:t>Nova khuyến nghị An Phát phản hồi ở mức nào?</a:t>
            </a:r>
            <a:endParaRPr lang="en-US" sz="1850" dirty="0"/>
          </a:p>
        </p:txBody>
      </p:sp>
      <p:sp>
        <p:nvSpPr>
          <p:cNvPr id="27" name="Shape 21"/>
          <p:cNvSpPr/>
          <p:nvPr/>
        </p:nvSpPr>
        <p:spPr>
          <a:xfrm>
            <a:off x="548640" y="5001768"/>
            <a:ext cx="658368" cy="658368"/>
          </a:xfrm>
          <a:prstGeom prst="ellipse">
            <a:avLst/>
          </a:prstGeom>
          <a:solidFill>
            <a:srgbClr val="09A1E5"/>
          </a:solidFill>
          <a:ln w="12700">
            <a:solidFill>
              <a:srgbClr val="09A1E5"/>
            </a:solidFill>
            <a:prstDash val="solid"/>
          </a:ln>
        </p:spPr>
      </p:sp>
      <p:sp>
        <p:nvSpPr>
          <p:cNvPr id="28" name="Text 22"/>
          <p:cNvSpPr txBox="1"/>
          <p:nvPr/>
        </p:nvSpPr>
        <p:spPr>
          <a:xfrm>
            <a:off x="548640" y="5001768"/>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5</a:t>
            </a:r>
            <a:endParaRPr lang="en-US" sz="2000" dirty="0"/>
          </a:p>
        </p:txBody>
      </p:sp>
      <p:sp>
        <p:nvSpPr>
          <p:cNvPr id="29" name="Shape 23"/>
          <p:cNvSpPr/>
          <p:nvPr/>
        </p:nvSpPr>
        <p:spPr>
          <a:xfrm>
            <a:off x="1371600" y="5001768"/>
            <a:ext cx="658368" cy="658368"/>
          </a:xfrm>
          <a:prstGeom prst="ellipse">
            <a:avLst/>
          </a:prstGeom>
          <a:solidFill>
            <a:srgbClr val="09A1E5"/>
          </a:solidFill>
          <a:ln w="12700">
            <a:solidFill>
              <a:srgbClr val="09A1E5"/>
            </a:solidFill>
            <a:prstDash val="solid"/>
          </a:ln>
        </p:spPr>
      </p:sp>
      <p:pic>
        <p:nvPicPr>
          <p:cNvPr id="30" name="Image 4" descr="preencoded.png">    </p:cNvPr>
          <p:cNvPicPr>
            <a:picLocks noChangeAspect="1"/>
          </p:cNvPicPr>
          <p:nvPr/>
        </p:nvPicPr>
        <p:blipFill>
          <a:blip r:embed="rId5"/>
          <a:stretch>
            <a:fillRect/>
          </a:stretch>
        </p:blipFill>
        <p:spPr>
          <a:xfrm>
            <a:off x="1516441" y="5146609"/>
            <a:ext cx="368686" cy="368686"/>
          </a:xfrm>
          <a:prstGeom prst="rect">
            <a:avLst/>
          </a:prstGeom>
        </p:spPr>
      </p:pic>
      <p:sp>
        <p:nvSpPr>
          <p:cNvPr id="31" name="Shape 24"/>
          <p:cNvSpPr/>
          <p:nvPr/>
        </p:nvSpPr>
        <p:spPr>
          <a:xfrm>
            <a:off x="2194560" y="5001768"/>
            <a:ext cx="9445752" cy="658368"/>
          </a:xfrm>
          <a:prstGeom prst="roundRect">
            <a:avLst>
              <a:gd name="adj" fmla="val 11111"/>
            </a:avLst>
          </a:prstGeom>
          <a:solidFill>
            <a:srgbClr val="22395F"/>
          </a:solidFill>
          <a:ln w="12700">
            <a:solidFill>
              <a:srgbClr val="22395F"/>
            </a:solidFill>
            <a:prstDash val="solid"/>
          </a:ln>
        </p:spPr>
      </p:sp>
      <p:sp>
        <p:nvSpPr>
          <p:cNvPr id="32" name="Text 25"/>
          <p:cNvSpPr txBox="1"/>
          <p:nvPr/>
        </p:nvSpPr>
        <p:spPr>
          <a:xfrm>
            <a:off x="2423160" y="5001768"/>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Roboto" pitchFamily="34" charset="0"/>
                <a:ea typeface="Roboto" pitchFamily="34" charset="-122"/>
                <a:cs typeface="Roboto" pitchFamily="34" charset="-120"/>
              </a:rPr>
              <a:t>Ai báo cho ai, khi nào (cập nhật ESG, ma trận)?</a:t>
            </a:r>
            <a:endParaRPr lang="en-US" sz="18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mạng lưới bên liên quan trong SMP của nhóm — chạy thử bảo vệ</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Mở các trang SMP đã làm (Buổi 7–11); chưa có thì dùng mạng lưới An Phát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13’</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A1: Key Account của nhóm ở giữa, ≥ 5 bên bên ngoài; ◆ bên nhiều vai; 2 xung đột (deliverable · lợi ích · phòng trước · xử lý); 1 cơ chế minh bạch</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 5’: 1 người ở lại trình bày 1 phút; vai hội đồng bảo vệ SMP — 1 câu hỏi (vàng) + 1 điểm yếu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sửa một điểm; ghi câu hỏi khó nhất</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Trang “mạng lưới bên liên quan và xung đột” của SMP + danh sách câu hỏi bảo vệ</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Dùng năm bước (slide 17) và bảng đồng thuận – xung đột (slide 16).</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12</a:t>
            </a:r>
            <a:endParaRPr lang="en-US" sz="2800" dirty="0"/>
          </a:p>
        </p:txBody>
      </p:sp>
      <p:sp>
        <p:nvSpPr>
          <p:cNvPr id="3" name="Shape 1"/>
          <p:cNvSpPr/>
          <p:nvPr/>
        </p:nvSpPr>
        <p:spPr>
          <a:xfrm>
            <a:off x="548640" y="1783080"/>
            <a:ext cx="128016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12.1</a:t>
            </a:r>
            <a:endParaRPr lang="en-US" sz="2000" dirty="0"/>
          </a:p>
        </p:txBody>
      </p:sp>
      <p:sp>
        <p:nvSpPr>
          <p:cNvPr id="5" name="Shape 3"/>
          <p:cNvSpPr/>
          <p:nvPr/>
        </p:nvSpPr>
        <p:spPr>
          <a:xfrm>
            <a:off x="2011680" y="1783080"/>
            <a:ext cx="9628632"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240280" y="1783080"/>
            <a:ext cx="9235440" cy="100584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Giá trị của Nova nằm một phần trong quan hệ dài hạn với mạng lưới (tài sản đặc thù, chia sẻ tri thức, năng lực bổ trợ, quản trị). Minh bạch = mọi bên đọc một phiên bản đúng (ESG); bảo mật thông tin khách và giá</a:t>
            </a:r>
            <a:endParaRPr lang="en-US" sz="1450" dirty="0"/>
          </a:p>
        </p:txBody>
      </p:sp>
      <p:sp>
        <p:nvSpPr>
          <p:cNvPr id="7" name="Shape 5"/>
          <p:cNvSpPr/>
          <p:nvPr/>
        </p:nvSpPr>
        <p:spPr>
          <a:xfrm>
            <a:off x="548640" y="2971800"/>
            <a:ext cx="128016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12.2</a:t>
            </a:r>
            <a:endParaRPr lang="en-US" sz="2000" dirty="0"/>
          </a:p>
        </p:txBody>
      </p:sp>
      <p:sp>
        <p:nvSpPr>
          <p:cNvPr id="9" name="Shape 7"/>
          <p:cNvSpPr/>
          <p:nvPr/>
        </p:nvSpPr>
        <p:spPr>
          <a:xfrm>
            <a:off x="2011680" y="2971800"/>
            <a:ext cx="9628632"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240280" y="2971800"/>
            <a:ext cx="9235440" cy="100584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Xung đột thường đến từ một bên nhiều vai; đồng thuận và xung đột đan xen. Năm bước: deliverable → ai, vai gì → lợi ích đằng sau → cùng giải quyết, leo thang → báo Key Account</a:t>
            </a:r>
            <a:endParaRPr lang="en-US" sz="1450" dirty="0"/>
          </a:p>
        </p:txBody>
      </p:sp>
      <p:sp>
        <p:nvSpPr>
          <p:cNvPr id="11" name="Shape 9"/>
          <p:cNvSpPr/>
          <p:nvPr/>
        </p:nvSpPr>
        <p:spPr>
          <a:xfrm>
            <a:off x="548640" y="4160520"/>
            <a:ext cx="128016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Sự cố</a:t>
            </a:r>
            <a:endParaRPr lang="en-US" sz="2000" dirty="0"/>
          </a:p>
        </p:txBody>
      </p:sp>
      <p:sp>
        <p:nvSpPr>
          <p:cNvPr id="13" name="Shape 11"/>
          <p:cNvSpPr/>
          <p:nvPr/>
        </p:nvSpPr>
        <p:spPr>
          <a:xfrm>
            <a:off x="2011680" y="4160520"/>
            <a:ext cx="9628632"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240280" y="4160520"/>
            <a:ext cx="9235440" cy="100584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Phân loại theo mức trách nhiệm (SCCT); Nova xác minh, khuyến nghị, soạn ma trận — Key Account quyết và phát ngôn; giữ deliverables</a:t>
            </a:r>
            <a:endParaRPr lang="en-US" sz="14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3 khép lại: mạng lưới bên ngoài phục vụ hành trình của Key Account</a:t>
            </a:r>
            <a:endParaRPr lang="en-US" sz="2800" dirty="0"/>
          </a:p>
        </p:txBody>
      </p:sp>
      <p:sp>
        <p:nvSpPr>
          <p:cNvPr id="3" name="Shape 1"/>
          <p:cNvSpPr/>
          <p:nvPr/>
        </p:nvSpPr>
        <p:spPr>
          <a:xfrm>
            <a:off x="548640" y="1783080"/>
            <a:ext cx="265176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548640"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Buổi 9</a:t>
            </a:r>
            <a:endParaRPr lang="en-US" sz="1700" dirty="0"/>
          </a:p>
        </p:txBody>
      </p:sp>
      <p:sp>
        <p:nvSpPr>
          <p:cNvPr id="5" name="Shape 3"/>
          <p:cNvSpPr/>
          <p:nvPr/>
        </p:nvSpPr>
        <p:spPr>
          <a:xfrm>
            <a:off x="548640" y="2468880"/>
            <a:ext cx="2651760" cy="1737360"/>
          </a:xfrm>
          <a:prstGeom prst="roundRect">
            <a:avLst>
              <a:gd name="adj" fmla="val 4211"/>
            </a:avLst>
          </a:prstGeom>
          <a:solidFill>
            <a:srgbClr val="22395F"/>
          </a:solidFill>
          <a:ln w="12700">
            <a:solidFill>
              <a:srgbClr val="22395F"/>
            </a:solidFill>
            <a:prstDash val="solid"/>
          </a:ln>
        </p:spPr>
      </p:sp>
      <p:sp>
        <p:nvSpPr>
          <p:cNvPr id="6" name="Text 4"/>
          <p:cNvSpPr txBox="1"/>
          <p:nvPr/>
        </p:nvSpPr>
        <p:spPr>
          <a:xfrm>
            <a:off x="685800"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49B296"/>
                </a:solidFill>
                <a:latin typeface="Roboto" pitchFamily="34" charset="0"/>
                <a:ea typeface="Roboto" pitchFamily="34" charset="-122"/>
                <a:cs typeface="Roboto" pitchFamily="34" charset="-120"/>
              </a:rPr>
              <a:t>Nhà tài trợ</a:t>
            </a:r>
            <a:endParaRPr lang="en-US" sz="1600" dirty="0"/>
          </a:p>
        </p:txBody>
      </p:sp>
      <p:sp>
        <p:nvSpPr>
          <p:cNvPr id="7" name="Text 5"/>
          <p:cNvSpPr txBox="1"/>
          <p:nvPr/>
        </p:nvSpPr>
        <p:spPr>
          <a:xfrm>
            <a:off x="685800"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Điểm chạm làm giàu trải nghiệm khách</a:t>
            </a:r>
            <a:endParaRPr lang="en-US" sz="1450" dirty="0"/>
          </a:p>
        </p:txBody>
      </p:sp>
      <p:sp>
        <p:nvSpPr>
          <p:cNvPr id="8" name="Shape 6"/>
          <p:cNvSpPr/>
          <p:nvPr/>
        </p:nvSpPr>
        <p:spPr>
          <a:xfrm>
            <a:off x="3364992" y="1783080"/>
            <a:ext cx="2651760" cy="594360"/>
          </a:xfrm>
          <a:prstGeom prst="roundRect">
            <a:avLst>
              <a:gd name="adj" fmla="val 12308"/>
            </a:avLst>
          </a:prstGeom>
          <a:solidFill>
            <a:srgbClr val="09A1E5"/>
          </a:solidFill>
          <a:ln w="12700">
            <a:solidFill>
              <a:srgbClr val="09A1E5"/>
            </a:solidFill>
            <a:prstDash val="solid"/>
          </a:ln>
        </p:spPr>
      </p:sp>
      <p:sp>
        <p:nvSpPr>
          <p:cNvPr id="9" name="Text 7"/>
          <p:cNvSpPr txBox="1"/>
          <p:nvPr/>
        </p:nvSpPr>
        <p:spPr>
          <a:xfrm>
            <a:off x="3364992"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Buổi 10</a:t>
            </a:r>
            <a:endParaRPr lang="en-US" sz="1700" dirty="0"/>
          </a:p>
        </p:txBody>
      </p:sp>
      <p:sp>
        <p:nvSpPr>
          <p:cNvPr id="10" name="Shape 8"/>
          <p:cNvSpPr/>
          <p:nvPr/>
        </p:nvSpPr>
        <p:spPr>
          <a:xfrm>
            <a:off x="3364992" y="2468880"/>
            <a:ext cx="2651760" cy="1737360"/>
          </a:xfrm>
          <a:prstGeom prst="roundRect">
            <a:avLst>
              <a:gd name="adj" fmla="val 4211"/>
            </a:avLst>
          </a:prstGeom>
          <a:solidFill>
            <a:srgbClr val="22395F"/>
          </a:solidFill>
          <a:ln w="12700">
            <a:solidFill>
              <a:srgbClr val="22395F"/>
            </a:solidFill>
            <a:prstDash val="solid"/>
          </a:ln>
        </p:spPr>
      </p:sp>
      <p:sp>
        <p:nvSpPr>
          <p:cNvPr id="11" name="Text 9"/>
          <p:cNvSpPr txBox="1"/>
          <p:nvPr/>
        </p:nvSpPr>
        <p:spPr>
          <a:xfrm>
            <a:off x="3502152"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09A1E5"/>
                </a:solidFill>
                <a:latin typeface="Roboto" pitchFamily="34" charset="0"/>
                <a:ea typeface="Roboto" pitchFamily="34" charset="-122"/>
                <a:cs typeface="Roboto" pitchFamily="34" charset="-120"/>
              </a:rPr>
              <a:t>Nhà cung cấp – địa điểm</a:t>
            </a:r>
            <a:endParaRPr lang="en-US" sz="1600" dirty="0"/>
          </a:p>
        </p:txBody>
      </p:sp>
      <p:sp>
        <p:nvSpPr>
          <p:cNvPr id="12" name="Text 10"/>
          <p:cNvSpPr txBox="1"/>
          <p:nvPr/>
        </p:nvSpPr>
        <p:spPr>
          <a:xfrm>
            <a:off x="3502152"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Điểm chạm ở giai đoạn mua, sau mua</a:t>
            </a:r>
            <a:endParaRPr lang="en-US" sz="1450" dirty="0"/>
          </a:p>
        </p:txBody>
      </p:sp>
      <p:sp>
        <p:nvSpPr>
          <p:cNvPr id="13" name="Shape 11"/>
          <p:cNvSpPr/>
          <p:nvPr/>
        </p:nvSpPr>
        <p:spPr>
          <a:xfrm>
            <a:off x="6181344" y="1783080"/>
            <a:ext cx="2651760" cy="594360"/>
          </a:xfrm>
          <a:prstGeom prst="roundRect">
            <a:avLst>
              <a:gd name="adj" fmla="val 12308"/>
            </a:avLst>
          </a:prstGeom>
          <a:solidFill>
            <a:srgbClr val="FF9259"/>
          </a:solidFill>
          <a:ln w="12700">
            <a:solidFill>
              <a:srgbClr val="FF9259"/>
            </a:solidFill>
            <a:prstDash val="solid"/>
          </a:ln>
        </p:spPr>
      </p:sp>
      <p:sp>
        <p:nvSpPr>
          <p:cNvPr id="14" name="Text 12"/>
          <p:cNvSpPr txBox="1"/>
          <p:nvPr/>
        </p:nvSpPr>
        <p:spPr>
          <a:xfrm>
            <a:off x="6181344"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Buổi 11</a:t>
            </a:r>
            <a:endParaRPr lang="en-US" sz="1700" dirty="0"/>
          </a:p>
        </p:txBody>
      </p:sp>
      <p:sp>
        <p:nvSpPr>
          <p:cNvPr id="15" name="Shape 13"/>
          <p:cNvSpPr/>
          <p:nvPr/>
        </p:nvSpPr>
        <p:spPr>
          <a:xfrm>
            <a:off x="6181344" y="2468880"/>
            <a:ext cx="2651760" cy="1737360"/>
          </a:xfrm>
          <a:prstGeom prst="roundRect">
            <a:avLst>
              <a:gd name="adj" fmla="val 4211"/>
            </a:avLst>
          </a:prstGeom>
          <a:solidFill>
            <a:srgbClr val="22395F"/>
          </a:solidFill>
          <a:ln w="12700">
            <a:solidFill>
              <a:srgbClr val="22395F"/>
            </a:solidFill>
            <a:prstDash val="solid"/>
          </a:ln>
        </p:spPr>
      </p:sp>
      <p:sp>
        <p:nvSpPr>
          <p:cNvPr id="16" name="Text 14"/>
          <p:cNvSpPr txBox="1"/>
          <p:nvPr/>
        </p:nvSpPr>
        <p:spPr>
          <a:xfrm>
            <a:off x="6318504"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FF9259"/>
                </a:solidFill>
                <a:latin typeface="Roboto" pitchFamily="34" charset="0"/>
                <a:ea typeface="Roboto" pitchFamily="34" charset="-122"/>
                <a:cs typeface="Roboto" pitchFamily="34" charset="-120"/>
              </a:rPr>
              <a:t>Báo chí – KOL</a:t>
            </a:r>
            <a:endParaRPr lang="en-US" sz="1600" dirty="0"/>
          </a:p>
        </p:txBody>
      </p:sp>
      <p:sp>
        <p:nvSpPr>
          <p:cNvPr id="17" name="Text 15"/>
          <p:cNvSpPr txBox="1"/>
          <p:nvPr/>
        </p:nvSpPr>
        <p:spPr>
          <a:xfrm>
            <a:off x="6318504"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Khuếch đại điểm chạm trước sự kiện</a:t>
            </a:r>
            <a:endParaRPr lang="en-US" sz="1450" dirty="0"/>
          </a:p>
        </p:txBody>
      </p:sp>
      <p:sp>
        <p:nvSpPr>
          <p:cNvPr id="18" name="Shape 16"/>
          <p:cNvSpPr/>
          <p:nvPr/>
        </p:nvSpPr>
        <p:spPr>
          <a:xfrm>
            <a:off x="8997696" y="1783080"/>
            <a:ext cx="2651760" cy="594360"/>
          </a:xfrm>
          <a:prstGeom prst="roundRect">
            <a:avLst>
              <a:gd name="adj" fmla="val 12308"/>
            </a:avLst>
          </a:prstGeom>
          <a:solidFill>
            <a:srgbClr val="FF5178"/>
          </a:solidFill>
          <a:ln w="12700">
            <a:solidFill>
              <a:srgbClr val="FF5178"/>
            </a:solidFill>
            <a:prstDash val="solid"/>
          </a:ln>
        </p:spPr>
      </p:sp>
      <p:sp>
        <p:nvSpPr>
          <p:cNvPr id="19" name="Text 17"/>
          <p:cNvSpPr txBox="1"/>
          <p:nvPr/>
        </p:nvSpPr>
        <p:spPr>
          <a:xfrm>
            <a:off x="8997696"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Buổi 12</a:t>
            </a:r>
            <a:endParaRPr lang="en-US" sz="1700" dirty="0"/>
          </a:p>
        </p:txBody>
      </p:sp>
      <p:sp>
        <p:nvSpPr>
          <p:cNvPr id="20" name="Shape 18"/>
          <p:cNvSpPr/>
          <p:nvPr/>
        </p:nvSpPr>
        <p:spPr>
          <a:xfrm>
            <a:off x="8997696" y="2468880"/>
            <a:ext cx="2651760" cy="1737360"/>
          </a:xfrm>
          <a:prstGeom prst="roundRect">
            <a:avLst>
              <a:gd name="adj" fmla="val 4211"/>
            </a:avLst>
          </a:prstGeom>
          <a:solidFill>
            <a:srgbClr val="22395F"/>
          </a:solidFill>
          <a:ln w="12700">
            <a:solidFill>
              <a:srgbClr val="22395F"/>
            </a:solidFill>
            <a:prstDash val="solid"/>
          </a:ln>
        </p:spPr>
      </p:sp>
      <p:sp>
        <p:nvSpPr>
          <p:cNvPr id="21" name="Text 19"/>
          <p:cNvSpPr txBox="1"/>
          <p:nvPr/>
        </p:nvSpPr>
        <p:spPr>
          <a:xfrm>
            <a:off x="9134856"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Roboto" pitchFamily="34" charset="0"/>
                <a:ea typeface="Roboto" pitchFamily="34" charset="-122"/>
                <a:cs typeface="Roboto" pitchFamily="34" charset="-120"/>
              </a:rPr>
              <a:t>Cả mạng lưới</a:t>
            </a:r>
            <a:endParaRPr lang="en-US" sz="1600" dirty="0"/>
          </a:p>
        </p:txBody>
      </p:sp>
      <p:sp>
        <p:nvSpPr>
          <p:cNvPr id="22" name="Text 20"/>
          <p:cNvSpPr txBox="1"/>
          <p:nvPr/>
        </p:nvSpPr>
        <p:spPr>
          <a:xfrm>
            <a:off x="9134856"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Minh bạch, xử lý xung đột, sự cố</a:t>
            </a:r>
            <a:endParaRPr lang="en-US" sz="1450" dirty="0"/>
          </a:p>
        </p:txBody>
      </p:sp>
      <p:sp>
        <p:nvSpPr>
          <p:cNvPr id="23" name="Shape 21"/>
          <p:cNvSpPr/>
          <p:nvPr/>
        </p:nvSpPr>
        <p:spPr>
          <a:xfrm>
            <a:off x="548640" y="4434840"/>
            <a:ext cx="11091672" cy="1280160"/>
          </a:xfrm>
          <a:prstGeom prst="roundRect">
            <a:avLst>
              <a:gd name="adj" fmla="val 5714"/>
            </a:avLst>
          </a:prstGeom>
          <a:solidFill>
            <a:srgbClr val="FFD23B"/>
          </a:solidFill>
          <a:ln w="12700">
            <a:solidFill>
              <a:srgbClr val="FFD23B"/>
            </a:solidFill>
            <a:prstDash val="solid"/>
          </a:ln>
        </p:spPr>
      </p:sp>
      <p:sp>
        <p:nvSpPr>
          <p:cNvPr id="24" name="Text 22"/>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Buổi 13: ráp tất cả thành Stakeholder Management Plan xoay quanh Key Account Plan — đưa điều phối bên liên quan bên ngoài vào phần Value Delivery.</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Trong SMP của nhóm, bên liên quan bên ngoài nào giữ nhiều vai nhất? Điều đó có thể gây xung đột gì với deliverable cam kết cho khách hàng?</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Một câu hỏi phản biện nhóm nhận được hôm nay mà chưa trả lời được. Nhóm sẽ bổ sung gì trước buổi bảo vệ?</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13: ráp Stakeholder Management Plan</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13 · Stakeholder Management Plan</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Phần 3 khép lại. Buổi sau ta ráp nhà tài trợ, nhà cung cấp – địa điểm, báo chí – KOL và cách giữ cả mạng lưới làm việc cho Key Account thành Stakeholder Management Plan xoay quanh Key Account Plan.</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Toàn bộ trang SMP đã làm (Buổi 7–12)</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Danh sách câu hỏi phản biện hôm nay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Coombs, W. T. (2007). Protecting organization reputations during a crisis: The development and application of situational crisis communication theory.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Corporate Reputation Review, 10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(3), 163–176.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Dyer, J. H., &amp; Singh, H. (1998). The relational view: Cooperative strategy and sources of interorganizational competitive advantage.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Academy of Management Review, 23</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660–679.</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Getz, D., Andersson, T., &amp; Larson, M. (2006). Festival stakeholder roles: Concepts and case studies.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Event Management, 10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(2), 103–122.</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Larson, M., &amp; Wikström, E. (2001). Organizing events: Managing conflict and consensus in a political market square.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Event Management, 7</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51–65.</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Lee, H. L., Padmanabhan, V., &amp; Whang, S. (1997). Information distortion in a supply chain: The bullwhip effect.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Management Science, 43</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546–558.</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Mohr, J., &amp; Spekman, R. (1994). Characteristics of partnership success.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Strategic Management Journal, 15</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(2), 135–152.</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Morgan, R. M., &amp; Hunt, S. D. (1994). The commitment-trust theory of relationship marketing.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58</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(3), 20–38.</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Convention Industry Council. (2005).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The APEX event specifications guide template</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12: Tận dụng mạng lưới và xử lý xung đột</dc:title>
  <dc:subject>PptxGenJS Presentation</dc:subject>
  <dc:creator>Đoàn Nguyễn Bảo Quyên</dc:creator>
  <cp:lastModifiedBy>Đoàn Nguyễn Bảo Quyên</cp:lastModifiedBy>
  <cp:revision>1</cp:revision>
  <dcterms:created xsi:type="dcterms:W3CDTF">2026-10-04T14:14:00Z</dcterms:created>
  <dcterms:modified xsi:type="dcterms:W3CDTF">2026-10-04T14:14:00Z</dcterms:modified>
</cp:coreProperties>
</file>