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6 — Bài 6: Tài chính trong KAM. Buổi 5 ta tạo giá trị cho khách hàng. Hôm nay là mặt kia: khách hàng này đáng bao nhiêu với Nova, phục vụ họ tốn bao nhiêu, và làm sao để quan hệ công bằng cho cả hai.
(GV: Mở đầu bằng 2–3 “điều còn mơ hồ” từ phiếu cuối giờ Buổi 5 (≤3 phút). Nhắc SV chuẩn bị máy tính cầm tay.)
Hỏi lớp: —
Chuyển ý: Bắt đầu bằng hai khách hàng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khách hàng của Nova, giả định, từ Buổi 2. Địa ốc Sông Xanh mang lại 3.500 triệu doanh thu mỗi năm. Ngân hàng An Phát: 2.300 triệu. Khách hàng nào đáng giá hơn với Nova? Giơ tay.
(GV: Giáo án S1 (phút 0–5). Đa số sẽ chọn Sông Xanh — để mở đến slide 3.)
Hỏi lớp: “Sông Xanh hay An Phát? Cần biết thêm gì để trả lời?”
Chuyển ý: Doanh thu chỉ là một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Chưa trả lời được. Doanh thu chỉ là một phần. Cần biết thêm ba điều: lãi bao nhiêu — biên lợi nhuận gộp; phục vụ tốn bao nhiêu — cost-to-serve; và ở lại bao lâu — tỷ lệ giữ chân. Đề cương Buổi 6 có hai mục: 6.1, giá trị vòng đời khách hàng cho định hướng dài hạn; 6.2, cost-to-serve và ma trận biên lợi nhuận — để quan hệ có lợi cho cả hai và công bằng.
(GV: Đề cương Session 6: 6.1 Calculating Customer Lifetime Value (CLV) for long-term orientation; 6.2 Cost-to-serve analysis and Gross margin matrix: ensuring bilateral benefits and fair relationships.)
Hỏi lớp: —
Chuyển ý: Giáo trình đặt các con số này trong một khung đo hiệu quả 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đề xuất một khung đo hiệu quả KAM ở cấp từng khách hàng. Bên trái — chỉ số kết quả: tài chính gồm tăng trưởng doanh thu, lợi nhuận, giá trị vòng đời; quan hệ gồm hài lòng, trung thành, chất lượng quan hệ — Buổi 4. Bên phải — chỉ số quá trình, đi trước kết quả: phục vụ khách hàng, trong đó có cost to serve; cùng phát triển với khách — đồng kiến tạo ở Buổi 5; và trải nghiệm khách hàng theo ba giai đoạn — Buổi 3. Hôm nay ta học hai ô có ngôi sao: giá trị vòng đời và cost to serve. Phần còn lại ở Buổi 8.
(GV: Đã đối chiếu Marcos et al. (2018), Hình 8.1 “Measuring KAM performance” và đoạn giải thích (tr. 192–193). Khung này cho thấy các buổi 3–6 nối với nhau và dẫn sang Buổi 8.)
Hỏi lớp: —
Chuyển ý: Mục 6.1: CLV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cách nói. Giáo trình: CLV là ước lượng giá trị hiện tại của một quan hệ khách hàng, dựa trên doanh thu và chi phí dự kiến, cộng một tỷ lệ chiết khấu đổi tiền tương lai thành tiền hôm nay. Gupta và cộng sự, 2006: khi doanh thu đến từ quan hệ dài hạn, marketing nhằm tối đa hóa CLV và customer equity — tổng CLV của mọi khách hàng — và CLV dùng để phân bổ nguồn lực. Với KAM, giáo trình nói CLV là thước đo tài chính nhìn về phía trước, phản ánh bản chất lâu dài và chiến lược của quan hệ. Gộp lại: CLV là lợi nhuận dự kiến trong nhiều năm, quy về tiền hôm nay — để quyết định đầu tư nguồn lực vào ai. Nối Buổi 2: chọn Key Account là quyết định phân bổ nguồn lực.
(GV: Đã đối chiếu Marcos et al. (2018): tr. 191 (“customer lifetime value estimates the future revenues and costs associated with a customer relationship and converts the resulting amount into ‘today’s money’”), tr. 193 (“explicitly account for the long-lasting and strategic nature of KAM”), tr. 197 (định nghĩa đầy đủ). F01 Gupta et al. (2006) — đọc tóm tắt.)
Hỏi lớp: —
Chuyển ý: Công thức trong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Công thức trong giáo trình: CLV bằng tổng, từ năm 1 đến năm n, của doanh thu dự kiến trừ chi phí dự kiến năm t, chia cho một cộng i mũ t. r t là doanh thu dự kiến; e t là chi phí dự kiến, gồm cả chi phí phục vụ; i là tỷ lệ chiết khấu, thường là lãi suất; n là số năm của vòng đời. Điểm khác với lợi nhuận năm nay: CLV dùng dự báo tương lai — không chỉ từ dữ liệu nội bộ, mà cả kế hoạch tăng trưởng, đầu tư của khách hàng và xu hướng ngành. Vì vậy hiểu thế giới của khách hàng ở Buổi 3 là đầu vào của CLV.
(GV: Đã đối chiếu Marcos et al. (2018, tr. 197): công thức và chú giải rt, et, i, t, n; đoạn “it is not the historical data but forecasts of future revenues and expenses that need to be analysed… new information that comes from the key customer (eg purchases forecast, growth plans…)”. Chữ r trong công thức sách là doanh thu (revenues) — không nhầm với r = tỷ lệ giữ chân ở slide sau.)
Hỏi lớp: —
Chuyển ý: Môn dùng một dạng đơn giản hơn, thêm tỷ lệ giữ chân.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Trên lớp ta dùng dạng đơn giản: CLV xấp xỉ tổng của m nhân p mũ t trừ 1, chia một cộng d mũ t. m là đóng góp ròng mỗi năm — lợi nhuận gộp trừ cost-to-serve riêng của khách hàng. p là tỷ lệ giữ chân — khả năng khách tái ký mỗi năm; năm 1 coi như chắc chắn. d là tỷ lệ chiết khấu. T là số năm xem xét, ví dụ 5. Hai điểm khác với tính doanh thu thông thường: một, tính trên đóng góp ròng, không trên doanh thu; hai, thêm tỷ lệ giữ chân — vì hợp đồng sự kiện thường ký từng năm, khách có thể không quay lại.
(GV: Quyết định GV 2 (28/9/2026): công thức đơn giản, [VERIFY] trước khi lên slide. Đã đối chiếu với công thức giáo trình (tr. 197): m tương ứng (rt − et) khi giả định doanh thu, chi phí không đổi; phần nhân p^(t−1) là kỳ vọng theo khả năng giữ chân — dạng thường gặp trong Gupta et al. (2006) [VERIFY ký hiệu với toàn văn F01]. Đổi ký hiệu r → p để không trùng với rt của giáo trình; phiếu S3 đang dùng chữ r — nhắc SV r trong phiếu = p trên slide.)
Hỏi lớp: —
Chuyển ý: Tính An Phát cùng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cùng nhau, số liệu giả định. An Phát: doanh thu 2.300 triệu một năm; biên lợi nhuận gộp 18% — lợi nhuận gộp 414 triệu; cost-to-serve riêng 80 triệu; vậy m bằng 334 triệu. Tỷ lệ giữ chân 85%, chiết khấu 12%, 5 năm. Năm 1: 334 chia 1,12 — 298,2. Năm 2: 334 nhân 0,85, chia 1,12 bình phương — 226,3. Năm 3: 171,8. Năm 4: 130,4. Năm 5: 98,9. Cộng lại: khoảng 926 triệu.
(GV: Viết từng dòng lên bảng; cho SV bấm máy năm 2 và 3. Tính kiểm: 298,2 + 226,3 + 171,8 + 130,4 + 98,9 = 925,6 ≈ 926. Số khớp W06 lecture notes §1.3 và phiếu S3.)
Hỏi lớp: “Bạn nào bấm năm 3 nhanh nhất?”
Chuyển ý: Nếu tỷ lệ giữ chân giảm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Nếu tỷ lệ giữ chân của An Phát giảm từ 85% xuống 70%, mọi thứ khác giữ nguyên. Năm 1 không đổi. Năm 2 còn 186,4; năm 3 còn 116,5; năm 4 còn 72,8; năm 5 còn 45,5. CLV từ khoảng 926 xuống khoảng 719 triệu — mất khoảng 206 triệu, gần một phần tư. Không đổi giá, không đổi chi phí — chỉ đổi khả năng khách quay lại. Vì thế chất lượng quan hệ ở Buổi 4 là tiền thật.
(GV: Tính kiểm p = 70%: 298,2 + 186,4 + 116,5 + 72,8 + 45,5 = 719,4. Chênh lệch 925,6 − 719,4 = 206,2. Cột vẽ theo tỷ lệ.)
Hỏi lớp: —
Chuyển ý: Một ca thật trong giáo trình: khách lãi nhất hôm nay, CLV thấp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ca Construmart — một nhà cung cấp vật liệu xây dựng, tên đã đổi — với ba nhà phân phối lớn. Giám đốc thương mại tính lợi nhuận năm 2017: B lãi nhất, 2.800; C 1.600; A chỉ 500. Kết luận hiển nhiên: đầu tư vào B? Nhưng khi tính CLV 8 năm, kết quả ngược lại: A có CLV cao nhất — khoảng 18.700; C khoảng 12.000; còn B thấp nhất — khoảng 9.300.
(GV: Đã đối chiếu Marcos et al. (2018), case study “Customer lifetime value of three key accounts” (tr. 197–200): Bảng 8.3a (profitability 2017: A 500, B 2.800, C 1.600) và Bảng 8.3b (cumulative NPV 2025: A 18.737; B 9.311; C 12.044; interest 10%). Đơn vị theo sách (£, $).)
Hỏi lớp: “Vì sao? Đoán trước khi xem slide sau.”
Chuyển ý: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Lý do nằm ở kế hoạch tương lai của khách hàng. A đang chuyển từ công ty khu vực thành công ty toàn quốc: mua lại doanh nghiệp nhỏ, tuyển người giỏi, xây hệ thống phân phối dựa trên công nghệ. B là doanh nghiệp gia đình quy mô vừa, không muốn đầu tư nâng cấp. C tập trung một phân khúc ngách — sẽ rất có lãi, và là ứng viên tự nhiên để cùng tạo giá trị. Bài học: phân tích cả lợi nhuận quá khứ và lợi nhuận tương lai. Giáo trình gọi cách nhìn chỉ dựa vào quá khứ là nhìn gương chiếu hậu.
(GV: Đã đối chiếu Marcos et al. (2018, tr. 200): “Customer B (a family-owned, medium-sized local distributor) was not willing to invest… Customer A was planning to evolve from a regional player into a national one… Customer C planned to focus on a specific niche…”; tr. 198 “looking forward rather than using the ‘rear-view mirror’”. Nửa câu “kính chắn gió” là cách nói của người soạn.)
Hỏi lớp: —
Chuyển ý: Nhưng CLV cũng có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CLV là ước lượng theo giả định. Một: phụ thuộc giả định về tỷ lệ giữ chân, chiết khấu, đóng góp ròng — nên ghi rõ, và thử vài kịch bản. Hai: không đo hết giá trị vô hình — uy tín, hồ sơ năng lực, học hỏi mảng mới như với Bếp Việt; ghi bên cạnh, đừng bỏ. Ba: dự báo càng xa càng kém chắc chắn — dùng 3 đến 5 năm và cập nhật hằng năm.
(GV: W06 lecture notes §1.4. Ý thứ ba là nhận định của người soạn.)
Hỏi lớp: —
Chuyển ý: Thực hành 1: tính CLV hai khách hàng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Ba phút: tính m cho Sông Xanh và Bếp Việt — lợi nhuận gộp trừ cost-to-serve. Mười phút: chia đôi nhóm, một nửa tính CLV 5 năm Sông Xanh, một nửa Bếp Việt, dùng bảng năm dòng như slide 8. Bảy phút: độ nhạy — nếu Bếp Việt tăng tỷ lệ giữ chân lên 85% nhờ quan hệ tốt thì CLV thay đổi thế nào; và viết hai câu so sánh ba khách hàng cho anh Đức, CEO Nova. Dùng m, không dùng doanh thu. Ghi rõ giả định.
(GV: Phiếu W06_activity_S3_tinh_clv.md (chữ r trong phiếu = p trên slide). Mốc phút 30–50. Đáp án: Sông Xanh m = 100, CLV ≈ 138; Bếp Việt m = 178, CLV ≈ 416; p = 85% → ≈ 493. Kết luận mẫu: doanh thu lớn nhất, CLV nhỏ nhất.)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Trước giải lao, gọi 1 nhóm đọc kết quả Sông Xanh (≈138 triệu) để cả lớp thấy sự tương phản.)
Hỏi lớp: —
Chuyển ý: Sau giải lao: phục vụ tốn bao nhiêu.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Phục vụ khách hàng nào làm Nova tốn công nhất? Không phải chi phí làm sự kiện — mà chi phí để phục vụ chính khách hàng đó.
Hỏi lớp: “Kể một khách hàng ‘tốn công’ bạn từng gặp — tốn ở đâu?”
Chuyển ý: Doanh số cao chưa chắc lợi nhuận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Shapiro và cộng sự, 1987, trên Harvard Business Review: lợi nhuận trên từng đơn hàng, từng khách hàng khác nhau rất lớn — và nhiều khi quản lý không hiểu vì sao. Hai nguyên nhân: giá thực nhận khác nhau, và chi phí phục vụ khác nhau. Tên bài nói hết: quản trị khách hàng vì lợi nhuận, không chỉ vì doanh số.
(GV: F03 — đã đọc tóm tắt/trang HBR khi soạn tư liệu.)
Hỏi lớp: —
Chuyển ý: Cost to serve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cost to serve là định lượng chi phí gắn với việc phục vụ, quản trị quan hệ khách hàng hằng ngày — thăm khách, soạn tài liệu, trả lời yêu cầu, xử lý khiếu nại, mời lãnh đạo cấp cao gặp khách; có thể dùng phương pháp tính chi phí theo hoạt động. Guerreiro và cộng sự, dẫn Kaplan: doanh nghiệp thường biết rõ chi phí làm ra sản phẩm nhưng ít biết chi phí phục vụ khách hàng — và chi phí đó phụ thuộc hành vi của khách. Một con số hay được dẫn — chưa kiểm chứng chéo: ở công ty Kanthal, 20% khách hàng tạo ra 225% tổng lợi nhuận, còn 10% khách hàng gây lỗ bằng 125% tổng lợi nhuận — đường cong “cá voi”.
(GV: Đã đối chiếu Marcos et al. (2018, tr. 210) “Cost to serve” và hộp trích dẫn (“effective KAM can significantly reduce the cost to serve by virtue of learning how the customer’s business really works”). F05: bài hội thảo, tin cậy trung bình; whale curve dẫn lại — ghi “chưa kiểm chứng chéo” khi nói.)
Hỏi lớp: —
Chuyển ý: Chi phí phục vụ nằm ở ba giai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chia chi phí liên quan đến một key account thành ba giai đoạn. Trước bán: hiểu nhu cầu, phân tích, thiết kế giải pháp, trình bày, theo đuổi đến khi ký — khác nhau vì có khách có quy trình mua dài, nhiều vòng, nhiều người, hay đòi lãnh đạo cấp cao của nhà cung cấp có mặt. Trong bán: chi phí gắn với việc giao dịch vụ đã bán — khác nhau vì yêu cầu riêng, điều kiện giao riêng. Sau bán: hỗ trợ, đào tạo, triển khai, điều chỉnh — khác nhau vì có khách cần giám sát, tư vấn sát, hay triển khai ở nhiều địa điểm.
(GV: Đã đối chiếu Marcos et al. (2018), Bảng 8.1 “Costs involved in KAM” (tr. 195) — bản gốc cho doanh nghiệp sản xuất (production, storage…); slide rút gọn và giữ các nguồn biến động áp dụng được cho dịch vụ.)
Hỏi lớp: —
Chuyển ý: Với agency sự kiện, chi phí phục vụ ẩn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sáu loại chi phí phục vụ ẩn — không nằm trong báo giá. Một: giờ làm việc của đội KAM, số buổi họp. Hai: sửa concept nhiều vòng — hai vòng hay sáu vòng. Ba: phát sinh ngoài phạm vi không tính tiền — scope creep, như ca Drakeley ở Buổi 2. Bốn: chi phí vốn do khách trả chậm, trong khi agency phải đặt cọc nhà cung cấp trước. Năm: đấu thầu lại mỗi năm — làm đề xuất, pitch. Sáu: nhân sự cấp cao phải có mặt.
(GV: W06 lecture notes §2.3 — nhận định đã duyệt. Đặt cọc nhà cung cấp nối Buổi 7 (back-to-back) và Buổi 10.)
Hỏi lớp: —
Chuyển ý: Tính thử một loại: chi phí vốn do trả chậm.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nhanh, giả định. Sông Xanh trả sau 90 ngày trên doanh thu 3.500 triệu; chi phí vốn của Nova 12% một năm. 3.500 nhân 12% nhân 90 trên 365 — khoảng 104 triệu mỗi năm. Đó là gần một phần ba lợi nhuận gộp của Sông Xanh — 350 triệu — chỉ vì thời hạn thanh toán. Nhớ McMillan và Woodruff ở Buổi 4: “tín dụng” là giá trị của quan hệ — nhưng nó có giá.
(GV: Tính kiểm: 3.500 × 0,12 × 90/365 = 103,6. Lợi nhuận gộp Sông Xanh = 3.500 × 10% = 350; 104/350 ≈ 30%. Khớp phiếu S3 (thành phần cost-to-serve của Sông Xanh).)
Hỏi lớp: —
Chuyển ý: Agency trên thế giới cũng gặp chuyện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Minh họa quốc tế — chưa kiểm chứng chéo. Một khảo sát 273 lãnh đạo agency ở Mỹ: 97% gặp khách trả chậm; 57% mất 1.000 đến 5.000 đô la mỗi tháng do scope creep; chỉ 16% yêu cầu khách trả đủ trước. Nói rõ: đây không phải agency sự kiện, không phải Việt Nam — chỉ minh họa xu hướng.
(GV: F07/S19 — số liệu một nguồn, “chưa kiểm chứng chéo”. Không có số liệu công khai về cost-to-serve của event agency Việt Nam (tư liệu Buổi 6, mục 5).)
Hỏi lớp: —
Chuyển ý: Cùng một mức lãi có thể đến từ hai câu chuyện rất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đưa hai khách hàng M và Z, cùng mang lại lợi nhuận 500. Nhưng M bán khối lượng lớn, biên thấp, tốn nhiều công trước bán. Z mua ít hơn, biên cao hơn, có thêm dịch vụ, và tốn nhiều công sau bán. Cùng con số cuối, nhưng câu hỏi quản trị khác nhau. Với M: tăng biên được không, hay làm khâu trước bán hiệu quả hơn? Với Z: bán thêm dịch vụ được không, mà làm hậu mãi hiệu quả hơn?
(GV: Đã đối chiếu Marcos et al. (2018), Bảng 8.2 “Example of profitability analysis for two customers” và đoạn giải thích (tr. 196): biên đóng góp M 28%, Z 41%. Slide rút bớt các dòng khối lượng, đơn giá, giá vốn.)
Hỏi lớp: —
Chuyển ý: Kiểm tra nhanh với năm khách hàng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khách hàng của Nova, giả định. MediPharm: doanh thu 1.200 triệu, biên lợi nhuận gộp 28%, cost-to-serve 120 triệu — 10% doanh thu — vì tuân thủ khắt khe, nhiều vòng duyệt pháp chế. Ngưỡng chia ô: biên 15%, cost-to-serve trên doanh thu 5%. MediPharm nằm ở ô nào? Giơ một đến bốn ngón.
(GV: Đáp án: 2 — biên cao, chi phí cao (28% &gt; 15%; 10% &gt; 5%).)
Hỏi lớp: Giơ 1–4 ngón.
Chuyển ý: Đáp án — và tên các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MediPharm ở ô biên cao, chi phí cao. Ma trận này là biến thể của môn từ Shapiro và cộng sự, 1987: trục ngang là cost-to-serve, trục dọc là biên lợi nhuận gộp. Bốn ô. Passive — biên cao, chi phí thấp: lợi nhất; giữ gìn, đầu tư quan hệ — Bright Future, An Phát. Carriage trade — biên cao, chi phí cao: lãi nếu giá bù được chi phí; kiểm soát chi phí phục vụ — MediPharm. Bargain basement — biên thấp, chi phí thấp: phục vụ chuẩn hóa, hiệu quả. Aggressive — biên thấp, chi phí cao: nguy cơ lỗ; cùng khách giảm chi phí, điều chỉnh phạm vi, giá — Sông Xanh. Bếp Việt nằm sát ranh giới.
(GV: Quyết định GV 3: ma trận Shapiro et al. (1987), trục dọc = biên lợi nhuận gộp, ghi rõ là biến thể của môn; tên bốn ô theo nguồn thứ cấp [VERIFY]. Đặt khách theo dữ liệu phiếu S6: An Phát 18%/3,5%; Bright Future 20%/3,3%; MediPharm 28%/10%; Sông Xanh 10%/7,1%; Bếp Việt 16%/6,1% (trên ngưỡng biên, trên ngưỡng chi phí → về số là Carriage trade, nhưng sát ranh giới). Ang &amp; Taylor (2005): ma trận Shapiro là mô hình đầu tiên gần với lợi nhuận khách hàng. [NEEDS PROFESSOR INPUT: tên gốc “Gross margin matrix” trong đề cương.])
Hỏi lớp: —
Chuyển ý: Giáo trình thêm một góc nhìn: công bằng cho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thêm một góc nhìn — gần nhất với chữ “công bằng” trong đề cương. Trục ngang: chi phí phục vụ khách hàng. Trục dọc: giá trung bình khách trả. Góc trên trái — giá cao, phục vụ ít tốn — agency được lợi. Góc dưới phải — giá thấp, phục vụ rất tốn — khách được lợi. Dải chéo ở giữa là vùng công bằng, cả hai cùng có lợi. Lệch xa đường chéo là dấu hiệu mất cân bằng quyền lực — nhớ sáu kiểu quan hệ ở Buổi 4. Giả định của giáo trình: quan hệ key account dễ kéo dài và phát triển hơn khi cả hai bên cùng được lợi một cách công bằng.
(GV: Đã đối chiếu Marcos et al. (2018), Hình 8.6 “The cost to serve vs average price analysis” (tr. 211) và đoạn tr. 210–211: “such an approach may help to uncover a situation of power imbalance… to move towards a fair distribution of financial costs and benefits”; “key account relationships are more likely to last and grow when both parties benefit from them in a fair way”. Đây là nguồn trực tiếp cho “ensuring bilateral benefits and fair relationships” của đề cương 6.2.)
Hỏi lớp: —
Chuyển ý: Vậy làm gì với khách hàng ở ô bất lợi?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McDonald, trong một bảng tự đánh giá: chúng tôi không bán lỗ cho khách hàng nào — chúng tôi phân tích chi phí phục vụ từng khách để chắc chắn điều đó. Nhưng không có nghĩa là ép khách. Giáo trình dẫn một chuyên gia: KAM tốt tự nó giảm chi phí phục vụ — vì agency hiểu khách hơn, bán cho cùng những người, cùng một chỗ. Nhiều chi phí phục vụ giảm được khi cùng khách thay đổi cách làm: lịch duyệt rõ, giới hạn số vòng sửa; gộp sự kiện thành hợp đồng năm; thanh toán theo tiến độ; phạm vi viết rõ, phát sinh có quy trình. Công bằng là khi cả hai cùng thấy quan hệ đáng giữ.
(GV: F06 — câu McDonald trong bảng tự đánh giá (Z05, Buổi 13). Marcos et al. (2018, tr. 210), hộp “Cost to serve: an important metric and a consequence of good KAM”. Quyết định GV 5 (thông điệp bilateral).)
Hỏi lớp: —
Chuyển ý: Ba lỗi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xếp hạng khách theo doanh thu, không theo đóng góp ròng — Sông Xanh trông như khách tốt nhất. Hai: chỉ nhìn lợi nhuận năm nay, quên kế hoạch tương lai của khách — như Construmart suýt đầu tư vào B. Ba: thấy khách lỗ là tăng giá hoặc bỏ — không ngồi lại cùng khách. Doanh thu là con số của khách; CLV là con số của quan hệ.
(GV: Câu chốt là của người soạn.)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chính khách hàng dễ bị dùng sai. Nên: nói rõ phần nào trong giá, phần nào là phát sinh; đưa số liệu chi phí phục vụ khi đề nghị khách đổi cách làm; giữ bí mật số liệu tài chính của khách. Không: bù lỗ bằng cách cắt chất lượng mà không báo; đội giá phát sinh vì khách không biết giá; ưu ái khách có CLV cao bằng cách làm ẩu cho khách khác. Phân hạng khách là để phân bổ nguồn lực — không phải để đối xử thiếu chuyên nghiệp với ai.
(GV: Nối CLO8 và Buổi 4 (ethical interaction capability, Buổi 5). Nguyên tắc nghề nghiệp, không phải quy định pháp lý.)
Hỏi lớp: —
Chuyển ý: Thực hành 2: ma trận cho năm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bảng năm khách hàng; ngưỡng biên 15%, cost-to-serve trên doanh thu 5%. Mười ba phút: trên A1, đặt năm khách lên ma trận, chấm to theo doanh thu; chọn hai khách ở ô bất lợi, mỗi khách một hành động Nova bàn cùng khách — Nova được gì, khách được gì. Tám phút: xoay trạm hai vòng — vòng một đóng vai anh Đức, CEO Nova, để lại một câu hỏi về lợi nhuận; vòng hai đóng vai anh Khoa của An Phát, để lại một lo ngại: đề xuất này có công bằng với khách không. Sáu phút: về bàn sửa một hành động. Mục tiêu không phải cắt khách lỗ, mà tìm hành động cả hai cùng thấy hợp lý.
(GV: Phiếu W06_activity_S6_ma_tran_cost_to_serve.md. Mốc phút 93–123. Chiếu slide 24 (ma trận) và 25 (vùng công bằng).)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6. Mục 6.1: CLV là đóng góp ròng nhiều năm, chiết khấu về hôm nay; rất nhạy với tỷ lệ giữ chân; và cần cả kế hoạch tương lai của khách. Mục 6.2: doanh số không phải lợi nhuận; cost-to-serve phụ thuộc hành vi khách, nằm ở cả trước, trong và sau bán; agency có nhiều chi phí ẩn. Ma trận biên lợi nhuận và cost-to-serve giúp chọn hành động; vùng công bằng là khi giá tương xứng với chi phí — có lợi cho cả hai. Với kế hoạch cuối kỳ: phần B — Value Opportunities — CLV và vị trí trên ma trận của khách hàng dự án cũ, ghi rõ giả định. Đây cũng là nền cho câu hỏi về logic tài chính ở Buổi 14–15.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CLV tính trên đóng góp ròng chứ không trên doanh thu? Hai: kể ba loại cost-to-serve ẩn của agency sự kiện. Ba: trong hình vùng công bằng, khách ở góc dưới phải nghĩa là gì — và nên làm gì?
(GV: Gợi ý: (1) doanh thu chưa trừ giá vốn và chi phí phục vụ; (2) sửa nhiều vòng, scope creep, trả chậm, đấu thầu lại, nhân sự cấp cao, giờ họp; (3) giá thấp, phục vụ rất tốn — khách được lợi, agency chịu thiệt; ngồi lại cùng khách để giảm chi phí phục vụ hoặc điều chỉnh giá, phạm vi.)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nếu tỷ lệ tái ký của An Phát giảm từ 85% xuống 70%, CLV thay đổi thế nào — vì sao? Hai: hai thành phần cost-to-serve lớn nhất với khách hàng trong dự án cũ của nhóm là gì — có cách nào cùng khách hàng giảm chúng?
(GV: Xem: (a) hiểu CLV nhạy với tỷ lệ giữ chân; (b) đề xuất giảm chi phí cùng khách hàng, không chỉ tăng giá.)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Biết khách hàng đáng bao nhiêu và tốn bao nhiêu, ta mới đàm phán được. Buổi 7: hiểu phòng mua sắm của khách hàng, ma trận Kraljic, và đàm phán dựa trên giá trị. Mang theo máy tính, ảnh ma trận và bảng CLV, hồ sơ dự án cũ.
(GV: [NEEDS PROFESSOR INPUT: nếu AM2 có bài cho Buổi 6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6, theo APA 7. Chương 8 của Marcos và cộng sự là phần đọc thêm.
(GV: Khảo sát agency (F07): xem S19 trong buoi-07_tu-lieu-tong-hop.md. Danh sách tác giả Gupta et al. (2006) [VERIFY].)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6: Tài chính trong KAM</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6</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hàng mang lại doanh thu lớn nhất có phải khách hàng đáng giá nhất?</a:t>
            </a:r>
            <a:endParaRPr lang="en-US" sz="2800" dirty="0"/>
          </a:p>
        </p:txBody>
      </p:sp>
      <p:sp>
        <p:nvSpPr>
          <p:cNvPr id="3" name="Shape 1"/>
          <p:cNvSpPr/>
          <p:nvPr/>
        </p:nvSpPr>
        <p:spPr>
          <a:xfrm>
            <a:off x="548640" y="1783080"/>
            <a:ext cx="3246120" cy="3931920"/>
          </a:xfrm>
          <a:prstGeom prst="roundRect">
            <a:avLst>
              <a:gd name="adj" fmla="val 2254"/>
            </a:avLst>
          </a:prstGeom>
          <a:solidFill>
            <a:srgbClr val="22395F"/>
          </a:solidFill>
          <a:ln w="12700">
            <a:solidFill>
              <a:srgbClr val="22395F"/>
            </a:solidFill>
            <a:prstDash val="solid"/>
          </a:ln>
        </p:spPr>
      </p:sp>
      <p:sp>
        <p:nvSpPr>
          <p:cNvPr id="4" name="Shape 2"/>
          <p:cNvSpPr/>
          <p:nvPr/>
        </p:nvSpPr>
        <p:spPr>
          <a:xfrm>
            <a:off x="1645920" y="196596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867205" y="2187245"/>
            <a:ext cx="563270" cy="563270"/>
          </a:xfrm>
          <a:prstGeom prst="rect">
            <a:avLst/>
          </a:prstGeom>
        </p:spPr>
      </p:pic>
      <p:sp>
        <p:nvSpPr>
          <p:cNvPr id="6" name="Text 3"/>
          <p:cNvSpPr txBox="1"/>
          <p:nvPr/>
        </p:nvSpPr>
        <p:spPr>
          <a:xfrm>
            <a:off x="685800" y="3108960"/>
            <a:ext cx="2971800" cy="64008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Alexandria" pitchFamily="34" charset="0"/>
                <a:ea typeface="Alexandria" pitchFamily="34" charset="-122"/>
                <a:cs typeface="Alexandria" pitchFamily="34" charset="-120"/>
              </a:rPr>
              <a:t>Địa ốc Sông Xanh</a:t>
            </a:r>
            <a:endParaRPr lang="en-US" sz="1900" dirty="0"/>
          </a:p>
        </p:txBody>
      </p:sp>
      <p:sp>
        <p:nvSpPr>
          <p:cNvPr id="7" name="Text 4"/>
          <p:cNvSpPr txBox="1"/>
          <p:nvPr/>
        </p:nvSpPr>
        <p:spPr>
          <a:xfrm>
            <a:off x="685800" y="3794760"/>
            <a:ext cx="2971800" cy="822960"/>
          </a:xfrm>
          <a:prstGeom prst="rect">
            <a:avLst/>
          </a:prstGeom>
          <a:noFill/>
          <a:ln/>
        </p:spPr>
        <p:txBody>
          <a:bodyPr wrap="square" lIns="635" tIns="635" rIns="635" bIns="635" rtlCol="0" anchor="ctr"/>
          <a:lstStyle/>
          <a:p>
            <a:pPr algn="ctr" indent="0" marL="0">
              <a:buNone/>
            </a:pPr>
            <a:r>
              <a:rPr lang="en-US" sz="3600" b="1" dirty="0">
                <a:solidFill>
                  <a:srgbClr val="FBFAF4"/>
                </a:solidFill>
                <a:latin typeface="Alexandria" pitchFamily="34" charset="0"/>
                <a:ea typeface="Alexandria" pitchFamily="34" charset="-122"/>
                <a:cs typeface="Alexandria" pitchFamily="34" charset="-120"/>
              </a:rPr>
              <a:t>3.500</a:t>
            </a:r>
            <a:endParaRPr lang="en-US" sz="3600" dirty="0"/>
          </a:p>
        </p:txBody>
      </p:sp>
      <p:sp>
        <p:nvSpPr>
          <p:cNvPr id="8" name="Text 5"/>
          <p:cNvSpPr txBox="1"/>
          <p:nvPr/>
        </p:nvSpPr>
        <p:spPr>
          <a:xfrm>
            <a:off x="685800" y="4663440"/>
            <a:ext cx="297180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triệu doanh thu/năm cho Nova</a:t>
            </a:r>
            <a:endParaRPr lang="en-US" sz="1400" dirty="0"/>
          </a:p>
        </p:txBody>
      </p:sp>
      <p:sp>
        <p:nvSpPr>
          <p:cNvPr id="9" name="Shape 6"/>
          <p:cNvSpPr/>
          <p:nvPr/>
        </p:nvSpPr>
        <p:spPr>
          <a:xfrm>
            <a:off x="3977640" y="1783080"/>
            <a:ext cx="3246120" cy="3931920"/>
          </a:xfrm>
          <a:prstGeom prst="roundRect">
            <a:avLst>
              <a:gd name="adj" fmla="val 2254"/>
            </a:avLst>
          </a:prstGeom>
          <a:solidFill>
            <a:srgbClr val="22395F"/>
          </a:solidFill>
          <a:ln w="12700">
            <a:solidFill>
              <a:srgbClr val="22395F"/>
            </a:solidFill>
            <a:prstDash val="solid"/>
          </a:ln>
        </p:spPr>
      </p:sp>
      <p:sp>
        <p:nvSpPr>
          <p:cNvPr id="10" name="Shape 7"/>
          <p:cNvSpPr/>
          <p:nvPr/>
        </p:nvSpPr>
        <p:spPr>
          <a:xfrm>
            <a:off x="5074920" y="1965960"/>
            <a:ext cx="1005840" cy="10058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296205" y="2187245"/>
            <a:ext cx="563270" cy="563270"/>
          </a:xfrm>
          <a:prstGeom prst="rect">
            <a:avLst/>
          </a:prstGeom>
        </p:spPr>
      </p:pic>
      <p:sp>
        <p:nvSpPr>
          <p:cNvPr id="12" name="Text 8"/>
          <p:cNvSpPr txBox="1"/>
          <p:nvPr/>
        </p:nvSpPr>
        <p:spPr>
          <a:xfrm>
            <a:off x="4114800" y="3108960"/>
            <a:ext cx="2971800" cy="64008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Alexandria" pitchFamily="34" charset="0"/>
                <a:ea typeface="Alexandria" pitchFamily="34" charset="-122"/>
                <a:cs typeface="Alexandria" pitchFamily="34" charset="-120"/>
              </a:rPr>
              <a:t>Ngân hàng An Phát</a:t>
            </a:r>
            <a:endParaRPr lang="en-US" sz="1900" dirty="0"/>
          </a:p>
        </p:txBody>
      </p:sp>
      <p:sp>
        <p:nvSpPr>
          <p:cNvPr id="13" name="Text 9"/>
          <p:cNvSpPr txBox="1"/>
          <p:nvPr/>
        </p:nvSpPr>
        <p:spPr>
          <a:xfrm>
            <a:off x="4114800" y="3794760"/>
            <a:ext cx="2971800" cy="822960"/>
          </a:xfrm>
          <a:prstGeom prst="rect">
            <a:avLst/>
          </a:prstGeom>
          <a:noFill/>
          <a:ln/>
        </p:spPr>
        <p:txBody>
          <a:bodyPr wrap="square" lIns="635" tIns="635" rIns="635" bIns="635" rtlCol="0" anchor="ctr"/>
          <a:lstStyle/>
          <a:p>
            <a:pPr algn="ctr" indent="0" marL="0">
              <a:buNone/>
            </a:pPr>
            <a:r>
              <a:rPr lang="en-US" sz="3600" b="1" dirty="0">
                <a:solidFill>
                  <a:srgbClr val="FBFAF4"/>
                </a:solidFill>
                <a:latin typeface="Alexandria" pitchFamily="34" charset="0"/>
                <a:ea typeface="Alexandria" pitchFamily="34" charset="-122"/>
                <a:cs typeface="Alexandria" pitchFamily="34" charset="-120"/>
              </a:rPr>
              <a:t>2.300</a:t>
            </a:r>
            <a:endParaRPr lang="en-US" sz="3600" dirty="0"/>
          </a:p>
        </p:txBody>
      </p:sp>
      <p:sp>
        <p:nvSpPr>
          <p:cNvPr id="14" name="Text 10"/>
          <p:cNvSpPr txBox="1"/>
          <p:nvPr/>
        </p:nvSpPr>
        <p:spPr>
          <a:xfrm>
            <a:off x="4114800" y="4663440"/>
            <a:ext cx="297180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Alexandria" pitchFamily="34" charset="0"/>
                <a:ea typeface="Alexandria" pitchFamily="34" charset="-122"/>
                <a:cs typeface="Alexandria" pitchFamily="34" charset="-120"/>
              </a:rPr>
              <a:t>triệu doanh thu/năm cho Nova</a:t>
            </a:r>
            <a:endParaRPr lang="en-US" sz="1400" dirty="0"/>
          </a:p>
        </p:txBody>
      </p:sp>
      <p:sp>
        <p:nvSpPr>
          <p:cNvPr id="15" name="Shape 11"/>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16" name="Text 12"/>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Alexandria" pitchFamily="34" charset="0"/>
                <a:ea typeface="Alexandria" pitchFamily="34" charset="-122"/>
                <a:cs typeface="Alexandria" pitchFamily="34" charset="-120"/>
              </a:rPr>
              <a:t>Giơ tay: khách hàng nào đáng giá hơn với Nova?</a:t>
            </a:r>
            <a:endParaRPr lang="en-US" sz="1800" dirty="0"/>
          </a:p>
        </p:txBody>
      </p:sp>
      <p:sp>
        <p:nvSpPr>
          <p:cNvPr id="17" name="Shape 13"/>
          <p:cNvSpPr/>
          <p:nvPr/>
        </p:nvSpPr>
        <p:spPr>
          <a:xfrm>
            <a:off x="7772400" y="3200400"/>
            <a:ext cx="3593592" cy="868680"/>
          </a:xfrm>
          <a:prstGeom prst="roundRect">
            <a:avLst>
              <a:gd name="adj" fmla="val 8421"/>
            </a:avLst>
          </a:prstGeom>
          <a:solidFill>
            <a:srgbClr val="FF5178"/>
          </a:solidFill>
          <a:ln w="12700">
            <a:solidFill>
              <a:srgbClr val="FF5178"/>
            </a:solidFill>
            <a:prstDash val="solid"/>
          </a:ln>
        </p:spPr>
      </p:sp>
      <p:sp>
        <p:nvSpPr>
          <p:cNvPr id="18" name="Text 14"/>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Sông Xanh</a:t>
            </a:r>
            <a:endParaRPr lang="en-US" sz="2200" dirty="0"/>
          </a:p>
        </p:txBody>
      </p:sp>
      <p:sp>
        <p:nvSpPr>
          <p:cNvPr id="19" name="Shape 15"/>
          <p:cNvSpPr/>
          <p:nvPr/>
        </p:nvSpPr>
        <p:spPr>
          <a:xfrm>
            <a:off x="7772400" y="4297680"/>
            <a:ext cx="3593592" cy="868680"/>
          </a:xfrm>
          <a:prstGeom prst="roundRect">
            <a:avLst>
              <a:gd name="adj" fmla="val 8421"/>
            </a:avLst>
          </a:prstGeom>
          <a:solidFill>
            <a:srgbClr val="49B296"/>
          </a:solidFill>
          <a:ln w="12700">
            <a:solidFill>
              <a:srgbClr val="49B296"/>
            </a:solidFill>
            <a:prstDash val="solid"/>
          </a:ln>
        </p:spPr>
      </p:sp>
      <p:sp>
        <p:nvSpPr>
          <p:cNvPr id="20" name="Text 16"/>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An Phát</a:t>
            </a:r>
            <a:endParaRPr lang="en-US" sz="2200" dirty="0"/>
          </a:p>
        </p:txBody>
      </p:sp>
      <p:sp>
        <p:nvSpPr>
          <p:cNvPr id="21" name="Text 17"/>
          <p:cNvSpPr txBox="1"/>
          <p:nvPr/>
        </p:nvSpPr>
        <p:spPr>
          <a:xfrm>
            <a:off x="548640" y="5806440"/>
            <a:ext cx="6400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 — hai khách hàng từ Buổi 2)</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Doanh thu chỉ là một phần: còn lãi bao nhiêu, phục vụ tốn bao nhiêu, và ở lại bao lâu</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49B296"/>
                </a:solidFill>
                <a:latin typeface="Alexandria" pitchFamily="34" charset="0"/>
                <a:ea typeface="Alexandria" pitchFamily="34" charset="-122"/>
                <a:cs typeface="Alexandria" pitchFamily="34" charset="-120"/>
              </a:rPr>
              <a:t>Lãi bao nhiêu?</a:t>
            </a:r>
            <a:endParaRPr lang="en-US" sz="2100" dirty="0"/>
          </a:p>
        </p:txBody>
      </p:sp>
      <p:sp>
        <p:nvSpPr>
          <p:cNvPr id="7" name="Text 4"/>
          <p:cNvSpPr txBox="1"/>
          <p:nvPr/>
        </p:nvSpPr>
        <p:spPr>
          <a:xfrm>
            <a:off x="731520"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Alexandria" pitchFamily="34" charset="0"/>
                <a:ea typeface="Alexandria" pitchFamily="34" charset="-122"/>
                <a:cs typeface="Alexandria" pitchFamily="34" charset="-120"/>
              </a:rPr>
              <a:t>biên lợi nhuận gộp</a:t>
            </a:r>
            <a:endParaRPr lang="en-US" sz="1600" dirty="0"/>
          </a:p>
        </p:txBody>
      </p:sp>
      <p:sp>
        <p:nvSpPr>
          <p:cNvPr id="8"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FFD23B"/>
                </a:solidFill>
                <a:latin typeface="Alexandria" pitchFamily="34" charset="0"/>
                <a:ea typeface="Alexandria" pitchFamily="34" charset="-122"/>
                <a:cs typeface="Alexandria" pitchFamily="34" charset="-120"/>
              </a:rPr>
              <a:t>Phục vụ tốn bao nhiêu?</a:t>
            </a:r>
            <a:endParaRPr lang="en-US" sz="2100" dirty="0"/>
          </a:p>
        </p:txBody>
      </p:sp>
      <p:sp>
        <p:nvSpPr>
          <p:cNvPr id="12" name="Text 8"/>
          <p:cNvSpPr txBox="1"/>
          <p:nvPr/>
        </p:nvSpPr>
        <p:spPr>
          <a:xfrm>
            <a:off x="4507992"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Alexandria" pitchFamily="34" charset="0"/>
                <a:ea typeface="Alexandria" pitchFamily="34" charset="-122"/>
                <a:cs typeface="Alexandria" pitchFamily="34" charset="-120"/>
              </a:rPr>
              <a:t>cost-to-serve</a:t>
            </a:r>
            <a:endParaRPr lang="en-US" sz="1600" dirty="0"/>
          </a:p>
        </p:txBody>
      </p:sp>
      <p:sp>
        <p:nvSpPr>
          <p:cNvPr id="13"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FF5178"/>
                </a:solidFill>
                <a:latin typeface="Alexandria" pitchFamily="34" charset="0"/>
                <a:ea typeface="Alexandria" pitchFamily="34" charset="-122"/>
                <a:cs typeface="Alexandria" pitchFamily="34" charset="-120"/>
              </a:rPr>
              <a:t>Ở lại bao lâu?</a:t>
            </a:r>
            <a:endParaRPr lang="en-US" sz="2100" dirty="0"/>
          </a:p>
        </p:txBody>
      </p:sp>
      <p:sp>
        <p:nvSpPr>
          <p:cNvPr id="17" name="Text 12"/>
          <p:cNvSpPr txBox="1"/>
          <p:nvPr/>
        </p:nvSpPr>
        <p:spPr>
          <a:xfrm>
            <a:off x="8284464"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Alexandria" pitchFamily="34" charset="0"/>
                <a:ea typeface="Alexandria" pitchFamily="34" charset="-122"/>
                <a:cs typeface="Alexandria" pitchFamily="34" charset="-120"/>
              </a:rPr>
              <a:t>tỷ lệ giữ chân</a:t>
            </a:r>
            <a:endParaRPr lang="en-US" sz="1600" dirty="0"/>
          </a:p>
        </p:txBody>
      </p:sp>
      <p:sp>
        <p:nvSpPr>
          <p:cNvPr id="18" name="Text 13"/>
          <p:cNvSpPr txBox="1"/>
          <p:nvPr/>
        </p:nvSpPr>
        <p:spPr>
          <a:xfrm>
            <a:off x="548640" y="5303520"/>
            <a:ext cx="11091672" cy="7315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Đề cương 6.1: CLV cho định hướng dài hạn · 6.2: cost-to-serve, ma trận biên lợi nhuận — lợi ích hai phía và quan hệ công bằng.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Giáo trình đo hiệu quả KAM bằng kết quả tài chính, kết quả quan hệ — và các quá trình phía trước</a:t>
            </a:r>
            <a:endParaRPr lang="en-US" sz="2800" dirty="0"/>
          </a:p>
        </p:txBody>
      </p:sp>
      <p:sp>
        <p:nvSpPr>
          <p:cNvPr id="3" name="Shape 1"/>
          <p:cNvSpPr/>
          <p:nvPr/>
        </p:nvSpPr>
        <p:spPr>
          <a:xfrm>
            <a:off x="548640" y="1783080"/>
            <a:ext cx="5394960"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731520" y="178308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Chỉ số kết quả</a:t>
            </a:r>
            <a:endParaRPr lang="en-US" sz="1700" dirty="0"/>
          </a:p>
        </p:txBody>
      </p:sp>
      <p:sp>
        <p:nvSpPr>
          <p:cNvPr id="5" name="Shape 3"/>
          <p:cNvSpPr/>
          <p:nvPr/>
        </p:nvSpPr>
        <p:spPr>
          <a:xfrm>
            <a:off x="548640" y="2423160"/>
            <a:ext cx="2606040" cy="2651760"/>
          </a:xfrm>
          <a:prstGeom prst="roundRect">
            <a:avLst>
              <a:gd name="adj" fmla="val 2807"/>
            </a:avLst>
          </a:prstGeom>
          <a:solidFill>
            <a:srgbClr val="22395F"/>
          </a:solidFill>
          <a:ln w="12700">
            <a:solidFill>
              <a:srgbClr val="22395F"/>
            </a:solidFill>
            <a:prstDash val="solid"/>
          </a:ln>
        </p:spPr>
      </p:sp>
      <p:sp>
        <p:nvSpPr>
          <p:cNvPr id="6" name="Text 4"/>
          <p:cNvSpPr txBox="1"/>
          <p:nvPr/>
        </p:nvSpPr>
        <p:spPr>
          <a:xfrm>
            <a:off x="731520" y="2514600"/>
            <a:ext cx="2286000" cy="2468880"/>
          </a:xfrm>
          <a:prstGeom prst="rect">
            <a:avLst/>
          </a:prstGeom>
          <a:noFill/>
          <a:ln/>
        </p:spPr>
        <p:txBody>
          <a:bodyPr wrap="square" lIns="635" tIns="635" rIns="635" bIns="635" rtlCol="0" anchor="t"/>
          <a:lstStyle/>
          <a:p>
            <a:pPr indent="0" marL="0">
              <a:spcAft>
                <a:spcPts val="600"/>
              </a:spcAft>
              <a:buNone/>
            </a:pPr>
            <a:r>
              <a:rPr lang="en-US" sz="1500" b="1" dirty="0">
                <a:solidFill>
                  <a:srgbClr val="FFD23B"/>
                </a:solidFill>
                <a:latin typeface="Alexandria" pitchFamily="34" charset="0"/>
                <a:ea typeface="Alexandria" pitchFamily="34" charset="-122"/>
                <a:cs typeface="Alexandria" pitchFamily="34" charset="-120"/>
              </a:rPr>
              <a:t>Tài chính</a:t>
            </a:r>
            <a:endParaRPr lang="en-US" sz="1500" dirty="0"/>
          </a:p>
          <a:p>
            <a:pPr indent="0" marL="0">
              <a:spcAft>
                <a:spcPts val="600"/>
              </a:spcAft>
              <a:buNone/>
            </a:pPr>
            <a:r>
              <a:rPr lang="en-US" sz="1500" dirty="0">
                <a:solidFill>
                  <a:srgbClr val="FBFAF4"/>
                </a:solidFill>
                <a:latin typeface="Alexandria" pitchFamily="34" charset="0"/>
                <a:ea typeface="Alexandria" pitchFamily="34" charset="-122"/>
                <a:cs typeface="Alexandria" pitchFamily="34" charset="-120"/>
              </a:rPr>
              <a:t>Tăng trưởng doanh thu</a:t>
            </a:r>
            <a:endParaRPr lang="en-US" sz="1500" dirty="0"/>
          </a:p>
          <a:p>
            <a:pPr indent="0" marL="0">
              <a:spcAft>
                <a:spcPts val="600"/>
              </a:spcAft>
              <a:buNone/>
            </a:pPr>
            <a:r>
              <a:rPr lang="en-US" sz="1500" dirty="0">
                <a:solidFill>
                  <a:srgbClr val="FBFAF4"/>
                </a:solidFill>
                <a:latin typeface="Alexandria" pitchFamily="34" charset="0"/>
                <a:ea typeface="Alexandria" pitchFamily="34" charset="-122"/>
                <a:cs typeface="Alexandria" pitchFamily="34" charset="-120"/>
              </a:rPr>
              <a:t>Lợi nhuận</a:t>
            </a:r>
            <a:endParaRPr lang="en-US" sz="1500" dirty="0"/>
          </a:p>
          <a:p>
            <a:pPr indent="0" marL="0">
              <a:spcAft>
                <a:spcPts val="600"/>
              </a:spcAft>
              <a:buNone/>
            </a:pPr>
            <a:r>
              <a:rPr lang="en-US" sz="1500" b="1" dirty="0">
                <a:solidFill>
                  <a:srgbClr val="FFD23B"/>
                </a:solidFill>
                <a:latin typeface="Alexandria" pitchFamily="34" charset="0"/>
                <a:ea typeface="Alexandria" pitchFamily="34" charset="-122"/>
                <a:cs typeface="Alexandria" pitchFamily="34" charset="-120"/>
              </a:rPr>
              <a:t>Giá trị vòng đời ★</a:t>
            </a:r>
            <a:endParaRPr lang="en-US" sz="1500" dirty="0"/>
          </a:p>
        </p:txBody>
      </p:sp>
      <p:sp>
        <p:nvSpPr>
          <p:cNvPr id="7" name="Shape 5"/>
          <p:cNvSpPr/>
          <p:nvPr/>
        </p:nvSpPr>
        <p:spPr>
          <a:xfrm>
            <a:off x="3337560" y="2423160"/>
            <a:ext cx="2606040" cy="2651760"/>
          </a:xfrm>
          <a:prstGeom prst="roundRect">
            <a:avLst>
              <a:gd name="adj" fmla="val 2807"/>
            </a:avLst>
          </a:prstGeom>
          <a:solidFill>
            <a:srgbClr val="22395F"/>
          </a:solidFill>
          <a:ln w="12700">
            <a:solidFill>
              <a:srgbClr val="22395F"/>
            </a:solidFill>
            <a:prstDash val="solid"/>
          </a:ln>
        </p:spPr>
      </p:sp>
      <p:sp>
        <p:nvSpPr>
          <p:cNvPr id="8" name="Text 6"/>
          <p:cNvSpPr txBox="1"/>
          <p:nvPr/>
        </p:nvSpPr>
        <p:spPr>
          <a:xfrm>
            <a:off x="3520440" y="2514600"/>
            <a:ext cx="2286000" cy="2468880"/>
          </a:xfrm>
          <a:prstGeom prst="rect">
            <a:avLst/>
          </a:prstGeom>
          <a:noFill/>
          <a:ln/>
        </p:spPr>
        <p:txBody>
          <a:bodyPr wrap="square" lIns="635" tIns="635" rIns="635" bIns="635" rtlCol="0" anchor="t"/>
          <a:lstStyle/>
          <a:p>
            <a:pPr indent="0" marL="0">
              <a:spcAft>
                <a:spcPts val="600"/>
              </a:spcAft>
              <a:buNone/>
            </a:pPr>
            <a:r>
              <a:rPr lang="en-US" sz="1500" b="1" dirty="0">
                <a:solidFill>
                  <a:srgbClr val="49B296"/>
                </a:solidFill>
                <a:latin typeface="Alexandria" pitchFamily="34" charset="0"/>
                <a:ea typeface="Alexandria" pitchFamily="34" charset="-122"/>
                <a:cs typeface="Alexandria" pitchFamily="34" charset="-120"/>
              </a:rPr>
              <a:t>Quan hệ</a:t>
            </a:r>
            <a:endParaRPr lang="en-US" sz="1500" dirty="0"/>
          </a:p>
          <a:p>
            <a:pPr indent="0" marL="0">
              <a:spcAft>
                <a:spcPts val="600"/>
              </a:spcAft>
              <a:buNone/>
            </a:pPr>
            <a:r>
              <a:rPr lang="en-US" sz="1500" dirty="0">
                <a:solidFill>
                  <a:srgbClr val="FBFAF4"/>
                </a:solidFill>
                <a:latin typeface="Alexandria" pitchFamily="34" charset="0"/>
                <a:ea typeface="Alexandria" pitchFamily="34" charset="-122"/>
                <a:cs typeface="Alexandria" pitchFamily="34" charset="-120"/>
              </a:rPr>
              <a:t>Hài lòng</a:t>
            </a:r>
            <a:endParaRPr lang="en-US" sz="1500" dirty="0"/>
          </a:p>
          <a:p>
            <a:pPr indent="0" marL="0">
              <a:spcAft>
                <a:spcPts val="600"/>
              </a:spcAft>
              <a:buNone/>
            </a:pPr>
            <a:r>
              <a:rPr lang="en-US" sz="1500" dirty="0">
                <a:solidFill>
                  <a:srgbClr val="FBFAF4"/>
                </a:solidFill>
                <a:latin typeface="Alexandria" pitchFamily="34" charset="0"/>
                <a:ea typeface="Alexandria" pitchFamily="34" charset="-122"/>
                <a:cs typeface="Alexandria" pitchFamily="34" charset="-120"/>
              </a:rPr>
              <a:t>Trung thành</a:t>
            </a:r>
            <a:endParaRPr lang="en-US" sz="1500" dirty="0"/>
          </a:p>
          <a:p>
            <a:pPr indent="0" marL="0">
              <a:spcAft>
                <a:spcPts val="600"/>
              </a:spcAft>
              <a:buNone/>
            </a:pPr>
            <a:r>
              <a:rPr lang="en-US" sz="1500" dirty="0">
                <a:solidFill>
                  <a:srgbClr val="FBFAF4"/>
                </a:solidFill>
                <a:latin typeface="Alexandria" pitchFamily="34" charset="0"/>
                <a:ea typeface="Alexandria" pitchFamily="34" charset="-122"/>
                <a:cs typeface="Alexandria" pitchFamily="34" charset="-120"/>
              </a:rPr>
              <a:t>Chất lượng quan hệ (B4)</a:t>
            </a:r>
            <a:endParaRPr lang="en-US" sz="1500" dirty="0"/>
          </a:p>
        </p:txBody>
      </p:sp>
      <p:sp>
        <p:nvSpPr>
          <p:cNvPr id="9" name="Shape 7"/>
          <p:cNvSpPr/>
          <p:nvPr/>
        </p:nvSpPr>
        <p:spPr>
          <a:xfrm>
            <a:off x="6245352" y="1783080"/>
            <a:ext cx="5394960" cy="548640"/>
          </a:xfrm>
          <a:prstGeom prst="roundRect">
            <a:avLst>
              <a:gd name="adj" fmla="val 13333"/>
            </a:avLst>
          </a:prstGeom>
          <a:solidFill>
            <a:srgbClr val="09A1E5"/>
          </a:solidFill>
          <a:ln w="12700">
            <a:solidFill>
              <a:srgbClr val="09A1E5"/>
            </a:solidFill>
            <a:prstDash val="solid"/>
          </a:ln>
        </p:spPr>
      </p:sp>
      <p:sp>
        <p:nvSpPr>
          <p:cNvPr id="10" name="Text 8"/>
          <p:cNvSpPr txBox="1"/>
          <p:nvPr/>
        </p:nvSpPr>
        <p:spPr>
          <a:xfrm>
            <a:off x="6428232" y="178308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Chỉ số quá trình</a:t>
            </a:r>
            <a:endParaRPr lang="en-US" sz="1700" dirty="0"/>
          </a:p>
        </p:txBody>
      </p:sp>
      <p:sp>
        <p:nvSpPr>
          <p:cNvPr id="11" name="Shape 9"/>
          <p:cNvSpPr/>
          <p:nvPr/>
        </p:nvSpPr>
        <p:spPr>
          <a:xfrm>
            <a:off x="6245352" y="2423160"/>
            <a:ext cx="1691640" cy="2651760"/>
          </a:xfrm>
          <a:prstGeom prst="roundRect">
            <a:avLst>
              <a:gd name="adj" fmla="val 4324"/>
            </a:avLst>
          </a:prstGeom>
          <a:solidFill>
            <a:srgbClr val="22395F"/>
          </a:solidFill>
          <a:ln w="12700">
            <a:solidFill>
              <a:srgbClr val="22395F"/>
            </a:solidFill>
            <a:prstDash val="solid"/>
          </a:ln>
        </p:spPr>
      </p:sp>
      <p:sp>
        <p:nvSpPr>
          <p:cNvPr id="12" name="Text 10"/>
          <p:cNvSpPr txBox="1"/>
          <p:nvPr/>
        </p:nvSpPr>
        <p:spPr>
          <a:xfrm>
            <a:off x="6336792"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D23B"/>
                </a:solidFill>
                <a:latin typeface="Alexandria" pitchFamily="34" charset="0"/>
                <a:ea typeface="Alexandria" pitchFamily="34" charset="-122"/>
                <a:cs typeface="Alexandria" pitchFamily="34" charset="-120"/>
              </a:rPr>
              <a:t>Phục vụ khách</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Gói dịch vụ</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Giải pháp</a:t>
            </a:r>
            <a:endParaRPr lang="en-US" sz="1300" dirty="0"/>
          </a:p>
          <a:p>
            <a:pPr indent="0" marL="0">
              <a:spcAft>
                <a:spcPts val="600"/>
              </a:spcAft>
              <a:buNone/>
            </a:pPr>
            <a:r>
              <a:rPr lang="en-US" sz="1300" b="1" dirty="0">
                <a:solidFill>
                  <a:srgbClr val="FFD23B"/>
                </a:solidFill>
                <a:latin typeface="Alexandria" pitchFamily="34" charset="0"/>
                <a:ea typeface="Alexandria" pitchFamily="34" charset="-122"/>
                <a:cs typeface="Alexandria" pitchFamily="34" charset="-120"/>
              </a:rPr>
              <a:t>Cost to serve ★</a:t>
            </a:r>
            <a:endParaRPr lang="en-US" sz="1300" dirty="0"/>
          </a:p>
        </p:txBody>
      </p:sp>
      <p:sp>
        <p:nvSpPr>
          <p:cNvPr id="13" name="Shape 11"/>
          <p:cNvSpPr/>
          <p:nvPr/>
        </p:nvSpPr>
        <p:spPr>
          <a:xfrm>
            <a:off x="8092440" y="2423160"/>
            <a:ext cx="1691640" cy="2651760"/>
          </a:xfrm>
          <a:prstGeom prst="roundRect">
            <a:avLst>
              <a:gd name="adj" fmla="val 4324"/>
            </a:avLst>
          </a:prstGeom>
          <a:solidFill>
            <a:srgbClr val="22395F"/>
          </a:solidFill>
          <a:ln w="12700">
            <a:solidFill>
              <a:srgbClr val="22395F"/>
            </a:solidFill>
            <a:prstDash val="solid"/>
          </a:ln>
        </p:spPr>
      </p:sp>
      <p:sp>
        <p:nvSpPr>
          <p:cNvPr id="14" name="Text 12"/>
          <p:cNvSpPr txBox="1"/>
          <p:nvPr/>
        </p:nvSpPr>
        <p:spPr>
          <a:xfrm>
            <a:off x="8183880"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5178"/>
                </a:solidFill>
                <a:latin typeface="Alexandria" pitchFamily="34" charset="0"/>
                <a:ea typeface="Alexandria" pitchFamily="34" charset="-122"/>
                <a:cs typeface="Alexandria" pitchFamily="34" charset="-120"/>
              </a:rPr>
              <a:t>Cùng phát triển</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Đồng kiến tạo (B5)</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Chia sẻ thông tin</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Đầu tư chung</a:t>
            </a:r>
            <a:endParaRPr lang="en-US" sz="1300" dirty="0"/>
          </a:p>
        </p:txBody>
      </p:sp>
      <p:sp>
        <p:nvSpPr>
          <p:cNvPr id="15" name="Shape 13"/>
          <p:cNvSpPr/>
          <p:nvPr/>
        </p:nvSpPr>
        <p:spPr>
          <a:xfrm>
            <a:off x="9948672" y="2423160"/>
            <a:ext cx="1691640" cy="2651760"/>
          </a:xfrm>
          <a:prstGeom prst="roundRect">
            <a:avLst>
              <a:gd name="adj" fmla="val 4324"/>
            </a:avLst>
          </a:prstGeom>
          <a:solidFill>
            <a:srgbClr val="22395F"/>
          </a:solidFill>
          <a:ln w="12700">
            <a:solidFill>
              <a:srgbClr val="22395F"/>
            </a:solidFill>
            <a:prstDash val="solid"/>
          </a:ln>
        </p:spPr>
      </p:sp>
      <p:sp>
        <p:nvSpPr>
          <p:cNvPr id="16" name="Text 14"/>
          <p:cNvSpPr txBox="1"/>
          <p:nvPr/>
        </p:nvSpPr>
        <p:spPr>
          <a:xfrm>
            <a:off x="10040112"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9259"/>
                </a:solidFill>
                <a:latin typeface="Alexandria" pitchFamily="34" charset="0"/>
                <a:ea typeface="Alexandria" pitchFamily="34" charset="-122"/>
                <a:cs typeface="Alexandria" pitchFamily="34" charset="-120"/>
              </a:rPr>
              <a:t>Trải nghiệm</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Trước mua</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Trong mua</a:t>
            </a:r>
            <a:endParaRPr lang="en-US" sz="1300" dirty="0"/>
          </a:p>
          <a:p>
            <a:pPr indent="0" marL="0">
              <a:spcAft>
                <a:spcPts val="600"/>
              </a:spcAft>
              <a:buNone/>
            </a:pPr>
            <a:r>
              <a:rPr lang="en-US" sz="1300" dirty="0">
                <a:solidFill>
                  <a:srgbClr val="FBFAF4"/>
                </a:solidFill>
                <a:latin typeface="Alexandria" pitchFamily="34" charset="0"/>
                <a:ea typeface="Alexandria" pitchFamily="34" charset="-122"/>
                <a:cs typeface="Alexandria" pitchFamily="34" charset="-120"/>
              </a:rPr>
              <a:t>Sau mua (B3)</a:t>
            </a:r>
            <a:endParaRPr lang="en-US" sz="1300" dirty="0"/>
          </a:p>
        </p:txBody>
      </p:sp>
      <p:sp>
        <p:nvSpPr>
          <p:cNvPr id="17" name="Text 15"/>
          <p:cNvSpPr txBox="1"/>
          <p:nvPr/>
        </p:nvSpPr>
        <p:spPr>
          <a:xfrm>
            <a:off x="548640" y="5257800"/>
            <a:ext cx="11091672"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 Hôm nay: giá trị vòng đời và cost to serve. Phần còn lại: Buổi 8.</a:t>
            </a:r>
            <a:endParaRPr lang="en-US" sz="1700" dirty="0"/>
          </a:p>
        </p:txBody>
      </p:sp>
      <p:sp>
        <p:nvSpPr>
          <p:cNvPr id="18"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8.1, tr. 192–193).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CLV là giá trị hôm nay của toàn bộ lợi nhuận tương lai từ một khách hàng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Ước lượng giá trị hiện tại của một quan hệ khách hàng, dựa trên doanh thu và chi phí dự kiến trong một khoảng thời gian, và một tỷ lệ chiết khấu đổi tiền tương lai thành tiền hôm nay.</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191, 197)</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Gupta et al. (2006)</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Khi doanh thu đến từ quan hệ dài hạn, marketing nhằm tối đa hóa CLV và customer equity — tổng CLV của mọi khách hàng; CLV dùng để phân bổ nguồn lực.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(Journal of Service Research, 9(2))</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Ý nghĩa với KAM</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Thước đo tài chính nhìn về phía trước — phản ánh bản chất lâu dài, chiến lược của quan hệ key account.</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(Marcos et al., 2018, tr. 191, 193)</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CLV = lợi nhuận dự kiến từ khách hàng trong nhiều năm, quy về tiền hôm nay — để quyết định đầu tư nguồn lực vào ai.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Công thức của giáo trình: cộng dồn lợi nhuận từng năm, chiết khấu về hiện tại</a:t>
            </a:r>
            <a:endParaRPr lang="en-US" sz="2800" dirty="0"/>
          </a:p>
        </p:txBody>
      </p:sp>
      <p:sp>
        <p:nvSpPr>
          <p:cNvPr id="3" name="Shape 1"/>
          <p:cNvSpPr/>
          <p:nvPr/>
        </p:nvSpPr>
        <p:spPr>
          <a:xfrm>
            <a:off x="548640" y="1783080"/>
            <a:ext cx="6035040" cy="2194560"/>
          </a:xfrm>
          <a:prstGeom prst="roundRect">
            <a:avLst>
              <a:gd name="adj" fmla="val 3333"/>
            </a:avLst>
          </a:prstGeom>
          <a:solidFill>
            <a:srgbClr val="FBFAF4"/>
          </a:solidFill>
          <a:ln w="12700">
            <a:solidFill>
              <a:srgbClr val="FBFAF4"/>
            </a:solidFill>
            <a:prstDash val="solid"/>
          </a:ln>
        </p:spPr>
      </p:sp>
      <p:sp>
        <p:nvSpPr>
          <p:cNvPr id="4" name="Text 2"/>
          <p:cNvSpPr txBox="1"/>
          <p:nvPr/>
        </p:nvSpPr>
        <p:spPr>
          <a:xfrm>
            <a:off x="640080" y="1783080"/>
            <a:ext cx="5852160" cy="14630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Alexandria" pitchFamily="34" charset="0"/>
                <a:ea typeface="Alexandria" pitchFamily="34" charset="-122"/>
                <a:cs typeface="Alexandria" pitchFamily="34" charset="-120"/>
              </a:rPr>
              <a:t>CLV = Σ</a:t>
            </a:r>
            <a:pPr algn="ctr" indent="0" marL="0">
              <a:buNone/>
            </a:pPr>
            <a:r>
              <a:rPr lang="en-US" sz="2800" dirty="0">
                <a:solidFill>
                  <a:srgbClr val="172849"/>
                </a:solidFill>
                <a:latin typeface="Alexandria" pitchFamily="34" charset="0"/>
                <a:ea typeface="Alexandria" pitchFamily="34" charset="-122"/>
                <a:cs typeface="Alexandria" pitchFamily="34" charset="-120"/>
              </a:rPr>
              <a:t> (r</a:t>
            </a:r>
            <a:pPr algn="ctr" indent="0" marL="0">
              <a:buNone/>
            </a:pPr>
            <a:r>
              <a:rPr lang="en-US" sz="2800" baseline="-40000" dirty="0">
                <a:solidFill>
                  <a:srgbClr val="172849"/>
                </a:solidFill>
                <a:latin typeface="Alexandria" pitchFamily="34" charset="0"/>
                <a:ea typeface="Alexandria" pitchFamily="34" charset="-122"/>
                <a:cs typeface="Alexandria" pitchFamily="34" charset="-120"/>
              </a:rPr>
              <a:t>t</a:t>
            </a:r>
            <a:pPr algn="ctr" indent="0" marL="0">
              <a:buNone/>
            </a:pPr>
            <a:r>
              <a:rPr lang="en-US" sz="2800" dirty="0">
                <a:solidFill>
                  <a:srgbClr val="172849"/>
                </a:solidFill>
                <a:latin typeface="Alexandria" pitchFamily="34" charset="0"/>
                <a:ea typeface="Alexandria" pitchFamily="34" charset="-122"/>
                <a:cs typeface="Alexandria" pitchFamily="34" charset="-120"/>
              </a:rPr>
              <a:t> − e</a:t>
            </a:r>
            <a:pPr algn="ctr" indent="0" marL="0">
              <a:buNone/>
            </a:pPr>
            <a:r>
              <a:rPr lang="en-US" sz="2800" baseline="-40000" dirty="0">
                <a:solidFill>
                  <a:srgbClr val="172849"/>
                </a:solidFill>
                <a:latin typeface="Alexandria" pitchFamily="34" charset="0"/>
                <a:ea typeface="Alexandria" pitchFamily="34" charset="-122"/>
                <a:cs typeface="Alexandria" pitchFamily="34" charset="-120"/>
              </a:rPr>
              <a:t>t</a:t>
            </a:r>
            <a:pPr algn="ctr" indent="0" marL="0">
              <a:buNone/>
            </a:pPr>
            <a:r>
              <a:rPr lang="en-US" sz="2800" dirty="0">
                <a:solidFill>
                  <a:srgbClr val="172849"/>
                </a:solidFill>
                <a:latin typeface="Alexandria" pitchFamily="34" charset="0"/>
                <a:ea typeface="Alexandria" pitchFamily="34" charset="-122"/>
                <a:cs typeface="Alexandria" pitchFamily="34" charset="-120"/>
              </a:rPr>
              <a:t>) / (1 + i)</a:t>
            </a:r>
            <a:pPr algn="ctr" indent="0" marL="0">
              <a:buNone/>
            </a:pPr>
            <a:r>
              <a:rPr lang="en-US" sz="2800" baseline="30000" dirty="0">
                <a:solidFill>
                  <a:srgbClr val="172849"/>
                </a:solidFill>
                <a:latin typeface="Alexandria" pitchFamily="34" charset="0"/>
                <a:ea typeface="Alexandria" pitchFamily="34" charset="-122"/>
                <a:cs typeface="Alexandria" pitchFamily="34" charset="-120"/>
              </a:rPr>
              <a:t>t</a:t>
            </a:r>
            <a:endParaRPr lang="en-US" sz="2800" dirty="0"/>
          </a:p>
        </p:txBody>
      </p:sp>
      <p:sp>
        <p:nvSpPr>
          <p:cNvPr id="5" name="Text 3"/>
          <p:cNvSpPr txBox="1"/>
          <p:nvPr/>
        </p:nvSpPr>
        <p:spPr>
          <a:xfrm>
            <a:off x="822960" y="3154680"/>
            <a:ext cx="5486400" cy="640080"/>
          </a:xfrm>
          <a:prstGeom prst="rect">
            <a:avLst/>
          </a:prstGeom>
          <a:noFill/>
          <a:ln/>
        </p:spPr>
        <p:txBody>
          <a:bodyPr wrap="square" lIns="635" tIns="635" rIns="635" bIns="635" rtlCol="0" anchor="ctr"/>
          <a:lstStyle/>
          <a:p>
            <a:pPr algn="ctr" indent="0" marL="0">
              <a:buNone/>
            </a:pPr>
            <a:r>
              <a:rPr lang="en-US" sz="1800" dirty="0">
                <a:solidFill>
                  <a:srgbClr val="172849"/>
                </a:solidFill>
                <a:latin typeface="Alexandria" pitchFamily="34" charset="0"/>
                <a:ea typeface="Alexandria" pitchFamily="34" charset="-122"/>
                <a:cs typeface="Alexandria" pitchFamily="34" charset="-120"/>
              </a:rPr>
              <a:t>t = 1 … n</a:t>
            </a:r>
            <a:endParaRPr lang="en-US" sz="1800" dirty="0"/>
          </a:p>
        </p:txBody>
      </p:sp>
      <p:sp>
        <p:nvSpPr>
          <p:cNvPr id="6" name="Shape 4"/>
          <p:cNvSpPr/>
          <p:nvPr/>
        </p:nvSpPr>
        <p:spPr>
          <a:xfrm>
            <a:off x="6858000" y="1783080"/>
            <a:ext cx="914400" cy="475488"/>
          </a:xfrm>
          <a:prstGeom prst="roundRect">
            <a:avLst>
              <a:gd name="adj" fmla="val 15385"/>
            </a:avLst>
          </a:prstGeom>
          <a:solidFill>
            <a:srgbClr val="FFD23B"/>
          </a:solidFill>
          <a:ln w="12700">
            <a:solidFill>
              <a:srgbClr val="FFD23B"/>
            </a:solidFill>
            <a:prstDash val="solid"/>
          </a:ln>
        </p:spPr>
      </p:sp>
      <p:sp>
        <p:nvSpPr>
          <p:cNvPr id="7" name="Text 5"/>
          <p:cNvSpPr txBox="1"/>
          <p:nvPr/>
        </p:nvSpPr>
        <p:spPr>
          <a:xfrm>
            <a:off x="6858000" y="1783080"/>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rₜ</a:t>
            </a:r>
            <a:endParaRPr lang="en-US" sz="1700" dirty="0"/>
          </a:p>
        </p:txBody>
      </p:sp>
      <p:sp>
        <p:nvSpPr>
          <p:cNvPr id="8" name="Text 6"/>
          <p:cNvSpPr txBox="1"/>
          <p:nvPr/>
        </p:nvSpPr>
        <p:spPr>
          <a:xfrm>
            <a:off x="7909560" y="1783080"/>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doanh thu dự kiến từ khách hàng năm t</a:t>
            </a:r>
            <a:endParaRPr lang="en-US" sz="1500" dirty="0"/>
          </a:p>
        </p:txBody>
      </p:sp>
      <p:sp>
        <p:nvSpPr>
          <p:cNvPr id="9" name="Shape 7"/>
          <p:cNvSpPr/>
          <p:nvPr/>
        </p:nvSpPr>
        <p:spPr>
          <a:xfrm>
            <a:off x="6858000" y="2350008"/>
            <a:ext cx="914400" cy="475488"/>
          </a:xfrm>
          <a:prstGeom prst="roundRect">
            <a:avLst>
              <a:gd name="adj" fmla="val 15385"/>
            </a:avLst>
          </a:prstGeom>
          <a:solidFill>
            <a:srgbClr val="FFD23B"/>
          </a:solidFill>
          <a:ln w="12700">
            <a:solidFill>
              <a:srgbClr val="FFD23B"/>
            </a:solidFill>
            <a:prstDash val="solid"/>
          </a:ln>
        </p:spPr>
      </p:sp>
      <p:sp>
        <p:nvSpPr>
          <p:cNvPr id="10" name="Text 8"/>
          <p:cNvSpPr txBox="1"/>
          <p:nvPr/>
        </p:nvSpPr>
        <p:spPr>
          <a:xfrm>
            <a:off x="6858000" y="2350008"/>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eₜ</a:t>
            </a:r>
            <a:endParaRPr lang="en-US" sz="1700" dirty="0"/>
          </a:p>
        </p:txBody>
      </p:sp>
      <p:sp>
        <p:nvSpPr>
          <p:cNvPr id="11" name="Text 9"/>
          <p:cNvSpPr txBox="1"/>
          <p:nvPr/>
        </p:nvSpPr>
        <p:spPr>
          <a:xfrm>
            <a:off x="7909560" y="2350008"/>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chi phí dự kiến năm t (gồm chi phí phục vụ)</a:t>
            </a:r>
            <a:endParaRPr lang="en-US" sz="1500" dirty="0"/>
          </a:p>
        </p:txBody>
      </p:sp>
      <p:sp>
        <p:nvSpPr>
          <p:cNvPr id="12" name="Shape 10"/>
          <p:cNvSpPr/>
          <p:nvPr/>
        </p:nvSpPr>
        <p:spPr>
          <a:xfrm>
            <a:off x="6858000" y="2916936"/>
            <a:ext cx="914400" cy="475488"/>
          </a:xfrm>
          <a:prstGeom prst="roundRect">
            <a:avLst>
              <a:gd name="adj" fmla="val 15385"/>
            </a:avLst>
          </a:prstGeom>
          <a:solidFill>
            <a:srgbClr val="FFD23B"/>
          </a:solidFill>
          <a:ln w="12700">
            <a:solidFill>
              <a:srgbClr val="FFD23B"/>
            </a:solidFill>
            <a:prstDash val="solid"/>
          </a:ln>
        </p:spPr>
      </p:sp>
      <p:sp>
        <p:nvSpPr>
          <p:cNvPr id="13" name="Text 11"/>
          <p:cNvSpPr txBox="1"/>
          <p:nvPr/>
        </p:nvSpPr>
        <p:spPr>
          <a:xfrm>
            <a:off x="6858000" y="2916936"/>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i</a:t>
            </a:r>
            <a:endParaRPr lang="en-US" sz="1700" dirty="0"/>
          </a:p>
        </p:txBody>
      </p:sp>
      <p:sp>
        <p:nvSpPr>
          <p:cNvPr id="14" name="Text 12"/>
          <p:cNvSpPr txBox="1"/>
          <p:nvPr/>
        </p:nvSpPr>
        <p:spPr>
          <a:xfrm>
            <a:off x="7909560" y="2916936"/>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tỷ lệ chiết khấu (thường là lãi suất)</a:t>
            </a:r>
            <a:endParaRPr lang="en-US" sz="1500" dirty="0"/>
          </a:p>
        </p:txBody>
      </p:sp>
      <p:sp>
        <p:nvSpPr>
          <p:cNvPr id="15" name="Shape 13"/>
          <p:cNvSpPr/>
          <p:nvPr/>
        </p:nvSpPr>
        <p:spPr>
          <a:xfrm>
            <a:off x="6858000" y="3483864"/>
            <a:ext cx="914400" cy="475488"/>
          </a:xfrm>
          <a:prstGeom prst="roundRect">
            <a:avLst>
              <a:gd name="adj" fmla="val 15385"/>
            </a:avLst>
          </a:prstGeom>
          <a:solidFill>
            <a:srgbClr val="FFD23B"/>
          </a:solidFill>
          <a:ln w="12700">
            <a:solidFill>
              <a:srgbClr val="FFD23B"/>
            </a:solidFill>
            <a:prstDash val="solid"/>
          </a:ln>
        </p:spPr>
      </p:sp>
      <p:sp>
        <p:nvSpPr>
          <p:cNvPr id="16" name="Text 14"/>
          <p:cNvSpPr txBox="1"/>
          <p:nvPr/>
        </p:nvSpPr>
        <p:spPr>
          <a:xfrm>
            <a:off x="6858000" y="3483864"/>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n</a:t>
            </a:r>
            <a:endParaRPr lang="en-US" sz="1700" dirty="0"/>
          </a:p>
        </p:txBody>
      </p:sp>
      <p:sp>
        <p:nvSpPr>
          <p:cNvPr id="17" name="Text 15"/>
          <p:cNvSpPr txBox="1"/>
          <p:nvPr/>
        </p:nvSpPr>
        <p:spPr>
          <a:xfrm>
            <a:off x="7909560" y="3483864"/>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số năm của “vòng đời”</a:t>
            </a:r>
            <a:endParaRPr lang="en-US" sz="1500" dirty="0"/>
          </a:p>
        </p:txBody>
      </p:sp>
      <p:sp>
        <p:nvSpPr>
          <p:cNvPr id="18" name="Shape 16"/>
          <p:cNvSpPr/>
          <p:nvPr/>
        </p:nvSpPr>
        <p:spPr>
          <a:xfrm>
            <a:off x="548640" y="4206240"/>
            <a:ext cx="11091672" cy="1463040"/>
          </a:xfrm>
          <a:prstGeom prst="roundRect">
            <a:avLst>
              <a:gd name="adj" fmla="val 5000"/>
            </a:avLst>
          </a:prstGeom>
          <a:solidFill>
            <a:srgbClr val="22395F"/>
          </a:solidFill>
          <a:ln w="12700">
            <a:solidFill>
              <a:srgbClr val="22395F"/>
            </a:solidFill>
            <a:prstDash val="solid"/>
          </a:ln>
        </p:spPr>
      </p:sp>
      <p:sp>
        <p:nvSpPr>
          <p:cNvPr id="19" name="Text 17"/>
          <p:cNvSpPr txBox="1"/>
          <p:nvPr/>
        </p:nvSpPr>
        <p:spPr>
          <a:xfrm>
            <a:off x="777240" y="4206240"/>
            <a:ext cx="10698480" cy="14630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Khác với lợi nhuận năm nay: </a:t>
            </a:r>
            <a:pPr indent="0" marL="0">
              <a:buNone/>
            </a:pPr>
            <a:r>
              <a:rPr lang="en-US" sz="1700" dirty="0">
                <a:solidFill>
                  <a:srgbClr val="FBFAF4"/>
                </a:solidFill>
                <a:latin typeface="Alexandria" pitchFamily="34" charset="0"/>
                <a:ea typeface="Alexandria" pitchFamily="34" charset="-122"/>
                <a:cs typeface="Alexandria" pitchFamily="34" charset="-120"/>
              </a:rPr>
              <a:t>CLV dùng dự báo tương lai — từ dữ liệu nội bộ, nhưng cả kế hoạch tăng trưởng, đầu tư của khách hàng và xu hướng ngành. Hiểu thế giới của khách hàng (Buổi 3) là đầu vào của CLV.</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Dạng dùng trên lớp: đóng góp ròng × khả năng còn giữ được khách, chiết khấu về hiện tại</a:t>
            </a:r>
            <a:endParaRPr lang="en-US" sz="2800" dirty="0"/>
          </a:p>
        </p:txBody>
      </p:sp>
      <p:sp>
        <p:nvSpPr>
          <p:cNvPr id="3" name="Shape 1"/>
          <p:cNvSpPr/>
          <p:nvPr/>
        </p:nvSpPr>
        <p:spPr>
          <a:xfrm>
            <a:off x="548640" y="1783080"/>
            <a:ext cx="6035040" cy="2194560"/>
          </a:xfrm>
          <a:prstGeom prst="roundRect">
            <a:avLst>
              <a:gd name="adj" fmla="val 3333"/>
            </a:avLst>
          </a:prstGeom>
          <a:solidFill>
            <a:srgbClr val="FBFAF4"/>
          </a:solidFill>
          <a:ln w="12700">
            <a:solidFill>
              <a:srgbClr val="FBFAF4"/>
            </a:solidFill>
            <a:prstDash val="solid"/>
          </a:ln>
        </p:spPr>
      </p:sp>
      <p:sp>
        <p:nvSpPr>
          <p:cNvPr id="4" name="Text 2"/>
          <p:cNvSpPr txBox="1"/>
          <p:nvPr/>
        </p:nvSpPr>
        <p:spPr>
          <a:xfrm>
            <a:off x="640080" y="1783080"/>
            <a:ext cx="5852160" cy="14630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Alexandria" pitchFamily="34" charset="0"/>
                <a:ea typeface="Alexandria" pitchFamily="34" charset="-122"/>
                <a:cs typeface="Alexandria" pitchFamily="34" charset="-120"/>
              </a:rPr>
              <a:t>CLV ≈ Σ m × p</a:t>
            </a:r>
            <a:pPr algn="ctr" indent="0" marL="0">
              <a:buNone/>
            </a:pPr>
            <a:r>
              <a:rPr lang="en-US" sz="2800" baseline="30000" dirty="0">
                <a:solidFill>
                  <a:srgbClr val="172849"/>
                </a:solidFill>
                <a:latin typeface="Alexandria" pitchFamily="34" charset="0"/>
                <a:ea typeface="Alexandria" pitchFamily="34" charset="-122"/>
                <a:cs typeface="Alexandria" pitchFamily="34" charset="-120"/>
              </a:rPr>
              <a:t>t−1</a:t>
            </a:r>
            <a:pPr algn="ctr" indent="0" marL="0">
              <a:buNone/>
            </a:pPr>
            <a:r>
              <a:rPr lang="en-US" sz="2800" dirty="0">
                <a:solidFill>
                  <a:srgbClr val="172849"/>
                </a:solidFill>
                <a:latin typeface="Alexandria" pitchFamily="34" charset="0"/>
                <a:ea typeface="Alexandria" pitchFamily="34" charset="-122"/>
                <a:cs typeface="Alexandria" pitchFamily="34" charset="-120"/>
              </a:rPr>
              <a:t> / (1 + d)</a:t>
            </a:r>
            <a:pPr algn="ctr" indent="0" marL="0">
              <a:buNone/>
            </a:pPr>
            <a:r>
              <a:rPr lang="en-US" sz="2800" baseline="30000" dirty="0">
                <a:solidFill>
                  <a:srgbClr val="172849"/>
                </a:solidFill>
                <a:latin typeface="Alexandria" pitchFamily="34" charset="0"/>
                <a:ea typeface="Alexandria" pitchFamily="34" charset="-122"/>
                <a:cs typeface="Alexandria" pitchFamily="34" charset="-120"/>
              </a:rPr>
              <a:t>t</a:t>
            </a:r>
            <a:endParaRPr lang="en-US" sz="2800" dirty="0"/>
          </a:p>
        </p:txBody>
      </p:sp>
      <p:sp>
        <p:nvSpPr>
          <p:cNvPr id="5" name="Text 3"/>
          <p:cNvSpPr txBox="1"/>
          <p:nvPr/>
        </p:nvSpPr>
        <p:spPr>
          <a:xfrm>
            <a:off x="822960" y="3154680"/>
            <a:ext cx="5486400" cy="640080"/>
          </a:xfrm>
          <a:prstGeom prst="rect">
            <a:avLst/>
          </a:prstGeom>
          <a:noFill/>
          <a:ln/>
        </p:spPr>
        <p:txBody>
          <a:bodyPr wrap="square" lIns="635" tIns="635" rIns="635" bIns="635" rtlCol="0" anchor="ctr"/>
          <a:lstStyle/>
          <a:p>
            <a:pPr algn="ctr" indent="0" marL="0">
              <a:buNone/>
            </a:pPr>
            <a:r>
              <a:rPr lang="en-US" sz="1800" dirty="0">
                <a:solidFill>
                  <a:srgbClr val="172849"/>
                </a:solidFill>
                <a:latin typeface="Alexandria" pitchFamily="34" charset="0"/>
                <a:ea typeface="Alexandria" pitchFamily="34" charset="-122"/>
                <a:cs typeface="Alexandria" pitchFamily="34" charset="-120"/>
              </a:rPr>
              <a:t>t = 1 … T</a:t>
            </a:r>
            <a:endParaRPr lang="en-US" sz="1800" dirty="0"/>
          </a:p>
        </p:txBody>
      </p:sp>
      <p:sp>
        <p:nvSpPr>
          <p:cNvPr id="6" name="Shape 4"/>
          <p:cNvSpPr/>
          <p:nvPr/>
        </p:nvSpPr>
        <p:spPr>
          <a:xfrm>
            <a:off x="6858000" y="1783080"/>
            <a:ext cx="914400" cy="475488"/>
          </a:xfrm>
          <a:prstGeom prst="roundRect">
            <a:avLst>
              <a:gd name="adj" fmla="val 15385"/>
            </a:avLst>
          </a:prstGeom>
          <a:solidFill>
            <a:srgbClr val="49B296"/>
          </a:solidFill>
          <a:ln w="12700">
            <a:solidFill>
              <a:srgbClr val="49B296"/>
            </a:solidFill>
            <a:prstDash val="solid"/>
          </a:ln>
        </p:spPr>
      </p:sp>
      <p:sp>
        <p:nvSpPr>
          <p:cNvPr id="7" name="Text 5"/>
          <p:cNvSpPr txBox="1"/>
          <p:nvPr/>
        </p:nvSpPr>
        <p:spPr>
          <a:xfrm>
            <a:off x="6858000" y="1783080"/>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m</a:t>
            </a:r>
            <a:endParaRPr lang="en-US" sz="1700" dirty="0"/>
          </a:p>
        </p:txBody>
      </p:sp>
      <p:sp>
        <p:nvSpPr>
          <p:cNvPr id="8" name="Text 6"/>
          <p:cNvSpPr txBox="1"/>
          <p:nvPr/>
        </p:nvSpPr>
        <p:spPr>
          <a:xfrm>
            <a:off x="7909560" y="1783080"/>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đóng góp ròng/năm = lợi nhuận gộp − cost-to-serve riêng</a:t>
            </a:r>
            <a:endParaRPr lang="en-US" sz="1400" dirty="0"/>
          </a:p>
        </p:txBody>
      </p:sp>
      <p:sp>
        <p:nvSpPr>
          <p:cNvPr id="9" name="Shape 7"/>
          <p:cNvSpPr/>
          <p:nvPr/>
        </p:nvSpPr>
        <p:spPr>
          <a:xfrm>
            <a:off x="6858000" y="2350008"/>
            <a:ext cx="914400" cy="475488"/>
          </a:xfrm>
          <a:prstGeom prst="roundRect">
            <a:avLst>
              <a:gd name="adj" fmla="val 15385"/>
            </a:avLst>
          </a:prstGeom>
          <a:solidFill>
            <a:srgbClr val="49B296"/>
          </a:solidFill>
          <a:ln w="12700">
            <a:solidFill>
              <a:srgbClr val="49B296"/>
            </a:solidFill>
            <a:prstDash val="solid"/>
          </a:ln>
        </p:spPr>
      </p:sp>
      <p:sp>
        <p:nvSpPr>
          <p:cNvPr id="10" name="Text 8"/>
          <p:cNvSpPr txBox="1"/>
          <p:nvPr/>
        </p:nvSpPr>
        <p:spPr>
          <a:xfrm>
            <a:off x="6858000" y="2350008"/>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p</a:t>
            </a:r>
            <a:endParaRPr lang="en-US" sz="1700" dirty="0"/>
          </a:p>
        </p:txBody>
      </p:sp>
      <p:sp>
        <p:nvSpPr>
          <p:cNvPr id="11" name="Text 9"/>
          <p:cNvSpPr txBox="1"/>
          <p:nvPr/>
        </p:nvSpPr>
        <p:spPr>
          <a:xfrm>
            <a:off x="7909560" y="2350008"/>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tỷ lệ giữ chân (khả năng tái ký mỗi năm); năm 1 coi như chắc chắn</a:t>
            </a:r>
            <a:endParaRPr lang="en-US" sz="1400" dirty="0"/>
          </a:p>
        </p:txBody>
      </p:sp>
      <p:sp>
        <p:nvSpPr>
          <p:cNvPr id="12" name="Shape 10"/>
          <p:cNvSpPr/>
          <p:nvPr/>
        </p:nvSpPr>
        <p:spPr>
          <a:xfrm>
            <a:off x="6858000" y="2916936"/>
            <a:ext cx="914400" cy="475488"/>
          </a:xfrm>
          <a:prstGeom prst="roundRect">
            <a:avLst>
              <a:gd name="adj" fmla="val 15385"/>
            </a:avLst>
          </a:prstGeom>
          <a:solidFill>
            <a:srgbClr val="49B296"/>
          </a:solidFill>
          <a:ln w="12700">
            <a:solidFill>
              <a:srgbClr val="49B296"/>
            </a:solidFill>
            <a:prstDash val="solid"/>
          </a:ln>
        </p:spPr>
      </p:sp>
      <p:sp>
        <p:nvSpPr>
          <p:cNvPr id="13" name="Text 11"/>
          <p:cNvSpPr txBox="1"/>
          <p:nvPr/>
        </p:nvSpPr>
        <p:spPr>
          <a:xfrm>
            <a:off x="6858000" y="2916936"/>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d</a:t>
            </a:r>
            <a:endParaRPr lang="en-US" sz="1700" dirty="0"/>
          </a:p>
        </p:txBody>
      </p:sp>
      <p:sp>
        <p:nvSpPr>
          <p:cNvPr id="14" name="Text 12"/>
          <p:cNvSpPr txBox="1"/>
          <p:nvPr/>
        </p:nvSpPr>
        <p:spPr>
          <a:xfrm>
            <a:off x="7909560" y="2916936"/>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tỷ lệ chiết khấu</a:t>
            </a:r>
            <a:endParaRPr lang="en-US" sz="1400" dirty="0"/>
          </a:p>
        </p:txBody>
      </p:sp>
      <p:sp>
        <p:nvSpPr>
          <p:cNvPr id="15" name="Shape 13"/>
          <p:cNvSpPr/>
          <p:nvPr/>
        </p:nvSpPr>
        <p:spPr>
          <a:xfrm>
            <a:off x="6858000" y="3483864"/>
            <a:ext cx="914400" cy="475488"/>
          </a:xfrm>
          <a:prstGeom prst="roundRect">
            <a:avLst>
              <a:gd name="adj" fmla="val 15385"/>
            </a:avLst>
          </a:prstGeom>
          <a:solidFill>
            <a:srgbClr val="49B296"/>
          </a:solidFill>
          <a:ln w="12700">
            <a:solidFill>
              <a:srgbClr val="49B296"/>
            </a:solidFill>
            <a:prstDash val="solid"/>
          </a:ln>
        </p:spPr>
      </p:sp>
      <p:sp>
        <p:nvSpPr>
          <p:cNvPr id="16" name="Text 14"/>
          <p:cNvSpPr txBox="1"/>
          <p:nvPr/>
        </p:nvSpPr>
        <p:spPr>
          <a:xfrm>
            <a:off x="6858000" y="3483864"/>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T</a:t>
            </a:r>
            <a:endParaRPr lang="en-US" sz="1700" dirty="0"/>
          </a:p>
        </p:txBody>
      </p:sp>
      <p:sp>
        <p:nvSpPr>
          <p:cNvPr id="17" name="Text 15"/>
          <p:cNvSpPr txBox="1"/>
          <p:nvPr/>
        </p:nvSpPr>
        <p:spPr>
          <a:xfrm>
            <a:off x="7909560" y="3483864"/>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số năm xem xét (ví dụ 5)</a:t>
            </a:r>
            <a:endParaRPr lang="en-US" sz="1400" dirty="0"/>
          </a:p>
        </p:txBody>
      </p:sp>
      <p:sp>
        <p:nvSpPr>
          <p:cNvPr id="18" name="Shape 16"/>
          <p:cNvSpPr/>
          <p:nvPr/>
        </p:nvSpPr>
        <p:spPr>
          <a:xfrm>
            <a:off x="548640" y="4206240"/>
            <a:ext cx="11091672" cy="1463040"/>
          </a:xfrm>
          <a:prstGeom prst="roundRect">
            <a:avLst>
              <a:gd name="adj" fmla="val 5000"/>
            </a:avLst>
          </a:prstGeom>
          <a:solidFill>
            <a:srgbClr val="22395F"/>
          </a:solidFill>
          <a:ln w="12700">
            <a:solidFill>
              <a:srgbClr val="22395F"/>
            </a:solidFill>
            <a:prstDash val="solid"/>
          </a:ln>
        </p:spPr>
      </p:sp>
      <p:sp>
        <p:nvSpPr>
          <p:cNvPr id="19" name="Text 17"/>
          <p:cNvSpPr txBox="1"/>
          <p:nvPr/>
        </p:nvSpPr>
        <p:spPr>
          <a:xfrm>
            <a:off x="777240" y="4206240"/>
            <a:ext cx="10698480" cy="14630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Hai điểm khác: </a:t>
            </a:r>
            <a:pPr indent="0" marL="0">
              <a:buNone/>
            </a:pPr>
            <a:r>
              <a:rPr lang="en-US" sz="1700" dirty="0">
                <a:solidFill>
                  <a:srgbClr val="FBFAF4"/>
                </a:solidFill>
                <a:latin typeface="Alexandria" pitchFamily="34" charset="0"/>
                <a:ea typeface="Alexandria" pitchFamily="34" charset="-122"/>
                <a:cs typeface="Alexandria" pitchFamily="34" charset="-120"/>
              </a:rPr>
              <a:t>(1) tính trên đóng góp ròng, không trên doanh thu; (2) thêm tỷ lệ giữ chân — vì hợp đồng sự kiện ký từng năm, khách có thể không quay lại.</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Dạng học tập của môn: m ≈ (rₜ − eₜ) của giáo trình, nhân thêm xác suất giữ chân (như các mô hình CLV trong Gupta et al., 2006). [VERIFY ký hiệu với F01]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CLV 5 năm của An Phát khoảng 926 triệu — dù doanh thu chỉ 2,3 tỷ/năm</a:t>
            </a:r>
            <a:endParaRPr lang="en-US" sz="2800" dirty="0"/>
          </a:p>
        </p:txBody>
      </p:sp>
      <p:sp>
        <p:nvSpPr>
          <p:cNvPr id="3" name="Text 1"/>
          <p:cNvSpPr txBox="1"/>
          <p:nvPr/>
        </p:nvSpPr>
        <p:spPr>
          <a:xfrm>
            <a:off x="548640" y="169164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Doanh thu 2.300 · biên gộp 18% → lợi nhuận gộp 414 · cost-to-serve 80 → m = 334 · p = 85% · d = 12% · T = 5</a:t>
            </a:r>
            <a:endParaRPr lang="en-US" sz="1600" dirty="0"/>
          </a:p>
        </p:txBody>
      </p:sp>
      <p:sp>
        <p:nvSpPr>
          <p:cNvPr id="4" name="Text 2"/>
          <p:cNvSpPr txBox="1"/>
          <p:nvPr/>
        </p:nvSpPr>
        <p:spPr>
          <a:xfrm>
            <a:off x="548640" y="2240280"/>
            <a:ext cx="146304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Alexandria" pitchFamily="34" charset="0"/>
                <a:ea typeface="Alexandria" pitchFamily="34" charset="-122"/>
                <a:cs typeface="Alexandria" pitchFamily="34" charset="-120"/>
              </a:rPr>
              <a:t>Năm</a:t>
            </a:r>
            <a:endParaRPr lang="en-US" sz="1400" dirty="0"/>
          </a:p>
        </p:txBody>
      </p:sp>
      <p:sp>
        <p:nvSpPr>
          <p:cNvPr id="5" name="Text 3"/>
          <p:cNvSpPr txBox="1"/>
          <p:nvPr/>
        </p:nvSpPr>
        <p:spPr>
          <a:xfrm>
            <a:off x="2011680" y="2240280"/>
            <a:ext cx="493776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Tính</a:t>
            </a:r>
            <a:endParaRPr lang="en-US" sz="1400" dirty="0"/>
          </a:p>
        </p:txBody>
      </p:sp>
      <p:sp>
        <p:nvSpPr>
          <p:cNvPr id="6" name="Text 4"/>
          <p:cNvSpPr txBox="1"/>
          <p:nvPr/>
        </p:nvSpPr>
        <p:spPr>
          <a:xfrm>
            <a:off x="6949440" y="2240280"/>
            <a:ext cx="320040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Giá trị hiện tại (triệu)</a:t>
            </a:r>
            <a:endParaRPr lang="en-US" sz="1400" dirty="0"/>
          </a:p>
        </p:txBody>
      </p:sp>
      <p:sp>
        <p:nvSpPr>
          <p:cNvPr id="7" name="Shape 5"/>
          <p:cNvSpPr/>
          <p:nvPr/>
        </p:nvSpPr>
        <p:spPr>
          <a:xfrm>
            <a:off x="548640" y="2697480"/>
            <a:ext cx="9601200" cy="457200"/>
          </a:xfrm>
          <a:prstGeom prst="roundRect">
            <a:avLst>
              <a:gd name="adj" fmla="val 16000"/>
            </a:avLst>
          </a:prstGeom>
          <a:solidFill>
            <a:srgbClr val="22395F"/>
          </a:solidFill>
          <a:ln w="12700">
            <a:solidFill>
              <a:srgbClr val="22395F"/>
            </a:solidFill>
            <a:prstDash val="solid"/>
          </a:ln>
        </p:spPr>
      </p:sp>
      <p:sp>
        <p:nvSpPr>
          <p:cNvPr id="8" name="Text 6"/>
          <p:cNvSpPr txBox="1"/>
          <p:nvPr/>
        </p:nvSpPr>
        <p:spPr>
          <a:xfrm>
            <a:off x="640080" y="2697480"/>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1</a:t>
            </a:r>
            <a:endParaRPr lang="en-US" sz="1600" dirty="0"/>
          </a:p>
        </p:txBody>
      </p:sp>
      <p:sp>
        <p:nvSpPr>
          <p:cNvPr id="9" name="Text 7"/>
          <p:cNvSpPr txBox="1"/>
          <p:nvPr/>
        </p:nvSpPr>
        <p:spPr>
          <a:xfrm>
            <a:off x="2103120" y="2697480"/>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334 / 1,12</a:t>
            </a:r>
            <a:endParaRPr lang="en-US" sz="1600" dirty="0"/>
          </a:p>
        </p:txBody>
      </p:sp>
      <p:sp>
        <p:nvSpPr>
          <p:cNvPr id="10" name="Text 8"/>
          <p:cNvSpPr txBox="1"/>
          <p:nvPr/>
        </p:nvSpPr>
        <p:spPr>
          <a:xfrm>
            <a:off x="7040880" y="2697480"/>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298,2</a:t>
            </a:r>
            <a:endParaRPr lang="en-US" sz="1600" dirty="0"/>
          </a:p>
        </p:txBody>
      </p:sp>
      <p:sp>
        <p:nvSpPr>
          <p:cNvPr id="11" name="Shape 9"/>
          <p:cNvSpPr/>
          <p:nvPr/>
        </p:nvSpPr>
        <p:spPr>
          <a:xfrm>
            <a:off x="548640" y="3227832"/>
            <a:ext cx="9601200" cy="457200"/>
          </a:xfrm>
          <a:prstGeom prst="roundRect">
            <a:avLst>
              <a:gd name="adj" fmla="val 16000"/>
            </a:avLst>
          </a:prstGeom>
          <a:solidFill>
            <a:srgbClr val="22395F"/>
          </a:solidFill>
          <a:ln w="12700">
            <a:solidFill>
              <a:srgbClr val="22395F"/>
            </a:solidFill>
            <a:prstDash val="solid"/>
          </a:ln>
        </p:spPr>
      </p:sp>
      <p:sp>
        <p:nvSpPr>
          <p:cNvPr id="12" name="Text 10"/>
          <p:cNvSpPr txBox="1"/>
          <p:nvPr/>
        </p:nvSpPr>
        <p:spPr>
          <a:xfrm>
            <a:off x="640080" y="3227832"/>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2</a:t>
            </a:r>
            <a:endParaRPr lang="en-US" sz="1600" dirty="0"/>
          </a:p>
        </p:txBody>
      </p:sp>
      <p:sp>
        <p:nvSpPr>
          <p:cNvPr id="13" name="Text 11"/>
          <p:cNvSpPr txBox="1"/>
          <p:nvPr/>
        </p:nvSpPr>
        <p:spPr>
          <a:xfrm>
            <a:off x="2103120" y="3227832"/>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334 × 0,85 / 1,12²</a:t>
            </a:r>
            <a:endParaRPr lang="en-US" sz="1600" dirty="0"/>
          </a:p>
        </p:txBody>
      </p:sp>
      <p:sp>
        <p:nvSpPr>
          <p:cNvPr id="14" name="Text 12"/>
          <p:cNvSpPr txBox="1"/>
          <p:nvPr/>
        </p:nvSpPr>
        <p:spPr>
          <a:xfrm>
            <a:off x="7040880" y="3227832"/>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226,3</a:t>
            </a:r>
            <a:endParaRPr lang="en-US" sz="1600" dirty="0"/>
          </a:p>
        </p:txBody>
      </p:sp>
      <p:sp>
        <p:nvSpPr>
          <p:cNvPr id="15" name="Shape 13"/>
          <p:cNvSpPr/>
          <p:nvPr/>
        </p:nvSpPr>
        <p:spPr>
          <a:xfrm>
            <a:off x="548640" y="3758184"/>
            <a:ext cx="9601200" cy="457200"/>
          </a:xfrm>
          <a:prstGeom prst="roundRect">
            <a:avLst>
              <a:gd name="adj" fmla="val 16000"/>
            </a:avLst>
          </a:prstGeom>
          <a:solidFill>
            <a:srgbClr val="22395F"/>
          </a:solidFill>
          <a:ln w="12700">
            <a:solidFill>
              <a:srgbClr val="22395F"/>
            </a:solidFill>
            <a:prstDash val="solid"/>
          </a:ln>
        </p:spPr>
      </p:sp>
      <p:sp>
        <p:nvSpPr>
          <p:cNvPr id="16" name="Text 14"/>
          <p:cNvSpPr txBox="1"/>
          <p:nvPr/>
        </p:nvSpPr>
        <p:spPr>
          <a:xfrm>
            <a:off x="640080" y="3758184"/>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3</a:t>
            </a:r>
            <a:endParaRPr lang="en-US" sz="1600" dirty="0"/>
          </a:p>
        </p:txBody>
      </p:sp>
      <p:sp>
        <p:nvSpPr>
          <p:cNvPr id="17" name="Text 15"/>
          <p:cNvSpPr txBox="1"/>
          <p:nvPr/>
        </p:nvSpPr>
        <p:spPr>
          <a:xfrm>
            <a:off x="2103120" y="3758184"/>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334 × 0,85² / 1,12³</a:t>
            </a:r>
            <a:endParaRPr lang="en-US" sz="1600" dirty="0"/>
          </a:p>
        </p:txBody>
      </p:sp>
      <p:sp>
        <p:nvSpPr>
          <p:cNvPr id="18" name="Text 16"/>
          <p:cNvSpPr txBox="1"/>
          <p:nvPr/>
        </p:nvSpPr>
        <p:spPr>
          <a:xfrm>
            <a:off x="7040880" y="3758184"/>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171,8</a:t>
            </a:r>
            <a:endParaRPr lang="en-US" sz="1600" dirty="0"/>
          </a:p>
        </p:txBody>
      </p:sp>
      <p:sp>
        <p:nvSpPr>
          <p:cNvPr id="19" name="Shape 17"/>
          <p:cNvSpPr/>
          <p:nvPr/>
        </p:nvSpPr>
        <p:spPr>
          <a:xfrm>
            <a:off x="548640" y="4288536"/>
            <a:ext cx="9601200" cy="457200"/>
          </a:xfrm>
          <a:prstGeom prst="roundRect">
            <a:avLst>
              <a:gd name="adj" fmla="val 16000"/>
            </a:avLst>
          </a:prstGeom>
          <a:solidFill>
            <a:srgbClr val="22395F"/>
          </a:solidFill>
          <a:ln w="12700">
            <a:solidFill>
              <a:srgbClr val="22395F"/>
            </a:solidFill>
            <a:prstDash val="solid"/>
          </a:ln>
        </p:spPr>
      </p:sp>
      <p:sp>
        <p:nvSpPr>
          <p:cNvPr id="20" name="Text 18"/>
          <p:cNvSpPr txBox="1"/>
          <p:nvPr/>
        </p:nvSpPr>
        <p:spPr>
          <a:xfrm>
            <a:off x="640080" y="4288536"/>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4</a:t>
            </a:r>
            <a:endParaRPr lang="en-US" sz="1600" dirty="0"/>
          </a:p>
        </p:txBody>
      </p:sp>
      <p:sp>
        <p:nvSpPr>
          <p:cNvPr id="21" name="Text 19"/>
          <p:cNvSpPr txBox="1"/>
          <p:nvPr/>
        </p:nvSpPr>
        <p:spPr>
          <a:xfrm>
            <a:off x="2103120" y="4288536"/>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334 × 0,85³ / 1,12⁴</a:t>
            </a:r>
            <a:endParaRPr lang="en-US" sz="1600" dirty="0"/>
          </a:p>
        </p:txBody>
      </p:sp>
      <p:sp>
        <p:nvSpPr>
          <p:cNvPr id="22" name="Text 20"/>
          <p:cNvSpPr txBox="1"/>
          <p:nvPr/>
        </p:nvSpPr>
        <p:spPr>
          <a:xfrm>
            <a:off x="7040880" y="4288536"/>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130,4</a:t>
            </a:r>
            <a:endParaRPr lang="en-US" sz="1600" dirty="0"/>
          </a:p>
        </p:txBody>
      </p:sp>
      <p:sp>
        <p:nvSpPr>
          <p:cNvPr id="23" name="Shape 21"/>
          <p:cNvSpPr/>
          <p:nvPr/>
        </p:nvSpPr>
        <p:spPr>
          <a:xfrm>
            <a:off x="548640" y="4818888"/>
            <a:ext cx="9601200" cy="457200"/>
          </a:xfrm>
          <a:prstGeom prst="roundRect">
            <a:avLst>
              <a:gd name="adj" fmla="val 16000"/>
            </a:avLst>
          </a:prstGeom>
          <a:solidFill>
            <a:srgbClr val="22395F"/>
          </a:solidFill>
          <a:ln w="12700">
            <a:solidFill>
              <a:srgbClr val="22395F"/>
            </a:solidFill>
            <a:prstDash val="solid"/>
          </a:ln>
        </p:spPr>
      </p:sp>
      <p:sp>
        <p:nvSpPr>
          <p:cNvPr id="24" name="Text 22"/>
          <p:cNvSpPr txBox="1"/>
          <p:nvPr/>
        </p:nvSpPr>
        <p:spPr>
          <a:xfrm>
            <a:off x="640080" y="4818888"/>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5</a:t>
            </a:r>
            <a:endParaRPr lang="en-US" sz="1600" dirty="0"/>
          </a:p>
        </p:txBody>
      </p:sp>
      <p:sp>
        <p:nvSpPr>
          <p:cNvPr id="25" name="Text 23"/>
          <p:cNvSpPr txBox="1"/>
          <p:nvPr/>
        </p:nvSpPr>
        <p:spPr>
          <a:xfrm>
            <a:off x="2103120" y="4818888"/>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334 × 0,85⁴ / 1,12⁵</a:t>
            </a:r>
            <a:endParaRPr lang="en-US" sz="1600" dirty="0"/>
          </a:p>
        </p:txBody>
      </p:sp>
      <p:sp>
        <p:nvSpPr>
          <p:cNvPr id="26" name="Text 24"/>
          <p:cNvSpPr txBox="1"/>
          <p:nvPr/>
        </p:nvSpPr>
        <p:spPr>
          <a:xfrm>
            <a:off x="7040880" y="4818888"/>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98,9</a:t>
            </a:r>
            <a:endParaRPr lang="en-US" sz="1600" dirty="0"/>
          </a:p>
        </p:txBody>
      </p:sp>
      <p:sp>
        <p:nvSpPr>
          <p:cNvPr id="27" name="Shape 25"/>
          <p:cNvSpPr/>
          <p:nvPr/>
        </p:nvSpPr>
        <p:spPr>
          <a:xfrm>
            <a:off x="548640" y="5349240"/>
            <a:ext cx="9601200" cy="457200"/>
          </a:xfrm>
          <a:prstGeom prst="roundRect">
            <a:avLst>
              <a:gd name="adj" fmla="val 16000"/>
            </a:avLst>
          </a:prstGeom>
          <a:solidFill>
            <a:srgbClr val="49B296"/>
          </a:solidFill>
          <a:ln w="12700">
            <a:solidFill>
              <a:srgbClr val="49B296"/>
            </a:solidFill>
            <a:prstDash val="solid"/>
          </a:ln>
        </p:spPr>
      </p:sp>
      <p:sp>
        <p:nvSpPr>
          <p:cNvPr id="28" name="Text 26"/>
          <p:cNvSpPr txBox="1"/>
          <p:nvPr/>
        </p:nvSpPr>
        <p:spPr>
          <a:xfrm>
            <a:off x="640080" y="5349240"/>
            <a:ext cx="1280160" cy="457200"/>
          </a:xfrm>
          <a:prstGeom prst="rect">
            <a:avLst/>
          </a:prstGeom>
          <a:noFill/>
          <a:ln/>
        </p:spPr>
        <p:txBody>
          <a:bodyPr wrap="square" lIns="635" tIns="635" rIns="635" bIns="635" rtlCol="0" anchor="ctr"/>
          <a:lstStyle/>
          <a:p>
            <a:pPr algn="l" indent="0" marL="0">
              <a:buNone/>
            </a:pPr>
            <a:r>
              <a:rPr lang="en-US" sz="1600" b="1" dirty="0">
                <a:solidFill>
                  <a:srgbClr val="172849"/>
                </a:solidFill>
                <a:latin typeface="Alexandria" pitchFamily="34" charset="0"/>
                <a:ea typeface="Alexandria" pitchFamily="34" charset="-122"/>
                <a:cs typeface="Alexandria" pitchFamily="34" charset="-120"/>
              </a:rPr>
              <a:t>CLV</a:t>
            </a:r>
            <a:endParaRPr lang="en-US" sz="1600" dirty="0"/>
          </a:p>
        </p:txBody>
      </p:sp>
      <p:sp>
        <p:nvSpPr>
          <p:cNvPr id="29" name="Text 27"/>
          <p:cNvSpPr txBox="1"/>
          <p:nvPr/>
        </p:nvSpPr>
        <p:spPr>
          <a:xfrm>
            <a:off x="2103120" y="5349240"/>
            <a:ext cx="4754880" cy="457200"/>
          </a:xfrm>
          <a:prstGeom prst="rect">
            <a:avLst/>
          </a:prstGeom>
          <a:noFill/>
          <a:ln/>
        </p:spPr>
        <p:txBody>
          <a:bodyPr wrap="square" lIns="635" tIns="635" rIns="635" bIns="635" rtlCol="0" anchor="ctr"/>
          <a:lstStyle/>
          <a:p>
            <a:pPr algn="ctr" indent="0" marL="0">
              <a:buNone/>
            </a:pPr>
            <a:endParaRPr lang="en-US" sz="1600" dirty="0"/>
          </a:p>
        </p:txBody>
      </p:sp>
      <p:sp>
        <p:nvSpPr>
          <p:cNvPr id="30" name="Text 28"/>
          <p:cNvSpPr txBox="1"/>
          <p:nvPr/>
        </p:nvSpPr>
        <p:spPr>
          <a:xfrm>
            <a:off x="7040880" y="5349240"/>
            <a:ext cx="3017520" cy="4572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 926</a:t>
            </a:r>
            <a:endParaRPr lang="en-US" sz="1600" dirty="0"/>
          </a:p>
        </p:txBody>
      </p:sp>
      <p:sp>
        <p:nvSpPr>
          <p:cNvPr id="31" name="Shape 29"/>
          <p:cNvSpPr/>
          <p:nvPr/>
        </p:nvSpPr>
        <p:spPr>
          <a:xfrm>
            <a:off x="10332720" y="2697480"/>
            <a:ext cx="1307592" cy="3200400"/>
          </a:xfrm>
          <a:prstGeom prst="roundRect">
            <a:avLst>
              <a:gd name="adj" fmla="val 5594"/>
            </a:avLst>
          </a:prstGeom>
          <a:solidFill>
            <a:srgbClr val="FFD23B"/>
          </a:solidFill>
          <a:ln w="12700">
            <a:solidFill>
              <a:srgbClr val="FFD23B"/>
            </a:solidFill>
            <a:prstDash val="solid"/>
          </a:ln>
        </p:spPr>
      </p:sp>
      <p:sp>
        <p:nvSpPr>
          <p:cNvPr id="32" name="Text 30"/>
          <p:cNvSpPr txBox="1"/>
          <p:nvPr/>
        </p:nvSpPr>
        <p:spPr>
          <a:xfrm>
            <a:off x="10378440" y="2697480"/>
            <a:ext cx="1216152" cy="32004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Tính cùng lớp</a:t>
            </a:r>
            <a:endParaRPr lang="en-US" sz="1500" dirty="0"/>
          </a:p>
        </p:txBody>
      </p:sp>
      <p:sp>
        <p:nvSpPr>
          <p:cNvPr id="33" name="Text 31"/>
          <p:cNvSpPr txBox="1"/>
          <p:nvPr/>
        </p:nvSpPr>
        <p:spPr>
          <a:xfrm>
            <a:off x="7955280" y="5943600"/>
            <a:ext cx="3685032" cy="365760"/>
          </a:xfrm>
          <a:prstGeom prst="rect">
            <a:avLst/>
          </a:prstGeom>
          <a:noFill/>
          <a:ln/>
        </p:spPr>
        <p:txBody>
          <a:bodyPr wrap="square" lIns="635" tIns="635" rIns="635" bIns="635" rtlCol="0" anchor="ctr"/>
          <a:lstStyle/>
          <a:p>
            <a:pPr algn="r" indent="0" marL="0">
              <a:buNone/>
            </a:pPr>
            <a:r>
              <a:rPr lang="en-US" sz="1200" i="1" dirty="0">
                <a:solidFill>
                  <a:srgbClr val="A9B6D3"/>
                </a:solidFill>
                <a:latin typeface="Alexandria" pitchFamily="34" charset="0"/>
                <a:ea typeface="Alexandria" pitchFamily="34" charset="-122"/>
                <a:cs typeface="Alexandria" pitchFamily="34" charset="-120"/>
              </a:rPr>
              <a:t>(đơn vị: triệu đồng; số liệu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Tỷ lệ giữ chân giảm từ 85% xuống 70%, CLV mất khoảng 206 triệu</a:t>
            </a:r>
            <a:endParaRPr lang="en-US" sz="2800" dirty="0"/>
          </a:p>
        </p:txBody>
      </p:sp>
      <p:sp>
        <p:nvSpPr>
          <p:cNvPr id="3" name="Shape 1"/>
          <p:cNvSpPr/>
          <p:nvPr/>
        </p:nvSpPr>
        <p:spPr>
          <a:xfrm>
            <a:off x="914400" y="2214311"/>
            <a:ext cx="594360" cy="3272089"/>
          </a:xfrm>
          <a:prstGeom prst="roundRect">
            <a:avLst>
              <a:gd name="adj" fmla="val 4615"/>
            </a:avLst>
          </a:prstGeom>
          <a:solidFill>
            <a:srgbClr val="49B296"/>
          </a:solidFill>
          <a:ln w="12700">
            <a:solidFill>
              <a:srgbClr val="49B296"/>
            </a:solidFill>
            <a:prstDash val="solid"/>
          </a:ln>
        </p:spPr>
      </p:sp>
      <p:sp>
        <p:nvSpPr>
          <p:cNvPr id="4" name="Shape 2"/>
          <p:cNvSpPr/>
          <p:nvPr/>
        </p:nvSpPr>
        <p:spPr>
          <a:xfrm>
            <a:off x="1554480" y="2214311"/>
            <a:ext cx="594360" cy="3272089"/>
          </a:xfrm>
          <a:prstGeom prst="roundRect">
            <a:avLst>
              <a:gd name="adj" fmla="val 4615"/>
            </a:avLst>
          </a:prstGeom>
          <a:solidFill>
            <a:srgbClr val="FF5178"/>
          </a:solidFill>
          <a:ln w="12700">
            <a:solidFill>
              <a:srgbClr val="FF5178"/>
            </a:solidFill>
            <a:prstDash val="solid"/>
          </a:ln>
        </p:spPr>
      </p:sp>
      <p:sp>
        <p:nvSpPr>
          <p:cNvPr id="5" name="Text 3"/>
          <p:cNvSpPr txBox="1"/>
          <p:nvPr/>
        </p:nvSpPr>
        <p:spPr>
          <a:xfrm>
            <a:off x="9144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Năm 1</a:t>
            </a:r>
            <a:endParaRPr lang="en-US" sz="1300" dirty="0"/>
          </a:p>
        </p:txBody>
      </p:sp>
      <p:sp>
        <p:nvSpPr>
          <p:cNvPr id="6" name="Shape 4"/>
          <p:cNvSpPr/>
          <p:nvPr/>
        </p:nvSpPr>
        <p:spPr>
          <a:xfrm>
            <a:off x="2514600" y="3003255"/>
            <a:ext cx="594360" cy="2483145"/>
          </a:xfrm>
          <a:prstGeom prst="roundRect">
            <a:avLst>
              <a:gd name="adj" fmla="val 4615"/>
            </a:avLst>
          </a:prstGeom>
          <a:solidFill>
            <a:srgbClr val="49B296"/>
          </a:solidFill>
          <a:ln w="12700">
            <a:solidFill>
              <a:srgbClr val="49B296"/>
            </a:solidFill>
            <a:prstDash val="solid"/>
          </a:ln>
        </p:spPr>
      </p:sp>
      <p:sp>
        <p:nvSpPr>
          <p:cNvPr id="7" name="Shape 5"/>
          <p:cNvSpPr/>
          <p:nvPr/>
        </p:nvSpPr>
        <p:spPr>
          <a:xfrm>
            <a:off x="3154680" y="3441070"/>
            <a:ext cx="594360" cy="2045330"/>
          </a:xfrm>
          <a:prstGeom prst="roundRect">
            <a:avLst>
              <a:gd name="adj" fmla="val 4615"/>
            </a:avLst>
          </a:prstGeom>
          <a:solidFill>
            <a:srgbClr val="FF5178"/>
          </a:solidFill>
          <a:ln w="12700">
            <a:solidFill>
              <a:srgbClr val="FF5178"/>
            </a:solidFill>
            <a:prstDash val="solid"/>
          </a:ln>
        </p:spPr>
      </p:sp>
      <p:sp>
        <p:nvSpPr>
          <p:cNvPr id="8" name="Text 6"/>
          <p:cNvSpPr txBox="1"/>
          <p:nvPr/>
        </p:nvSpPr>
        <p:spPr>
          <a:xfrm>
            <a:off x="25146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Năm 2</a:t>
            </a:r>
            <a:endParaRPr lang="en-US" sz="1300" dirty="0"/>
          </a:p>
        </p:txBody>
      </p:sp>
      <p:sp>
        <p:nvSpPr>
          <p:cNvPr id="9" name="Shape 7"/>
          <p:cNvSpPr/>
          <p:nvPr/>
        </p:nvSpPr>
        <p:spPr>
          <a:xfrm>
            <a:off x="4114800" y="3601273"/>
            <a:ext cx="594360" cy="1885127"/>
          </a:xfrm>
          <a:prstGeom prst="roundRect">
            <a:avLst>
              <a:gd name="adj" fmla="val 4615"/>
            </a:avLst>
          </a:prstGeom>
          <a:solidFill>
            <a:srgbClr val="49B296"/>
          </a:solidFill>
          <a:ln w="12700">
            <a:solidFill>
              <a:srgbClr val="49B296"/>
            </a:solidFill>
            <a:prstDash val="solid"/>
          </a:ln>
        </p:spPr>
      </p:sp>
      <p:sp>
        <p:nvSpPr>
          <p:cNvPr id="10" name="Shape 8"/>
          <p:cNvSpPr/>
          <p:nvPr/>
        </p:nvSpPr>
        <p:spPr>
          <a:xfrm>
            <a:off x="4754880" y="4208069"/>
            <a:ext cx="594360" cy="1278331"/>
          </a:xfrm>
          <a:prstGeom prst="roundRect">
            <a:avLst>
              <a:gd name="adj" fmla="val 4615"/>
            </a:avLst>
          </a:prstGeom>
          <a:solidFill>
            <a:srgbClr val="FF5178"/>
          </a:solidFill>
          <a:ln w="12700">
            <a:solidFill>
              <a:srgbClr val="FF5178"/>
            </a:solidFill>
            <a:prstDash val="solid"/>
          </a:ln>
        </p:spPr>
      </p:sp>
      <p:sp>
        <p:nvSpPr>
          <p:cNvPr id="11" name="Text 9"/>
          <p:cNvSpPr txBox="1"/>
          <p:nvPr/>
        </p:nvSpPr>
        <p:spPr>
          <a:xfrm>
            <a:off x="41148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Năm 3</a:t>
            </a:r>
            <a:endParaRPr lang="en-US" sz="1300" dirty="0"/>
          </a:p>
        </p:txBody>
      </p:sp>
      <p:sp>
        <p:nvSpPr>
          <p:cNvPr id="12" name="Shape 10"/>
          <p:cNvSpPr/>
          <p:nvPr/>
        </p:nvSpPr>
        <p:spPr>
          <a:xfrm>
            <a:off x="5715000" y="4055547"/>
            <a:ext cx="594360" cy="1430853"/>
          </a:xfrm>
          <a:prstGeom prst="roundRect">
            <a:avLst>
              <a:gd name="adj" fmla="val 4615"/>
            </a:avLst>
          </a:prstGeom>
          <a:solidFill>
            <a:srgbClr val="49B296"/>
          </a:solidFill>
          <a:ln w="12700">
            <a:solidFill>
              <a:srgbClr val="49B296"/>
            </a:solidFill>
            <a:prstDash val="solid"/>
          </a:ln>
        </p:spPr>
      </p:sp>
      <p:sp>
        <p:nvSpPr>
          <p:cNvPr id="13" name="Shape 11"/>
          <p:cNvSpPr/>
          <p:nvPr/>
        </p:nvSpPr>
        <p:spPr>
          <a:xfrm>
            <a:off x="6355080" y="4687580"/>
            <a:ext cx="594360" cy="798820"/>
          </a:xfrm>
          <a:prstGeom prst="roundRect">
            <a:avLst>
              <a:gd name="adj" fmla="val 4615"/>
            </a:avLst>
          </a:prstGeom>
          <a:solidFill>
            <a:srgbClr val="FF5178"/>
          </a:solidFill>
          <a:ln w="12700">
            <a:solidFill>
              <a:srgbClr val="FF5178"/>
            </a:solidFill>
            <a:prstDash val="solid"/>
          </a:ln>
        </p:spPr>
      </p:sp>
      <p:sp>
        <p:nvSpPr>
          <p:cNvPr id="14" name="Text 12"/>
          <p:cNvSpPr txBox="1"/>
          <p:nvPr/>
        </p:nvSpPr>
        <p:spPr>
          <a:xfrm>
            <a:off x="57150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Năm 4</a:t>
            </a:r>
            <a:endParaRPr lang="en-US" sz="1300" dirty="0"/>
          </a:p>
        </p:txBody>
      </p:sp>
      <p:sp>
        <p:nvSpPr>
          <p:cNvPr id="15" name="Shape 13"/>
          <p:cNvSpPr/>
          <p:nvPr/>
        </p:nvSpPr>
        <p:spPr>
          <a:xfrm>
            <a:off x="7315200" y="4401190"/>
            <a:ext cx="594360" cy="1085210"/>
          </a:xfrm>
          <a:prstGeom prst="roundRect">
            <a:avLst>
              <a:gd name="adj" fmla="val 4615"/>
            </a:avLst>
          </a:prstGeom>
          <a:solidFill>
            <a:srgbClr val="49B296"/>
          </a:solidFill>
          <a:ln w="12700">
            <a:solidFill>
              <a:srgbClr val="49B296"/>
            </a:solidFill>
            <a:prstDash val="solid"/>
          </a:ln>
        </p:spPr>
      </p:sp>
      <p:sp>
        <p:nvSpPr>
          <p:cNvPr id="16" name="Shape 14"/>
          <p:cNvSpPr/>
          <p:nvPr/>
        </p:nvSpPr>
        <p:spPr>
          <a:xfrm>
            <a:off x="7955280" y="4987138"/>
            <a:ext cx="594360" cy="499262"/>
          </a:xfrm>
          <a:prstGeom prst="roundRect">
            <a:avLst>
              <a:gd name="adj" fmla="val 5495"/>
            </a:avLst>
          </a:prstGeom>
          <a:solidFill>
            <a:srgbClr val="FF5178"/>
          </a:solidFill>
          <a:ln w="12700">
            <a:solidFill>
              <a:srgbClr val="FF5178"/>
            </a:solidFill>
            <a:prstDash val="solid"/>
          </a:ln>
        </p:spPr>
      </p:sp>
      <p:sp>
        <p:nvSpPr>
          <p:cNvPr id="17" name="Text 15"/>
          <p:cNvSpPr txBox="1"/>
          <p:nvPr/>
        </p:nvSpPr>
        <p:spPr>
          <a:xfrm>
            <a:off x="73152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Năm 5</a:t>
            </a:r>
            <a:endParaRPr lang="en-US" sz="1300" dirty="0"/>
          </a:p>
        </p:txBody>
      </p:sp>
      <p:sp>
        <p:nvSpPr>
          <p:cNvPr id="18" name="Text 16"/>
          <p:cNvSpPr txBox="1"/>
          <p:nvPr/>
        </p:nvSpPr>
        <p:spPr>
          <a:xfrm>
            <a:off x="914400" y="1737360"/>
            <a:ext cx="5486400" cy="411480"/>
          </a:xfrm>
          <a:prstGeom prst="rect">
            <a:avLst/>
          </a:prstGeom>
          <a:noFill/>
          <a:ln/>
        </p:spPr>
        <p:txBody>
          <a:bodyPr wrap="square" lIns="635" tIns="635" rIns="635" bIns="635" rtlCol="0" anchor="ctr"/>
          <a:lstStyle/>
          <a:p>
            <a:pPr indent="0" marL="0">
              <a:buNone/>
            </a:pPr>
            <a:r>
              <a:rPr lang="en-US" sz="1500" dirty="0">
                <a:solidFill>
                  <a:srgbClr val="49B296"/>
                </a:solidFill>
                <a:latin typeface="Alexandria" pitchFamily="34" charset="0"/>
                <a:ea typeface="Alexandria" pitchFamily="34" charset="-122"/>
                <a:cs typeface="Alexandria" pitchFamily="34" charset="-120"/>
              </a:rPr>
              <a:t>■ </a:t>
            </a:r>
            <a:pPr indent="0" marL="0">
              <a:buNone/>
            </a:pPr>
            <a:r>
              <a:rPr lang="en-US" sz="1500" dirty="0">
                <a:solidFill>
                  <a:srgbClr val="FBFAF4"/>
                </a:solidFill>
                <a:latin typeface="Alexandria" pitchFamily="34" charset="0"/>
                <a:ea typeface="Alexandria" pitchFamily="34" charset="-122"/>
                <a:cs typeface="Alexandria" pitchFamily="34" charset="-120"/>
              </a:rPr>
              <a:t>p = 85%  </a:t>
            </a:r>
            <a:pPr indent="0" marL="0">
              <a:buNone/>
            </a:pPr>
            <a:r>
              <a:rPr lang="en-US" sz="1500" dirty="0">
                <a:solidFill>
                  <a:srgbClr val="FF5178"/>
                </a:solidFill>
                <a:latin typeface="Alexandria" pitchFamily="34" charset="0"/>
                <a:ea typeface="Alexandria" pitchFamily="34" charset="-122"/>
                <a:cs typeface="Alexandria" pitchFamily="34" charset="-120"/>
              </a:rPr>
              <a:t>■ </a:t>
            </a:r>
            <a:pPr indent="0" marL="0">
              <a:buNone/>
            </a:pPr>
            <a:r>
              <a:rPr lang="en-US" sz="1500" dirty="0">
                <a:solidFill>
                  <a:srgbClr val="FBFAF4"/>
                </a:solidFill>
                <a:latin typeface="Alexandria" pitchFamily="34" charset="0"/>
                <a:ea typeface="Alexandria" pitchFamily="34" charset="-122"/>
                <a:cs typeface="Alexandria" pitchFamily="34" charset="-120"/>
              </a:rPr>
              <a:t>p = 70%</a:t>
            </a:r>
            <a:endParaRPr lang="en-US" sz="1500" dirty="0"/>
          </a:p>
        </p:txBody>
      </p:sp>
      <p:sp>
        <p:nvSpPr>
          <p:cNvPr id="19" name="Shape 17"/>
          <p:cNvSpPr/>
          <p:nvPr/>
        </p:nvSpPr>
        <p:spPr>
          <a:xfrm>
            <a:off x="9052560" y="1783080"/>
            <a:ext cx="2587752" cy="1920240"/>
          </a:xfrm>
          <a:prstGeom prst="roundRect">
            <a:avLst>
              <a:gd name="adj" fmla="val 3810"/>
            </a:avLst>
          </a:prstGeom>
          <a:solidFill>
            <a:srgbClr val="49B296"/>
          </a:solidFill>
          <a:ln w="12700">
            <a:solidFill>
              <a:srgbClr val="49B296"/>
            </a:solidFill>
            <a:prstDash val="solid"/>
          </a:ln>
        </p:spPr>
      </p:sp>
      <p:sp>
        <p:nvSpPr>
          <p:cNvPr id="20" name="Text 18"/>
          <p:cNvSpPr txBox="1"/>
          <p:nvPr/>
        </p:nvSpPr>
        <p:spPr>
          <a:xfrm>
            <a:off x="9052560" y="1783080"/>
            <a:ext cx="2587752" cy="1920240"/>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p = 85%</a:t>
            </a:r>
            <a:endParaRPr lang="en-US" sz="1800" dirty="0"/>
          </a:p>
          <a:p>
            <a:pPr algn="ctr" indent="0" marL="0">
              <a:buNone/>
            </a:pPr>
            <a:r>
              <a:rPr lang="en-US" sz="3000" b="1" dirty="0">
                <a:solidFill>
                  <a:srgbClr val="172849"/>
                </a:solidFill>
                <a:latin typeface="Alexandria" pitchFamily="34" charset="0"/>
                <a:ea typeface="Alexandria" pitchFamily="34" charset="-122"/>
                <a:cs typeface="Alexandria" pitchFamily="34" charset="-120"/>
              </a:rPr>
              <a:t>≈ 926</a:t>
            </a:r>
            <a:endParaRPr lang="en-US" sz="1800" dirty="0"/>
          </a:p>
        </p:txBody>
      </p:sp>
      <p:sp>
        <p:nvSpPr>
          <p:cNvPr id="21" name="Shape 19"/>
          <p:cNvSpPr/>
          <p:nvPr/>
        </p:nvSpPr>
        <p:spPr>
          <a:xfrm>
            <a:off x="9052560" y="3840480"/>
            <a:ext cx="2587752" cy="1920240"/>
          </a:xfrm>
          <a:prstGeom prst="roundRect">
            <a:avLst>
              <a:gd name="adj" fmla="val 3810"/>
            </a:avLst>
          </a:prstGeom>
          <a:solidFill>
            <a:srgbClr val="FF5178"/>
          </a:solidFill>
          <a:ln w="12700">
            <a:solidFill>
              <a:srgbClr val="FF5178"/>
            </a:solidFill>
            <a:prstDash val="solid"/>
          </a:ln>
        </p:spPr>
      </p:sp>
      <p:sp>
        <p:nvSpPr>
          <p:cNvPr id="22" name="Text 20"/>
          <p:cNvSpPr txBox="1"/>
          <p:nvPr/>
        </p:nvSpPr>
        <p:spPr>
          <a:xfrm>
            <a:off x="9052560" y="3840480"/>
            <a:ext cx="2587752" cy="1920240"/>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p = 70%</a:t>
            </a:r>
            <a:endParaRPr lang="en-US" sz="1800" dirty="0"/>
          </a:p>
          <a:p>
            <a:pPr algn="ctr" indent="0" marL="0">
              <a:buNone/>
            </a:pPr>
            <a:r>
              <a:rPr lang="en-US" sz="3000" b="1" dirty="0">
                <a:solidFill>
                  <a:srgbClr val="172849"/>
                </a:solidFill>
                <a:latin typeface="Alexandria" pitchFamily="34" charset="0"/>
                <a:ea typeface="Alexandria" pitchFamily="34" charset="-122"/>
                <a:cs typeface="Alexandria" pitchFamily="34" charset="-120"/>
              </a:rPr>
              <a:t>≈ 719</a:t>
            </a:r>
            <a:endParaRPr lang="en-US" sz="1800" dirty="0"/>
          </a:p>
        </p:txBody>
      </p:sp>
      <p:sp>
        <p:nvSpPr>
          <p:cNvPr id="23" name="Text 21"/>
          <p:cNvSpPr txBox="1"/>
          <p:nvPr/>
        </p:nvSpPr>
        <p:spPr>
          <a:xfrm>
            <a:off x="548640" y="5943600"/>
            <a:ext cx="8229600"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Quan hệ tốt (Buổi 4) là tiền thật. (triệu đồng, giả định)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hàng lãi nhất năm nay có thể có CLV thấp nhất</a:t>
            </a:r>
            <a:endParaRPr lang="en-US" sz="2800" dirty="0"/>
          </a:p>
        </p:txBody>
      </p:sp>
      <p:sp>
        <p:nvSpPr>
          <p:cNvPr id="3" name="Text 1"/>
          <p:cNvSpPr txBox="1"/>
          <p:nvPr/>
        </p:nvSpPr>
        <p:spPr>
          <a:xfrm>
            <a:off x="548640" y="1737360"/>
            <a:ext cx="310896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Alexandria" pitchFamily="34" charset="0"/>
                <a:ea typeface="Alexandria" pitchFamily="34" charset="-122"/>
                <a:cs typeface="Alexandria" pitchFamily="34" charset="-120"/>
              </a:rPr>
              <a:t>Construmart (ẩn tên)</a:t>
            </a:r>
            <a:endParaRPr lang="en-US" sz="1400" dirty="0"/>
          </a:p>
        </p:txBody>
      </p:sp>
      <p:sp>
        <p:nvSpPr>
          <p:cNvPr id="4" name="Text 2"/>
          <p:cNvSpPr txBox="1"/>
          <p:nvPr/>
        </p:nvSpPr>
        <p:spPr>
          <a:xfrm>
            <a:off x="3657600" y="1737360"/>
            <a:ext cx="256032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Lợi nhuận 2017</a:t>
            </a:r>
            <a:endParaRPr lang="en-US" sz="1400" dirty="0"/>
          </a:p>
        </p:txBody>
      </p:sp>
      <p:sp>
        <p:nvSpPr>
          <p:cNvPr id="5" name="Text 3"/>
          <p:cNvSpPr txBox="1"/>
          <p:nvPr/>
        </p:nvSpPr>
        <p:spPr>
          <a:xfrm>
            <a:off x="6217920" y="1737360"/>
            <a:ext cx="256032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CLV 8 năm (NPV cộng dồn)</a:t>
            </a:r>
            <a:endParaRPr lang="en-US" sz="1400" dirty="0"/>
          </a:p>
        </p:txBody>
      </p:sp>
      <p:sp>
        <p:nvSpPr>
          <p:cNvPr id="6" name="Shape 4"/>
          <p:cNvSpPr/>
          <p:nvPr/>
        </p:nvSpPr>
        <p:spPr>
          <a:xfrm>
            <a:off x="548640" y="2194560"/>
            <a:ext cx="8229600" cy="685800"/>
          </a:xfrm>
          <a:prstGeom prst="roundRect">
            <a:avLst>
              <a:gd name="adj" fmla="val 10667"/>
            </a:avLst>
          </a:prstGeom>
          <a:solidFill>
            <a:srgbClr val="22395F"/>
          </a:solidFill>
          <a:ln w="12700">
            <a:solidFill>
              <a:srgbClr val="22395F"/>
            </a:solidFill>
            <a:prstDash val="solid"/>
          </a:ln>
        </p:spPr>
      </p:sp>
      <p:sp>
        <p:nvSpPr>
          <p:cNvPr id="7" name="Text 5"/>
          <p:cNvSpPr txBox="1"/>
          <p:nvPr/>
        </p:nvSpPr>
        <p:spPr>
          <a:xfrm>
            <a:off x="640080" y="2194560"/>
            <a:ext cx="2926080" cy="6858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Nhà phân phối A</a:t>
            </a:r>
            <a:endParaRPr lang="en-US" sz="1600" dirty="0"/>
          </a:p>
        </p:txBody>
      </p:sp>
      <p:sp>
        <p:nvSpPr>
          <p:cNvPr id="8" name="Text 6"/>
          <p:cNvSpPr txBox="1"/>
          <p:nvPr/>
        </p:nvSpPr>
        <p:spPr>
          <a:xfrm>
            <a:off x="3749040" y="2194560"/>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500</a:t>
            </a:r>
            <a:endParaRPr lang="en-US" sz="1600" dirty="0"/>
          </a:p>
        </p:txBody>
      </p:sp>
      <p:sp>
        <p:nvSpPr>
          <p:cNvPr id="9" name="Text 7"/>
          <p:cNvSpPr txBox="1"/>
          <p:nvPr/>
        </p:nvSpPr>
        <p:spPr>
          <a:xfrm>
            <a:off x="6309360" y="2194560"/>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18.737</a:t>
            </a:r>
            <a:endParaRPr lang="en-US" sz="1600" dirty="0"/>
          </a:p>
        </p:txBody>
      </p:sp>
      <p:sp>
        <p:nvSpPr>
          <p:cNvPr id="10" name="Shape 8"/>
          <p:cNvSpPr/>
          <p:nvPr/>
        </p:nvSpPr>
        <p:spPr>
          <a:xfrm>
            <a:off x="548640" y="2953512"/>
            <a:ext cx="8229600" cy="685800"/>
          </a:xfrm>
          <a:prstGeom prst="roundRect">
            <a:avLst>
              <a:gd name="adj" fmla="val 10667"/>
            </a:avLst>
          </a:prstGeom>
          <a:solidFill>
            <a:srgbClr val="FF5178"/>
          </a:solidFill>
          <a:ln w="12700">
            <a:solidFill>
              <a:srgbClr val="FF5178"/>
            </a:solidFill>
            <a:prstDash val="solid"/>
          </a:ln>
        </p:spPr>
      </p:sp>
      <p:sp>
        <p:nvSpPr>
          <p:cNvPr id="11" name="Text 9"/>
          <p:cNvSpPr txBox="1"/>
          <p:nvPr/>
        </p:nvSpPr>
        <p:spPr>
          <a:xfrm>
            <a:off x="640080" y="2953512"/>
            <a:ext cx="2926080" cy="685800"/>
          </a:xfrm>
          <a:prstGeom prst="rect">
            <a:avLst/>
          </a:prstGeom>
          <a:noFill/>
          <a:ln/>
        </p:spPr>
        <p:txBody>
          <a:bodyPr wrap="square" lIns="635" tIns="635" rIns="635" bIns="635" rtlCol="0" anchor="ctr"/>
          <a:lstStyle/>
          <a:p>
            <a:pPr algn="l" indent="0" marL="0">
              <a:buNone/>
            </a:pPr>
            <a:r>
              <a:rPr lang="en-US" sz="1600" b="1" dirty="0">
                <a:solidFill>
                  <a:srgbClr val="172849"/>
                </a:solidFill>
                <a:latin typeface="Alexandria" pitchFamily="34" charset="0"/>
                <a:ea typeface="Alexandria" pitchFamily="34" charset="-122"/>
                <a:cs typeface="Alexandria" pitchFamily="34" charset="-120"/>
              </a:rPr>
              <a:t>Nhà phân phối B</a:t>
            </a:r>
            <a:endParaRPr lang="en-US" sz="1600" dirty="0"/>
          </a:p>
        </p:txBody>
      </p:sp>
      <p:sp>
        <p:nvSpPr>
          <p:cNvPr id="12" name="Text 10"/>
          <p:cNvSpPr txBox="1"/>
          <p:nvPr/>
        </p:nvSpPr>
        <p:spPr>
          <a:xfrm>
            <a:off x="3749040" y="2953512"/>
            <a:ext cx="2377440" cy="685800"/>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2.800</a:t>
            </a:r>
            <a:endParaRPr lang="en-US" sz="1600" dirty="0"/>
          </a:p>
        </p:txBody>
      </p:sp>
      <p:sp>
        <p:nvSpPr>
          <p:cNvPr id="13" name="Text 11"/>
          <p:cNvSpPr txBox="1"/>
          <p:nvPr/>
        </p:nvSpPr>
        <p:spPr>
          <a:xfrm>
            <a:off x="6309360" y="2953512"/>
            <a:ext cx="2377440" cy="685800"/>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9.311</a:t>
            </a:r>
            <a:endParaRPr lang="en-US" sz="1600" dirty="0"/>
          </a:p>
        </p:txBody>
      </p:sp>
      <p:sp>
        <p:nvSpPr>
          <p:cNvPr id="14" name="Shape 12"/>
          <p:cNvSpPr/>
          <p:nvPr/>
        </p:nvSpPr>
        <p:spPr>
          <a:xfrm>
            <a:off x="548640" y="3712464"/>
            <a:ext cx="8229600" cy="685800"/>
          </a:xfrm>
          <a:prstGeom prst="roundRect">
            <a:avLst>
              <a:gd name="adj" fmla="val 10667"/>
            </a:avLst>
          </a:prstGeom>
          <a:solidFill>
            <a:srgbClr val="22395F"/>
          </a:solidFill>
          <a:ln w="12700">
            <a:solidFill>
              <a:srgbClr val="22395F"/>
            </a:solidFill>
            <a:prstDash val="solid"/>
          </a:ln>
        </p:spPr>
      </p:sp>
      <p:sp>
        <p:nvSpPr>
          <p:cNvPr id="15" name="Text 13"/>
          <p:cNvSpPr txBox="1"/>
          <p:nvPr/>
        </p:nvSpPr>
        <p:spPr>
          <a:xfrm>
            <a:off x="640080" y="3712464"/>
            <a:ext cx="2926080" cy="6858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Nhà phân phối C</a:t>
            </a:r>
            <a:endParaRPr lang="en-US" sz="1600" dirty="0"/>
          </a:p>
        </p:txBody>
      </p:sp>
      <p:sp>
        <p:nvSpPr>
          <p:cNvPr id="16" name="Text 14"/>
          <p:cNvSpPr txBox="1"/>
          <p:nvPr/>
        </p:nvSpPr>
        <p:spPr>
          <a:xfrm>
            <a:off x="3749040" y="3712464"/>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1.600</a:t>
            </a:r>
            <a:endParaRPr lang="en-US" sz="1600" dirty="0"/>
          </a:p>
        </p:txBody>
      </p:sp>
      <p:sp>
        <p:nvSpPr>
          <p:cNvPr id="17" name="Text 15"/>
          <p:cNvSpPr txBox="1"/>
          <p:nvPr/>
        </p:nvSpPr>
        <p:spPr>
          <a:xfrm>
            <a:off x="6309360" y="3712464"/>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12.044</a:t>
            </a:r>
            <a:endParaRPr lang="en-US" sz="1600" dirty="0"/>
          </a:p>
        </p:txBody>
      </p:sp>
      <p:sp>
        <p:nvSpPr>
          <p:cNvPr id="18" name="Shape 16"/>
          <p:cNvSpPr/>
          <p:nvPr/>
        </p:nvSpPr>
        <p:spPr>
          <a:xfrm>
            <a:off x="9006840" y="1783080"/>
            <a:ext cx="2633472" cy="3977640"/>
          </a:xfrm>
          <a:prstGeom prst="roundRect">
            <a:avLst>
              <a:gd name="adj" fmla="val 2778"/>
            </a:avLst>
          </a:prstGeom>
          <a:solidFill>
            <a:srgbClr val="FFD23B"/>
          </a:solidFill>
          <a:ln w="12700">
            <a:solidFill>
              <a:srgbClr val="FFD23B"/>
            </a:solidFill>
            <a:prstDash val="solid"/>
          </a:ln>
        </p:spPr>
      </p:sp>
      <p:sp>
        <p:nvSpPr>
          <p:cNvPr id="19" name="Text 17"/>
          <p:cNvSpPr txBox="1"/>
          <p:nvPr/>
        </p:nvSpPr>
        <p:spPr>
          <a:xfrm>
            <a:off x="9189720" y="1783080"/>
            <a:ext cx="2286000" cy="397764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B lãi nhất năm nay — nhưng có CLV thấp nhất. A lãi ít nhất — nhưng có CLV cao nhất.</a:t>
            </a:r>
            <a:endParaRPr lang="en-US" sz="1800" dirty="0"/>
          </a:p>
        </p:txBody>
      </p:sp>
      <p:sp>
        <p:nvSpPr>
          <p:cNvPr id="20" name="Text 18"/>
          <p:cNvSpPr txBox="1"/>
          <p:nvPr/>
        </p:nvSpPr>
        <p:spPr>
          <a:xfrm>
            <a:off x="548640" y="4800600"/>
            <a:ext cx="8229600"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Đơn vị tiền tệ trong sách (£, $); lãi suất chiết khấu 10%.</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case study, Bảng 8.3a–8.3b, tr. 197–200).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Lý do nằm ở kế hoạch tương lai của khách hàng — không nằm trong số liệu quá khứ</a:t>
            </a:r>
            <a:endParaRPr lang="en-US" sz="2800" dirty="0"/>
          </a:p>
        </p:txBody>
      </p:sp>
      <p:sp>
        <p:nvSpPr>
          <p:cNvPr id="3" name="Shape 1"/>
          <p:cNvSpPr/>
          <p:nvPr/>
        </p:nvSpPr>
        <p:spPr>
          <a:xfrm>
            <a:off x="548640" y="1783080"/>
            <a:ext cx="100584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Alexandria" pitchFamily="34" charset="0"/>
                <a:ea typeface="Alexandria" pitchFamily="34" charset="-122"/>
                <a:cs typeface="Alexandria" pitchFamily="34" charset="-120"/>
              </a:rPr>
              <a:t>A</a:t>
            </a:r>
            <a:endParaRPr lang="en-US" sz="2800" dirty="0"/>
          </a:p>
        </p:txBody>
      </p:sp>
      <p:sp>
        <p:nvSpPr>
          <p:cNvPr id="5" name="Shape 3"/>
          <p:cNvSpPr/>
          <p:nvPr/>
        </p:nvSpPr>
        <p:spPr>
          <a:xfrm>
            <a:off x="1737360" y="1783080"/>
            <a:ext cx="990295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1920240" y="178308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Từ công ty khu vực thành công ty toàn quốc: mua lại doanh nghiệp nhỏ, tuyển người giỏi, xây hệ thống phân phối dựa trên công nghệ</a:t>
            </a:r>
            <a:endParaRPr lang="en-US" sz="1700" dirty="0"/>
          </a:p>
        </p:txBody>
      </p:sp>
      <p:sp>
        <p:nvSpPr>
          <p:cNvPr id="7" name="Shape 5"/>
          <p:cNvSpPr/>
          <p:nvPr/>
        </p:nvSpPr>
        <p:spPr>
          <a:xfrm>
            <a:off x="548640" y="2971800"/>
            <a:ext cx="1005840" cy="1005840"/>
          </a:xfrm>
          <a:prstGeom prst="roundRect">
            <a:avLst>
              <a:gd name="adj" fmla="val 7273"/>
            </a:avLst>
          </a:prstGeom>
          <a:solidFill>
            <a:srgbClr val="FF5178"/>
          </a:solidFill>
          <a:ln w="12700">
            <a:solidFill>
              <a:srgbClr val="FF5178"/>
            </a:solidFill>
            <a:prstDash val="solid"/>
          </a:ln>
        </p:spPr>
      </p:sp>
      <p:sp>
        <p:nvSpPr>
          <p:cNvPr id="8" name="Text 6"/>
          <p:cNvSpPr txBox="1"/>
          <p:nvPr/>
        </p:nvSpPr>
        <p:spPr>
          <a:xfrm>
            <a:off x="548640" y="297180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Alexandria" pitchFamily="34" charset="0"/>
                <a:ea typeface="Alexandria" pitchFamily="34" charset="-122"/>
                <a:cs typeface="Alexandria" pitchFamily="34" charset="-120"/>
              </a:rPr>
              <a:t>B</a:t>
            </a:r>
            <a:endParaRPr lang="en-US" sz="2800" dirty="0"/>
          </a:p>
        </p:txBody>
      </p:sp>
      <p:sp>
        <p:nvSpPr>
          <p:cNvPr id="9" name="Shape 7"/>
          <p:cNvSpPr/>
          <p:nvPr/>
        </p:nvSpPr>
        <p:spPr>
          <a:xfrm>
            <a:off x="1737360" y="2971800"/>
            <a:ext cx="990295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1920240" y="297180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Doanh nghiệp gia đình, quy mô vừa, không muốn đầu tư nâng cấp mô hình kinh doanh</a:t>
            </a:r>
            <a:endParaRPr lang="en-US" sz="1700" dirty="0"/>
          </a:p>
        </p:txBody>
      </p:sp>
      <p:sp>
        <p:nvSpPr>
          <p:cNvPr id="11" name="Shape 9"/>
          <p:cNvSpPr/>
          <p:nvPr/>
        </p:nvSpPr>
        <p:spPr>
          <a:xfrm>
            <a:off x="548640" y="4160520"/>
            <a:ext cx="1005840" cy="1005840"/>
          </a:xfrm>
          <a:prstGeom prst="roundRect">
            <a:avLst>
              <a:gd name="adj" fmla="val 7273"/>
            </a:avLst>
          </a:prstGeom>
          <a:solidFill>
            <a:srgbClr val="FFD23B"/>
          </a:solidFill>
          <a:ln w="12700">
            <a:solidFill>
              <a:srgbClr val="FFD23B"/>
            </a:solidFill>
            <a:prstDash val="solid"/>
          </a:ln>
        </p:spPr>
      </p:sp>
      <p:sp>
        <p:nvSpPr>
          <p:cNvPr id="12" name="Text 10"/>
          <p:cNvSpPr txBox="1"/>
          <p:nvPr/>
        </p:nvSpPr>
        <p:spPr>
          <a:xfrm>
            <a:off x="548640" y="416052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Alexandria" pitchFamily="34" charset="0"/>
                <a:ea typeface="Alexandria" pitchFamily="34" charset="-122"/>
                <a:cs typeface="Alexandria" pitchFamily="34" charset="-120"/>
              </a:rPr>
              <a:t>C</a:t>
            </a:r>
            <a:endParaRPr lang="en-US" sz="2800" dirty="0"/>
          </a:p>
        </p:txBody>
      </p:sp>
      <p:sp>
        <p:nvSpPr>
          <p:cNvPr id="13" name="Shape 11"/>
          <p:cNvSpPr/>
          <p:nvPr/>
        </p:nvSpPr>
        <p:spPr>
          <a:xfrm>
            <a:off x="1737360" y="4160520"/>
            <a:ext cx="990295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1920240" y="416052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Tập trung một phân khúc ngách — sẽ rất có lãi, và là ứng viên tự nhiên cho hoạt động cùng tạo giá trị</a:t>
            </a:r>
            <a:endParaRPr lang="en-US" sz="1700" dirty="0"/>
          </a:p>
        </p:txBody>
      </p:sp>
      <p:sp>
        <p:nvSpPr>
          <p:cNvPr id="15" name="Shape 13"/>
          <p:cNvSpPr/>
          <p:nvPr/>
        </p:nvSpPr>
        <p:spPr>
          <a:xfrm>
            <a:off x="548640" y="5440680"/>
            <a:ext cx="11091672"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731520" y="544068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Bài học: phân tích cả lợi nhuận quá khứ và lợi nhuận tương lai — “nhìn qua kính chắn gió, không chỉ gương chiếu hậu”.</a:t>
            </a:r>
            <a:endParaRPr lang="en-US" sz="1600" dirty="0"/>
          </a:p>
        </p:txBody>
      </p:sp>
      <p:sp>
        <p:nvSpPr>
          <p:cNvPr id="17" name="Text 15"/>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tr. 198, 200).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CLV là ước lượng theo giả định — luôn ghi rõ giả định và thử độ nhạy</a:t>
            </a:r>
            <a:endParaRPr lang="en-US" sz="2800" dirty="0"/>
          </a:p>
        </p:txBody>
      </p:sp>
      <p:sp>
        <p:nvSpPr>
          <p:cNvPr id="3" name="Shape 1"/>
          <p:cNvSpPr/>
          <p:nvPr/>
        </p:nvSpPr>
        <p:spPr>
          <a:xfrm>
            <a:off x="548640" y="1783080"/>
            <a:ext cx="11091672"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83080" y="178308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Phụ thuộc giả định p, d, m → ghi rõ, thử vài kịch bản</a:t>
            </a:r>
            <a:endParaRPr lang="en-US" sz="1900" dirty="0"/>
          </a:p>
        </p:txBody>
      </p:sp>
      <p:sp>
        <p:nvSpPr>
          <p:cNvPr id="7" name="Shape 4"/>
          <p:cNvSpPr/>
          <p:nvPr/>
        </p:nvSpPr>
        <p:spPr>
          <a:xfrm>
            <a:off x="548640" y="3108960"/>
            <a:ext cx="11091672"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777240" y="329184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948233" y="3462833"/>
            <a:ext cx="435254" cy="435254"/>
          </a:xfrm>
          <a:prstGeom prst="rect">
            <a:avLst/>
          </a:prstGeom>
        </p:spPr>
      </p:pic>
      <p:sp>
        <p:nvSpPr>
          <p:cNvPr id="10" name="Text 6"/>
          <p:cNvSpPr txBox="1"/>
          <p:nvPr/>
        </p:nvSpPr>
        <p:spPr>
          <a:xfrm>
            <a:off x="1783080" y="310896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Không đo hết giá trị vô hình: uy tín, hồ sơ năng lực, học hỏi → ghi bên cạnh, không bỏ</a:t>
            </a:r>
            <a:endParaRPr lang="en-US" sz="1900" dirty="0"/>
          </a:p>
        </p:txBody>
      </p:sp>
      <p:sp>
        <p:nvSpPr>
          <p:cNvPr id="11" name="Shape 7"/>
          <p:cNvSpPr/>
          <p:nvPr/>
        </p:nvSpPr>
        <p:spPr>
          <a:xfrm>
            <a:off x="548640" y="4434840"/>
            <a:ext cx="11091672"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77240" y="4617720"/>
            <a:ext cx="777240" cy="7772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48233" y="4788713"/>
            <a:ext cx="435254" cy="435254"/>
          </a:xfrm>
          <a:prstGeom prst="rect">
            <a:avLst/>
          </a:prstGeom>
        </p:spPr>
      </p:pic>
      <p:sp>
        <p:nvSpPr>
          <p:cNvPr id="14" name="Text 9"/>
          <p:cNvSpPr txBox="1"/>
          <p:nvPr/>
        </p:nvSpPr>
        <p:spPr>
          <a:xfrm>
            <a:off x="1783080" y="443484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Alexandria" pitchFamily="34" charset="0"/>
                <a:ea typeface="Alexandria" pitchFamily="34" charset="-122"/>
                <a:cs typeface="Alexandria" pitchFamily="34" charset="-120"/>
              </a:rPr>
              <a:t>Dự báo xa thì kém chắc chắn → dùng 3–5 năm, cập nhật hằng năm</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CLV của Sông Xanh và Bếp Việt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Tính m cho hai khách hàng: lợi nhuận gộp − cost-to-serve</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Chia đôi nhóm: một nửa tính CLV 5 năm Sông Xanh, một nửa Bếp Việt (bảng 5 dòng như slide 8)</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Độ nhạy: Bếp Việt tăng p lên 85% thì sao? Viết 2 câu so sánh 3 khách hàng cho anh Đức — CEO Nova</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Hai bảng CLV + 2 câu kết luận cho CEO Nova</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Dùng m, không dùng doanh thu. Ghi rõ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Chi phí không ai ghi hóa đơn</a:t>
            </a:r>
            <a:endParaRPr lang="en-US" sz="2800" dirty="0"/>
          </a:p>
        </p:txBody>
      </p:sp>
      <p:sp>
        <p:nvSpPr>
          <p:cNvPr id="3" name="Shape 1"/>
          <p:cNvSpPr/>
          <p:nvPr/>
        </p:nvSpPr>
        <p:spPr>
          <a:xfrm>
            <a:off x="5184648" y="1737360"/>
            <a:ext cx="1828800" cy="18288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Phục vụ khách hàng nào làm Nova tốn công nhất?</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6.2: cost-to-serve</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Doanh số cao không có nghĩa là lợi nhuận cao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800" b="1" dirty="0">
                <a:solidFill>
                  <a:srgbClr val="09A1E5"/>
                </a:solidFill>
                <a:latin typeface="Alexandria" pitchFamily="34" charset="0"/>
                <a:ea typeface="Alexandria" pitchFamily="34" charset="-122"/>
                <a:cs typeface="Alexandria" pitchFamily="34" charset="-120"/>
              </a:rPr>
              <a:t>Shapiro, Rangan, Moriarty &amp; Ross (1987)</a:t>
            </a:r>
            <a:endParaRPr lang="en-US" sz="1800" dirty="0"/>
          </a:p>
        </p:txBody>
      </p:sp>
      <p:sp>
        <p:nvSpPr>
          <p:cNvPr id="7" name="Text 4"/>
          <p:cNvSpPr txBox="1"/>
          <p:nvPr/>
        </p:nvSpPr>
        <p:spPr>
          <a:xfrm>
            <a:off x="822960" y="3108960"/>
            <a:ext cx="6126480" cy="246888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Lợi nhuận trên từng đơn hàng, từng khách hàng khác nhau rất lớn — nhiều khi quản lý không hiểu vì sao. Hai nguyên nhân: giá thực nhận khác nhau, và chi phí phục vụ khác nhau.</a:t>
            </a:r>
            <a:endParaRPr lang="en-US" sz="1800" dirty="0"/>
          </a:p>
        </p:txBody>
      </p:sp>
      <p:sp>
        <p:nvSpPr>
          <p:cNvPr id="8" name="Shape 5"/>
          <p:cNvSpPr/>
          <p:nvPr/>
        </p:nvSpPr>
        <p:spPr>
          <a:xfrm>
            <a:off x="7498080" y="1783080"/>
            <a:ext cx="414223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Tên bài: “Manage customers for profits (not just sales)”</a:t>
            </a:r>
            <a:endParaRPr lang="en-US" sz="20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Shapiro et al. (1987), Harvard Business Review, 65(5).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Cost to serve là chi phí phục vụ, quản trị quan hệ với một khách hàng — và nó phụ thuộc hành vi của khách</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Định lượng chi phí gắn với việc phục vụ, quản trị quan hệ khách hàng hằng ngày: thăm khách, soạn tài liệu, trả lời yêu cầu, xử lý khiếu nại, mời lãnh đạo cấp cao gặp khách…</a:t>
            </a:r>
            <a:endParaRPr lang="en-US" sz="15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210; gợi ý dùng activity-based costing)</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Guerreiro et al. (dẫn Kaplan)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Doanh nghiệp thường biết rõ chi phí làm ra sản phẩm nhưng ít biết chi phí phục vụ khách hàng; chi phí phục vụ phụ thuộc hành vi của khách hàng.</a:t>
            </a:r>
            <a:endParaRPr lang="en-US" sz="15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(F05, dẫn Kaplan &amp; Narayanan, 2001)</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“Whale curve”</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Nghiên cứu Kanthal (Kaplan, 1989): 20% khách hàng tạo 225% tổng lợi nhuận; 10% khách hàng gây lỗ bằng 125% tổng lợi nhuận.</a:t>
            </a:r>
            <a:endParaRPr lang="en-US" sz="15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(dẫn lại qua F05 — chưa kiểm chứng chéo)</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cùng một doanh thu, khách hàng khác nhau “ăn” lợi nhuận khác nhau — vì cách họ làm việc với agency.</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Chi phí phục vụ nằm ở cả ba giai đoạn: trước bán, trong bán, sau bán</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Trước bán</a:t>
            </a:r>
            <a:endParaRPr lang="en-US" sz="2000" dirty="0"/>
          </a:p>
        </p:txBody>
      </p:sp>
      <p:sp>
        <p:nvSpPr>
          <p:cNvPr id="5" name="Shape 3"/>
          <p:cNvSpPr/>
          <p:nvPr/>
        </p:nvSpPr>
        <p:spPr>
          <a:xfrm>
            <a:off x="548640" y="2514600"/>
            <a:ext cx="3566160" cy="3246120"/>
          </a:xfrm>
          <a:prstGeom prst="roundRect">
            <a:avLst>
              <a:gd name="adj" fmla="val 2254"/>
            </a:avLst>
          </a:prstGeom>
          <a:solidFill>
            <a:srgbClr val="22395F"/>
          </a:solidFill>
          <a:ln w="12700">
            <a:solidFill>
              <a:srgbClr val="22395F"/>
            </a:solidFill>
            <a:prstDash val="solid"/>
          </a:ln>
        </p:spPr>
      </p:sp>
      <p:sp>
        <p:nvSpPr>
          <p:cNvPr id="6" name="Text 4"/>
          <p:cNvSpPr txBox="1"/>
          <p:nvPr/>
        </p:nvSpPr>
        <p:spPr>
          <a:xfrm>
            <a:off x="731520"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Hiểu nhu cầu, phân tích, thiết kế giải pháp, trình bày, theo đuổi đến khi ký</a:t>
            </a:r>
            <a:endParaRPr lang="en-US" sz="1500" dirty="0"/>
          </a:p>
        </p:txBody>
      </p:sp>
      <p:sp>
        <p:nvSpPr>
          <p:cNvPr id="7" name="Text 5"/>
          <p:cNvSpPr txBox="1"/>
          <p:nvPr/>
        </p:nvSpPr>
        <p:spPr>
          <a:xfrm>
            <a:off x="731520" y="3657600"/>
            <a:ext cx="3200400" cy="411480"/>
          </a:xfrm>
          <a:prstGeom prst="rect">
            <a:avLst/>
          </a:prstGeom>
          <a:noFill/>
          <a:ln/>
        </p:spPr>
        <p:txBody>
          <a:bodyPr wrap="square" lIns="635" tIns="635" rIns="635" bIns="635" rtlCol="0" anchor="ctr"/>
          <a:lstStyle/>
          <a:p>
            <a:pPr indent="0" marL="0">
              <a:buNone/>
            </a:pPr>
            <a:r>
              <a:rPr lang="en-US" sz="1400" b="1" dirty="0">
                <a:solidFill>
                  <a:srgbClr val="49B296"/>
                </a:solidFill>
                <a:latin typeface="Alexandria" pitchFamily="34" charset="0"/>
                <a:ea typeface="Alexandria" pitchFamily="34" charset="-122"/>
                <a:cs typeface="Alexandria" pitchFamily="34" charset="-120"/>
              </a:rPr>
              <a:t>Vì sao khác nhau giữa các khách:</a:t>
            </a:r>
            <a:endParaRPr lang="en-US" sz="1400" dirty="0"/>
          </a:p>
        </p:txBody>
      </p:sp>
      <p:sp>
        <p:nvSpPr>
          <p:cNvPr id="8" name="Text 6"/>
          <p:cNvSpPr txBox="1"/>
          <p:nvPr/>
        </p:nvSpPr>
        <p:spPr>
          <a:xfrm>
            <a:off x="731520"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Quy trình mua dài, nhiều vòng, nhiều người</a:t>
            </a:r>
            <a:endParaRPr lang="en-US" sz="1400" dirty="0"/>
          </a:p>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Khách đòi lãnh đạo cấp cao có mặt khi đàm phán</a:t>
            </a:r>
            <a:endParaRPr lang="en-US" sz="14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Trong bán</a:t>
            </a:r>
            <a:endParaRPr lang="en-US" sz="2000" dirty="0"/>
          </a:p>
        </p:txBody>
      </p:sp>
      <p:sp>
        <p:nvSpPr>
          <p:cNvPr id="11" name="Shape 9"/>
          <p:cNvSpPr/>
          <p:nvPr/>
        </p:nvSpPr>
        <p:spPr>
          <a:xfrm>
            <a:off x="4325112" y="2514600"/>
            <a:ext cx="3566160" cy="3246120"/>
          </a:xfrm>
          <a:prstGeom prst="roundRect">
            <a:avLst>
              <a:gd name="adj" fmla="val 2254"/>
            </a:avLst>
          </a:prstGeom>
          <a:solidFill>
            <a:srgbClr val="22395F"/>
          </a:solidFill>
          <a:ln w="12700">
            <a:solidFill>
              <a:srgbClr val="22395F"/>
            </a:solidFill>
            <a:prstDash val="solid"/>
          </a:ln>
        </p:spPr>
      </p:sp>
      <p:sp>
        <p:nvSpPr>
          <p:cNvPr id="12" name="Text 10"/>
          <p:cNvSpPr txBox="1"/>
          <p:nvPr/>
        </p:nvSpPr>
        <p:spPr>
          <a:xfrm>
            <a:off x="4507992"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Sản xuất, lưu kho, xử lý đơn, giao hàng gắn với dịch vụ đã bán</a:t>
            </a:r>
            <a:endParaRPr lang="en-US" sz="1500" dirty="0"/>
          </a:p>
        </p:txBody>
      </p:sp>
      <p:sp>
        <p:nvSpPr>
          <p:cNvPr id="13" name="Text 11"/>
          <p:cNvSpPr txBox="1"/>
          <p:nvPr/>
        </p:nvSpPr>
        <p:spPr>
          <a:xfrm>
            <a:off x="4507992" y="3657600"/>
            <a:ext cx="3200400" cy="411480"/>
          </a:xfrm>
          <a:prstGeom prst="rect">
            <a:avLst/>
          </a:prstGeom>
          <a:noFill/>
          <a:ln/>
        </p:spPr>
        <p:txBody>
          <a:bodyPr wrap="square" lIns="635" tIns="635" rIns="635" bIns="635" rtlCol="0" anchor="ctr"/>
          <a:lstStyle/>
          <a:p>
            <a:pPr indent="0" marL="0">
              <a:buNone/>
            </a:pPr>
            <a:r>
              <a:rPr lang="en-US" sz="1400" b="1" dirty="0">
                <a:solidFill>
                  <a:srgbClr val="FFD23B"/>
                </a:solidFill>
                <a:latin typeface="Alexandria" pitchFamily="34" charset="0"/>
                <a:ea typeface="Alexandria" pitchFamily="34" charset="-122"/>
                <a:cs typeface="Alexandria" pitchFamily="34" charset="-120"/>
              </a:rPr>
              <a:t>Vì sao khác nhau giữa các khách:</a:t>
            </a:r>
            <a:endParaRPr lang="en-US" sz="1400" dirty="0"/>
          </a:p>
        </p:txBody>
      </p:sp>
      <p:sp>
        <p:nvSpPr>
          <p:cNvPr id="14" name="Text 12"/>
          <p:cNvSpPr txBox="1"/>
          <p:nvPr/>
        </p:nvSpPr>
        <p:spPr>
          <a:xfrm>
            <a:off x="4507992"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Yêu cầu riêng, đặc tả riêng</a:t>
            </a:r>
            <a:endParaRPr lang="en-US" sz="1400" dirty="0"/>
          </a:p>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Điều kiện giao, thời điểm riêng → chi phí tài chính</a:t>
            </a:r>
            <a:endParaRPr lang="en-US" sz="1400" dirty="0"/>
          </a:p>
        </p:txBody>
      </p:sp>
      <p:sp>
        <p:nvSpPr>
          <p:cNvPr id="15" name="Shape 13"/>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Sau bán</a:t>
            </a:r>
            <a:endParaRPr lang="en-US" sz="2000" dirty="0"/>
          </a:p>
        </p:txBody>
      </p:sp>
      <p:sp>
        <p:nvSpPr>
          <p:cNvPr id="17" name="Shape 15"/>
          <p:cNvSpPr/>
          <p:nvPr/>
        </p:nvSpPr>
        <p:spPr>
          <a:xfrm>
            <a:off x="8101584" y="2514600"/>
            <a:ext cx="3566160" cy="3246120"/>
          </a:xfrm>
          <a:prstGeom prst="roundRect">
            <a:avLst>
              <a:gd name="adj" fmla="val 2254"/>
            </a:avLst>
          </a:prstGeom>
          <a:solidFill>
            <a:srgbClr val="22395F"/>
          </a:solidFill>
          <a:ln w="12700">
            <a:solidFill>
              <a:srgbClr val="22395F"/>
            </a:solidFill>
            <a:prstDash val="solid"/>
          </a:ln>
        </p:spPr>
      </p:sp>
      <p:sp>
        <p:nvSpPr>
          <p:cNvPr id="18" name="Text 16"/>
          <p:cNvSpPr txBox="1"/>
          <p:nvPr/>
        </p:nvSpPr>
        <p:spPr>
          <a:xfrm>
            <a:off x="8284464"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Alexandria" pitchFamily="34" charset="0"/>
                <a:ea typeface="Alexandria" pitchFamily="34" charset="-122"/>
                <a:cs typeface="Alexandria" pitchFamily="34" charset="-120"/>
              </a:rPr>
              <a:t>Hỗ trợ kỹ thuật, đào tạo, triển khai, điều chỉnh đề nghị ban đầu</a:t>
            </a:r>
            <a:endParaRPr lang="en-US" sz="1500" dirty="0"/>
          </a:p>
        </p:txBody>
      </p:sp>
      <p:sp>
        <p:nvSpPr>
          <p:cNvPr id="19" name="Text 17"/>
          <p:cNvSpPr txBox="1"/>
          <p:nvPr/>
        </p:nvSpPr>
        <p:spPr>
          <a:xfrm>
            <a:off x="8284464" y="3657600"/>
            <a:ext cx="3200400" cy="411480"/>
          </a:xfrm>
          <a:prstGeom prst="rect">
            <a:avLst/>
          </a:prstGeom>
          <a:noFill/>
          <a:ln/>
        </p:spPr>
        <p:txBody>
          <a:bodyPr wrap="square" lIns="635" tIns="635" rIns="635" bIns="635" rtlCol="0" anchor="ctr"/>
          <a:lstStyle/>
          <a:p>
            <a:pPr indent="0" marL="0">
              <a:buNone/>
            </a:pPr>
            <a:r>
              <a:rPr lang="en-US" sz="1400" b="1" dirty="0">
                <a:solidFill>
                  <a:srgbClr val="FF5178"/>
                </a:solidFill>
                <a:latin typeface="Alexandria" pitchFamily="34" charset="0"/>
                <a:ea typeface="Alexandria" pitchFamily="34" charset="-122"/>
                <a:cs typeface="Alexandria" pitchFamily="34" charset="-120"/>
              </a:rPr>
              <a:t>Vì sao khác nhau giữa các khách:</a:t>
            </a:r>
            <a:endParaRPr lang="en-US" sz="1400" dirty="0"/>
          </a:p>
        </p:txBody>
      </p:sp>
      <p:sp>
        <p:nvSpPr>
          <p:cNvPr id="20" name="Text 18"/>
          <p:cNvSpPr txBox="1"/>
          <p:nvPr/>
        </p:nvSpPr>
        <p:spPr>
          <a:xfrm>
            <a:off x="8284464"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Khách cần giám sát, tư vấn sát khi triển khai</a:t>
            </a:r>
            <a:endParaRPr lang="en-US" sz="1400" dirty="0"/>
          </a:p>
          <a:p>
            <a:pPr marL="342900" indent="-342900">
              <a:spcAft>
                <a:spcPts val="400"/>
              </a:spcAft>
              <a:buSzPct val="100000"/>
              <a:buChar char="•"/>
            </a:pPr>
            <a:r>
              <a:rPr lang="en-US" sz="1400" dirty="0">
                <a:solidFill>
                  <a:srgbClr val="FBFAF4"/>
                </a:solidFill>
                <a:latin typeface="Alexandria" pitchFamily="34" charset="0"/>
                <a:ea typeface="Alexandria" pitchFamily="34" charset="-122"/>
                <a:cs typeface="Alexandria" pitchFamily="34" charset="-120"/>
              </a:rPr>
              <a:t>Điều chỉnh cho nhiều địa điểm</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Bảng 8.1, tr. 195),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sự kiện có sáu loại chi phí phục vụ ẩn — không nằm trong báo giá</a:t>
            </a:r>
            <a:endParaRPr lang="en-US" sz="2800" dirty="0"/>
          </a:p>
        </p:txBody>
      </p:sp>
      <p:sp>
        <p:nvSpPr>
          <p:cNvPr id="3" name="Shape 1"/>
          <p:cNvSpPr/>
          <p:nvPr/>
        </p:nvSpPr>
        <p:spPr>
          <a:xfrm>
            <a:off x="548640" y="1783080"/>
            <a:ext cx="5394960"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3152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02513" y="2136953"/>
            <a:ext cx="435254" cy="435254"/>
          </a:xfrm>
          <a:prstGeom prst="rect">
            <a:avLst/>
          </a:prstGeom>
        </p:spPr>
      </p:pic>
      <p:sp>
        <p:nvSpPr>
          <p:cNvPr id="6" name="Text 3"/>
          <p:cNvSpPr txBox="1"/>
          <p:nvPr/>
        </p:nvSpPr>
        <p:spPr>
          <a:xfrm>
            <a:off x="1691640" y="178308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Giờ đội KAM, số buổi họp</a:t>
            </a:r>
            <a:endParaRPr lang="en-US" sz="1700" dirty="0"/>
          </a:p>
        </p:txBody>
      </p:sp>
      <p:sp>
        <p:nvSpPr>
          <p:cNvPr id="7" name="Shape 4"/>
          <p:cNvSpPr/>
          <p:nvPr/>
        </p:nvSpPr>
        <p:spPr>
          <a:xfrm>
            <a:off x="6153912" y="1783080"/>
            <a:ext cx="5394960"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6336792" y="196596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507785" y="2136953"/>
            <a:ext cx="435254" cy="435254"/>
          </a:xfrm>
          <a:prstGeom prst="rect">
            <a:avLst/>
          </a:prstGeom>
        </p:spPr>
      </p:pic>
      <p:sp>
        <p:nvSpPr>
          <p:cNvPr id="10" name="Text 6"/>
          <p:cNvSpPr txBox="1"/>
          <p:nvPr/>
        </p:nvSpPr>
        <p:spPr>
          <a:xfrm>
            <a:off x="7296912" y="178308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Sửa concept nhiều vòng: 2 hay 6 vòng</a:t>
            </a:r>
            <a:endParaRPr lang="en-US" sz="1700" dirty="0"/>
          </a:p>
        </p:txBody>
      </p:sp>
      <p:sp>
        <p:nvSpPr>
          <p:cNvPr id="11" name="Shape 7"/>
          <p:cNvSpPr/>
          <p:nvPr/>
        </p:nvSpPr>
        <p:spPr>
          <a:xfrm>
            <a:off x="548640" y="3108960"/>
            <a:ext cx="5394960"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31520" y="3291840"/>
            <a:ext cx="777240" cy="77724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902513" y="3462833"/>
            <a:ext cx="435254" cy="435254"/>
          </a:xfrm>
          <a:prstGeom prst="rect">
            <a:avLst/>
          </a:prstGeom>
        </p:spPr>
      </p:pic>
      <p:sp>
        <p:nvSpPr>
          <p:cNvPr id="14" name="Text 9"/>
          <p:cNvSpPr txBox="1"/>
          <p:nvPr/>
        </p:nvSpPr>
        <p:spPr>
          <a:xfrm>
            <a:off x="1691640" y="310896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Phát sinh ngoài phạm vi không tính tiền (scope creep)</a:t>
            </a:r>
            <a:endParaRPr lang="en-US" sz="1700" dirty="0"/>
          </a:p>
        </p:txBody>
      </p:sp>
      <p:sp>
        <p:nvSpPr>
          <p:cNvPr id="15" name="Shape 10"/>
          <p:cNvSpPr/>
          <p:nvPr/>
        </p:nvSpPr>
        <p:spPr>
          <a:xfrm>
            <a:off x="6153912" y="3108960"/>
            <a:ext cx="5394960" cy="1143000"/>
          </a:xfrm>
          <a:prstGeom prst="roundRect">
            <a:avLst>
              <a:gd name="adj" fmla="val 6400"/>
            </a:avLst>
          </a:prstGeom>
          <a:solidFill>
            <a:srgbClr val="22395F"/>
          </a:solidFill>
          <a:ln w="12700">
            <a:solidFill>
              <a:srgbClr val="22395F"/>
            </a:solidFill>
            <a:prstDash val="solid"/>
          </a:ln>
        </p:spPr>
      </p:sp>
      <p:sp>
        <p:nvSpPr>
          <p:cNvPr id="16" name="Shape 11"/>
          <p:cNvSpPr/>
          <p:nvPr/>
        </p:nvSpPr>
        <p:spPr>
          <a:xfrm>
            <a:off x="6336792" y="3291840"/>
            <a:ext cx="777240" cy="77724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6507785" y="3462833"/>
            <a:ext cx="435254" cy="435254"/>
          </a:xfrm>
          <a:prstGeom prst="rect">
            <a:avLst/>
          </a:prstGeom>
        </p:spPr>
      </p:pic>
      <p:sp>
        <p:nvSpPr>
          <p:cNvPr id="18" name="Text 12"/>
          <p:cNvSpPr txBox="1"/>
          <p:nvPr/>
        </p:nvSpPr>
        <p:spPr>
          <a:xfrm>
            <a:off x="7296912" y="310896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Chi phí vốn do trả chậm, trong khi phải đặt cọc nhà cung cấp</a:t>
            </a:r>
            <a:endParaRPr lang="en-US" sz="1700" dirty="0"/>
          </a:p>
        </p:txBody>
      </p:sp>
      <p:sp>
        <p:nvSpPr>
          <p:cNvPr id="19" name="Shape 13"/>
          <p:cNvSpPr/>
          <p:nvPr/>
        </p:nvSpPr>
        <p:spPr>
          <a:xfrm>
            <a:off x="548640" y="4434840"/>
            <a:ext cx="5394960" cy="1143000"/>
          </a:xfrm>
          <a:prstGeom prst="roundRect">
            <a:avLst>
              <a:gd name="adj" fmla="val 6400"/>
            </a:avLst>
          </a:prstGeom>
          <a:solidFill>
            <a:srgbClr val="22395F"/>
          </a:solidFill>
          <a:ln w="12700">
            <a:solidFill>
              <a:srgbClr val="22395F"/>
            </a:solidFill>
            <a:prstDash val="solid"/>
          </a:ln>
        </p:spPr>
      </p:sp>
      <p:sp>
        <p:nvSpPr>
          <p:cNvPr id="20" name="Shape 14"/>
          <p:cNvSpPr/>
          <p:nvPr/>
        </p:nvSpPr>
        <p:spPr>
          <a:xfrm>
            <a:off x="731520" y="4617720"/>
            <a:ext cx="777240" cy="777240"/>
          </a:xfrm>
          <a:prstGeom prst="ellipse">
            <a:avLst/>
          </a:prstGeom>
          <a:solidFill>
            <a:srgbClr val="09A1E5"/>
          </a:solidFill>
          <a:ln w="12700">
            <a:solidFill>
              <a:srgbClr val="09A1E5"/>
            </a:solidFill>
            <a:prstDash val="solid"/>
          </a:ln>
        </p:spPr>
      </p:sp>
      <p:pic>
        <p:nvPicPr>
          <p:cNvPr id="21" name="Image 4" descr="preencoded.png">    </p:cNvPr>
          <p:cNvPicPr>
            <a:picLocks noChangeAspect="1"/>
          </p:cNvPicPr>
          <p:nvPr/>
        </p:nvPicPr>
        <p:blipFill>
          <a:blip r:embed="rId5"/>
          <a:stretch>
            <a:fillRect/>
          </a:stretch>
        </p:blipFill>
        <p:spPr>
          <a:xfrm>
            <a:off x="902513" y="4788713"/>
            <a:ext cx="435254" cy="435254"/>
          </a:xfrm>
          <a:prstGeom prst="rect">
            <a:avLst/>
          </a:prstGeom>
        </p:spPr>
      </p:pic>
      <p:sp>
        <p:nvSpPr>
          <p:cNvPr id="22" name="Text 15"/>
          <p:cNvSpPr txBox="1"/>
          <p:nvPr/>
        </p:nvSpPr>
        <p:spPr>
          <a:xfrm>
            <a:off x="1691640" y="443484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Đấu thầu lại mỗi năm: đề xuất, pitch</a:t>
            </a:r>
            <a:endParaRPr lang="en-US" sz="1700" dirty="0"/>
          </a:p>
        </p:txBody>
      </p:sp>
      <p:sp>
        <p:nvSpPr>
          <p:cNvPr id="23" name="Shape 16"/>
          <p:cNvSpPr/>
          <p:nvPr/>
        </p:nvSpPr>
        <p:spPr>
          <a:xfrm>
            <a:off x="6153912" y="4434840"/>
            <a:ext cx="5394960" cy="1143000"/>
          </a:xfrm>
          <a:prstGeom prst="roundRect">
            <a:avLst>
              <a:gd name="adj" fmla="val 6400"/>
            </a:avLst>
          </a:prstGeom>
          <a:solidFill>
            <a:srgbClr val="22395F"/>
          </a:solidFill>
          <a:ln w="12700">
            <a:solidFill>
              <a:srgbClr val="22395F"/>
            </a:solidFill>
            <a:prstDash val="solid"/>
          </a:ln>
        </p:spPr>
      </p:sp>
      <p:sp>
        <p:nvSpPr>
          <p:cNvPr id="24" name="Shape 17"/>
          <p:cNvSpPr/>
          <p:nvPr/>
        </p:nvSpPr>
        <p:spPr>
          <a:xfrm>
            <a:off x="6336792" y="4617720"/>
            <a:ext cx="777240" cy="777240"/>
          </a:xfrm>
          <a:prstGeom prst="ellipse">
            <a:avLst/>
          </a:prstGeom>
          <a:solidFill>
            <a:srgbClr val="962B7C"/>
          </a:solidFill>
          <a:ln w="12700">
            <a:solidFill>
              <a:srgbClr val="962B7C"/>
            </a:solidFill>
            <a:prstDash val="solid"/>
          </a:ln>
        </p:spPr>
      </p:sp>
      <p:pic>
        <p:nvPicPr>
          <p:cNvPr id="25" name="Image 5" descr="preencoded.png">    </p:cNvPr>
          <p:cNvPicPr>
            <a:picLocks noChangeAspect="1"/>
          </p:cNvPicPr>
          <p:nvPr/>
        </p:nvPicPr>
        <p:blipFill>
          <a:blip r:embed="rId6"/>
          <a:stretch>
            <a:fillRect/>
          </a:stretch>
        </p:blipFill>
        <p:spPr>
          <a:xfrm>
            <a:off x="6507785" y="4788713"/>
            <a:ext cx="435254" cy="435254"/>
          </a:xfrm>
          <a:prstGeom prst="rect">
            <a:avLst/>
          </a:prstGeom>
        </p:spPr>
      </p:pic>
      <p:sp>
        <p:nvSpPr>
          <p:cNvPr id="26" name="Text 18"/>
          <p:cNvSpPr txBox="1"/>
          <p:nvPr/>
        </p:nvSpPr>
        <p:spPr>
          <a:xfrm>
            <a:off x="7296912" y="443484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Nhân sự cấp cao phải có mặt</a:t>
            </a:r>
            <a:endParaRPr lang="en-US" sz="1700" dirty="0"/>
          </a:p>
        </p:txBody>
      </p:sp>
      <p:sp>
        <p:nvSpPr>
          <p:cNvPr id="27"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môn (quyết định GV 4, 28/9/2026), xếp theo trước bán – trong bán – sau bán của Marcos et al. (2018, Bảng 8.1).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Sông Xanh trả sau 90 ngày: Nova tốn khoảng 104 triệu chi phí vốn mỗi năm</a:t>
            </a:r>
            <a:endParaRPr lang="en-US" sz="2800" dirty="0"/>
          </a:p>
        </p:txBody>
      </p:sp>
      <p:sp>
        <p:nvSpPr>
          <p:cNvPr id="3" name="Shape 1"/>
          <p:cNvSpPr/>
          <p:nvPr/>
        </p:nvSpPr>
        <p:spPr>
          <a:xfrm>
            <a:off x="548640" y="1783080"/>
            <a:ext cx="6949440" cy="2103120"/>
          </a:xfrm>
          <a:prstGeom prst="roundRect">
            <a:avLst>
              <a:gd name="adj" fmla="val 3478"/>
            </a:avLst>
          </a:prstGeom>
          <a:solidFill>
            <a:srgbClr val="FBFAF4"/>
          </a:solidFill>
          <a:ln w="12700">
            <a:solidFill>
              <a:srgbClr val="FBFAF4"/>
            </a:solidFill>
            <a:prstDash val="solid"/>
          </a:ln>
        </p:spPr>
      </p:sp>
      <p:sp>
        <p:nvSpPr>
          <p:cNvPr id="4" name="Text 2"/>
          <p:cNvSpPr txBox="1"/>
          <p:nvPr/>
        </p:nvSpPr>
        <p:spPr>
          <a:xfrm>
            <a:off x="731520" y="1783080"/>
            <a:ext cx="6583680" cy="2103120"/>
          </a:xfrm>
          <a:prstGeom prst="rect">
            <a:avLst/>
          </a:prstGeom>
          <a:noFill/>
          <a:ln/>
        </p:spPr>
        <p:txBody>
          <a:bodyPr wrap="square" lIns="635" tIns="635" rIns="635" bIns="635" rtlCol="0" anchor="ctr"/>
          <a:lstStyle/>
          <a:p>
            <a:pPr algn="ctr" indent="0" marL="0">
              <a:buNone/>
            </a:pPr>
            <a:r>
              <a:rPr lang="en-US" sz="3200" b="1" dirty="0">
                <a:solidFill>
                  <a:srgbClr val="172849"/>
                </a:solidFill>
                <a:latin typeface="Alexandria" pitchFamily="34" charset="0"/>
                <a:ea typeface="Alexandria" pitchFamily="34" charset="-122"/>
                <a:cs typeface="Alexandria" pitchFamily="34" charset="-120"/>
              </a:rPr>
              <a:t>3.500 × 12% × 90 / 365 ≈ 104 triệu</a:t>
            </a:r>
            <a:endParaRPr lang="en-US" sz="3200" dirty="0"/>
          </a:p>
        </p:txBody>
      </p:sp>
      <p:sp>
        <p:nvSpPr>
          <p:cNvPr id="5" name="Shape 3"/>
          <p:cNvSpPr/>
          <p:nvPr/>
        </p:nvSpPr>
        <p:spPr>
          <a:xfrm>
            <a:off x="548640" y="4069080"/>
            <a:ext cx="2194560" cy="1645920"/>
          </a:xfrm>
          <a:prstGeom prst="roundRect">
            <a:avLst>
              <a:gd name="adj" fmla="val 4444"/>
            </a:avLst>
          </a:prstGeom>
          <a:solidFill>
            <a:srgbClr val="22395F"/>
          </a:solidFill>
          <a:ln w="12700">
            <a:solidFill>
              <a:srgbClr val="22395F"/>
            </a:solidFill>
            <a:prstDash val="solid"/>
          </a:ln>
        </p:spPr>
      </p:sp>
      <p:sp>
        <p:nvSpPr>
          <p:cNvPr id="6" name="Text 4"/>
          <p:cNvSpPr txBox="1"/>
          <p:nvPr/>
        </p:nvSpPr>
        <p:spPr>
          <a:xfrm>
            <a:off x="54864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Alexandria" pitchFamily="34" charset="0"/>
                <a:ea typeface="Alexandria" pitchFamily="34" charset="-122"/>
                <a:cs typeface="Alexandria" pitchFamily="34" charset="-120"/>
              </a:rPr>
              <a:t>3.500</a:t>
            </a:r>
            <a:endParaRPr lang="en-US" sz="2400" dirty="0"/>
          </a:p>
        </p:txBody>
      </p:sp>
      <p:sp>
        <p:nvSpPr>
          <p:cNvPr id="7" name="Text 5"/>
          <p:cNvSpPr txBox="1"/>
          <p:nvPr/>
        </p:nvSpPr>
        <p:spPr>
          <a:xfrm>
            <a:off x="64008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Alexandria" pitchFamily="34" charset="0"/>
                <a:ea typeface="Alexandria" pitchFamily="34" charset="-122"/>
                <a:cs typeface="Alexandria" pitchFamily="34" charset="-120"/>
              </a:rPr>
              <a:t>doanh thu/năm (triệu)</a:t>
            </a:r>
            <a:endParaRPr lang="en-US" sz="1400" dirty="0"/>
          </a:p>
        </p:txBody>
      </p:sp>
      <p:sp>
        <p:nvSpPr>
          <p:cNvPr id="8" name="Shape 6"/>
          <p:cNvSpPr/>
          <p:nvPr/>
        </p:nvSpPr>
        <p:spPr>
          <a:xfrm>
            <a:off x="2926080" y="4069080"/>
            <a:ext cx="2194560" cy="1645920"/>
          </a:xfrm>
          <a:prstGeom prst="roundRect">
            <a:avLst>
              <a:gd name="adj" fmla="val 4444"/>
            </a:avLst>
          </a:prstGeom>
          <a:solidFill>
            <a:srgbClr val="22395F"/>
          </a:solidFill>
          <a:ln w="12700">
            <a:solidFill>
              <a:srgbClr val="22395F"/>
            </a:solidFill>
            <a:prstDash val="solid"/>
          </a:ln>
        </p:spPr>
      </p:sp>
      <p:sp>
        <p:nvSpPr>
          <p:cNvPr id="9" name="Text 7"/>
          <p:cNvSpPr txBox="1"/>
          <p:nvPr/>
        </p:nvSpPr>
        <p:spPr>
          <a:xfrm>
            <a:off x="292608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Alexandria" pitchFamily="34" charset="0"/>
                <a:ea typeface="Alexandria" pitchFamily="34" charset="-122"/>
                <a:cs typeface="Alexandria" pitchFamily="34" charset="-120"/>
              </a:rPr>
              <a:t>12%</a:t>
            </a:r>
            <a:endParaRPr lang="en-US" sz="2400" dirty="0"/>
          </a:p>
        </p:txBody>
      </p:sp>
      <p:sp>
        <p:nvSpPr>
          <p:cNvPr id="10" name="Text 8"/>
          <p:cNvSpPr txBox="1"/>
          <p:nvPr/>
        </p:nvSpPr>
        <p:spPr>
          <a:xfrm>
            <a:off x="301752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Alexandria" pitchFamily="34" charset="0"/>
                <a:ea typeface="Alexandria" pitchFamily="34" charset="-122"/>
                <a:cs typeface="Alexandria" pitchFamily="34" charset="-120"/>
              </a:rPr>
              <a:t>chi phí vốn/năm</a:t>
            </a:r>
            <a:endParaRPr lang="en-US" sz="1400" dirty="0"/>
          </a:p>
        </p:txBody>
      </p:sp>
      <p:sp>
        <p:nvSpPr>
          <p:cNvPr id="11" name="Shape 9"/>
          <p:cNvSpPr/>
          <p:nvPr/>
        </p:nvSpPr>
        <p:spPr>
          <a:xfrm>
            <a:off x="5303520" y="4069080"/>
            <a:ext cx="2194560" cy="1645920"/>
          </a:xfrm>
          <a:prstGeom prst="roundRect">
            <a:avLst>
              <a:gd name="adj" fmla="val 4444"/>
            </a:avLst>
          </a:prstGeom>
          <a:solidFill>
            <a:srgbClr val="22395F"/>
          </a:solidFill>
          <a:ln w="12700">
            <a:solidFill>
              <a:srgbClr val="22395F"/>
            </a:solidFill>
            <a:prstDash val="solid"/>
          </a:ln>
        </p:spPr>
      </p:sp>
      <p:sp>
        <p:nvSpPr>
          <p:cNvPr id="12" name="Text 10"/>
          <p:cNvSpPr txBox="1"/>
          <p:nvPr/>
        </p:nvSpPr>
        <p:spPr>
          <a:xfrm>
            <a:off x="530352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Alexandria" pitchFamily="34" charset="0"/>
                <a:ea typeface="Alexandria" pitchFamily="34" charset="-122"/>
                <a:cs typeface="Alexandria" pitchFamily="34" charset="-120"/>
              </a:rPr>
              <a:t>90/365</a:t>
            </a:r>
            <a:endParaRPr lang="en-US" sz="2400" dirty="0"/>
          </a:p>
        </p:txBody>
      </p:sp>
      <p:sp>
        <p:nvSpPr>
          <p:cNvPr id="13" name="Text 11"/>
          <p:cNvSpPr txBox="1"/>
          <p:nvPr/>
        </p:nvSpPr>
        <p:spPr>
          <a:xfrm>
            <a:off x="539496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Alexandria" pitchFamily="34" charset="0"/>
                <a:ea typeface="Alexandria" pitchFamily="34" charset="-122"/>
                <a:cs typeface="Alexandria" pitchFamily="34" charset="-120"/>
              </a:rPr>
              <a:t>thời gian Nova “cho vay”</a:t>
            </a:r>
            <a:endParaRPr lang="en-US" sz="1400" dirty="0"/>
          </a:p>
        </p:txBody>
      </p:sp>
      <p:sp>
        <p:nvSpPr>
          <p:cNvPr id="14" name="Shape 12"/>
          <p:cNvSpPr/>
          <p:nvPr/>
        </p:nvSpPr>
        <p:spPr>
          <a:xfrm>
            <a:off x="7772400" y="1783080"/>
            <a:ext cx="3867912" cy="3931920"/>
          </a:xfrm>
          <a:prstGeom prst="roundRect">
            <a:avLst>
              <a:gd name="adj" fmla="val 1891"/>
            </a:avLst>
          </a:prstGeom>
          <a:solidFill>
            <a:srgbClr val="FF5178"/>
          </a:solidFill>
          <a:ln w="12700">
            <a:solidFill>
              <a:srgbClr val="FF5178"/>
            </a:solidFill>
            <a:prstDash val="solid"/>
          </a:ln>
        </p:spPr>
      </p:sp>
      <p:sp>
        <p:nvSpPr>
          <p:cNvPr id="15" name="Text 13"/>
          <p:cNvSpPr txBox="1"/>
          <p:nvPr/>
        </p:nvSpPr>
        <p:spPr>
          <a:xfrm>
            <a:off x="8001000" y="1783080"/>
            <a:ext cx="342900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Gần một phần ba lợi nhuận gộp của Sông Xanh (350 triệu) — chỉ vì thời hạn thanh toán.</a:t>
            </a:r>
            <a:endParaRPr lang="en-US" sz="2000" dirty="0"/>
          </a:p>
        </p:txBody>
      </p:sp>
      <p:sp>
        <p:nvSpPr>
          <p:cNvPr id="16" name="Text 14"/>
          <p:cNvSpPr txBox="1"/>
          <p:nvPr/>
        </p:nvSpPr>
        <p:spPr>
          <a:xfrm>
            <a:off x="548640" y="5852160"/>
            <a:ext cx="27432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ở nhiều nơi cùng gặp trả chậm và phát sinh ngoài phạm vi</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FF5178"/>
                </a:solidFill>
                <a:latin typeface="Alexandria" pitchFamily="34" charset="0"/>
                <a:ea typeface="Alexandria" pitchFamily="34" charset="-122"/>
                <a:cs typeface="Alexandria" pitchFamily="34" charset="-120"/>
              </a:rPr>
              <a:t>97%</a:t>
            </a:r>
            <a:endParaRPr lang="en-US" sz="5400" dirty="0"/>
          </a:p>
        </p:txBody>
      </p:sp>
      <p:sp>
        <p:nvSpPr>
          <p:cNvPr id="5" name="Text 3"/>
          <p:cNvSpPr txBox="1"/>
          <p:nvPr/>
        </p:nvSpPr>
        <p:spPr>
          <a:xfrm>
            <a:off x="777240"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lãnh đạo agency gặp khách trả chậm</a:t>
            </a:r>
            <a:endParaRPr lang="en-US" sz="1700" dirty="0"/>
          </a:p>
        </p:txBody>
      </p:sp>
      <p:sp>
        <p:nvSpPr>
          <p:cNvPr id="6" name="Shape 4"/>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7" name="Text 5"/>
          <p:cNvSpPr txBox="1"/>
          <p:nvPr/>
        </p:nvSpPr>
        <p:spPr>
          <a:xfrm>
            <a:off x="4325112"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FF9259"/>
                </a:solidFill>
                <a:latin typeface="Alexandria" pitchFamily="34" charset="0"/>
                <a:ea typeface="Alexandria" pitchFamily="34" charset="-122"/>
                <a:cs typeface="Alexandria" pitchFamily="34" charset="-120"/>
              </a:rPr>
              <a:t>57%</a:t>
            </a:r>
            <a:endParaRPr lang="en-US" sz="5400" dirty="0"/>
          </a:p>
        </p:txBody>
      </p:sp>
      <p:sp>
        <p:nvSpPr>
          <p:cNvPr id="8" name="Text 6"/>
          <p:cNvSpPr txBox="1"/>
          <p:nvPr/>
        </p:nvSpPr>
        <p:spPr>
          <a:xfrm>
            <a:off x="4553712"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mất 1.000–5.000 USD/tháng do scope creep</a:t>
            </a:r>
            <a:endParaRPr lang="en-US" sz="1700" dirty="0"/>
          </a:p>
        </p:txBody>
      </p:sp>
      <p:sp>
        <p:nvSpPr>
          <p:cNvPr id="9" name="Shape 7"/>
          <p:cNvSpPr/>
          <p:nvPr/>
        </p:nvSpPr>
        <p:spPr>
          <a:xfrm>
            <a:off x="8101584" y="1783080"/>
            <a:ext cx="3566160" cy="3108960"/>
          </a:xfrm>
          <a:prstGeom prst="roundRect">
            <a:avLst>
              <a:gd name="adj" fmla="val 2353"/>
            </a:avLst>
          </a:prstGeom>
          <a:solidFill>
            <a:srgbClr val="22395F"/>
          </a:solidFill>
          <a:ln w="12700">
            <a:solidFill>
              <a:srgbClr val="22395F"/>
            </a:solidFill>
            <a:prstDash val="solid"/>
          </a:ln>
        </p:spPr>
      </p:sp>
      <p:sp>
        <p:nvSpPr>
          <p:cNvPr id="10" name="Text 8"/>
          <p:cNvSpPr txBox="1"/>
          <p:nvPr/>
        </p:nvSpPr>
        <p:spPr>
          <a:xfrm>
            <a:off x="8101584"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49B296"/>
                </a:solidFill>
                <a:latin typeface="Alexandria" pitchFamily="34" charset="0"/>
                <a:ea typeface="Alexandria" pitchFamily="34" charset="-122"/>
                <a:cs typeface="Alexandria" pitchFamily="34" charset="-120"/>
              </a:rPr>
              <a:t>16%</a:t>
            </a:r>
            <a:endParaRPr lang="en-US" sz="5400" dirty="0"/>
          </a:p>
        </p:txBody>
      </p:sp>
      <p:sp>
        <p:nvSpPr>
          <p:cNvPr id="11" name="Text 9"/>
          <p:cNvSpPr txBox="1"/>
          <p:nvPr/>
        </p:nvSpPr>
        <p:spPr>
          <a:xfrm>
            <a:off x="8330184"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yêu cầu khách trả đủ trước</a:t>
            </a:r>
            <a:endParaRPr lang="en-US" sz="1700" dirty="0"/>
          </a:p>
        </p:txBody>
      </p:sp>
      <p:sp>
        <p:nvSpPr>
          <p:cNvPr id="12" name="Shape 10"/>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13" name="Text 11"/>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500" dirty="0">
                <a:solidFill>
                  <a:srgbClr val="FFD23B"/>
                </a:solidFill>
                <a:latin typeface="Alexandria" pitchFamily="34" charset="0"/>
                <a:ea typeface="Alexandria" pitchFamily="34" charset="-122"/>
                <a:cs typeface="Alexandria" pitchFamily="34" charset="-120"/>
              </a:rPr>
              <a:t>Khảo sát 273 lãnh đạo agency ở Mỹ — không phải agency sự kiện, không phải Việt Nam. Chỉ minh họa xu hướng.</a:t>
            </a:r>
            <a:endParaRPr lang="en-US" sz="1500" dirty="0"/>
          </a:p>
        </p:txBody>
      </p:sp>
      <p:sp>
        <p:nvSpPr>
          <p:cNvPr id="14" name="Text 1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F07 = S19 (tư liệu Buổi 7).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Cùng lãi 500, hai khách hàng kể hai câu chuyện khác nhau</a:t>
            </a:r>
            <a:endParaRPr lang="en-US" sz="2800" dirty="0"/>
          </a:p>
        </p:txBody>
      </p:sp>
      <p:sp>
        <p:nvSpPr>
          <p:cNvPr id="3" name="Text 1"/>
          <p:cNvSpPr txBox="1"/>
          <p:nvPr/>
        </p:nvSpPr>
        <p:spPr>
          <a:xfrm>
            <a:off x="548640" y="1737360"/>
            <a:ext cx="329184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Alexandria" pitchFamily="34" charset="0"/>
                <a:ea typeface="Alexandria" pitchFamily="34" charset="-122"/>
                <a:cs typeface="Alexandria" pitchFamily="34" charset="-120"/>
              </a:rPr>
              <a:t>Phân tích lợi nhuận</a:t>
            </a:r>
            <a:endParaRPr lang="en-US" sz="1400" dirty="0"/>
          </a:p>
        </p:txBody>
      </p:sp>
      <p:sp>
        <p:nvSpPr>
          <p:cNvPr id="4" name="Text 2"/>
          <p:cNvSpPr txBox="1"/>
          <p:nvPr/>
        </p:nvSpPr>
        <p:spPr>
          <a:xfrm>
            <a:off x="3840480" y="1737360"/>
            <a:ext cx="201168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Khách M</a:t>
            </a:r>
            <a:endParaRPr lang="en-US" sz="1400" dirty="0"/>
          </a:p>
        </p:txBody>
      </p:sp>
      <p:sp>
        <p:nvSpPr>
          <p:cNvPr id="5" name="Text 3"/>
          <p:cNvSpPr txBox="1"/>
          <p:nvPr/>
        </p:nvSpPr>
        <p:spPr>
          <a:xfrm>
            <a:off x="5852160" y="1737360"/>
            <a:ext cx="201168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Alexandria" pitchFamily="34" charset="0"/>
                <a:ea typeface="Alexandria" pitchFamily="34" charset="-122"/>
                <a:cs typeface="Alexandria" pitchFamily="34" charset="-120"/>
              </a:rPr>
              <a:t>Khách Z</a:t>
            </a:r>
            <a:endParaRPr lang="en-US" sz="1400" dirty="0"/>
          </a:p>
        </p:txBody>
      </p:sp>
      <p:sp>
        <p:nvSpPr>
          <p:cNvPr id="6" name="Shape 4"/>
          <p:cNvSpPr/>
          <p:nvPr/>
        </p:nvSpPr>
        <p:spPr>
          <a:xfrm>
            <a:off x="548640" y="2194560"/>
            <a:ext cx="7315200" cy="438912"/>
          </a:xfrm>
          <a:prstGeom prst="roundRect">
            <a:avLst>
              <a:gd name="adj" fmla="val 16667"/>
            </a:avLst>
          </a:prstGeom>
          <a:solidFill>
            <a:srgbClr val="22395F"/>
          </a:solidFill>
          <a:ln w="12700">
            <a:solidFill>
              <a:srgbClr val="22395F"/>
            </a:solidFill>
            <a:prstDash val="solid"/>
          </a:ln>
        </p:spPr>
      </p:sp>
      <p:sp>
        <p:nvSpPr>
          <p:cNvPr id="7" name="Text 5"/>
          <p:cNvSpPr txBox="1"/>
          <p:nvPr/>
        </p:nvSpPr>
        <p:spPr>
          <a:xfrm>
            <a:off x="640080" y="2194560"/>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Doanh thu sản phẩm</a:t>
            </a:r>
            <a:endParaRPr lang="en-US" sz="1600" dirty="0"/>
          </a:p>
        </p:txBody>
      </p:sp>
      <p:sp>
        <p:nvSpPr>
          <p:cNvPr id="8" name="Text 6"/>
          <p:cNvSpPr txBox="1"/>
          <p:nvPr/>
        </p:nvSpPr>
        <p:spPr>
          <a:xfrm>
            <a:off x="3931920" y="2194560"/>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15.000</a:t>
            </a:r>
            <a:endParaRPr lang="en-US" sz="1600" dirty="0"/>
          </a:p>
        </p:txBody>
      </p:sp>
      <p:sp>
        <p:nvSpPr>
          <p:cNvPr id="9" name="Text 7"/>
          <p:cNvSpPr txBox="1"/>
          <p:nvPr/>
        </p:nvSpPr>
        <p:spPr>
          <a:xfrm>
            <a:off x="5943600" y="2194560"/>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10.200</a:t>
            </a:r>
            <a:endParaRPr lang="en-US" sz="1600" dirty="0"/>
          </a:p>
        </p:txBody>
      </p:sp>
      <p:sp>
        <p:nvSpPr>
          <p:cNvPr id="10" name="Shape 8"/>
          <p:cNvSpPr/>
          <p:nvPr/>
        </p:nvSpPr>
        <p:spPr>
          <a:xfrm>
            <a:off x="548640" y="2706624"/>
            <a:ext cx="7315200" cy="438912"/>
          </a:xfrm>
          <a:prstGeom prst="roundRect">
            <a:avLst>
              <a:gd name="adj" fmla="val 16667"/>
            </a:avLst>
          </a:prstGeom>
          <a:solidFill>
            <a:srgbClr val="22395F"/>
          </a:solidFill>
          <a:ln w="12700">
            <a:solidFill>
              <a:srgbClr val="22395F"/>
            </a:solidFill>
            <a:prstDash val="solid"/>
          </a:ln>
        </p:spPr>
      </p:sp>
      <p:sp>
        <p:nvSpPr>
          <p:cNvPr id="11" name="Text 9"/>
          <p:cNvSpPr txBox="1"/>
          <p:nvPr/>
        </p:nvSpPr>
        <p:spPr>
          <a:xfrm>
            <a:off x="640080" y="2706624"/>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Doanh thu dịch vụ</a:t>
            </a:r>
            <a:endParaRPr lang="en-US" sz="1600" dirty="0"/>
          </a:p>
        </p:txBody>
      </p:sp>
      <p:sp>
        <p:nvSpPr>
          <p:cNvPr id="12" name="Text 10"/>
          <p:cNvSpPr txBox="1"/>
          <p:nvPr/>
        </p:nvSpPr>
        <p:spPr>
          <a:xfrm>
            <a:off x="3931920" y="2706624"/>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0</a:t>
            </a:r>
            <a:endParaRPr lang="en-US" sz="1600" dirty="0"/>
          </a:p>
        </p:txBody>
      </p:sp>
      <p:sp>
        <p:nvSpPr>
          <p:cNvPr id="13" name="Text 11"/>
          <p:cNvSpPr txBox="1"/>
          <p:nvPr/>
        </p:nvSpPr>
        <p:spPr>
          <a:xfrm>
            <a:off x="5943600" y="2706624"/>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1.000</a:t>
            </a:r>
            <a:endParaRPr lang="en-US" sz="1600" dirty="0"/>
          </a:p>
        </p:txBody>
      </p:sp>
      <p:sp>
        <p:nvSpPr>
          <p:cNvPr id="14" name="Shape 12"/>
          <p:cNvSpPr/>
          <p:nvPr/>
        </p:nvSpPr>
        <p:spPr>
          <a:xfrm>
            <a:off x="548640" y="3218688"/>
            <a:ext cx="7315200" cy="438912"/>
          </a:xfrm>
          <a:prstGeom prst="roundRect">
            <a:avLst>
              <a:gd name="adj" fmla="val 16667"/>
            </a:avLst>
          </a:prstGeom>
          <a:solidFill>
            <a:srgbClr val="22395F"/>
          </a:solidFill>
          <a:ln w="12700">
            <a:solidFill>
              <a:srgbClr val="22395F"/>
            </a:solidFill>
            <a:prstDash val="solid"/>
          </a:ln>
        </p:spPr>
      </p:sp>
      <p:sp>
        <p:nvSpPr>
          <p:cNvPr id="15" name="Text 13"/>
          <p:cNvSpPr txBox="1"/>
          <p:nvPr/>
        </p:nvSpPr>
        <p:spPr>
          <a:xfrm>
            <a:off x="640080" y="3218688"/>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Lợi nhuận gộp</a:t>
            </a:r>
            <a:endParaRPr lang="en-US" sz="1600" dirty="0"/>
          </a:p>
        </p:txBody>
      </p:sp>
      <p:sp>
        <p:nvSpPr>
          <p:cNvPr id="16" name="Text 14"/>
          <p:cNvSpPr txBox="1"/>
          <p:nvPr/>
        </p:nvSpPr>
        <p:spPr>
          <a:xfrm>
            <a:off x="3931920" y="3218688"/>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4.200</a:t>
            </a:r>
            <a:endParaRPr lang="en-US" sz="1600" dirty="0"/>
          </a:p>
        </p:txBody>
      </p:sp>
      <p:sp>
        <p:nvSpPr>
          <p:cNvPr id="17" name="Text 15"/>
          <p:cNvSpPr txBox="1"/>
          <p:nvPr/>
        </p:nvSpPr>
        <p:spPr>
          <a:xfrm>
            <a:off x="5943600" y="3218688"/>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Alexandria" pitchFamily="34" charset="0"/>
                <a:ea typeface="Alexandria" pitchFamily="34" charset="-122"/>
                <a:cs typeface="Alexandria" pitchFamily="34" charset="-120"/>
              </a:rPr>
              <a:t>4.450</a:t>
            </a:r>
            <a:endParaRPr lang="en-US" sz="1600" dirty="0"/>
          </a:p>
        </p:txBody>
      </p:sp>
      <p:sp>
        <p:nvSpPr>
          <p:cNvPr id="18" name="Shape 16"/>
          <p:cNvSpPr/>
          <p:nvPr/>
        </p:nvSpPr>
        <p:spPr>
          <a:xfrm>
            <a:off x="548640" y="3730752"/>
            <a:ext cx="7315200" cy="438912"/>
          </a:xfrm>
          <a:prstGeom prst="roundRect">
            <a:avLst>
              <a:gd name="adj" fmla="val 16667"/>
            </a:avLst>
          </a:prstGeom>
          <a:solidFill>
            <a:srgbClr val="49B296"/>
          </a:solidFill>
          <a:ln w="12700">
            <a:solidFill>
              <a:srgbClr val="49B296"/>
            </a:solidFill>
            <a:prstDash val="solid"/>
          </a:ln>
        </p:spPr>
      </p:sp>
      <p:sp>
        <p:nvSpPr>
          <p:cNvPr id="19" name="Text 17"/>
          <p:cNvSpPr txBox="1"/>
          <p:nvPr/>
        </p:nvSpPr>
        <p:spPr>
          <a:xfrm>
            <a:off x="640080" y="3730752"/>
            <a:ext cx="3108960" cy="438912"/>
          </a:xfrm>
          <a:prstGeom prst="rect">
            <a:avLst/>
          </a:prstGeom>
          <a:noFill/>
          <a:ln/>
        </p:spPr>
        <p:txBody>
          <a:bodyPr wrap="square" lIns="635" tIns="635" rIns="635" bIns="635" rtlCol="0" anchor="ctr"/>
          <a:lstStyle/>
          <a:p>
            <a:pPr algn="l" indent="0" marL="0">
              <a:buNone/>
            </a:pPr>
            <a:r>
              <a:rPr lang="en-US" sz="1600" b="1" dirty="0">
                <a:solidFill>
                  <a:srgbClr val="172849"/>
                </a:solidFill>
                <a:latin typeface="Alexandria" pitchFamily="34" charset="0"/>
                <a:ea typeface="Alexandria" pitchFamily="34" charset="-122"/>
                <a:cs typeface="Alexandria" pitchFamily="34" charset="-120"/>
              </a:rPr>
              <a:t>Chi phí trước bán</a:t>
            </a:r>
            <a:endParaRPr lang="en-US" sz="1600" dirty="0"/>
          </a:p>
        </p:txBody>
      </p:sp>
      <p:sp>
        <p:nvSpPr>
          <p:cNvPr id="20" name="Text 18"/>
          <p:cNvSpPr txBox="1"/>
          <p:nvPr/>
        </p:nvSpPr>
        <p:spPr>
          <a:xfrm>
            <a:off x="3931920" y="3730752"/>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2.300</a:t>
            </a:r>
            <a:endParaRPr lang="en-US" sz="1600" dirty="0"/>
          </a:p>
        </p:txBody>
      </p:sp>
      <p:sp>
        <p:nvSpPr>
          <p:cNvPr id="21" name="Text 19"/>
          <p:cNvSpPr txBox="1"/>
          <p:nvPr/>
        </p:nvSpPr>
        <p:spPr>
          <a:xfrm>
            <a:off x="5943600" y="3730752"/>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1.450</a:t>
            </a:r>
            <a:endParaRPr lang="en-US" sz="1600" dirty="0"/>
          </a:p>
        </p:txBody>
      </p:sp>
      <p:sp>
        <p:nvSpPr>
          <p:cNvPr id="22" name="Shape 20"/>
          <p:cNvSpPr/>
          <p:nvPr/>
        </p:nvSpPr>
        <p:spPr>
          <a:xfrm>
            <a:off x="548640" y="4242816"/>
            <a:ext cx="7315200" cy="438912"/>
          </a:xfrm>
          <a:prstGeom prst="roundRect">
            <a:avLst>
              <a:gd name="adj" fmla="val 16667"/>
            </a:avLst>
          </a:prstGeom>
          <a:solidFill>
            <a:srgbClr val="FF5178"/>
          </a:solidFill>
          <a:ln w="12700">
            <a:solidFill>
              <a:srgbClr val="FF5178"/>
            </a:solidFill>
            <a:prstDash val="solid"/>
          </a:ln>
        </p:spPr>
      </p:sp>
      <p:sp>
        <p:nvSpPr>
          <p:cNvPr id="23" name="Text 21"/>
          <p:cNvSpPr txBox="1"/>
          <p:nvPr/>
        </p:nvSpPr>
        <p:spPr>
          <a:xfrm>
            <a:off x="640080" y="4242816"/>
            <a:ext cx="3108960" cy="438912"/>
          </a:xfrm>
          <a:prstGeom prst="rect">
            <a:avLst/>
          </a:prstGeom>
          <a:noFill/>
          <a:ln/>
        </p:spPr>
        <p:txBody>
          <a:bodyPr wrap="square" lIns="635" tIns="635" rIns="635" bIns="635" rtlCol="0" anchor="ctr"/>
          <a:lstStyle/>
          <a:p>
            <a:pPr algn="l" indent="0" marL="0">
              <a:buNone/>
            </a:pPr>
            <a:r>
              <a:rPr lang="en-US" sz="1600" b="1" dirty="0">
                <a:solidFill>
                  <a:srgbClr val="172849"/>
                </a:solidFill>
                <a:latin typeface="Alexandria" pitchFamily="34" charset="0"/>
                <a:ea typeface="Alexandria" pitchFamily="34" charset="-122"/>
                <a:cs typeface="Alexandria" pitchFamily="34" charset="-120"/>
              </a:rPr>
              <a:t>Chi phí sau bán</a:t>
            </a:r>
            <a:endParaRPr lang="en-US" sz="1600" dirty="0"/>
          </a:p>
        </p:txBody>
      </p:sp>
      <p:sp>
        <p:nvSpPr>
          <p:cNvPr id="24" name="Text 22"/>
          <p:cNvSpPr txBox="1"/>
          <p:nvPr/>
        </p:nvSpPr>
        <p:spPr>
          <a:xfrm>
            <a:off x="3931920" y="4242816"/>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1.400</a:t>
            </a:r>
            <a:endParaRPr lang="en-US" sz="1600" dirty="0"/>
          </a:p>
        </p:txBody>
      </p:sp>
      <p:sp>
        <p:nvSpPr>
          <p:cNvPr id="25" name="Text 23"/>
          <p:cNvSpPr txBox="1"/>
          <p:nvPr/>
        </p:nvSpPr>
        <p:spPr>
          <a:xfrm>
            <a:off x="5943600" y="4242816"/>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Alexandria" pitchFamily="34" charset="0"/>
                <a:ea typeface="Alexandria" pitchFamily="34" charset="-122"/>
                <a:cs typeface="Alexandria" pitchFamily="34" charset="-120"/>
              </a:rPr>
              <a:t>2.500</a:t>
            </a:r>
            <a:endParaRPr lang="en-US" sz="1600" dirty="0"/>
          </a:p>
        </p:txBody>
      </p:sp>
      <p:sp>
        <p:nvSpPr>
          <p:cNvPr id="26" name="Shape 24"/>
          <p:cNvSpPr/>
          <p:nvPr/>
        </p:nvSpPr>
        <p:spPr>
          <a:xfrm>
            <a:off x="548640" y="4754880"/>
            <a:ext cx="7315200" cy="438912"/>
          </a:xfrm>
          <a:prstGeom prst="roundRect">
            <a:avLst>
              <a:gd name="adj" fmla="val 16667"/>
            </a:avLst>
          </a:prstGeom>
          <a:solidFill>
            <a:srgbClr val="22395F"/>
          </a:solidFill>
          <a:ln w="12700">
            <a:solidFill>
              <a:srgbClr val="22395F"/>
            </a:solidFill>
            <a:prstDash val="solid"/>
          </a:ln>
        </p:spPr>
      </p:sp>
      <p:sp>
        <p:nvSpPr>
          <p:cNvPr id="27" name="Text 25"/>
          <p:cNvSpPr txBox="1"/>
          <p:nvPr/>
        </p:nvSpPr>
        <p:spPr>
          <a:xfrm>
            <a:off x="640080" y="4754880"/>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Alexandria" pitchFamily="34" charset="0"/>
                <a:ea typeface="Alexandria" pitchFamily="34" charset="-122"/>
                <a:cs typeface="Alexandria" pitchFamily="34" charset="-120"/>
              </a:rPr>
              <a:t>Lợi nhuận</a:t>
            </a:r>
            <a:endParaRPr lang="en-US" sz="1600" dirty="0"/>
          </a:p>
        </p:txBody>
      </p:sp>
      <p:sp>
        <p:nvSpPr>
          <p:cNvPr id="28" name="Text 26"/>
          <p:cNvSpPr txBox="1"/>
          <p:nvPr/>
        </p:nvSpPr>
        <p:spPr>
          <a:xfrm>
            <a:off x="3931920" y="4754880"/>
            <a:ext cx="1828800" cy="438912"/>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500</a:t>
            </a:r>
            <a:endParaRPr lang="en-US" sz="1600" dirty="0"/>
          </a:p>
        </p:txBody>
      </p:sp>
      <p:sp>
        <p:nvSpPr>
          <p:cNvPr id="29" name="Text 27"/>
          <p:cNvSpPr txBox="1"/>
          <p:nvPr/>
        </p:nvSpPr>
        <p:spPr>
          <a:xfrm>
            <a:off x="5943600" y="4754880"/>
            <a:ext cx="1828800" cy="438912"/>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Alexandria" pitchFamily="34" charset="0"/>
                <a:ea typeface="Alexandria" pitchFamily="34" charset="-122"/>
                <a:cs typeface="Alexandria" pitchFamily="34" charset="-120"/>
              </a:rPr>
              <a:t>500</a:t>
            </a:r>
            <a:endParaRPr lang="en-US" sz="1600" dirty="0"/>
          </a:p>
        </p:txBody>
      </p:sp>
      <p:sp>
        <p:nvSpPr>
          <p:cNvPr id="30" name="Shape 28"/>
          <p:cNvSpPr/>
          <p:nvPr/>
        </p:nvSpPr>
        <p:spPr>
          <a:xfrm>
            <a:off x="8092440" y="1783080"/>
            <a:ext cx="3547872" cy="4023360"/>
          </a:xfrm>
          <a:prstGeom prst="roundRect">
            <a:avLst>
              <a:gd name="adj" fmla="val 2062"/>
            </a:avLst>
          </a:prstGeom>
          <a:solidFill>
            <a:srgbClr val="22395F"/>
          </a:solidFill>
          <a:ln w="12700">
            <a:solidFill>
              <a:srgbClr val="22395F"/>
            </a:solidFill>
            <a:prstDash val="solid"/>
          </a:ln>
        </p:spPr>
      </p:sp>
      <p:sp>
        <p:nvSpPr>
          <p:cNvPr id="31" name="Text 29"/>
          <p:cNvSpPr txBox="1"/>
          <p:nvPr/>
        </p:nvSpPr>
        <p:spPr>
          <a:xfrm>
            <a:off x="8275320" y="1874520"/>
            <a:ext cx="320040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Câu hỏi đúng</a:t>
            </a:r>
            <a:endParaRPr lang="en-US" sz="1700" dirty="0"/>
          </a:p>
        </p:txBody>
      </p:sp>
      <p:sp>
        <p:nvSpPr>
          <p:cNvPr id="32" name="Text 30"/>
          <p:cNvSpPr txBox="1"/>
          <p:nvPr/>
        </p:nvSpPr>
        <p:spPr>
          <a:xfrm>
            <a:off x="8275320" y="2377440"/>
            <a:ext cx="3200400" cy="3291840"/>
          </a:xfrm>
          <a:prstGeom prst="rect">
            <a:avLst/>
          </a:prstGeom>
          <a:noFill/>
          <a:ln/>
        </p:spPr>
        <p:txBody>
          <a:bodyPr wrap="square" lIns="635" tIns="635" rIns="635" bIns="635" rtlCol="0" anchor="t"/>
          <a:lstStyle/>
          <a:p>
            <a:pPr marL="342900" indent="-342900">
              <a:spcAft>
                <a:spcPts val="1000"/>
              </a:spcAft>
              <a:buSzPct val="100000"/>
              <a:buChar char="•"/>
            </a:pPr>
            <a:r>
              <a:rPr lang="en-US" sz="1600" dirty="0">
                <a:solidFill>
                  <a:srgbClr val="FBFAF4"/>
                </a:solidFill>
                <a:latin typeface="Alexandria" pitchFamily="34" charset="0"/>
                <a:ea typeface="Alexandria" pitchFamily="34" charset="-122"/>
                <a:cs typeface="Alexandria" pitchFamily="34" charset="-120"/>
              </a:rPr>
              <a:t>M: tăng biên được không, hay giảm chi phí trước bán?</a:t>
            </a:r>
            <a:endParaRPr lang="en-US" sz="1600" dirty="0"/>
          </a:p>
          <a:p>
            <a:pPr marL="342900" indent="-342900">
              <a:spcAft>
                <a:spcPts val="1000"/>
              </a:spcAft>
              <a:buSzPct val="100000"/>
              <a:buChar char="•"/>
            </a:pPr>
            <a:r>
              <a:rPr lang="en-US" sz="1600" dirty="0">
                <a:solidFill>
                  <a:srgbClr val="FBFAF4"/>
                </a:solidFill>
                <a:latin typeface="Alexandria" pitchFamily="34" charset="0"/>
                <a:ea typeface="Alexandria" pitchFamily="34" charset="-122"/>
                <a:cs typeface="Alexandria" pitchFamily="34" charset="-120"/>
              </a:rPr>
              <a:t>Z: bán thêm dịch vụ được không, mà làm hậu mãi hiệu quả hơn?</a:t>
            </a:r>
            <a:endParaRPr lang="en-US" sz="1600" dirty="0"/>
          </a:p>
        </p:txBody>
      </p:sp>
      <p:sp>
        <p:nvSpPr>
          <p:cNvPr id="33" name="Text 31"/>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Bảng 8.2, tr. 196),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1–4 ngón: MediPharm nằm ở ô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743200"/>
          </a:xfrm>
          <a:prstGeom prst="rect">
            <a:avLst/>
          </a:prstGeom>
          <a:noFill/>
          <a:ln/>
        </p:spPr>
        <p:txBody>
          <a:bodyPr wrap="square" lIns="635" tIns="635" rIns="635" bIns="635" rtlCol="0" anchor="t"/>
          <a:lstStyle/>
          <a:p>
            <a:pPr indent="0" marL="0">
              <a:buNone/>
            </a:pPr>
            <a:r>
              <a:rPr lang="en-US" sz="1800" dirty="0">
                <a:solidFill>
                  <a:srgbClr val="FBFAF4"/>
                </a:solidFill>
                <a:latin typeface="Alexandria" pitchFamily="34" charset="0"/>
                <a:ea typeface="Alexandria" pitchFamily="34" charset="-122"/>
                <a:cs typeface="Alexandria" pitchFamily="34" charset="-120"/>
              </a:rPr>
              <a:t>MediPharm: doanh thu 1.200 triệu · biên gộp 28% · cost-to-serve 120 triệu (10% doanh thu) — tuân thủ khắt khe, nhiều vòng duyệt pháp chế.</a:t>
            </a:r>
            <a:endParaRPr lang="en-US" sz="1800" dirty="0"/>
          </a:p>
        </p:txBody>
      </p:sp>
      <p:sp>
        <p:nvSpPr>
          <p:cNvPr id="7" name="Text 4"/>
          <p:cNvSpPr txBox="1"/>
          <p:nvPr/>
        </p:nvSpPr>
        <p:spPr>
          <a:xfrm>
            <a:off x="822960" y="4617720"/>
            <a:ext cx="621792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Ngưỡng: biên 15% · cost-to-serve/doanh thu 5% (giả định)</a:t>
            </a:r>
            <a:endParaRPr lang="en-US" sz="1300" dirty="0"/>
          </a:p>
        </p:txBody>
      </p:sp>
      <p:sp>
        <p:nvSpPr>
          <p:cNvPr id="8" name="Shape 5"/>
          <p:cNvSpPr/>
          <p:nvPr/>
        </p:nvSpPr>
        <p:spPr>
          <a:xfrm>
            <a:off x="7498080" y="1783080"/>
            <a:ext cx="658368" cy="658368"/>
          </a:xfrm>
          <a:prstGeom prst="ellipse">
            <a:avLst/>
          </a:prstGeom>
          <a:solidFill>
            <a:srgbClr val="49B296"/>
          </a:solidFill>
          <a:ln w="12700">
            <a:solidFill>
              <a:srgbClr val="49B296"/>
            </a:solidFill>
            <a:prstDash val="solid"/>
          </a:ln>
        </p:spPr>
      </p:sp>
      <p:sp>
        <p:nvSpPr>
          <p:cNvPr id="9" name="Text 6"/>
          <p:cNvSpPr txBox="1"/>
          <p:nvPr/>
        </p:nvSpPr>
        <p:spPr>
          <a:xfrm>
            <a:off x="7498080" y="178308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10" name="Shape 7"/>
          <p:cNvSpPr/>
          <p:nvPr/>
        </p:nvSpPr>
        <p:spPr>
          <a:xfrm>
            <a:off x="8321040" y="1783080"/>
            <a:ext cx="3319272" cy="658368"/>
          </a:xfrm>
          <a:prstGeom prst="roundRect">
            <a:avLst>
              <a:gd name="adj" fmla="val 11111"/>
            </a:avLst>
          </a:prstGeom>
          <a:solidFill>
            <a:srgbClr val="22395F"/>
          </a:solidFill>
          <a:ln w="12700">
            <a:solidFill>
              <a:srgbClr val="22395F"/>
            </a:solidFill>
            <a:prstDash val="solid"/>
          </a:ln>
        </p:spPr>
      </p:sp>
      <p:sp>
        <p:nvSpPr>
          <p:cNvPr id="11" name="Text 8"/>
          <p:cNvSpPr txBox="1"/>
          <p:nvPr/>
        </p:nvSpPr>
        <p:spPr>
          <a:xfrm>
            <a:off x="8503920" y="178308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Biên cao · chi phí thấp</a:t>
            </a:r>
            <a:endParaRPr lang="en-US" sz="1600" dirty="0"/>
          </a:p>
        </p:txBody>
      </p:sp>
      <p:sp>
        <p:nvSpPr>
          <p:cNvPr id="12" name="Shape 9"/>
          <p:cNvSpPr/>
          <p:nvPr/>
        </p:nvSpPr>
        <p:spPr>
          <a:xfrm>
            <a:off x="7498080" y="2606040"/>
            <a:ext cx="658368" cy="658368"/>
          </a:xfrm>
          <a:prstGeom prst="ellipse">
            <a:avLst/>
          </a:prstGeom>
          <a:solidFill>
            <a:srgbClr val="FFD23B"/>
          </a:solidFill>
          <a:ln w="12700">
            <a:solidFill>
              <a:srgbClr val="FFD23B"/>
            </a:solidFill>
            <a:prstDash val="solid"/>
          </a:ln>
        </p:spPr>
      </p:sp>
      <p:sp>
        <p:nvSpPr>
          <p:cNvPr id="13" name="Text 10"/>
          <p:cNvSpPr txBox="1"/>
          <p:nvPr/>
        </p:nvSpPr>
        <p:spPr>
          <a:xfrm>
            <a:off x="7498080" y="260604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4" name="Shape 11"/>
          <p:cNvSpPr/>
          <p:nvPr/>
        </p:nvSpPr>
        <p:spPr>
          <a:xfrm>
            <a:off x="8321040" y="2606040"/>
            <a:ext cx="3319272" cy="658368"/>
          </a:xfrm>
          <a:prstGeom prst="roundRect">
            <a:avLst>
              <a:gd name="adj" fmla="val 11111"/>
            </a:avLst>
          </a:prstGeom>
          <a:solidFill>
            <a:srgbClr val="22395F"/>
          </a:solidFill>
          <a:ln w="12700">
            <a:solidFill>
              <a:srgbClr val="22395F"/>
            </a:solidFill>
            <a:prstDash val="solid"/>
          </a:ln>
        </p:spPr>
      </p:sp>
      <p:sp>
        <p:nvSpPr>
          <p:cNvPr id="15" name="Text 12"/>
          <p:cNvSpPr txBox="1"/>
          <p:nvPr/>
        </p:nvSpPr>
        <p:spPr>
          <a:xfrm>
            <a:off x="8503920" y="260604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Biên cao · chi phí cao</a:t>
            </a:r>
            <a:endParaRPr lang="en-US" sz="1600" dirty="0"/>
          </a:p>
        </p:txBody>
      </p:sp>
      <p:sp>
        <p:nvSpPr>
          <p:cNvPr id="16" name="Shape 13"/>
          <p:cNvSpPr/>
          <p:nvPr/>
        </p:nvSpPr>
        <p:spPr>
          <a:xfrm>
            <a:off x="7498080" y="3429000"/>
            <a:ext cx="658368" cy="658368"/>
          </a:xfrm>
          <a:prstGeom prst="ellipse">
            <a:avLst/>
          </a:prstGeom>
          <a:solidFill>
            <a:srgbClr val="09A1E5"/>
          </a:solidFill>
          <a:ln w="12700">
            <a:solidFill>
              <a:srgbClr val="09A1E5"/>
            </a:solidFill>
            <a:prstDash val="solid"/>
          </a:ln>
        </p:spPr>
      </p:sp>
      <p:sp>
        <p:nvSpPr>
          <p:cNvPr id="17" name="Text 14"/>
          <p:cNvSpPr txBox="1"/>
          <p:nvPr/>
        </p:nvSpPr>
        <p:spPr>
          <a:xfrm>
            <a:off x="7498080" y="342900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8" name="Shape 15"/>
          <p:cNvSpPr/>
          <p:nvPr/>
        </p:nvSpPr>
        <p:spPr>
          <a:xfrm>
            <a:off x="8321040" y="3429000"/>
            <a:ext cx="3319272" cy="658368"/>
          </a:xfrm>
          <a:prstGeom prst="roundRect">
            <a:avLst>
              <a:gd name="adj" fmla="val 11111"/>
            </a:avLst>
          </a:prstGeom>
          <a:solidFill>
            <a:srgbClr val="22395F"/>
          </a:solidFill>
          <a:ln w="12700">
            <a:solidFill>
              <a:srgbClr val="22395F"/>
            </a:solidFill>
            <a:prstDash val="solid"/>
          </a:ln>
        </p:spPr>
      </p:sp>
      <p:sp>
        <p:nvSpPr>
          <p:cNvPr id="19" name="Text 16"/>
          <p:cNvSpPr txBox="1"/>
          <p:nvPr/>
        </p:nvSpPr>
        <p:spPr>
          <a:xfrm>
            <a:off x="8503920" y="342900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Biên thấp · chi phí thấp</a:t>
            </a:r>
            <a:endParaRPr lang="en-US" sz="1600" dirty="0"/>
          </a:p>
        </p:txBody>
      </p:sp>
      <p:sp>
        <p:nvSpPr>
          <p:cNvPr id="20" name="Shape 17"/>
          <p:cNvSpPr/>
          <p:nvPr/>
        </p:nvSpPr>
        <p:spPr>
          <a:xfrm>
            <a:off x="7498080" y="4251960"/>
            <a:ext cx="658368" cy="658368"/>
          </a:xfrm>
          <a:prstGeom prst="ellipse">
            <a:avLst/>
          </a:prstGeom>
          <a:solidFill>
            <a:srgbClr val="FF5178"/>
          </a:solidFill>
          <a:ln w="12700">
            <a:solidFill>
              <a:srgbClr val="FF5178"/>
            </a:solidFill>
            <a:prstDash val="solid"/>
          </a:ln>
        </p:spPr>
      </p:sp>
      <p:sp>
        <p:nvSpPr>
          <p:cNvPr id="21" name="Text 18"/>
          <p:cNvSpPr txBox="1"/>
          <p:nvPr/>
        </p:nvSpPr>
        <p:spPr>
          <a:xfrm>
            <a:off x="7498080" y="425196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22" name="Shape 19"/>
          <p:cNvSpPr/>
          <p:nvPr/>
        </p:nvSpPr>
        <p:spPr>
          <a:xfrm>
            <a:off x="8321040" y="4251960"/>
            <a:ext cx="3319272" cy="658368"/>
          </a:xfrm>
          <a:prstGeom prst="roundRect">
            <a:avLst>
              <a:gd name="adj" fmla="val 11111"/>
            </a:avLst>
          </a:prstGeom>
          <a:solidFill>
            <a:srgbClr val="22395F"/>
          </a:solidFill>
          <a:ln w="12700">
            <a:solidFill>
              <a:srgbClr val="22395F"/>
            </a:solidFill>
            <a:prstDash val="solid"/>
          </a:ln>
        </p:spPr>
      </p:sp>
      <p:sp>
        <p:nvSpPr>
          <p:cNvPr id="23" name="Text 20"/>
          <p:cNvSpPr txBox="1"/>
          <p:nvPr/>
        </p:nvSpPr>
        <p:spPr>
          <a:xfrm>
            <a:off x="8503920" y="425196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Biên thấp · chi phí cao</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Ma trận biên lợi nhuận gộp × cost-to-serve: bốn ô, bốn hướng hành động</a:t>
            </a:r>
            <a:endParaRPr lang="en-US" sz="2800" dirty="0"/>
          </a:p>
        </p:txBody>
      </p:sp>
      <p:sp>
        <p:nvSpPr>
          <p:cNvPr id="3" name="Shape 1"/>
          <p:cNvSpPr/>
          <p:nvPr/>
        </p:nvSpPr>
        <p:spPr>
          <a:xfrm>
            <a:off x="1463040" y="1783080"/>
            <a:ext cx="493776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1645920" y="187452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Passive</a:t>
            </a:r>
            <a:endParaRPr lang="en-US" sz="2000" dirty="0"/>
          </a:p>
        </p:txBody>
      </p:sp>
      <p:sp>
        <p:nvSpPr>
          <p:cNvPr id="5" name="Text 3"/>
          <p:cNvSpPr txBox="1"/>
          <p:nvPr/>
        </p:nvSpPr>
        <p:spPr>
          <a:xfrm>
            <a:off x="1645920" y="237744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Lợi nhất — giữ gìn, đầu tư quan hệ</a:t>
            </a:r>
            <a:endParaRPr lang="en-US" sz="1500" dirty="0"/>
          </a:p>
        </p:txBody>
      </p:sp>
      <p:sp>
        <p:nvSpPr>
          <p:cNvPr id="6" name="Text 4"/>
          <p:cNvSpPr txBox="1"/>
          <p:nvPr/>
        </p:nvSpPr>
        <p:spPr>
          <a:xfrm>
            <a:off x="1645920" y="306324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Alexandria" pitchFamily="34" charset="0"/>
                <a:ea typeface="Alexandria" pitchFamily="34" charset="-122"/>
                <a:cs typeface="Alexandria" pitchFamily="34" charset="-120"/>
              </a:rPr>
              <a:t>Bright Future · An Phát</a:t>
            </a:r>
            <a:endParaRPr lang="en-US" sz="1400" dirty="0"/>
          </a:p>
        </p:txBody>
      </p:sp>
      <p:sp>
        <p:nvSpPr>
          <p:cNvPr id="7" name="Shape 5"/>
          <p:cNvSpPr/>
          <p:nvPr/>
        </p:nvSpPr>
        <p:spPr>
          <a:xfrm>
            <a:off x="6583680" y="1783080"/>
            <a:ext cx="4937760" cy="1783080"/>
          </a:xfrm>
          <a:prstGeom prst="roundRect">
            <a:avLst>
              <a:gd name="adj" fmla="val 4103"/>
            </a:avLst>
          </a:prstGeom>
          <a:solidFill>
            <a:srgbClr val="FFD23B"/>
          </a:solidFill>
          <a:ln w="12700">
            <a:solidFill>
              <a:srgbClr val="FFD23B"/>
            </a:solidFill>
            <a:prstDash val="solid"/>
          </a:ln>
        </p:spPr>
      </p:sp>
      <p:sp>
        <p:nvSpPr>
          <p:cNvPr id="8" name="Text 6"/>
          <p:cNvSpPr txBox="1"/>
          <p:nvPr/>
        </p:nvSpPr>
        <p:spPr>
          <a:xfrm>
            <a:off x="6766560" y="187452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Carriage trade</a:t>
            </a:r>
            <a:endParaRPr lang="en-US" sz="2000" dirty="0"/>
          </a:p>
        </p:txBody>
      </p:sp>
      <p:sp>
        <p:nvSpPr>
          <p:cNvPr id="9" name="Text 7"/>
          <p:cNvSpPr txBox="1"/>
          <p:nvPr/>
        </p:nvSpPr>
        <p:spPr>
          <a:xfrm>
            <a:off x="6766560" y="237744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Lãi nếu giá bù được chi phí — kiểm soát chi phí phục vụ</a:t>
            </a:r>
            <a:endParaRPr lang="en-US" sz="1500" dirty="0"/>
          </a:p>
        </p:txBody>
      </p:sp>
      <p:sp>
        <p:nvSpPr>
          <p:cNvPr id="10" name="Text 8"/>
          <p:cNvSpPr txBox="1"/>
          <p:nvPr/>
        </p:nvSpPr>
        <p:spPr>
          <a:xfrm>
            <a:off x="6766560" y="306324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Alexandria" pitchFamily="34" charset="0"/>
                <a:ea typeface="Alexandria" pitchFamily="34" charset="-122"/>
                <a:cs typeface="Alexandria" pitchFamily="34" charset="-120"/>
              </a:rPr>
              <a:t>MediPharm</a:t>
            </a:r>
            <a:endParaRPr lang="en-US" sz="1400" dirty="0"/>
          </a:p>
        </p:txBody>
      </p:sp>
      <p:sp>
        <p:nvSpPr>
          <p:cNvPr id="11" name="Shape 9"/>
          <p:cNvSpPr/>
          <p:nvPr/>
        </p:nvSpPr>
        <p:spPr>
          <a:xfrm>
            <a:off x="1463040" y="3749040"/>
            <a:ext cx="4937760" cy="1783080"/>
          </a:xfrm>
          <a:prstGeom prst="roundRect">
            <a:avLst>
              <a:gd name="adj" fmla="val 4103"/>
            </a:avLst>
          </a:prstGeom>
          <a:solidFill>
            <a:srgbClr val="09A1E5"/>
          </a:solidFill>
          <a:ln w="12700">
            <a:solidFill>
              <a:srgbClr val="09A1E5"/>
            </a:solidFill>
            <a:prstDash val="solid"/>
          </a:ln>
        </p:spPr>
      </p:sp>
      <p:sp>
        <p:nvSpPr>
          <p:cNvPr id="12" name="Text 10"/>
          <p:cNvSpPr txBox="1"/>
          <p:nvPr/>
        </p:nvSpPr>
        <p:spPr>
          <a:xfrm>
            <a:off x="1645920" y="384048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Bargain basement</a:t>
            </a:r>
            <a:endParaRPr lang="en-US" sz="2000" dirty="0"/>
          </a:p>
        </p:txBody>
      </p:sp>
      <p:sp>
        <p:nvSpPr>
          <p:cNvPr id="13" name="Text 11"/>
          <p:cNvSpPr txBox="1"/>
          <p:nvPr/>
        </p:nvSpPr>
        <p:spPr>
          <a:xfrm>
            <a:off x="1645920" y="434340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Phục vụ chuẩn hóa, hiệu quả</a:t>
            </a:r>
            <a:endParaRPr lang="en-US" sz="1500" dirty="0"/>
          </a:p>
        </p:txBody>
      </p:sp>
      <p:sp>
        <p:nvSpPr>
          <p:cNvPr id="14" name="Text 12"/>
          <p:cNvSpPr txBox="1"/>
          <p:nvPr/>
        </p:nvSpPr>
        <p:spPr>
          <a:xfrm>
            <a:off x="1645920" y="502920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Alexandria" pitchFamily="34" charset="0"/>
                <a:ea typeface="Alexandria" pitchFamily="34" charset="-122"/>
                <a:cs typeface="Alexandria" pitchFamily="34" charset="-120"/>
              </a:rPr>
              <a:t>—</a:t>
            </a:r>
            <a:endParaRPr lang="en-US" sz="1400" dirty="0"/>
          </a:p>
        </p:txBody>
      </p:sp>
      <p:sp>
        <p:nvSpPr>
          <p:cNvPr id="15" name="Shape 13"/>
          <p:cNvSpPr/>
          <p:nvPr/>
        </p:nvSpPr>
        <p:spPr>
          <a:xfrm>
            <a:off x="6583680" y="3749040"/>
            <a:ext cx="4937760" cy="1783080"/>
          </a:xfrm>
          <a:prstGeom prst="roundRect">
            <a:avLst>
              <a:gd name="adj" fmla="val 4103"/>
            </a:avLst>
          </a:prstGeom>
          <a:solidFill>
            <a:srgbClr val="FF5178"/>
          </a:solidFill>
          <a:ln w="12700">
            <a:solidFill>
              <a:srgbClr val="FF5178"/>
            </a:solidFill>
            <a:prstDash val="solid"/>
          </a:ln>
        </p:spPr>
      </p:sp>
      <p:sp>
        <p:nvSpPr>
          <p:cNvPr id="16" name="Text 14"/>
          <p:cNvSpPr txBox="1"/>
          <p:nvPr/>
        </p:nvSpPr>
        <p:spPr>
          <a:xfrm>
            <a:off x="6766560" y="384048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Aggressive</a:t>
            </a:r>
            <a:endParaRPr lang="en-US" sz="2000" dirty="0"/>
          </a:p>
        </p:txBody>
      </p:sp>
      <p:sp>
        <p:nvSpPr>
          <p:cNvPr id="17" name="Text 15"/>
          <p:cNvSpPr txBox="1"/>
          <p:nvPr/>
        </p:nvSpPr>
        <p:spPr>
          <a:xfrm>
            <a:off x="6766560" y="434340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Nguy cơ lỗ — cùng khách giảm chi phí, điều chỉnh phạm vi, giá</a:t>
            </a:r>
            <a:endParaRPr lang="en-US" sz="1500" dirty="0"/>
          </a:p>
        </p:txBody>
      </p:sp>
      <p:sp>
        <p:nvSpPr>
          <p:cNvPr id="18" name="Text 16"/>
          <p:cNvSpPr txBox="1"/>
          <p:nvPr/>
        </p:nvSpPr>
        <p:spPr>
          <a:xfrm>
            <a:off x="6766560" y="502920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Alexandria" pitchFamily="34" charset="0"/>
                <a:ea typeface="Alexandria" pitchFamily="34" charset="-122"/>
                <a:cs typeface="Alexandria" pitchFamily="34" charset="-120"/>
              </a:rPr>
              <a:t>Sông Xanh</a:t>
            </a:r>
            <a:endParaRPr lang="en-US" sz="1400" dirty="0"/>
          </a:p>
        </p:txBody>
      </p:sp>
      <p:sp>
        <p:nvSpPr>
          <p:cNvPr id="19" name="Text 17"/>
          <p:cNvSpPr txBox="1"/>
          <p:nvPr/>
        </p:nvSpPr>
        <p:spPr>
          <a:xfrm>
            <a:off x="411480" y="219456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Biên cao</a:t>
            </a:r>
            <a:endParaRPr lang="en-US" sz="1300" dirty="0"/>
          </a:p>
        </p:txBody>
      </p:sp>
      <p:sp>
        <p:nvSpPr>
          <p:cNvPr id="20" name="Text 18"/>
          <p:cNvSpPr txBox="1"/>
          <p:nvPr/>
        </p:nvSpPr>
        <p:spPr>
          <a:xfrm>
            <a:off x="411480" y="41605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Biên thấp</a:t>
            </a:r>
            <a:endParaRPr lang="en-US" sz="1300" dirty="0"/>
          </a:p>
        </p:txBody>
      </p:sp>
      <p:sp>
        <p:nvSpPr>
          <p:cNvPr id="21" name="Text 19"/>
          <p:cNvSpPr txBox="1"/>
          <p:nvPr/>
        </p:nvSpPr>
        <p:spPr>
          <a:xfrm>
            <a:off x="1463040" y="5623560"/>
            <a:ext cx="493776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Cost-to-serve thấp</a:t>
            </a:r>
            <a:endParaRPr lang="en-US" sz="1300" dirty="0"/>
          </a:p>
        </p:txBody>
      </p:sp>
      <p:sp>
        <p:nvSpPr>
          <p:cNvPr id="22" name="Text 20"/>
          <p:cNvSpPr txBox="1"/>
          <p:nvPr/>
        </p:nvSpPr>
        <p:spPr>
          <a:xfrm>
            <a:off x="6583680" y="5623560"/>
            <a:ext cx="493776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Cost-to-serve cao</a:t>
            </a:r>
            <a:endParaRPr lang="en-US" sz="1300" dirty="0"/>
          </a:p>
        </p:txBody>
      </p:sp>
      <p:sp>
        <p:nvSpPr>
          <p:cNvPr id="23" name="Text 21"/>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Biến thể của môn từ Shapiro et al. (1987) — trục dọc là biên lợi nhuận gộp thay cho giá thực nhận; Ang &amp; Taylor (2005). Tên ô [VERIFY]. Bếp Việt: biên 16%, chi phí 6,1% — sát ranh giới.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bền khi nằm trong “vùng công bằng”: giá khách trả tương xứng với chi phí phục vụ</a:t>
            </a:r>
            <a:endParaRPr lang="en-US" sz="2800" dirty="0"/>
          </a:p>
        </p:txBody>
      </p:sp>
      <p:sp>
        <p:nvSpPr>
          <p:cNvPr id="3" name="Shape 1"/>
          <p:cNvSpPr/>
          <p:nvPr/>
        </p:nvSpPr>
        <p:spPr>
          <a:xfrm>
            <a:off x="1463040" y="1783080"/>
            <a:ext cx="51206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flipV="1">
            <a:off x="1463040" y="1783080"/>
            <a:ext cx="5120640" cy="3931920"/>
          </a:xfrm>
          <a:prstGeom prst="line">
            <a:avLst/>
          </a:prstGeom>
          <a:noFill/>
          <a:ln w="431800">
            <a:solidFill>
              <a:srgbClr val="FFD23B">
                <a:alpha val="60000"/>
              </a:srgbClr>
            </a:solidFill>
            <a:prstDash val="solid"/>
          </a:ln>
        </p:spPr>
      </p:sp>
      <p:sp>
        <p:nvSpPr>
          <p:cNvPr id="5" name="Text 3"/>
          <p:cNvSpPr txBox="1"/>
          <p:nvPr/>
        </p:nvSpPr>
        <p:spPr>
          <a:xfrm>
            <a:off x="1645920" y="1874520"/>
            <a:ext cx="2377440" cy="822960"/>
          </a:xfrm>
          <a:prstGeom prst="rect">
            <a:avLst/>
          </a:prstGeom>
          <a:noFill/>
          <a:ln/>
        </p:spPr>
        <p:txBody>
          <a:bodyPr wrap="square" lIns="635" tIns="635" rIns="635" bIns="635" rtlCol="0" anchor="ctr"/>
          <a:lstStyle/>
          <a:p>
            <a:pPr indent="0" marL="0">
              <a:buNone/>
            </a:pPr>
            <a:r>
              <a:rPr lang="en-US" sz="1500" b="1" dirty="0">
                <a:solidFill>
                  <a:srgbClr val="49B296"/>
                </a:solidFill>
                <a:latin typeface="Alexandria" pitchFamily="34" charset="0"/>
                <a:ea typeface="Alexandria" pitchFamily="34" charset="-122"/>
                <a:cs typeface="Alexandria" pitchFamily="34" charset="-120"/>
              </a:rPr>
              <a:t>Có lợi cho agency</a:t>
            </a:r>
            <a:endParaRPr lang="en-US" sz="1500" dirty="0"/>
          </a:p>
        </p:txBody>
      </p:sp>
      <p:sp>
        <p:nvSpPr>
          <p:cNvPr id="6" name="Text 4"/>
          <p:cNvSpPr txBox="1"/>
          <p:nvPr/>
        </p:nvSpPr>
        <p:spPr>
          <a:xfrm>
            <a:off x="4206240" y="4754880"/>
            <a:ext cx="2286000" cy="822960"/>
          </a:xfrm>
          <a:prstGeom prst="rect">
            <a:avLst/>
          </a:prstGeom>
          <a:noFill/>
          <a:ln/>
        </p:spPr>
        <p:txBody>
          <a:bodyPr wrap="square" lIns="635" tIns="635" rIns="635" bIns="635" rtlCol="0" anchor="ctr"/>
          <a:lstStyle/>
          <a:p>
            <a:pPr algn="r" indent="0" marL="0">
              <a:buNone/>
            </a:pPr>
            <a:r>
              <a:rPr lang="en-US" sz="1500" b="1" dirty="0">
                <a:solidFill>
                  <a:srgbClr val="FF5178"/>
                </a:solidFill>
                <a:latin typeface="Alexandria" pitchFamily="34" charset="0"/>
                <a:ea typeface="Alexandria" pitchFamily="34" charset="-122"/>
                <a:cs typeface="Alexandria" pitchFamily="34" charset="-120"/>
              </a:rPr>
              <a:t>Có lợi cho khách hàng</a:t>
            </a:r>
            <a:endParaRPr lang="en-US" sz="1500" dirty="0"/>
          </a:p>
        </p:txBody>
      </p:sp>
      <p:sp>
        <p:nvSpPr>
          <p:cNvPr id="7" name="Text 5"/>
          <p:cNvSpPr txBox="1"/>
          <p:nvPr/>
        </p:nvSpPr>
        <p:spPr>
          <a:xfrm rot="-2220000">
            <a:off x="2926080" y="3429000"/>
            <a:ext cx="2194560" cy="4572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Alexandria" pitchFamily="34" charset="0"/>
                <a:ea typeface="Alexandria" pitchFamily="34" charset="-122"/>
                <a:cs typeface="Alexandria" pitchFamily="34" charset="-120"/>
              </a:rPr>
              <a:t>Vùng công bằng</a:t>
            </a:r>
            <a:endParaRPr lang="en-US" sz="1500" dirty="0"/>
          </a:p>
        </p:txBody>
      </p:sp>
      <p:sp>
        <p:nvSpPr>
          <p:cNvPr id="8" name="Text 6"/>
          <p:cNvSpPr txBox="1"/>
          <p:nvPr/>
        </p:nvSpPr>
        <p:spPr>
          <a:xfrm rot="16200000">
            <a:off x="-502920" y="3547872"/>
            <a:ext cx="338328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Giá trung bình khách trả →</a:t>
            </a:r>
            <a:endParaRPr lang="en-US" sz="1300" dirty="0"/>
          </a:p>
        </p:txBody>
      </p:sp>
      <p:sp>
        <p:nvSpPr>
          <p:cNvPr id="9" name="Text 7"/>
          <p:cNvSpPr txBox="1"/>
          <p:nvPr/>
        </p:nvSpPr>
        <p:spPr>
          <a:xfrm>
            <a:off x="1463040" y="5760720"/>
            <a:ext cx="51206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Chi phí phục vụ khách →</a:t>
            </a:r>
            <a:endParaRPr lang="en-US" sz="1300" dirty="0"/>
          </a:p>
        </p:txBody>
      </p:sp>
      <p:sp>
        <p:nvSpPr>
          <p:cNvPr id="10" name="Shape 8"/>
          <p:cNvSpPr/>
          <p:nvPr/>
        </p:nvSpPr>
        <p:spPr>
          <a:xfrm>
            <a:off x="6858000" y="1783080"/>
            <a:ext cx="4782312"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7086600" y="1920240"/>
            <a:ext cx="4389120" cy="36576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Góc trên trái: giá cao, phục vụ ít tốn — agency được lợi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Góc dưới phải: giá thấp, phục vụ rất tốn — khách được lợi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Đường chéo: cả hai cùng có lợi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Lệch xa đường chéo = dấu hiệu mất cân bằng quyền lực</a:t>
            </a:r>
            <a:endParaRPr lang="en-US" sz="1600" dirty="0"/>
          </a:p>
        </p:txBody>
      </p:sp>
      <p:sp>
        <p:nvSpPr>
          <p:cNvPr id="12" name="Text 10"/>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8.6, tr. 210–211). Đề cương 6.2: “bilateral benefits and fair relationships”.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bán lỗ cho khách hàng nào — nhưng giảm chi phí phục vụ cùng khách hàng, không ép khách</a:t>
            </a:r>
            <a:endParaRPr lang="en-US" sz="2800" dirty="0"/>
          </a:p>
        </p:txBody>
      </p:sp>
      <p:sp>
        <p:nvSpPr>
          <p:cNvPr id="3" name="Shape 1"/>
          <p:cNvSpPr/>
          <p:nvPr/>
        </p:nvSpPr>
        <p:spPr>
          <a:xfrm>
            <a:off x="548640" y="1783080"/>
            <a:ext cx="5120640" cy="2103120"/>
          </a:xfrm>
          <a:prstGeom prst="roundRect">
            <a:avLst>
              <a:gd name="adj" fmla="val 3478"/>
            </a:avLst>
          </a:prstGeom>
          <a:solidFill>
            <a:srgbClr val="FFD23B"/>
          </a:solidFill>
          <a:ln w="12700">
            <a:solidFill>
              <a:srgbClr val="FFD23B"/>
            </a:solidFill>
            <a:prstDash val="solid"/>
          </a:ln>
        </p:spPr>
      </p:sp>
      <p:sp>
        <p:nvSpPr>
          <p:cNvPr id="4" name="Text 2"/>
          <p:cNvSpPr txBox="1"/>
          <p:nvPr/>
        </p:nvSpPr>
        <p:spPr>
          <a:xfrm>
            <a:off x="777240" y="1828800"/>
            <a:ext cx="4663440" cy="1645920"/>
          </a:xfrm>
          <a:prstGeom prst="rect">
            <a:avLst/>
          </a:prstGeom>
          <a:noFill/>
          <a:ln/>
        </p:spPr>
        <p:txBody>
          <a:bodyPr wrap="square" lIns="635" tIns="635" rIns="635" bIns="635" rtlCol="0" anchor="t"/>
          <a:lstStyle/>
          <a:p>
            <a:pPr indent="0" marL="0">
              <a:buNone/>
            </a:pPr>
            <a:r>
              <a:rPr lang="en-US" sz="1700" b="1" i="1" dirty="0">
                <a:solidFill>
                  <a:srgbClr val="172849"/>
                </a:solidFill>
                <a:latin typeface="Alexandria" pitchFamily="34" charset="0"/>
                <a:ea typeface="Alexandria" pitchFamily="34" charset="-122"/>
                <a:cs typeface="Alexandria" pitchFamily="34" charset="-120"/>
              </a:rPr>
              <a:t>“We do not sell unprofitably to any customer. We analyze our cost-to-serve customer figures to be sure of this.”</a:t>
            </a:r>
            <a:endParaRPr lang="en-US" sz="1700" dirty="0"/>
          </a:p>
        </p:txBody>
      </p:sp>
      <p:sp>
        <p:nvSpPr>
          <p:cNvPr id="5" name="Text 3"/>
          <p:cNvSpPr txBox="1"/>
          <p:nvPr/>
        </p:nvSpPr>
        <p:spPr>
          <a:xfrm>
            <a:off x="777240" y="3429000"/>
            <a:ext cx="4663440" cy="411480"/>
          </a:xfrm>
          <a:prstGeom prst="rect">
            <a:avLst/>
          </a:prstGeom>
          <a:noFill/>
          <a:ln/>
        </p:spPr>
        <p:txBody>
          <a:bodyPr wrap="square" lIns="635" tIns="635" rIns="635" bIns="635" rtlCol="0" anchor="ctr"/>
          <a:lstStyle/>
          <a:p>
            <a:pPr indent="0" marL="0">
              <a:buNone/>
            </a:pPr>
            <a:r>
              <a:rPr lang="en-US" sz="1300" dirty="0">
                <a:solidFill>
                  <a:srgbClr val="172849"/>
                </a:solidFill>
                <a:latin typeface="Alexandria" pitchFamily="34" charset="0"/>
                <a:ea typeface="Alexandria" pitchFamily="34" charset="-122"/>
                <a:cs typeface="Alexandria" pitchFamily="34" charset="-120"/>
              </a:rPr>
              <a:t>— câu tự đánh giá trong bài của McDonald (SAMA)</a:t>
            </a:r>
            <a:endParaRPr lang="en-US" sz="1300" dirty="0"/>
          </a:p>
        </p:txBody>
      </p:sp>
      <p:sp>
        <p:nvSpPr>
          <p:cNvPr id="6" name="Shape 4"/>
          <p:cNvSpPr/>
          <p:nvPr/>
        </p:nvSpPr>
        <p:spPr>
          <a:xfrm>
            <a:off x="548640" y="4023360"/>
            <a:ext cx="5120640" cy="1691640"/>
          </a:xfrm>
          <a:prstGeom prst="roundRect">
            <a:avLst>
              <a:gd name="adj" fmla="val 4324"/>
            </a:avLst>
          </a:prstGeom>
          <a:solidFill>
            <a:srgbClr val="22395F"/>
          </a:solidFill>
          <a:ln w="12700">
            <a:solidFill>
              <a:srgbClr val="22395F"/>
            </a:solidFill>
            <a:prstDash val="solid"/>
          </a:ln>
        </p:spPr>
      </p:sp>
      <p:sp>
        <p:nvSpPr>
          <p:cNvPr id="7" name="Text 5"/>
          <p:cNvSpPr txBox="1"/>
          <p:nvPr/>
        </p:nvSpPr>
        <p:spPr>
          <a:xfrm>
            <a:off x="777240" y="4023360"/>
            <a:ext cx="4663440" cy="169164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Giáo trình: KAM tốt tự nó giảm chi phí phục vụ — vì agency hiểu khách hơn, bán cho cùng những người, cùng một chỗ.</a:t>
            </a:r>
            <a:endParaRPr lang="en-US" sz="1600" dirty="0"/>
          </a:p>
        </p:txBody>
      </p:sp>
      <p:sp>
        <p:nvSpPr>
          <p:cNvPr id="8" name="Text 6"/>
          <p:cNvSpPr txBox="1"/>
          <p:nvPr/>
        </p:nvSpPr>
        <p:spPr>
          <a:xfrm>
            <a:off x="5943600" y="1783080"/>
            <a:ext cx="5696712"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Alexandria" pitchFamily="34" charset="0"/>
                <a:ea typeface="Alexandria" pitchFamily="34" charset="-122"/>
                <a:cs typeface="Alexandria" pitchFamily="34" charset="-120"/>
              </a:rPr>
              <a:t>Giảm chi phí phục vụ cùng khách hàng</a:t>
            </a:r>
            <a:endParaRPr lang="en-US" sz="1800" dirty="0"/>
          </a:p>
        </p:txBody>
      </p:sp>
      <p:sp>
        <p:nvSpPr>
          <p:cNvPr id="9" name="Shape 7"/>
          <p:cNvSpPr/>
          <p:nvPr/>
        </p:nvSpPr>
        <p:spPr>
          <a:xfrm>
            <a:off x="5943600" y="2331720"/>
            <a:ext cx="5696712" cy="731520"/>
          </a:xfrm>
          <a:prstGeom prst="roundRect">
            <a:avLst>
              <a:gd name="adj" fmla="val 10000"/>
            </a:avLst>
          </a:prstGeom>
          <a:solidFill>
            <a:srgbClr val="22395F"/>
          </a:solidFill>
          <a:ln w="12700">
            <a:solidFill>
              <a:srgbClr val="22395F"/>
            </a:solidFill>
            <a:prstDash val="solid"/>
          </a:ln>
        </p:spPr>
      </p:sp>
      <p:sp>
        <p:nvSpPr>
          <p:cNvPr id="10" name="Shape 8"/>
          <p:cNvSpPr/>
          <p:nvPr/>
        </p:nvSpPr>
        <p:spPr>
          <a:xfrm>
            <a:off x="6080760" y="2423160"/>
            <a:ext cx="548640" cy="548640"/>
          </a:xfrm>
          <a:prstGeom prst="ellipse">
            <a:avLst/>
          </a:prstGeom>
          <a:solidFill>
            <a:srgbClr val="49B296"/>
          </a:solidFill>
          <a:ln w="12700">
            <a:solidFill>
              <a:srgbClr val="49B296"/>
            </a:solidFill>
            <a:prstDash val="solid"/>
          </a:ln>
        </p:spPr>
      </p:sp>
      <p:pic>
        <p:nvPicPr>
          <p:cNvPr id="11" name="Image 0" descr="preencoded.png">    </p:cNvPr>
          <p:cNvPicPr>
            <a:picLocks noChangeAspect="1"/>
          </p:cNvPicPr>
          <p:nvPr/>
        </p:nvPicPr>
        <p:blipFill>
          <a:blip r:embed="rId1"/>
          <a:stretch>
            <a:fillRect/>
          </a:stretch>
        </p:blipFill>
        <p:spPr>
          <a:xfrm>
            <a:off x="6201461" y="2543861"/>
            <a:ext cx="307238" cy="307238"/>
          </a:xfrm>
          <a:prstGeom prst="rect">
            <a:avLst/>
          </a:prstGeom>
        </p:spPr>
      </p:pic>
      <p:sp>
        <p:nvSpPr>
          <p:cNvPr id="12" name="Text 9"/>
          <p:cNvSpPr txBox="1"/>
          <p:nvPr/>
        </p:nvSpPr>
        <p:spPr>
          <a:xfrm>
            <a:off x="6766560" y="233172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Lịch duyệt rõ, giới hạn số vòng sửa</a:t>
            </a:r>
            <a:endParaRPr lang="en-US" sz="1600" dirty="0"/>
          </a:p>
        </p:txBody>
      </p:sp>
      <p:sp>
        <p:nvSpPr>
          <p:cNvPr id="13" name="Shape 10"/>
          <p:cNvSpPr/>
          <p:nvPr/>
        </p:nvSpPr>
        <p:spPr>
          <a:xfrm>
            <a:off x="5943600" y="3200400"/>
            <a:ext cx="5696712" cy="731520"/>
          </a:xfrm>
          <a:prstGeom prst="roundRect">
            <a:avLst>
              <a:gd name="adj" fmla="val 10000"/>
            </a:avLst>
          </a:prstGeom>
          <a:solidFill>
            <a:srgbClr val="22395F"/>
          </a:solidFill>
          <a:ln w="12700">
            <a:solidFill>
              <a:srgbClr val="22395F"/>
            </a:solidFill>
            <a:prstDash val="solid"/>
          </a:ln>
        </p:spPr>
      </p:sp>
      <p:sp>
        <p:nvSpPr>
          <p:cNvPr id="14" name="Shape 11"/>
          <p:cNvSpPr/>
          <p:nvPr/>
        </p:nvSpPr>
        <p:spPr>
          <a:xfrm>
            <a:off x="6080760" y="3291840"/>
            <a:ext cx="548640" cy="548640"/>
          </a:xfrm>
          <a:prstGeom prst="ellipse">
            <a:avLst/>
          </a:prstGeom>
          <a:solidFill>
            <a:srgbClr val="49B296"/>
          </a:solidFill>
          <a:ln w="12700">
            <a:solidFill>
              <a:srgbClr val="49B296"/>
            </a:solidFill>
            <a:prstDash val="solid"/>
          </a:ln>
        </p:spPr>
      </p:sp>
      <p:pic>
        <p:nvPicPr>
          <p:cNvPr id="15" name="Image 1" descr="preencoded.png">    </p:cNvPr>
          <p:cNvPicPr>
            <a:picLocks noChangeAspect="1"/>
          </p:cNvPicPr>
          <p:nvPr/>
        </p:nvPicPr>
        <p:blipFill>
          <a:blip r:embed="rId2"/>
          <a:stretch>
            <a:fillRect/>
          </a:stretch>
        </p:blipFill>
        <p:spPr>
          <a:xfrm>
            <a:off x="6201461" y="3412541"/>
            <a:ext cx="307238" cy="307238"/>
          </a:xfrm>
          <a:prstGeom prst="rect">
            <a:avLst/>
          </a:prstGeom>
        </p:spPr>
      </p:pic>
      <p:sp>
        <p:nvSpPr>
          <p:cNvPr id="16" name="Text 12"/>
          <p:cNvSpPr txBox="1"/>
          <p:nvPr/>
        </p:nvSpPr>
        <p:spPr>
          <a:xfrm>
            <a:off x="6766560" y="320040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Gộp sự kiện thành hợp đồng năm</a:t>
            </a:r>
            <a:endParaRPr lang="en-US" sz="1600" dirty="0"/>
          </a:p>
        </p:txBody>
      </p:sp>
      <p:sp>
        <p:nvSpPr>
          <p:cNvPr id="17" name="Shape 13"/>
          <p:cNvSpPr/>
          <p:nvPr/>
        </p:nvSpPr>
        <p:spPr>
          <a:xfrm>
            <a:off x="5943600" y="4069080"/>
            <a:ext cx="5696712" cy="731520"/>
          </a:xfrm>
          <a:prstGeom prst="roundRect">
            <a:avLst>
              <a:gd name="adj" fmla="val 10000"/>
            </a:avLst>
          </a:prstGeom>
          <a:solidFill>
            <a:srgbClr val="22395F"/>
          </a:solidFill>
          <a:ln w="12700">
            <a:solidFill>
              <a:srgbClr val="22395F"/>
            </a:solidFill>
            <a:prstDash val="solid"/>
          </a:ln>
        </p:spPr>
      </p:sp>
      <p:sp>
        <p:nvSpPr>
          <p:cNvPr id="18" name="Shape 14"/>
          <p:cNvSpPr/>
          <p:nvPr/>
        </p:nvSpPr>
        <p:spPr>
          <a:xfrm>
            <a:off x="6080760" y="4160520"/>
            <a:ext cx="548640" cy="548640"/>
          </a:xfrm>
          <a:prstGeom prst="ellipse">
            <a:avLst/>
          </a:prstGeom>
          <a:solidFill>
            <a:srgbClr val="49B296"/>
          </a:solidFill>
          <a:ln w="12700">
            <a:solidFill>
              <a:srgbClr val="49B296"/>
            </a:solidFill>
            <a:prstDash val="solid"/>
          </a:ln>
        </p:spPr>
      </p:sp>
      <p:pic>
        <p:nvPicPr>
          <p:cNvPr id="19" name="Image 2" descr="preencoded.png">    </p:cNvPr>
          <p:cNvPicPr>
            <a:picLocks noChangeAspect="1"/>
          </p:cNvPicPr>
          <p:nvPr/>
        </p:nvPicPr>
        <p:blipFill>
          <a:blip r:embed="rId3"/>
          <a:stretch>
            <a:fillRect/>
          </a:stretch>
        </p:blipFill>
        <p:spPr>
          <a:xfrm>
            <a:off x="6201461" y="4281221"/>
            <a:ext cx="307238" cy="307238"/>
          </a:xfrm>
          <a:prstGeom prst="rect">
            <a:avLst/>
          </a:prstGeom>
        </p:spPr>
      </p:pic>
      <p:sp>
        <p:nvSpPr>
          <p:cNvPr id="20" name="Text 15"/>
          <p:cNvSpPr txBox="1"/>
          <p:nvPr/>
        </p:nvSpPr>
        <p:spPr>
          <a:xfrm>
            <a:off x="6766560" y="406908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Thanh toán theo tiến độ</a:t>
            </a:r>
            <a:endParaRPr lang="en-US" sz="1600" dirty="0"/>
          </a:p>
        </p:txBody>
      </p:sp>
      <p:sp>
        <p:nvSpPr>
          <p:cNvPr id="21" name="Shape 16"/>
          <p:cNvSpPr/>
          <p:nvPr/>
        </p:nvSpPr>
        <p:spPr>
          <a:xfrm>
            <a:off x="5943600" y="4937760"/>
            <a:ext cx="5696712" cy="731520"/>
          </a:xfrm>
          <a:prstGeom prst="roundRect">
            <a:avLst>
              <a:gd name="adj" fmla="val 10000"/>
            </a:avLst>
          </a:prstGeom>
          <a:solidFill>
            <a:srgbClr val="22395F"/>
          </a:solidFill>
          <a:ln w="12700">
            <a:solidFill>
              <a:srgbClr val="22395F"/>
            </a:solidFill>
            <a:prstDash val="solid"/>
          </a:ln>
        </p:spPr>
      </p:sp>
      <p:sp>
        <p:nvSpPr>
          <p:cNvPr id="22" name="Shape 17"/>
          <p:cNvSpPr/>
          <p:nvPr/>
        </p:nvSpPr>
        <p:spPr>
          <a:xfrm>
            <a:off x="6080760" y="5029200"/>
            <a:ext cx="548640" cy="548640"/>
          </a:xfrm>
          <a:prstGeom prst="ellipse">
            <a:avLst/>
          </a:prstGeom>
          <a:solidFill>
            <a:srgbClr val="49B296"/>
          </a:solidFill>
          <a:ln w="12700">
            <a:solidFill>
              <a:srgbClr val="49B296"/>
            </a:solidFill>
            <a:prstDash val="solid"/>
          </a:ln>
        </p:spPr>
      </p:sp>
      <p:pic>
        <p:nvPicPr>
          <p:cNvPr id="23" name="Image 3" descr="preencoded.png">    </p:cNvPr>
          <p:cNvPicPr>
            <a:picLocks noChangeAspect="1"/>
          </p:cNvPicPr>
          <p:nvPr/>
        </p:nvPicPr>
        <p:blipFill>
          <a:blip r:embed="rId4"/>
          <a:stretch>
            <a:fillRect/>
          </a:stretch>
        </p:blipFill>
        <p:spPr>
          <a:xfrm>
            <a:off x="6201461" y="5149901"/>
            <a:ext cx="307238" cy="307238"/>
          </a:xfrm>
          <a:prstGeom prst="rect">
            <a:avLst/>
          </a:prstGeom>
        </p:spPr>
      </p:pic>
      <p:sp>
        <p:nvSpPr>
          <p:cNvPr id="24" name="Text 18"/>
          <p:cNvSpPr txBox="1"/>
          <p:nvPr/>
        </p:nvSpPr>
        <p:spPr>
          <a:xfrm>
            <a:off x="6766560" y="493776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Phạm vi viết rõ; phát sinh có quy trình</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McDonald (n.d.), SAMA (F06); Marcos et al. (2018, tr. 210). Ví dụ hành động: nhận định của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lỗi khi làm tài chính khách hàng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Xếp hạng khách theo doanh thu, không theo đóng góp ròng</a:t>
            </a:r>
            <a:endParaRPr lang="en-US" sz="17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Chỉ nhìn lợi nhuận năm nay, quên kế hoạch tương lai của khách</a:t>
            </a:r>
            <a:endParaRPr lang="en-US" sz="17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Alexandria" pitchFamily="34" charset="0"/>
                <a:ea typeface="Alexandria" pitchFamily="34" charset="-122"/>
                <a:cs typeface="Alexandria" pitchFamily="34" charset="-120"/>
              </a:rPr>
              <a:t>Thấy khách lỗ là tăng giá hoặc bỏ — không ngồi lại cùng khách</a:t>
            </a:r>
            <a:endParaRPr lang="en-US" sz="17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Alexandria" pitchFamily="34" charset="0"/>
                <a:ea typeface="Alexandria" pitchFamily="34" charset="-122"/>
                <a:cs typeface="Alexandria" pitchFamily="34" charset="-120"/>
              </a:rPr>
              <a:t>Doanh thu là con số của khách; CLV là con số của quan hệ.</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Minh bạch chi phí với khách hàng — không “thu lại” bằng phát sinh ngầm</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Nói rõ phần nào trong giá, phần nào phát sinh</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Đưa số liệu chi phí phục vụ khi đề nghị đổi cách làm</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Giữ bí mật số liệu tài chính của khách</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Bù lỗ bằng cách cắt chất lượng mà không báo</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Đội giá phát sinh vì khách “không biết giá”</a:t>
            </a:r>
            <a:endParaRPr lang="en-US" sz="1700" dirty="0"/>
          </a:p>
          <a:p>
            <a:pPr marL="342900" indent="-342900">
              <a:spcAft>
                <a:spcPts val="600"/>
              </a:spcAft>
              <a:buSzPct val="100000"/>
              <a:buChar char="•"/>
            </a:pPr>
            <a:r>
              <a:rPr lang="en-US" sz="1700" dirty="0">
                <a:solidFill>
                  <a:srgbClr val="FBFAF4"/>
                </a:solidFill>
                <a:latin typeface="Alexandria" pitchFamily="34" charset="0"/>
                <a:ea typeface="Alexandria" pitchFamily="34" charset="-122"/>
                <a:cs typeface="Alexandria" pitchFamily="34" charset="-120"/>
              </a:rPr>
              <a:t>Ưu ái khách CLV cao bằng cách làm ẩu cho khách khác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Phân hạng khách để phân bổ nguồn lực — không phải để đối xử thiếu chuyên nghiệp với ai.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ma trận năm khách hàng và hành động hai bên cùng lợi</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Đọc bảng 5 khách hàng; ngưỡng biên 15%, cost-to-serve/doanh thu 5%</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A1: đặt 5 khách lên ma trận (chấm to theo doanh thu); chọn 2 khách ở ô bất lợi, mỗi khách 1 hành động bàn cùng khách: Nova được gì · khách được gì</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vòng 1 vai anh Đức (CEO Nova) — 1 câu hỏi về lợi nhuận; vòng 2 vai anh Khoa (An Phát) — 1 lo ngại về công bằng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6’</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sửa một hành động; GV chốt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Ma trận A1 + 2 hành động hai bên cùng lợi</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Mục tiêu không phải “cắt khách lỗ” mà tìm hành động cả hai cùng thấy hợp lý.</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6 — và phần B của kế hoạch</a:t>
            </a:r>
            <a:endParaRPr lang="en-US" sz="2800" dirty="0"/>
          </a:p>
        </p:txBody>
      </p:sp>
      <p:sp>
        <p:nvSpPr>
          <p:cNvPr id="3" name="Shape 1"/>
          <p:cNvSpPr/>
          <p:nvPr/>
        </p:nvSpPr>
        <p:spPr>
          <a:xfrm>
            <a:off x="548640" y="1783080"/>
            <a:ext cx="146304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6.1</a:t>
            </a:r>
            <a:endParaRPr lang="en-US" sz="2000" dirty="0"/>
          </a:p>
        </p:txBody>
      </p:sp>
      <p:sp>
        <p:nvSpPr>
          <p:cNvPr id="5" name="Shape 3"/>
          <p:cNvSpPr/>
          <p:nvPr/>
        </p:nvSpPr>
        <p:spPr>
          <a:xfrm>
            <a:off x="2194560" y="1783080"/>
            <a:ext cx="944575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423160" y="1783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CLV = đóng góp ròng nhiều năm, chiết khấu về hôm nay; rất nhạy với tỷ lệ giữ chân; cần cả kế hoạch tương lai của khách</a:t>
            </a:r>
            <a:endParaRPr lang="en-US" sz="1600" dirty="0"/>
          </a:p>
        </p:txBody>
      </p:sp>
      <p:sp>
        <p:nvSpPr>
          <p:cNvPr id="7" name="Shape 5"/>
          <p:cNvSpPr/>
          <p:nvPr/>
        </p:nvSpPr>
        <p:spPr>
          <a:xfrm>
            <a:off x="548640" y="2926080"/>
            <a:ext cx="146304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6.2</a:t>
            </a:r>
            <a:endParaRPr lang="en-US" sz="2000" dirty="0"/>
          </a:p>
        </p:txBody>
      </p:sp>
      <p:sp>
        <p:nvSpPr>
          <p:cNvPr id="9" name="Shape 7"/>
          <p:cNvSpPr/>
          <p:nvPr/>
        </p:nvSpPr>
        <p:spPr>
          <a:xfrm>
            <a:off x="2194560" y="2926080"/>
            <a:ext cx="944575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423160" y="2926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Doanh số ≠ lợi nhuận; cost-to-serve phụ thuộc hành vi khách, ở cả trước – trong – sau bán; agency có nhiều chi phí ẩn</a:t>
            </a:r>
            <a:endParaRPr lang="en-US" sz="1600" dirty="0"/>
          </a:p>
        </p:txBody>
      </p:sp>
      <p:sp>
        <p:nvSpPr>
          <p:cNvPr id="11" name="Shape 9"/>
          <p:cNvSpPr/>
          <p:nvPr/>
        </p:nvSpPr>
        <p:spPr>
          <a:xfrm>
            <a:off x="548640" y="4069080"/>
            <a:ext cx="146304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Ma trận</a:t>
            </a:r>
            <a:endParaRPr lang="en-US" sz="2000" dirty="0"/>
          </a:p>
        </p:txBody>
      </p:sp>
      <p:sp>
        <p:nvSpPr>
          <p:cNvPr id="13" name="Shape 11"/>
          <p:cNvSpPr/>
          <p:nvPr/>
        </p:nvSpPr>
        <p:spPr>
          <a:xfrm>
            <a:off x="2194560" y="4069080"/>
            <a:ext cx="944575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423160" y="4069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Alexandria" pitchFamily="34" charset="0"/>
                <a:ea typeface="Alexandria" pitchFamily="34" charset="-122"/>
                <a:cs typeface="Alexandria" pitchFamily="34" charset="-120"/>
              </a:rPr>
              <a:t>Biên × cost-to-serve để chọn hành động; vùng công bằng: giá tương xứng chi phí — lợi cho cả hai</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Kế hoạch cuối kỳ: phần B. Value Opportunities — CLV và vị trí trên ma trận của khách hàng dự án cũ (ghi rõ giả định).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CLV tính trên đóng góp ròng chứ không trên doanh thu?</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Kể ba loại cost-to-serve ẩn của agency sự kiện.</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Trong hình “vùng công bằng”, khách ở góc dưới phải nghĩa là gì — và nên làm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Nếu tỷ lệ tái ký của An Phát giảm từ 85% xuống 70%, CLV thay đổi thế nào? Vì sao?</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Hai cost-to-serve lớn nhất với khách hàng dự án cũ là gì? Có cách nào cùng khách hàng giảm chúng?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7: ngồi vào bàn đàm phán với phòng mua sắm</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7 · Mua sắm và đàm phán</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Biết khách hàng đáng bao nhiêu và tốn bao nhiêu, ta mới đàm phán được. Buổi sau: phòng mua sắm của khách hàng, ma trận Kraljic, và đàm phán dựa trên giá trị.</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Máy tính cầm tay</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ma trận và bảng CLV</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Ang, L., &amp; Taylor, B. (2005). Managing customer profitability using portfolio matrices.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Database Marketing &amp; Customer Strategy Management, 12</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298–304.</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Berger, P. D., &amp; Nasr, N. I. (1998). Customer lifetime value: Marketing models and applications.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Interactive Marketing, 12</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17–30.</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Guerreiro, R., Bio, S. R., &amp; Merschmann, E. V. V.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Cost-to-serve measurement and customer profitability analysis: A case study at a food industry in Brazil</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[Bài hội thảo]. Intercostos.</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Gupta, S., Hanssens, D., Hardie, B., Kahn, W., Kumar, V., Lin, N., Ravishanker, N., &amp; Sriram, S. (2006). Modeling customer lifetime value.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Service Research, 9</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(2), 139–155.</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McDonald, M.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How to create financially quantified value propositions in six (actionable!) steps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Strategic Account Management Association.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Shapiro, B. P., Rangan, V. K., Moriarty, R. T., &amp; Ross, E. B. (1987). Manage customers for profits (not just sales).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Harvard Business Review, 65</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(5), 101–108.</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6: Tài chính trong KAM</dc:title>
  <dc:subject>PptxGenJS Presentation</dc:subject>
  <dc:creator>Đoàn Nguyễn Bảo Quyên</dc:creator>
  <cp:lastModifiedBy>Đoàn Nguyễn Bảo Quyên</cp:lastModifiedBy>
  <cp:revision>1</cp:revision>
  <dcterms:created xsi:type="dcterms:W3CDTF">2026-10-04T08:07:13Z</dcterms:created>
  <dcterms:modified xsi:type="dcterms:W3CDTF">2026-10-04T08:07:13Z</dcterms:modified>
</cp:coreProperties>
</file>