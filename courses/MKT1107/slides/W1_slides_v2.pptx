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1 · Khởi động" id="{8299cb87-3af3-54bf-9404-58bdbc5c4a04}">
          <p14:sldIdLst>
            <p14:sldId id="256"/>
            <p14:sldId id="257"/>
            <p14:sldId id="258"/>
          </p14:sldIdLst>
        </p14:section>
        <p14:section name="S2 · Giới thiệu học phần" id="{dcbb0c03-6c53-b15b-6383-a3dfeba453ce}">
          <p14:sldIdLst>
            <p14:sldId id="259"/>
            <p14:sldId id="260"/>
            <p14:sldId id="261"/>
            <p14:sldId id="262"/>
            <p14:sldId id="263"/>
            <p14:sldId id="264"/>
          </p14:sldIdLst>
        </p14:section>
        <p14:section name="S3 · Nghiên cứu marketing là gì, để làm gì, có những loại nào" id="{e77d5131-eeaf-90d5-8699-d2b099b6ca3a}">
          <p14:sldIdLst>
            <p14:sldId id="265"/>
            <p14:sldId id="266"/>
            <p14:sldId id="267"/>
            <p14:sldId id="268"/>
            <p14:sldId id="269"/>
            <p14:sldId id="270"/>
            <p14:sldId id="271"/>
            <p14:sldId id="272"/>
            <p14:sldId id="273"/>
            <p14:sldId id="274"/>
            <p14:sldId id="275"/>
            <p14:sldId id="276"/>
            <p14:sldId id="277"/>
            <p14:sldId id="278"/>
          </p14:sldIdLst>
        </p14:section>
        <p14:section name="S4 · Phân loại nhanh" id="{b84fa636-795b-70e4-f4be-2e9e9f79b722}">
          <p14:sldIdLst>
            <p14:sldId id="279"/>
            <p14:sldId id="280"/>
          </p14:sldIdLst>
        </p14:section>
        <p14:section name="Giải lao" id="{29deaaf2-fc99-cf59-3c5b-e7a753fe1303}">
          <p14:sldIdLst>
            <p14:sldId id="281"/>
          </p14:sldIdLst>
        </p14:section>
        <p14:section name="S5 · Tiến trình, đạo đức, hệ thống thông tin, người làm và người dùng" id="{18bdc2b7-006e-8d55-ff96-396f7d38964c}">
          <p14:sldIdLst>
            <p14:sldId id="282"/>
            <p14:sldId id="283"/>
            <p14:sldId id="284"/>
            <p14:sldId id="285"/>
            <p14:sldId id="286"/>
            <p14:sldId id="287"/>
            <p14:sldId id="288"/>
            <p14:sldId id="289"/>
            <p14:sldId id="290"/>
          </p14:sldIdLst>
        </p14:section>
        <p14:section name="S6 · Kiểm tra nhanh" id="{817efd6c-1760-6e4d-772c-11f2b7070544}">
          <p14:sldIdLst>
            <p14:sldId id="291"/>
          </p14:sldIdLst>
        </p14:section>
        <p14:section name="S7 · Thực hành nhóm" id="{d819b26b-ccac-0942-ea81-e2aef979f868}">
          <p14:sldIdLst>
            <p14:sldId id="292"/>
          </p14:sldIdLst>
        </p14:section>
        <p14:section name="S8 · Kết buổi" id="{4924ff69-87ab-21a0-03c2-790b9859ded5}">
          <p14:sldIdLst>
            <p14:sldId id="293"/>
            <p14:sldId id="294"/>
          </p14:sldIdLst>
        </p14:section>
        <p14:section name="Tài liệu tham khảo" id="{6276b11e-e877-6ffc-5b88-bd9a9e8753ae}">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Đây là học phần MKT1107 Nghiên cứu Marketing, Buổi 1 — Bài 1: Tổng quan về nghiên cứu Marketing. Giảng viên: Đoàn Nguyễn Bảo Quyên.
(GV: Chưa giới thiệu môn. Chuyển ngay sang slide 2.)
Hỏi lớp: —
Chuyển ý: Tôi bắt đầu bằng một câu chuyện.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Tôi bắt đầu bằng một câu chuyện. Một hãng điện thoại sắp bán dòng giá rẻ — điện thoại giá rẻ. Trước khi quyết định giá bán, họ làm khảo sát. Nhưng họ đi hỏi ở đâu? Họ khảo sát khách ở showroom cao cấp, với những khách hàng có thu nhập cao — khách giàu. Kết quả: “giá không quan trọng” — phần lớn người được hỏi nói họ sẵn sàng trả nhiều hơn để có tính năng tốt. Vậy: sai ở đâu? Hậu quả?
(GV: Đọc chậm tình huống, chưa nói gì về môn học. Câu trả lời mong đợi: hỏi sai đối tượng — người mua điện thoại giá rẻ không phải khách hàng giàu; kết quả bị chệch; công ty có thể định giá quá cao, sản phẩm thất bại. Ghi lên bảng hai chữ: “hỏi ai”.)
Hỏi lớp: “Kết luận này sai ở đâu? Và nếu công ty tin vào nó thì chuyện gì xảy ra?” — 1 phút nghĩ một mình, 1 phút trao đổi với bạn bên cạnh, chỉ định 2–3 bạn trả lời.
Chuyển ý: Các bạn vừa chỉ ra đúng lỗi mà nhiều doanh nghiệp mắc phải — lỗi đó nằm ở một trong ba câu hỏi mọi nghiên cứu phải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 bạn vừa chỉ ra đúng lỗi mà rất nhiều doanh nghiệp mắc phải: dữ liệu thì có, con số thì đẹp, nhưng câu trả lời vô giá trị vì hỏi sai người. Trước khi thu thập bất kỳ dữ liệu nào, phải trả lời được ba câu hỏi: Vì sao hỏi? Hỏi thế nào? Hỏi ai? Tình huống vừa rồi sai ở câu thứ ba — hỏi ai. Cả học phần là học trả lời ba câu này cho đúng.
Hỏi lớp: —
Chuyển ý: Để trả lời ba câu này, trước hết hãy xem môn học này nối tiếp môn Marketing căn bản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môn Marketing căn bản — môn tiên quyết — các bạn đã học cách doanh nghiệp ra quyết định về sản phẩm, giá, phân phối, xúc tiến (truyền thông). Đó là phần đã học: 4P. Môn này trả lời câu hỏi tiếp theo: những quyết định đó dựa vào thông tin nào, và làm sao có được thông tin đáng tin cậy? Một câu để nhớ: “Không có thông tin đúng, 4P chỉ là đoán.”
(GV: Phần S2 nói nhanh, gọn. Chi tiết có trong đề cương trên LMS — nhắc sinh viên đọc lại.)
Hỏi lớp: —
Chuyển ý: Vậy hết học phần này, các bạn sẽ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thúc học phần, các bạn có thể: một, giải thích khái niệm và phương pháp nghiên cứu marketing; hai, lập kế hoạch nghiên cứu — xây dựng một kế hoạch phục vụ một quyết định marketing cụ thể; ba, thực hiện các bước của một nghiên cứu: xác định vấn đề, thiết kế, chọn mẫu, thiết kế bảng hỏi, phân tích dữ liệu, trình bày kết quả; bốn, làm việc nhóm, có đạo đức nghiên cứu — biết phản biện và có ý thức đạo đức khi nghiên cứu. Chi tiết trong đề cương trên LMS.
(GV: Đây là CLO1–8 viết lại bằng lời của sinh viên. Không đọc CLO nguyên văn.)
Hỏi lớp: —
Chuyển ý: Cách để đạt được những điều đó là tự làm một nghiên cứu thật, theo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khác của môn này: mỗi nhóm 2–3 bạn sẽ tự làm một nghiên cứu nhỏ từ đầu đến cuối, theo một trong hai hướng. Định lượng — 5 chương: giới thiệu nghiên cứu; cơ sở lý thuyết và mô hình; phương pháp nghiên cứu; kết quả nghiên cứu; kết luận và hàm ý quản trị. Định tính — 3 chương: giới thiệu và cơ sở lý thuyết; phương pháp nghiên cứu; kết quả, thảo luận và kết luận. Nhóm chọn hướng ở Buổi 5. Mỗi buổi, 45 phút thực hành cuối buổi là lúc nhóm làm một phần dự án, có giảng viên đi kèm; bài tập về nhà là hoàn thiện phần đó.
Hỏi lớp: —
Chuyển ý: Nếu theo kịp từng buổi, dự án sẽ thành hình dần theo lộ trình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Nếu các bạn theo kịp từng buổi, đến Buổi 13 các bạn đã có gần đủ bài tiểu luận cuối kỳ. Lộ trình: B1 đề tài; B2–3 tài liệu; B4–5 AI, chọn hướng; B6 đề cương; B7–9 phương pháp, mẫu, thang đo; B10–12 bảng hỏi, phát hành sau B11; B13 phân tích; B14–15 thi. Bốn mốc bài tập nhóm: M1 sau B1, M2 sau B3, M3 sau B5, M4 sau B6. Nhấn hai mốc dễ trễ. Giữa kỳ: trước B11 — nộp giữa kỳ trước Buổi 11. Hạn thu dữ liệu: trước B13 — thu dữ liệu xong trước Buổi 13.
Hỏi lớp: —
Chuyển ý: Các sản phẩm của lộ trình này cũng chính là phần lớn điểm số của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70% điểm đến từ sản phẩm của nhóm. Chuyên cần 10%: tham dự và tham gia trên lớp. Bài tập nhóm M1–M4 20%: M1 sau Buổi 1 (2,5%), M2 sau Buổi 3 (5%), M3 sau Buổi 5 (5%), M4 sau Buổi 6 (7,5%). Giữa kỳ (nộp LMS) 20%: nộp trên LMS trước Buổi 11 — Chương 1–3 (định lượng) hoặc 1–2 (định tính), kèm bản nháp bảng hỏi. Tiểu luận nhóm 50%: tiểu luận hoàn chỉnh; Buổi 14–15 là buổi thi. Phân tích nâng cao → điểm cộng: nhóm định lượng nào phân tích sâu hơn yêu cầu — ví dụ kiểm định độ tin cậy thang đo, phân tích nhân tố, hồi quy — sẽ được điểm cộng.
(GV: Câu hỏi về hạn nộp cụ thể: trả lời theo lịch trên LMS [NEEDS PROFESSOR INPUT: ngày cụ thể và quy định nộp trễ].)
Hỏi lớp: “Có câu hỏi nào về cách đánh giá không?” — chờ 10 giây.
Chuyển ý: Trong khi làm dự án, có hai quy ước dùng suốt học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quy ước dùng suốt học phần. Thứ nhất, dùng AI: được phép, với hai điều kiện — khai báo công cụ + mục đích, nghĩa là đã dùng công cụ nào, để làm gì, và nộp nhật ký sử dụng AI; đồng thời tự kiểm chứng mọi trích dẫn, mọi thông tin AI đưa ra. AI bịa tài liệu tham khảo — trích tài liệu không tồn tại là lỗi của người nộp, không phải lỗi của AI. Thứ hai, trích dẫn theo APA 7: tên tác giả Việt ghi họ trước, viết tắt tên đệm và tên — Lê, Q. H. (2017) trong danh mục tài liệu, (Lê, 2017) trong bài. Buổi 2–3 học APA, Buổi 4–5 học dùng AI cho nghiên cứu.
Hỏi lớp: —
Chuyển ý: Bây giờ vào nội dung. Câu hỏi đầu tiên tưởng đơn giản: nghiên cứu marketing thực ra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bạn nghe “nghiên cứu marketing” sẽ nghĩ ngay đến một cái bảng hỏi trên Google Forms gửi vào group Facebook. Nhưng khảo sát chỉ là một công cụ: nghiên cứu marketing không chỉ là gửi một bảng hỏi Google Forms. Hiểu đúng định nghĩa giúp các bạn thấy nghiên cứu marketing rộng hơn nhiều, và giúp các bạn biết khi nào một “cuộc khảo sát” không phải là nghiên cứu.
(GV: Hỏi 2 bạn trả lời nhanh. Thường sẽ nghe “khảo sát”. Dùng câu đó để mở định nghĩa. S3 dày nhất buổi (25 phút) — nếu chậm: phạm vi chỉ nêu tên; phần so sánh với nghiên cứu thị trường chuyển sang tài liệu đọc thêm.)
Hỏi lớp: “Theo bạn, nghiên cứu marketing là gì?”
Chuyển ý: Hãy xem ba tác giả định nghĩa nghiên cứu marketing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tác giả, ba câu chữ. Các bạn không cần đọc hết — hãy tìm điểm chung. Kotler &amp; Keller (2012): thiết kế, thu thập, phân tích, báo cáo cho một tình huống marketing cụ thể — làm một cách có hệ thống với dữ liệu và phát hiện liên quan đến tình huống doanh nghiệp đang đối mặt. AMA — American Marketing Association (2017): chức năng kết nối khách hàng với nhà marketing qua thông tin — thông tin để nhận diện cơ hội, vấn đề, đánh giá hành động, theo dõi kết quả. Nguyễn &amp; Nguyễn (2015): chức năng gắn với mọi hoạt động marketing, từ hoạch định đến thực hiện và kiểm soát. Điểm chung: có hệ thống, để ra quyết định.
(GV: Nguyên văn AMA (phê duyệt 2017): “Marketing research is the function that links the consumer, customer, and public to the marketer through information—information used to identify and define opportunities and problems; generate, refine, and evaluate actions; monitor performance; and improve understanding of it as a process.” Bài giảng Văn Lang dùng định nghĩa AMA phiên bản cũ; đã thay bằng định nghĩa 2017. Câu chữ Nguyễn Đình Thọ lấy từ slide Văn Lang; đã xác định giáo trình gốc nhưng chưa đối chiếu số trang. Danh mục đầy đủ ở slide cuối.)
Hỏi lớp: “Câu chữ khác nhau — nhưng cả ba cùng nhấn mạnh điều gì?” — chờ 2–3 câu trả lời.
Chuyển ý: Gom ba định nghĩa lại, ta có định nghĩa dùng trong học phần — và bốn thành tố của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Định nghĩa dùng trong học phần: nghiên cứu marketing là một hoạt động có hệ thống và khách quan nhằm thu thập, phân tích và diễn giải dữ liệu, từ đó cung cấp thông tin có ý nghĩa làm cơ sở cho nhà quản trị ra quyết định về các vấn đề marketing. Bốn thành tố, mỗi thành tố loại một kiểu “nghiên cứu giả”. Có hệ thống — hỏi vài người bạn rồi kết luận không phải nghiên cứu. Khách quan — khảo sát để chứng minh ý sếp là đúng không phải nghiên cứu. Thu thập, phân tích, diễn giải — một file Excel 500 dòng không ai đọc chưa phải nghiên cứu. Làm cơ sở ra quyết định — mục đích cuối cùng là hỗ trợ nhà quản trị. Tư tưởng chủ đạo: mọi quyết định kinh doanh đều phải xuất phát từ thị trường.
(GV: Câu định nghĩa tổng hợp không gán tác giả. Slide UEF #3 gán một câu tương tự cho AMA — không đúng nguyên văn; đã bỏ phần gán tác giả.)
Hỏi lớp: —
Chuyển ý: Nếu nghiên cứu là cơ sở ra quyết định, nó mang lại gì cho doanh nghiệp — và không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Vai trò: nghiên cứu marketing giúp doanh nghiệp làm rõ vấn đề — loại bỏ những điều còn mơ hồ; giảm rủi ro — ví dụ biết trước khu vực nhu cầu thấp để không đổ tiền vào đó; cung cấp thông tin cho quyết định marketing; hoạt động hiệu quả hơn; và hỗ trợ các bộ phận khác như sản xuất, kỹ thuật, tài chính cùng hướng tới thỏa mãn khách hàng. Giới hạn: nghiên cứu không ra quyết định — nhà quản trị ra quyết định. Và không bảo đảm thành công, vì Y = f(x₁, x₂, …, xₙ): kết quả kinh doanh Y là hàm của nhiều yếu tố — sản phẩm, giá, đối thủ, kinh tế, cách triển khai. Nghiên cứu làm rõ một số yếu tố x, không kiểm soát được tất cả.
(GV: Cột “Giới hạn” hiện sau một cú bấm — hỏi lớp trước khi bấm. Slide gốc Văn Lang ghi “Y = f (x1) + (fx2) +... f (xn)”; đã viết lại thành Y = f(x₁, x₂, …, xₙ) cho đúng ký hiệu hàm.)
Hỏi lớp: “Vậy nghiên cứu thị trường có phải là chìa khóa của thành công?” — hỏi trước khi hiện cột phải.
Chuyển ý: Nghiên cứu phục vụ hai mục đích, trên sáu phạm vi quen thuộc.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marketing phục vụ một trong hai mục đích, như hai đĩa cân: giải quyết vấn đề — ví dụ doanh số sụt giảm, cần biết vì sao; hoặc khai thác cơ hội — ví dụ nhu cầu sản phẩm tiện lợi tăng theo một xu hướng xã hội. Hai mục đích có thể chuyển hóa cho nhau. Phạm vi thường gặp gần như khớp 4P đã học: thị trường (quy mô, cơ cấu, thị phần); hành vi NTD — người tiêu dùng (thái độ, thói quen, nhân khẩu học); sản phẩm; giá; phân phối; xúc tiến. Lưu ý: nghiên cứu thị trường là một phần của nghiên cứu marketing — nghiên cứu marketing rộng hơn, bao trùm cả 4P; bảng so sánh có trong tài liệu đọc thêm.
Hỏi lớp: “Một nghiên cứu xem khách hàng chấp nhận trả tối đa bao nhiêu cho một ly trà sữa thuộc phạm vi nào?” → giá.
Chuyển ý: Ngoài mục đích và phạm vi, mỗi nghiên cứu còn được xếp loại theo ba tiêu chí.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marketing không phải một phương pháp duy nhất. Chúng ta phân loại theo ba tiêu chí: theo mục tiêu nghiên cứu, theo mức độ chuyên sâu, và theo tính chất nghiên cứu. Ba câu hỏi khác nhau, một nghiên cứu trả lời cả ba — một nghiên cứu cụ thể luôn có một “vị trí” trên cả ba tiêu chí. Cách phân loại khác (địa điểm, tính liên tục) → tài liệu đọc thêm: theo địa điểm thực hiện và theo tính liên tục.
(GV: Đề cương ghi 1.2.1 và 1.2.2 cùng tên “Phân loại theo mục tiêu nghiên cứu”. Đề xuất đặt lại: 1.2.1 Theo mục tiêu nghiên cứu · 1.2.2 Theo mức độ chuyên sâu · 1.2.3 Theo tính chất nghiên cứu. Slide UEF #5 dùng tên cũ (mục tiêu cốt lõi / mục tiêu thiết kế / tính chất dữ liệu); đã đổi theo outline.)
Hỏi lớp: —
Chuyển ý: Bắt đầu với tiêu chí thứ nhất — theo mục tiêu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mục tiêu nghiên cứu, cách chia thứ nhất là xác định vấn đề hay giải quyết vấn đề. Nghiên cứu xác định vấn đề phát hiện những vấn đề chưa hiển hiện nhưng đang tồn tại hoặc sắp xảy ra: tiềm năng thị trường, thị phần, hình ảnh thị trường, đặc điểm thị trường, phân tích bán hàng, dự báo, xu hướng kinh doanh. Nghiên cứu giải quyết vấn đề dùng khi vấn đề đã rõ: phân khúc thị trường, sản phẩm, giá, chiêu thị, phân phối. Nguồn: Malhotra (2019). Ví dụ (giả định): nghiên cứu cho thấy thị phần của một chuỗi trà sữa đang giảm — xác định vấn đề; nghiên cứu mức giá sinh viên chấp nhận để kéo khách trở lại — giải quyết vấn đề.
Hỏi lớp: —
Chuyển ý: Cũng theo mục tiêu nghiên cứu, còn cách chia thứ hai: hàn lâm hay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hàn lâm, còn gọi là cơ bản: mục tiêu là mở rộng lý thuyết, kiểm định mô hình; ứng dụng là đóng góp cho khoa học marketing nói chung; ví dụ “Mô hình tác động của quảng cáo truyền hình đến lòng tin thương hiệu” — quảng cáo truyền hình → lòng tin thương hiệu. Nghiên cứu ứng dụng: mục tiêu là giải quyết vấn đề kinh doanh cụ thể của một doanh nghiệp cụ thể; ứng dụng là hỗ trợ quyết định của nhà quản trị; ví dụ tối ưu ngân sách quảng cáo MXH cho công ty mỹ phẩm X (MXH: mạng xã hội). Nhấn câu cuối: dự án của các bạn trong môn này là nghiên cứu ứng dụng — gắn với một quyết định marketing thật.
Hỏi lớp: —
Chuyển ý: Tiêu chí thứ hai — theo mức độ chuyên sâu — là tiêu chí quan trọng nhất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mức độ chuyên sâu có bốn thiết kế, trả lời bốn kiểu câu hỏi. Khám phá — còn gọi là thăm dò — hỏi “Chuyện gì đang xảy ra?”, dùng khi vấn đề còn mơ hồ. Mô tả hỏi “Ai, cái gì, bao nhiêu?” — cả ở đâu, khi nào — dùng khi đã biết cần đo cái gì. Tương quan hỏi hai yếu tố “Có đi cùng nhau không?”, mạnh đến đâu. Nhân quả hỏi “A có gây ra B không?” — thường làm bằng thử nghiệm, khi cần chứng minh quan hệ nguyên nhân – kết quả trước khi đầu tư lớn. Lưu ý: khám phá không kém khoa học; lỗi là dùng vài cuộc phỏng vấn rồi kết luận cho cả thị trường.
(GV: Đây là phần quan trọng nhất của S3 — đi chậm.)
Hỏi lớp: —
Chuyển ý: Ba ví dụ minh họa, bắt đầu với khám phá.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 từ video bài giảng — cho nghiên cứu khám phá. Một thương hiệu kem thấy doanh số kem mùa hè giảm, không rõ lý do — giảm đột ngột mà không rõ vì sao. Họ đi trò chuyện với khách và chủ cửa hàng, và phát hiện đối thủ kem ít đường: một đối thủ mới vừa tung ra dòng kem ít đường. Nghiên cứu khám phá không cho câu trả lời cuối cùng; điều họ có được là giả thuyết, chưa phải kết luận — để kiểm tra tiếp. Khám phá tạo giả thuyết.
Hỏi lớp: —
Chuyển ý: Khi đã biết cần đo cái gì, ta chuyển sang nghiên cứu mô tả.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từ video cho nghiên cứu mô tả: một ứng dụng giao đồ ăn muốn tăng đơn cuối tuần. Họ khảo sát, và thấy phần lớn người đặt cuối tuần thuộc nhóm 18–30, sinh viên đặt muộn — sinh viên ở thành phố lớn hay đặt muộn. Họ tung chương trình ưu đãi đêm khuya cho sinh viên. Nghiên cứu mô tả: trả lời cái gì, không trả lời vì sao.
(GV: Không đưa con số cụ thể vì không có nguồn.)
Hỏi lớp: —
Chuyển ý: Muốn nói “A gây ra B” thì phải có thử nghiệm có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cho nghiên cứu nhân quả: một shop thời trang trực tuyến cho hai nhóm khách ngẫu nhiên xem hai kiểu ảnh sản phẩm. Nhóm A (ngẫu nhiên) xem áo treo trên móc; nhóm B (ngẫu nhiên) xem người mẫu mặc; rồi so tỷ lệ mua. Hai điều kiện: chia ngẫu nhiên, và chỉ đổi một yếu tố — ở đây là ảnh. Vì vậy khác biệt về tỷ lệ mua có thể quy cho ảnh. Đó là thử nghiệm, thường gọi là A/B testing — cách chuẩn để kết luận nhân quả.
Hỏi lớp: —
Chuyển ý: Còn nếu chỉ thấy hai thứ cùng tăng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Lỗi hiểu thường gặp: thấy hai thứ cùng tăng là kết luận được cái này gây ra cái kia. Tháng chi nhiều cho quảng cáo, doanh thu cũng cao — vậy quảng cáo gây ra doanh thu? Chưa chắc: có thể cả hai cùng tăng vì mùa Tết — mùa lễ Tết. Nghiên cứu tương quan chỉ cho biết hai yếu tố đi cùng nhau; muốn nói nhân quả phải có thử nghiệm kiểm soát được các yếu tố khác. Cùng tăng chưa chắc là nguyên nhân.
Hỏi lớp: “Còn yếu tố nào khác có thể làm cả hai cùng tăng?”
Chuyển ý: Tiêu chí thứ ba — theo tính chất nghiên cứu — chia thành định tính và định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tính chất nghiên cứu: định tính hay định lượng. Mục đích: định tính để hiểu sâu, xây dựng lý thuyết — quy nạp; định lượng để đo lường, kiểm định giả thuyết — suy diễn. Dữ liệu: lời nói, văn bản, hình ảnh, âm thanh, so với con số, tỷ lệ, thống kê. Cỡ mẫu: định tính nhỏ, không đại diện; định lượng lớn, hướng tới đại diện. Phương pháp: phỏng vấn sâu, focus group — phỏng vấn nhóm điển hình — và netnography; định lượng là khảo sát, thử nghiệm, panel — nhóm cố định. Kết hợp cả hai = mixed methods: định tính trước, định lượng sau. Buổi 5 nhóm chọn hướng; hôm nay chỉ cần thấy khác nhau ở đâu.
Hỏi lớp: —
Chuyển ý: Lý thuyết đủ rồi — thử dùng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Bây giờ mình thử dùng ngay ba tiêu chí vừa học. Tôi đọc 6 tình huống; mỗi tình huống, các bạn có 30 giây bàn với bạn bên cạnh, rồi khi tôi đếm 3–2–1 thì giơ tay: 1 ngón là khám phá, 2 ngón là mô tả, 3 ngón là tương quan, 4 ngón là nhân quả. Cả lớp giơ cùng lúc, không nhìn bạn khác. Mỗi lần bấm hiện một dòng: (1) Doanh số kem giảm không rõ lý do: đi trò chuyện; (2) Giao đồ ăn: ai đặt cuối tuần, giờ đặt, số tiền; (3) Chia ngẫu nhiên: ảnh áo treo móc vs người mẫu; (4) Quảng cáo Facebook và doanh thu biến động cùng chiều?; (5) Giảng viên kiểm định mô hình niềm tin → ý định mua; (6) Phỏng vấn sâu 12 khách trung thành mỹ phẩm Việt.
(GV: Kịch bản trong W1_activity_phan_loai_nhanh.md. Mỗi tình huống: đọc → 30 giây thảo luận → 3–2–1 giơ tay → nói đáp án trong 1 câu. Ít bạn giơ tay: nhắc “sai cũng không sao — đây là luyện tập”, giảng viên giơ tay làm mẫu. Lớp gần như đúng hết 3 tình huống đầu: đọc nhanh 4–6. Lớp chia rẽ ở hầu hết tình huống: dừng sau tình huống 3, nhắc lại bảng 4 loại thiết kế. Chạy quá giờ: bỏ tình huống 5, giữ 3 và 4.)
Hỏi lớp: Đọc to từng tình huống (nguyên văn phiếu hoạt động): (1) Một thương hiệu kem thấy doanh số mùa hè giảm đột ngột mà không rõ lý do. Họ đi trò chuyện với khách hàng và chủ các cửa hàng bán lẻ để tìm hiểu chuyện gì đang xảy ra. (2) Một ứng dụng giao đồ ăn muốn biết ai là người đặt hàng vào cuối tuần: độ tuổi, giờ đặt, số tiền mỗi đơn. (3) Một shop thời trang trực tuyến chia ngẫu nhiên khách truy cập thành hai nhóm: nhóm A xem ảnh áo treo trên móc, nhóm B xem ảnh người mẫu mặc. Sau hai tuần, so sánh tỷ lệ mua của hai nhóm. (4) Một chuỗi cà phê muốn biết chi phí quảng cáo Facebook hằng tháng và doanh thu hằng tháng có biến động cùng chiều với nhau không, và mức độ ra sao. (5) Một nhóm giảng viên đại học kiểm định mô hình về ảnh hưởng của niềm tin đến ý định mua hàng trực tuyến của người tiêu dùng trẻ, để đóng góp cho lý thuyết hành vi người tiêu dùng. (6) Một thương hiệu mỹ phẩm nội địa phỏng vấn sâu 12 khách hàng trung thành để hiểu vì sao họ chọn mỹ phẩm Việt thay vì hàng ngoại. Sau đó hỏi thêm: định tính hay định lượng? hàn lâm hay ứng dụng?
Chuyển ý: Giờ xem đáp án và dấu hiệu nhận biết từng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(1) Khám phá, định tính, ứng dụng — “không rõ lý do”, đi trò chuyện để tìm hiểu. (2) Mô tả, định lượng, ứng dụng — ai, khi nào, bao nhiêu. (3) Nhân quả, định lượng, ứng dụng — chia ngẫu nhiên, chỉ thay đổi một yếu tố, so sánh kết quả. (4) Tương quan, định lượng, ứng dụng — “biến động cùng chiều”, “mức độ”, không có thử nghiệm. (5) Tương quan (kiểm định mô hình), định lượng, hàn lâm — đóng góp cho lý thuyết, không gắn với một doanh nghiệp. (6) Khám phá, định tính, ứng dụng — phỏng vấn sâu, cỡ mẫu nhỏ, “hiểu vì sao”. Thiết kế, dữ liệu, mục tiêu — ba cột ứng với ba tiêu chí.
(GV: Hiện slide sau khi lớp đã trả lời. Chữa kỹ 2 tình huống lớp chia rẽ nhiều nhất, chắc chắn có tình huống 3 và 4. 3 và 4 hay bị nhầm — câu chốt: có thể cả hai cùng tăng vì mùa Tết; chỉ khi chia ngẫu nhiên và chỉ đổi một yếu tố như tình huống 3 mới nói được nhân quả. Tình huống 5: chấp nhận “tương quan”, nhấn điểm chính là hàn lâm. Tình huống 6: 12 người, hỏi sâu “vì sao” → khám phá, định tính; không dùng để nói “bao nhiêu phần trăm khách hàng”.)
Hỏi lớp: “Vì sao tình huống 3 cho phép nói ‘ảnh người mẫu làm tăng tỷ lệ mua’, còn tình huống 4 thì không?” · “Tình huống nào dễ nhầm nhất? Dấu hiệu nào giúp phân biệt?”
Chuyển ý: Nghỉ giải lao 15 phút trước khi đi vào tiến trình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15 phút — phút 48 đến 63 của buổi học. Quay lại lúc: [cần giảng viên xác nhận] — giờ cụ thể giảng viên điền. Sau giải lao, chúng ta đi qua tiến trình sáu bước của một nghiên cứu, đạo đức nghiên cứu, hệ thống thông tin marketing, và ai làm, ai dùng nghiên cứu.
(GV: Outline ghi “Quay lại lúc …” [giảng viên điền giờ].)
Hỏi lớp: —
Chuyển ý: Sau giải lao: một nghiên cứu diễn ra như thế nào, từ đầu đến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Mọi nghiên cứu marketing tiêu chuẩn đều đi qua một tiến trình tuần tự gồm 6 bước: xác định vấn đề nghiên cứu; xác định mục tiêu nghiên cứu; xây dựng mô hình nghiên cứu; thu thập dữ liệu; chuẩn bị và phân tích dữ liệu; trình bày kết quả. Tóm gọn: vấn đề, mục tiêu, mô hình, thu thập, chuẩn bị &amp; phân tích, trình bày. Thay vì định nghĩa từng bước, mình đi qua một ví dụ (giả định): chuỗi trà sữa gần trường đại học.
(GV: [BOARD: vẽ 6 ô trống lên bảng, điền dần theo ví dụ trà sữa; mỗi bước hỏi lớp trước khi đưa đáp án.] Một số video gộp bước 2–3 thành “lập kế hoạch nghiên cứu” và thêm bước “ra quyết định / hành động”; có thể nói thêm: sau bước 6 là quyết định của nhà quản trị. Bài giảng Văn Lang chia 4 giai đoạn với 10 bước con — nếu sinh viên hỏi: bảng đối chiếu trong tài liệu đọc thêm; trên lớp chỉ dùng 6 bước.)
Hỏi lớp: —
Chuyển ý: Bước 1 bắt đầu từ câu hỏi của giám đốc chuỗi trà sữa.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1 — xác định vấn đề. Tình huống (giả định): doanh số cửa hàng gần trường giảm — giám đốc một chuỗi trà sữa thấy doanh số ở các cửa hàng gần trường đại học giảm rõ rệt so với cùng kỳ năm trước. Câu hỏi của giám đốc: “Có nên giảm giá?” Đó là vấn đề quản trị — cần làm gì? Nhà nghiên cứu phải chuyển nó thành vấn đề nghiên cứu — cần biết gì? — “Vì sao sinh viên mua ít đi?”, hay theo bài giảng: “Những yếu tố nào khiến sinh viên mua ít hơn?”. Chưa nghiên cứu thì chưa biết nguyên nhân nào đúng.
(GV: Ghi rõ đây là tình huống giả định.)
Hỏi lớp: “Còn những nguyên nhân nào có thể khiến doanh số giảm?” — để lớp đưa ra 4–5 khả năng: giá, chất lượng, đối thủ, kỳ nghỉ, dịch vụ giao hàng…
Chuyển ý: Làm sao xác định đúng vấn đề — và vì sao bước này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Để chuyển vấn đề quản trị thành vấn đề nghiên cứu, có bốn cách: thảo luận với người ra quyết định; hỏi chuyên gia — hỏi ý kiến người trong ngành; phân tích dữ liệu thứ cấp — xem dữ liệu bán hàng có sẵn; và nghiên cứu định tính thăm dò — có thể phỏng vấn thử vài khách hàng. Đây là bước quan trọng nhất: xác định sai vấn đề thì mọi bước sau đều đi sai hướng. Nếu giám đốc cứ thế giảm giá mà lý do thật là một đối thủ mới mở ngay cổng trường với không gian ngồi học miễn phí, giảm giá chỉ làm mất lợi nhuận.
(GV: Slide UEF #10 có ô “Tiếp cận khách hàng” lặp 2 lần — đã bỏ; giữ đúng 4 cách theo outline.)
Hỏi lớp: —
Chuyển ý: Khi vấn đề đã rõ, bước 2 và 3 quyết định mình sẽ đo cái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2 — mục tiêu nghiên cứu: nghiên cứu này cần biết những gì? Với ví dụ trà sữa (giả định): một, lý do sinh viên giảm mua; hai, so sánh với đối thủ chính — sinh viên đánh giá chuỗi so với đối thủ thế nào; ba, đề xuất giải pháp. Bước 3 — mô hình nghiên cứu: biến phụ thuộc là tần suất mua của sinh viên; biến độc lập có thể là giá, chất lượng đồ uống, khuyến mãi, không gian, tiện lợi khi đặt hàng. Mô hình cho biết mình sẽ đo cái gì. Biến độc lập, biến phụ thuộc sẽ học kỹ ở Buổi 6 và 9 — hôm nay chỉ cần thấy hình dạng.
Hỏi lớp: —
Chuyển ý: Có mô hình rồi, ba bước còn lại biến dữ liệu thành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4 — thu thập: có thể kết hợp dữ liệu thứ cấp (dữ liệu bán hàng nội bộ), phỏng vấn ~10 SV — phỏng vấn sâu khoảng 10 sinh viên — rồi khảo sát ~200 SV, khoảng 200 sinh viên. Công cụ phải thiết kế cẩn thận, người thu thập được hướng dẫn kỹ để tránh sai lệch. Bước 5 — chuẩn bị &amp; phân tích: hiệu chỉnh phiếu, mã hóa câu trả lời thành số, nhập &amp; làm sạch, rồi phân tích. Bước 6 — trình bày: báo cáo khách quan, dễ hiểu, có đề xuất hành động. Giám đốc không đọc dữ liệu thô — họ cần câu trả lời cho câu hỏi ban đầu. Ví dụ trà sữa vẫn là giả định.
(GV: Slide UEF #12 + #13: đã sửa tiêu đề lặp chữ “Phân Tích Tích”; bỏ chữ “hồi quy” trên slide UEF #12 — vượt phạm vi học phần (chỉ là điểm cộng).)
Hỏi lớp: —
Chuyển ý: Làm sai ở các bước này dẫn đến ba lỗi kinh điển.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kinh điển, từ các video bài giảng. Một, hỏi sai đối tượng — muốn biết sở thích thời trang của giới trẻ mà đi hỏi người trên 40 tuổi; bán điện thoại giá rẻ mà hỏi người giàu, như tình huống mở đầu buổi học. Hai, không thiết kế trước — in 1.000 phiếu rồi mới thấy câu hỏi sai: mất tiền, mất thời gian, phải làm lại. Ba, quyết định theo cảm tính — dùng giả định hoặc ý kiến cá nhân thay cho dữ liệu. Và một hiểu lầm: mẫu càng lớn thì kết quả càng đúng. Không — mẫu lớn ≠ mẫu đúng. Hỏi 5.000 người giàu về điện thoại giá rẻ vẫn sai. Buổi 8 sẽ học kỹ về chọn mẫu.
Hỏi lớp: —
Chuyển ý: Tránh được những lỗi này đòi hỏi một cách làm việc riêng — khoa học, hoài nghi và có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đặc điểm của hoạt động nghiên cứu marketing: khoa học — dùng phương pháp khoa học; sáng tạo — mỗi vấn đề cần một thiết kế phù hợp; nhiều phương pháp; logic — từ vấn đề đến kết luận phải nối liền; hoài nghi — luôn hỏi dữ liệu có thật sự nói điều đó không; và đạo đức. Các bạn sắp đi hỏi người thật — bốn nguyên tắc đạo đức khi khảo sát này áp dụng cho dự án của các bạn: tự nguyện &amp; được thông tin — biết nghiên cứu để làm gì, được quyền từ chối; ẩn danh &amp; bảo mật; không đội lốt nghiên cứu — không dùng “khảo sát” để bán hàng; trung thực khi báo cáo — không bịa, không sửa, không chọn lọc dữ liệu cho đẹp.
(GV: [VERIFY: chuẩn ICC/ESOMAR; quy định của trường] — không hiển thị trên slide. Bài giảng ghi chú: nếu muốn dẫn chuẩn quốc tế, đối chiếu Bộ quy tắc ICC/ESOMAR; trường không có quy định riêng về phiếu đồng ý khảo sát (giảng viên xác nhận).)
Hỏi lớp: —
Chuyển ý: Một nghiên cứu như ví dụ trà sữa là một dự án — có bắt đầu, có kết thúc; nhưng doanh nghiệp cần thông tin mỗi ngày, vậy nghiên cứu marketing nằm ở đâu trong dòng thông tin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Hệ thống thông tin marketing (MIS) tích hợp con người, thiết bị và quy trình để thu thập, phân tích và phân phối thông tin chính xác, kịp thời, hỗ trợ nhà quản lý ra quyết định. Bốn bộ phận. Báo cáo nội bộ — nhìn vào trong: đơn hàng, doanh số, tồn kho, kế toán. Hệ thống thu thập thông tin marketing bên ngoài — nhìn ra ngoài: theo dõi liên tục đối thủ, xu hướng, môi trường, qua báo chí, nhân viên bán hàng, nhà phân phối, báo cáo ngành — thu thập công khai, hợp pháp. MDSS — hệ thống hỗ trợ ra quyết định — là công cụ ra quyết định, ví dụ mô hình dự báo doanh số. Nghiên cứu — dự án: bài toán cụ thể, tại một thời điểm. Báo cáo nội bộ &amp; thông tin bên ngoài: liên tục; mỗi dự án nghiên cứu nằm rải trên dòng đó. Báo cáo nội bộ cho biết doanh số giảm; chỉ nghiên cứu cho biết vì sao.
(GV: MDSS chỉ nêu 1 câu (slide UEF #16 — MDSS chi tiết — có thể bỏ nếu thiếu giờ). Đối chiếu đề cương: mục 1.4.2 gọi bộ phận này là "Hệ thống tình báo Marketing" (dịch từ marketing intelligence) — nói 1 câu để sinh viên khớp với đề cương: "Đề cương gọi là tình báo marketing; lớp mình gọi là thu thập thông tin bên ngoài cho đúng bản chất: công khai, hợp pháp." Ví dụ thu thập thông tin bên ngoài từ video: các ứng dụng giao đồ ăn theo dõi khuyến mãi của nhau trước khi tung ưu đãi.)
Hỏi lớp: —
Chuyển ý: Cuối cùng: ai làm nghiên cứu, và ai dùng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Nguồn cung cấp: bên trong, bên ngoài. Người thực hiện, mỗi loại có ưu và nhược. Nội bộ — ưu: hiểu doanh nghiệp, chi phí thấp, bảo mật; nhược: dễ chủ quan, thiếu chuyên môn sâu. Công ty chuyên nghiệp — ưu: chuyên môn cao, khách quan, có công nghệ và dữ liệu quy mô lớn; nhược: chi phí cao. Cơ quan nhà nước, tổ chức phi chính phủ — ưu: vĩ mô, thường miễn phí — dữ liệu vĩ mô, tin cậy; nhược: không theo nhu cầu riêng của doanh nghiệp. Người sử dụng: nhà quản lý nội bộ — cần hiểu nghiên cứu để đặt đúng câu hỏi; bên mua thông tin: 6 tiêu chí — uy tín, phù hợp, cập nhật, phương pháp, tốc độ, chi phí. Người dùng giỏi biết nghiên cứu nào đáng tin.
(GV: [VERIFY: tên cơ quan thống kê hiện hành; GfK thuộc NielsenIQ] — không hiển thị trên slide. Bài giảng: “Tổng cục Thống kê” từ 2025 đã tổ chức lại thành Cục Thống kê thuộc Bộ Tài chính; ví dụ công ty chuyên nghiệp: Nielsen, Kantar, Ipsos, GfK. Slide UEF #18: đã bỏ “Tổng cục Thống kê”. Nếu trễ giờ, chỉ dùng slide này 2 phút.)
Hỏi lớp: —
Chuyển ý: Kiểm tra nhanh xem cả lớp đã nắm phần lý thuyết hôm nay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kiểm tra nhanh. Một: bước nào quan trọng nhất? Vì sao? Mong đợi: bước 1 — xác định sai vấn đề thì cả nghiên cứu đi sai hướng. Hai: nghiên cứu marketing khác thu thập thông tin bên ngoài ở điểm nào? Mong đợi: nghiên cứu trả lời câu hỏi cụ thể, tại một thời điểm, dạng dự án; thu thập thông tin bên ngoài là theo dõi liên tục môi trường bên ngoài. Ba: doanh nghiệp nhỏ nên tự làm hay thuê công ty nghiên cứu? Mong đợi: tùy — tự làm thì rẻ, hiểu doanh nghiệp nhưng dễ chủ quan; thuê thì chuyên nghiệp, khách quan nhưng tốn kém. Câu trả lời tốt nêu được cả hai mặt.
(GV: Nếu câu 1 hoặc 2 nhiều bạn trả lời sai: dành 1 phút nhắc lại, ghi vào ghi chú sau buổi để ôn ở đầu Buổi 2.)
Hỏi lớp: Chỉ định phát biểu — mỗi câu 1 bạn, gọi ngẫu nhiên theo danh sách.
Chuyển ý: Giờ đến lượt các nhóm áp dụng vào đề tài của chính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45 phút tới là thời gian của nhóm; mỗi nhóm làm 4 chặng trên phiếu. Chặng 1, 10 phút: lập nhóm &amp; chọn lĩnh vực — nhóm 2–3 bạn, chọn lĩnh vực mà các bạn hỏi được người thật, vì cuối kỳ phải thu dữ liệu; ghi một hiện tượng tích cực hoặc tiêu cực. Chặng 2, 10 phút: 3 câu hỏi quyết định — dạng “Có nên…?” hoặc “Nên chọn… hay…?”. Chặng 3, 15 phút: chuyển thành vấn đề nghiên cứu, phân loại, phác 6 bước. Chặng 4, 10 phút: 4–5 nhóm chia sẻ 1 phút. Sản phẩm: phiếu nhóm → hoàn thiện thành M1. Tôi sẽ đi từng nhóm.
(GV: Kịch bản trong W1_activity_xuong_de_tai.md. Để slide này trên màn hình suốt 45 phút. Ai chưa có nhóm có 3 phút; ai còn lẻ giơ tay để ghép. Câu chốt: “Một vấn đề nghiên cứu tốt trả lời được câu hỏi: giám đốc sẽ dùng kết quả này để quyết định điều gì?”)
Hỏi lớp: Thảo luận chung: “Vì sao ‘Có nên giảm giá không?’ chưa phải là một vấn đề nghiên cứu?” · “Đề tài nào trong lớp khó tiếp cận người trả lời nhất — và nhóm đó nên điều chỉnh thế nào?”
Chuyển ý: Trước khi về, mỗi bạn tự kiểm tra mình đã hiểu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về, mỗi bạn viết ra hai dòng trên phiếu ra về: một điều hôm nay mình đã hiểu rõ, và một điều mình vẫn còn mơ hồ. Không ghi tên cũng được. Phiếu là một tờ giấy nhỏ hoặc trang cuối phiếu hoạt động. Tôi sẽ thu lại, đọc trước Buổi 2, và mở đầu Buổi 2 bằng 2–3 “điều còn mơ hồ” nhiều nhất.
(GV: Phát phiếu ra về trước khi nói. Thu phiếu cuối giờ.)
Hỏi lớp: —
Chuyển ý: Và đây là bài tập cho tuần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tập về nhà — M1 · Phiếu đăng ký đề tài sơ bộ. Nhóm · 2,5% điểm học phần. Hoàn thiện phiếu nhóm đã làm trên lớp, nộp LMS trước Buổi 2. Hạn nộp: [cần giảng viên xác nhận] — ngày giờ cụ thể sẽ thông báo. Đề bài và tiêu chí chấm có trong phiếu M1. Tự học: tài liệu đọc thêm Bài 1. Buổi 2: mỗi nhóm sẽ đi tìm tài liệu học thuật cho đề tài vừa đăng ký — và học cách phân biệt một nguồn đáng tin với một bài viết trên mạng. Mang máy tính.
(GV: [NEEDS PROFESSOR INPUT: ngày cụ thể và quy định nộp trễ] (outline: [giảng viên điền hạn]). Phiếu M1 còn mở: tên mục nộp bài trên LMS; quy định nộp trễ; mốc cho phép đổi đề tài.)
Hỏi lớp: —
Chuyển ý: Câu nối: “Tuần sau mỗi nhóm đi tìm tài liệu cho chính đề tài vừa đăng ký.” — slide cuối là danh mục tài liệu tham khảo của bài, dùng làm mẫu APA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giảng. Slide liệt kê 4 tài liệu tham khảo theo APA 7, dùng làm ví dụ mẫu APA 7 khi nhắc sinh viên về Buổi 2–3: American Marketing Association. (2017). Definitions of marketing. https://www.ama.org/the-definition-of-marketing-what-is-marketing/ — Kotler, P., &amp; Keller, K. L. (2012). Marketing management (14th ed.). Pearson Education. — Malhotra, N. K. (2019). Marketing research: An applied orientation (7th ed.). Pearson. — Nguyễn, Đ. T., &amp; Nguyễn, T. M. T. (2015). Giáo trình nghiên cứu thị trường. Nhà xuất bản Kinh tế TP. Hồ Chí Minh.
Hỏi lớp: —
Chuyển ý: — (slide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4160520"/>
            <a:ext cx="7863840" cy="1463040"/>
          </a:xfrm>
          <a:prstGeom prst="rect">
            <a:avLst/>
          </a:prstGeom>
          <a:noFill/>
          <a:ln/>
        </p:spPr>
        <p:txBody>
          <a:bodyPr wrap="square" rtlCol="0"/>
          <a:lstStyle>
            <a:lvl1pPr algn="l" indent="0" marL="0">
              <a:buNone/>
              <a:defRPr lang="en-US" sz="2800" dirty="0">
                <a:solidFill>
                  <a:schemeClr val="tx2"/>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3.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lIns="0" tIns="0" rIns="0" bIns="0" rtlCol="0" anchor="b"/>
          <a:lstStyle/>
          <a:p>
            <a:pPr algn="l" indent="0" marL="0">
              <a:buNone/>
            </a:pPr>
            <a:r>
              <a:rPr lang="en-US" sz="4800" b="1" dirty="0">
                <a:solidFill>
                  <a:schemeClr val="tx1"/>
                </a:solidFill>
              </a:rPr>
              <a:t>Bài 1: Tổng quan về nghiên cứu Marketing</a:t>
            </a:r>
            <a:endParaRPr lang="en-US" sz="4800" dirty="0"/>
          </a:p>
        </p:txBody>
      </p:sp>
      <p:sp>
        <p:nvSpPr>
          <p:cNvPr id="4" name="Text 0"/>
          <p:cNvSpPr/>
          <p:nvPr>
            <p:ph idx="101" type="body" hasCustomPrompt="1"/>
          </p:nvPr>
        </p:nvSpPr>
        <p:spPr>
          <a:xfrm>
            <a:off x="548640" y="4160520"/>
            <a:ext cx="7863840" cy="1463040"/>
          </a:xfrm>
          <a:prstGeom prst="rect">
            <a:avLst/>
          </a:prstGeom>
          <a:noFill/>
          <a:ln/>
        </p:spPr>
        <p:txBody>
          <a:bodyPr wrap="square" lIns="0" tIns="0" rIns="0" bIns="0" rtlCol="0" anchor="t"/>
          <a:lstStyle/>
          <a:p>
            <a:pPr algn="l" indent="0" marL="0">
              <a:buNone/>
            </a:pPr>
            <a:r>
              <a:rPr lang="en-US" sz="2800" dirty="0">
                <a:solidFill>
                  <a:schemeClr val="tx2"/>
                </a:solidFill>
              </a:rPr>
              <a:t>MKT1107 Nghiên cứu Marketing · Buổi 1</a:t>
            </a:r>
            <a:endParaRPr lang="en-US" sz="2800" dirty="0"/>
          </a:p>
          <a:p>
            <a:pPr algn="l" indent="0" marL="0">
              <a:buNone/>
            </a:pPr>
            <a:r>
              <a:rPr lang="en-US" sz="2800" dirty="0">
                <a:solidFill>
                  <a:schemeClr val="tx2"/>
                </a:solidFill>
              </a:rPr>
              <a:t>Giảng viên: Đoàn Nguyễn Bảo Quyên</a:t>
            </a:r>
            <a:endParaRPr lang="en-US" sz="2800" dirty="0"/>
          </a:p>
        </p:txBody>
      </p:sp>
      <p:sp>
        <p:nvSpPr>
          <p:cNvPr id="5" name="dot-1"/>
          <p:cNvSpPr/>
          <p:nvPr/>
        </p:nvSpPr>
        <p:spPr>
          <a:xfrm>
            <a:off x="9052560" y="1188720"/>
            <a:ext cx="1371600" cy="1371600"/>
          </a:xfrm>
          <a:prstGeom prst="ellipse">
            <a:avLst/>
          </a:prstGeom>
          <a:solidFill>
            <a:schemeClr val="accent1"/>
          </a:solidFill>
          <a:ln/>
        </p:spPr>
      </p:sp>
      <p:sp>
        <p:nvSpPr>
          <p:cNvPr id="6" name="dot-2"/>
          <p:cNvSpPr/>
          <p:nvPr/>
        </p:nvSpPr>
        <p:spPr>
          <a:xfrm>
            <a:off x="10332720" y="2011680"/>
            <a:ext cx="914400" cy="914400"/>
          </a:xfrm>
          <a:prstGeom prst="ellipse">
            <a:avLst/>
          </a:prstGeom>
          <a:solidFill>
            <a:schemeClr val="accent2"/>
          </a:solidFill>
          <a:ln/>
        </p:spPr>
      </p:sp>
      <p:sp>
        <p:nvSpPr>
          <p:cNvPr id="7" name="dot-3"/>
          <p:cNvSpPr/>
          <p:nvPr/>
        </p:nvSpPr>
        <p:spPr>
          <a:xfrm>
            <a:off x="9326880" y="2834640"/>
            <a:ext cx="1828800" cy="1828800"/>
          </a:xfrm>
          <a:prstGeom prst="ellipse">
            <a:avLst/>
          </a:prstGeom>
          <a:solidFill>
            <a:schemeClr val="accent3"/>
          </a:solidFill>
          <a:ln/>
        </p:spPr>
      </p:sp>
      <p:sp>
        <p:nvSpPr>
          <p:cNvPr id="8" name="dot-4"/>
          <p:cNvSpPr/>
          <p:nvPr/>
        </p:nvSpPr>
        <p:spPr>
          <a:xfrm>
            <a:off x="10972800" y="3291840"/>
            <a:ext cx="640080" cy="640080"/>
          </a:xfrm>
          <a:prstGeom prst="ellipse">
            <a:avLst/>
          </a:prstGeom>
          <a:solidFill>
            <a:schemeClr val="accent4"/>
          </a:solidFill>
          <a:ln/>
        </p:spPr>
      </p:sp>
      <p:sp>
        <p:nvSpPr>
          <p:cNvPr id="9" name="dot-5"/>
          <p:cNvSpPr/>
          <p:nvPr/>
        </p:nvSpPr>
        <p:spPr>
          <a:xfrm>
            <a:off x="8961120" y="4846320"/>
            <a:ext cx="822960" cy="822960"/>
          </a:xfrm>
          <a:prstGeom prst="ellipse">
            <a:avLst/>
          </a:prstGeom>
          <a:solidFill>
            <a:schemeClr val="accent5"/>
          </a:solidFill>
          <a:ln/>
        </p:spPr>
      </p:sp>
      <p:sp>
        <p:nvSpPr>
          <p:cNvPr id="10" name="dot-6"/>
          <p:cNvSpPr/>
          <p:nvPr/>
        </p:nvSpPr>
        <p:spPr>
          <a:xfrm>
            <a:off x="10149840" y="4572000"/>
            <a:ext cx="1188720" cy="1188720"/>
          </a:xfrm>
          <a:prstGeom prst="ellipse">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Hỏi 1.000 khách hàng giàu về điện thoại giá rẻ: kết quả sai ở đâu?</a:t>
            </a:r>
            <a:endParaRPr lang="en-US" sz="3000" dirty="0"/>
          </a:p>
        </p:txBody>
      </p:sp>
      <p:sp>
        <p:nvSpPr>
          <p:cNvPr id="4" name="FIG" descr="Minh họa một cuộc khảo sát hỏi khách hàng giàu về điện thoại giá rẻ."/>
          <p:cNvSpPr/>
          <p:nvPr/>
        </p:nvSpPr>
        <p:spPr>
          <a:xfrm>
            <a:off x="548640" y="1828800"/>
            <a:ext cx="4846320" cy="2743200"/>
          </a:xfrm>
          <a:prstGeom prst="rect">
            <a:avLst/>
          </a:prstGeom>
          <a:solidFill>
            <a:schemeClr val="bg1">
              <a:alpha val="0"/>
            </a:schemeClr>
          </a:solidFill>
          <a:ln/>
        </p:spPr>
      </p:sp>
      <p:sp>
        <p:nvSpPr>
          <p:cNvPr id="5" name="icon-bg-7"/>
          <p:cNvSpPr/>
          <p:nvPr/>
        </p:nvSpPr>
        <p:spPr>
          <a:xfrm>
            <a:off x="822960" y="2103120"/>
            <a:ext cx="1737360" cy="1737360"/>
          </a:xfrm>
          <a:prstGeom prst="ellipse">
            <a:avLst/>
          </a:prstGeom>
          <a:solidFill>
            <a:schemeClr val="accent2"/>
          </a:solidFill>
          <a:ln/>
        </p:spPr>
      </p:sp>
      <p:pic>
        <p:nvPicPr>
          <p:cNvPr id="6" name="icon-8"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257300" y="2537460"/>
            <a:ext cx="868680" cy="868680"/>
          </a:xfrm>
          <a:prstGeom prst="rect">
            <a:avLst/>
          </a:prstGeom>
        </p:spPr>
      </p:pic>
      <p:sp>
        <p:nvSpPr>
          <p:cNvPr id="7" name="text-9"/>
          <p:cNvSpPr txBox="1"/>
          <p:nvPr/>
        </p:nvSpPr>
        <p:spPr>
          <a:xfrm>
            <a:off x="54864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2"/>
                </a:solidFill>
              </a:rPr>
              <a:t>Giá rẻ</a:t>
            </a:r>
            <a:endParaRPr lang="en-US" sz="2400" dirty="0"/>
          </a:p>
        </p:txBody>
      </p:sp>
      <p:sp>
        <p:nvSpPr>
          <p:cNvPr id="8" name="text-10"/>
          <p:cNvSpPr txBox="1"/>
          <p:nvPr/>
        </p:nvSpPr>
        <p:spPr>
          <a:xfrm>
            <a:off x="2651760" y="2606040"/>
            <a:ext cx="822960" cy="731520"/>
          </a:xfrm>
          <a:prstGeom prst="rect">
            <a:avLst/>
          </a:prstGeom>
          <a:noFill/>
          <a:ln/>
        </p:spPr>
        <p:txBody>
          <a:bodyPr wrap="square" lIns="0" tIns="0" rIns="0" bIns="0" rtlCol="0" anchor="ctr"/>
          <a:lstStyle/>
          <a:p>
            <a:pPr algn="ctr" indent="0" marL="0">
              <a:buNone/>
            </a:pPr>
            <a:r>
              <a:rPr lang="en-US" sz="3200" b="1" dirty="0">
                <a:solidFill>
                  <a:schemeClr val="tx2"/>
                </a:solidFill>
              </a:rPr>
              <a:t>vs</a:t>
            </a:r>
            <a:endParaRPr lang="en-US" sz="3200" dirty="0"/>
          </a:p>
        </p:txBody>
      </p:sp>
      <p:sp>
        <p:nvSpPr>
          <p:cNvPr id="9" name="icon-bg-11"/>
          <p:cNvSpPr/>
          <p:nvPr/>
        </p:nvSpPr>
        <p:spPr>
          <a:xfrm>
            <a:off x="3474720" y="2103120"/>
            <a:ext cx="1737360" cy="1737360"/>
          </a:xfrm>
          <a:prstGeom prst="ellipse">
            <a:avLst/>
          </a:prstGeom>
          <a:solidFill>
            <a:schemeClr val="accent3"/>
          </a:solidFill>
          <a:ln/>
        </p:spPr>
      </p:sp>
      <p:pic>
        <p:nvPicPr>
          <p:cNvPr id="10" name="icon-1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909060" y="2537460"/>
            <a:ext cx="868680" cy="868680"/>
          </a:xfrm>
          <a:prstGeom prst="rect">
            <a:avLst/>
          </a:prstGeom>
        </p:spPr>
      </p:pic>
      <p:sp>
        <p:nvSpPr>
          <p:cNvPr id="11" name="text-13"/>
          <p:cNvSpPr txBox="1"/>
          <p:nvPr/>
        </p:nvSpPr>
        <p:spPr>
          <a:xfrm>
            <a:off x="320040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3"/>
                </a:solidFill>
              </a:rPr>
              <a:t>Khách giàu</a:t>
            </a:r>
            <a:endParaRPr lang="en-US" sz="2400" dirty="0"/>
          </a:p>
        </p:txBody>
      </p:sp>
      <p:sp>
        <p:nvSpPr>
          <p:cNvPr id="12" name="dot-14"/>
          <p:cNvSpPr/>
          <p:nvPr/>
        </p:nvSpPr>
        <p:spPr>
          <a:xfrm>
            <a:off x="5943600" y="1783080"/>
            <a:ext cx="640080" cy="640080"/>
          </a:xfrm>
          <a:prstGeom prst="ellipse">
            <a:avLst/>
          </a:prstGeom>
          <a:solidFill>
            <a:schemeClr val="accent5"/>
          </a:solidFill>
          <a:ln/>
        </p:spPr>
      </p:sp>
      <p:sp>
        <p:nvSpPr>
          <p:cNvPr id="13" name="text-15"/>
          <p:cNvSpPr txBox="1"/>
          <p:nvPr/>
        </p:nvSpPr>
        <p:spPr>
          <a:xfrm>
            <a:off x="5943600" y="17830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4" name="text-16"/>
          <p:cNvSpPr txBox="1"/>
          <p:nvPr/>
        </p:nvSpPr>
        <p:spPr>
          <a:xfrm>
            <a:off x="6766560" y="1783080"/>
            <a:ext cx="4873752" cy="640080"/>
          </a:xfrm>
          <a:prstGeom prst="rect">
            <a:avLst/>
          </a:prstGeom>
          <a:noFill/>
          <a:ln/>
        </p:spPr>
        <p:txBody>
          <a:bodyPr wrap="square" lIns="0" tIns="0" rIns="0" bIns="0" rtlCol="0" anchor="ctr"/>
          <a:lstStyle/>
          <a:p>
            <a:pPr indent="0" marL="0">
              <a:buNone/>
            </a:pPr>
            <a:r>
              <a:rPr lang="en-US" sz="2600" dirty="0">
                <a:solidFill>
                  <a:schemeClr val="tx1"/>
                </a:solidFill>
              </a:rPr>
              <a:t>Hãng điện thoại sắp bán dòng giá rẻ</a:t>
            </a:r>
            <a:endParaRPr lang="en-US" sz="2600" dirty="0"/>
          </a:p>
        </p:txBody>
      </p:sp>
      <p:sp>
        <p:nvSpPr>
          <p:cNvPr id="15" name="dot-17"/>
          <p:cNvSpPr/>
          <p:nvPr/>
        </p:nvSpPr>
        <p:spPr>
          <a:xfrm>
            <a:off x="5943600" y="2743200"/>
            <a:ext cx="640080" cy="640080"/>
          </a:xfrm>
          <a:prstGeom prst="ellipse">
            <a:avLst/>
          </a:prstGeom>
          <a:solidFill>
            <a:schemeClr val="accent4"/>
          </a:solidFill>
          <a:ln/>
        </p:spPr>
      </p:sp>
      <p:sp>
        <p:nvSpPr>
          <p:cNvPr id="16" name="text-18"/>
          <p:cNvSpPr txBox="1"/>
          <p:nvPr/>
        </p:nvSpPr>
        <p:spPr>
          <a:xfrm>
            <a:off x="5943600" y="274320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7" name="text-19"/>
          <p:cNvSpPr txBox="1"/>
          <p:nvPr/>
        </p:nvSpPr>
        <p:spPr>
          <a:xfrm>
            <a:off x="6766560" y="2743200"/>
            <a:ext cx="4873752" cy="640080"/>
          </a:xfrm>
          <a:prstGeom prst="rect">
            <a:avLst/>
          </a:prstGeom>
          <a:noFill/>
          <a:ln/>
        </p:spPr>
        <p:txBody>
          <a:bodyPr wrap="square" lIns="0" tIns="0" rIns="0" bIns="0" rtlCol="0" anchor="ctr"/>
          <a:lstStyle/>
          <a:p>
            <a:pPr indent="0" marL="0">
              <a:buNone/>
            </a:pPr>
            <a:r>
              <a:rPr lang="en-US" sz="2600" dirty="0">
                <a:solidFill>
                  <a:schemeClr val="tx1"/>
                </a:solidFill>
              </a:rPr>
              <a:t>Khảo sát khách ở showroom cao cấp</a:t>
            </a:r>
            <a:endParaRPr lang="en-US" sz="2600" dirty="0"/>
          </a:p>
        </p:txBody>
      </p:sp>
      <p:sp>
        <p:nvSpPr>
          <p:cNvPr id="18" name="dot-20"/>
          <p:cNvSpPr/>
          <p:nvPr/>
        </p:nvSpPr>
        <p:spPr>
          <a:xfrm>
            <a:off x="5943600" y="3703320"/>
            <a:ext cx="640080" cy="640080"/>
          </a:xfrm>
          <a:prstGeom prst="ellipse">
            <a:avLst/>
          </a:prstGeom>
          <a:solidFill>
            <a:schemeClr val="accent6"/>
          </a:solidFill>
          <a:ln/>
        </p:spPr>
      </p:sp>
      <p:sp>
        <p:nvSpPr>
          <p:cNvPr id="19" name="text-21"/>
          <p:cNvSpPr txBox="1"/>
          <p:nvPr/>
        </p:nvSpPr>
        <p:spPr>
          <a:xfrm>
            <a:off x="5943600" y="3703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0" name="text-22"/>
          <p:cNvSpPr txBox="1"/>
          <p:nvPr/>
        </p:nvSpPr>
        <p:spPr>
          <a:xfrm>
            <a:off x="6766560" y="3703320"/>
            <a:ext cx="4873752" cy="640080"/>
          </a:xfrm>
          <a:prstGeom prst="rect">
            <a:avLst/>
          </a:prstGeom>
          <a:noFill/>
          <a:ln/>
        </p:spPr>
        <p:txBody>
          <a:bodyPr wrap="square" lIns="0" tIns="0" rIns="0" bIns="0" rtlCol="0" anchor="ctr"/>
          <a:lstStyle/>
          <a:p>
            <a:pPr indent="0" marL="0">
              <a:buNone/>
            </a:pPr>
            <a:r>
              <a:rPr lang="en-US" sz="2600" dirty="0">
                <a:solidFill>
                  <a:schemeClr val="tx1"/>
                </a:solidFill>
              </a:rPr>
              <a:t>Kết quả: “giá không quan trọng”</a:t>
            </a:r>
            <a:endParaRPr lang="en-US" sz="2600" dirty="0"/>
          </a:p>
        </p:txBody>
      </p:sp>
      <p:sp>
        <p:nvSpPr>
          <p:cNvPr id="21" name="card-23"/>
          <p:cNvSpPr/>
          <p:nvPr/>
        </p:nvSpPr>
        <p:spPr>
          <a:xfrm>
            <a:off x="5943600" y="4800600"/>
            <a:ext cx="5696712" cy="1143000"/>
          </a:xfrm>
          <a:prstGeom prst="roundRect">
            <a:avLst>
              <a:gd name="adj" fmla="val 12000"/>
            </a:avLst>
          </a:prstGeom>
          <a:solidFill>
            <a:schemeClr val="accent2"/>
          </a:solidFill>
          <a:ln/>
        </p:spPr>
      </p:sp>
      <p:sp>
        <p:nvSpPr>
          <p:cNvPr id="22" name="text-24"/>
          <p:cNvSpPr txBox="1"/>
          <p:nvPr/>
        </p:nvSpPr>
        <p:spPr>
          <a:xfrm>
            <a:off x="6217920" y="4800600"/>
            <a:ext cx="5212080" cy="1143000"/>
          </a:xfrm>
          <a:prstGeom prst="rect">
            <a:avLst/>
          </a:prstGeom>
          <a:noFill/>
          <a:ln/>
        </p:spPr>
        <p:txBody>
          <a:bodyPr wrap="square" lIns="0" tIns="0" rIns="0" bIns="0" rtlCol="0" anchor="ctr"/>
          <a:lstStyle/>
          <a:p>
            <a:pPr indent="0" marL="0">
              <a:buNone/>
            </a:pPr>
            <a:r>
              <a:rPr lang="en-US" sz="3000" b="1" dirty="0">
                <a:solidFill>
                  <a:schemeClr val="bg1"/>
                </a:solidFill>
              </a:rPr>
              <a:t>Sai ở đâu? Hậu quả?</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bắt đầu bằng ba câu hỏi: vì sao hỏi, hỏi thế nào, hỏi ai</a:t>
            </a:r>
            <a:endParaRPr lang="en-US" sz="3000" dirty="0"/>
          </a:p>
        </p:txBody>
      </p:sp>
      <p:sp>
        <p:nvSpPr>
          <p:cNvPr id="4" name="card-25"/>
          <p:cNvSpPr/>
          <p:nvPr/>
        </p:nvSpPr>
        <p:spPr>
          <a:xfrm>
            <a:off x="548640" y="1828800"/>
            <a:ext cx="3474720" cy="2834640"/>
          </a:xfrm>
          <a:prstGeom prst="roundRect">
            <a:avLst>
              <a:gd name="adj" fmla="val 4839"/>
            </a:avLst>
          </a:prstGeom>
          <a:solidFill>
            <a:schemeClr val="bg2"/>
          </a:solidFill>
          <a:ln/>
        </p:spPr>
      </p:sp>
      <p:sp>
        <p:nvSpPr>
          <p:cNvPr id="5" name="icon-bg-26"/>
          <p:cNvSpPr/>
          <p:nvPr/>
        </p:nvSpPr>
        <p:spPr>
          <a:xfrm>
            <a:off x="1737360" y="2103120"/>
            <a:ext cx="1097280" cy="1097280"/>
          </a:xfrm>
          <a:prstGeom prst="ellipse">
            <a:avLst/>
          </a:prstGeom>
          <a:solidFill>
            <a:schemeClr val="accent1"/>
          </a:solidFill>
          <a:ln/>
        </p:spPr>
      </p:sp>
      <p:pic>
        <p:nvPicPr>
          <p:cNvPr id="6" name="icon-2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011680" y="2377440"/>
            <a:ext cx="548640" cy="548640"/>
          </a:xfrm>
          <a:prstGeom prst="rect">
            <a:avLst/>
          </a:prstGeom>
        </p:spPr>
      </p:pic>
      <p:sp>
        <p:nvSpPr>
          <p:cNvPr id="7" name="text-28"/>
          <p:cNvSpPr txBox="1"/>
          <p:nvPr/>
        </p:nvSpPr>
        <p:spPr>
          <a:xfrm>
            <a:off x="54864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Vì sao hỏi?</a:t>
            </a:r>
            <a:endParaRPr lang="en-US" sz="3200" dirty="0"/>
          </a:p>
        </p:txBody>
      </p:sp>
      <p:sp>
        <p:nvSpPr>
          <p:cNvPr id="8" name="card-29"/>
          <p:cNvSpPr/>
          <p:nvPr/>
        </p:nvSpPr>
        <p:spPr>
          <a:xfrm>
            <a:off x="4343400" y="1828800"/>
            <a:ext cx="3474720" cy="2834640"/>
          </a:xfrm>
          <a:prstGeom prst="roundRect">
            <a:avLst>
              <a:gd name="adj" fmla="val 4839"/>
            </a:avLst>
          </a:prstGeom>
          <a:solidFill>
            <a:schemeClr val="bg2"/>
          </a:solidFill>
          <a:ln/>
        </p:spPr>
      </p:sp>
      <p:sp>
        <p:nvSpPr>
          <p:cNvPr id="9" name="icon-bg-30"/>
          <p:cNvSpPr/>
          <p:nvPr/>
        </p:nvSpPr>
        <p:spPr>
          <a:xfrm>
            <a:off x="5532120" y="2103120"/>
            <a:ext cx="1097280" cy="1097280"/>
          </a:xfrm>
          <a:prstGeom prst="ellipse">
            <a:avLst/>
          </a:prstGeom>
          <a:solidFill>
            <a:schemeClr val="accent5"/>
          </a:solidFill>
          <a:ln/>
        </p:spPr>
      </p:sp>
      <p:pic>
        <p:nvPicPr>
          <p:cNvPr id="10" name="icon-3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06440" y="2377440"/>
            <a:ext cx="548640" cy="548640"/>
          </a:xfrm>
          <a:prstGeom prst="rect">
            <a:avLst/>
          </a:prstGeom>
        </p:spPr>
      </p:pic>
      <p:sp>
        <p:nvSpPr>
          <p:cNvPr id="11" name="text-32"/>
          <p:cNvSpPr txBox="1"/>
          <p:nvPr/>
        </p:nvSpPr>
        <p:spPr>
          <a:xfrm>
            <a:off x="434340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Hỏi thế nào?</a:t>
            </a:r>
            <a:endParaRPr lang="en-US" sz="3200" dirty="0"/>
          </a:p>
        </p:txBody>
      </p:sp>
      <p:sp>
        <p:nvSpPr>
          <p:cNvPr id="12" name="card-33"/>
          <p:cNvSpPr/>
          <p:nvPr/>
        </p:nvSpPr>
        <p:spPr>
          <a:xfrm>
            <a:off x="8138160" y="1828800"/>
            <a:ext cx="3474720" cy="2834640"/>
          </a:xfrm>
          <a:prstGeom prst="roundRect">
            <a:avLst>
              <a:gd name="adj" fmla="val 4839"/>
            </a:avLst>
          </a:prstGeom>
          <a:solidFill>
            <a:schemeClr val="accent3"/>
          </a:solidFill>
          <a:ln/>
        </p:spPr>
      </p:sp>
      <p:sp>
        <p:nvSpPr>
          <p:cNvPr id="13" name="icon-bg-34"/>
          <p:cNvSpPr/>
          <p:nvPr/>
        </p:nvSpPr>
        <p:spPr>
          <a:xfrm>
            <a:off x="9326880" y="2103120"/>
            <a:ext cx="1097280" cy="1097280"/>
          </a:xfrm>
          <a:prstGeom prst="ellipse">
            <a:avLst/>
          </a:prstGeom>
          <a:solidFill>
            <a:schemeClr val="accent4"/>
          </a:solidFill>
          <a:ln/>
        </p:spPr>
      </p:sp>
      <p:pic>
        <p:nvPicPr>
          <p:cNvPr id="14" name="icon-3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01200" y="2377440"/>
            <a:ext cx="548640" cy="548640"/>
          </a:xfrm>
          <a:prstGeom prst="rect">
            <a:avLst/>
          </a:prstGeom>
        </p:spPr>
      </p:pic>
      <p:sp>
        <p:nvSpPr>
          <p:cNvPr id="15" name="text-36"/>
          <p:cNvSpPr txBox="1"/>
          <p:nvPr/>
        </p:nvSpPr>
        <p:spPr>
          <a:xfrm>
            <a:off x="8138160" y="3429000"/>
            <a:ext cx="3474720" cy="822960"/>
          </a:xfrm>
          <a:prstGeom prst="rect">
            <a:avLst/>
          </a:prstGeom>
          <a:noFill/>
          <a:ln/>
        </p:spPr>
        <p:txBody>
          <a:bodyPr wrap="square" lIns="0" tIns="0" rIns="0" bIns="0" rtlCol="0" anchor="ctr"/>
          <a:lstStyle/>
          <a:p>
            <a:pPr algn="ctr" indent="0" marL="0">
              <a:buNone/>
            </a:pPr>
            <a:r>
              <a:rPr lang="en-US" sz="3200" b="1" dirty="0">
                <a:solidFill>
                  <a:schemeClr val="bg1"/>
                </a:solidFill>
              </a:rPr>
              <a:t>Hỏi ai?</a:t>
            </a:r>
            <a:endParaRPr lang="en-US" sz="3200" dirty="0"/>
          </a:p>
        </p:txBody>
      </p:sp>
      <p:sp>
        <p:nvSpPr>
          <p:cNvPr id="16" name="text-37"/>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2800" b="1" dirty="0">
                <a:solidFill>
                  <a:schemeClr val="accent2"/>
                </a:solidFill>
              </a:rPr>
              <a:t>Cả học phần là học trả lời ba câu này cho đúng.</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Marketing căn bản dạy cách ra quyết định; môn này dạy cách có thông tin để quyết định</a:t>
            </a:r>
            <a:endParaRPr lang="en-US" sz="3000" dirty="0"/>
          </a:p>
        </p:txBody>
      </p:sp>
      <p:sp>
        <p:nvSpPr>
          <p:cNvPr id="4" name="card-38"/>
          <p:cNvSpPr/>
          <p:nvPr/>
        </p:nvSpPr>
        <p:spPr>
          <a:xfrm>
            <a:off x="548640" y="1828800"/>
            <a:ext cx="4846320" cy="3840480"/>
          </a:xfrm>
          <a:prstGeom prst="roundRect">
            <a:avLst>
              <a:gd name="adj" fmla="val 3571"/>
            </a:avLst>
          </a:prstGeom>
          <a:solidFill>
            <a:schemeClr val="bg2"/>
          </a:solidFill>
          <a:ln/>
        </p:spPr>
      </p:sp>
      <p:sp>
        <p:nvSpPr>
          <p:cNvPr id="5" name="text-39"/>
          <p:cNvSpPr txBox="1"/>
          <p:nvPr/>
        </p:nvSpPr>
        <p:spPr>
          <a:xfrm>
            <a:off x="868680" y="2057400"/>
            <a:ext cx="4206240" cy="548640"/>
          </a:xfrm>
          <a:prstGeom prst="rect">
            <a:avLst/>
          </a:prstGeom>
          <a:noFill/>
          <a:ln/>
        </p:spPr>
        <p:txBody>
          <a:bodyPr wrap="square" lIns="0" tIns="0" rIns="0" bIns="0" rtlCol="0" anchor="t"/>
          <a:lstStyle/>
          <a:p>
            <a:pPr indent="0" marL="0">
              <a:buNone/>
            </a:pPr>
            <a:r>
              <a:rPr lang="en-US" sz="2400" b="1" dirty="0">
                <a:solidFill>
                  <a:schemeClr val="tx2"/>
                </a:solidFill>
              </a:rPr>
              <a:t>Đã học: 4P</a:t>
            </a:r>
            <a:endParaRPr lang="en-US" sz="2400" dirty="0"/>
          </a:p>
        </p:txBody>
      </p:sp>
      <p:sp>
        <p:nvSpPr>
          <p:cNvPr id="6" name="card-40"/>
          <p:cNvSpPr/>
          <p:nvPr/>
        </p:nvSpPr>
        <p:spPr>
          <a:xfrm>
            <a:off x="868680" y="2834640"/>
            <a:ext cx="1965960" cy="1005840"/>
          </a:xfrm>
          <a:prstGeom prst="roundRect">
            <a:avLst>
              <a:gd name="adj" fmla="val 13636"/>
            </a:avLst>
          </a:prstGeom>
          <a:solidFill>
            <a:schemeClr val="accent1"/>
          </a:solidFill>
          <a:ln/>
        </p:spPr>
      </p:sp>
      <p:sp>
        <p:nvSpPr>
          <p:cNvPr id="7" name="text-41"/>
          <p:cNvSpPr txBox="1"/>
          <p:nvPr/>
        </p:nvSpPr>
        <p:spPr>
          <a:xfrm>
            <a:off x="86868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Sản phẩm</a:t>
            </a:r>
            <a:endParaRPr lang="en-US" sz="2400" dirty="0"/>
          </a:p>
        </p:txBody>
      </p:sp>
      <p:sp>
        <p:nvSpPr>
          <p:cNvPr id="8" name="card-42"/>
          <p:cNvSpPr/>
          <p:nvPr/>
        </p:nvSpPr>
        <p:spPr>
          <a:xfrm>
            <a:off x="3017520" y="2834640"/>
            <a:ext cx="1965960" cy="1005840"/>
          </a:xfrm>
          <a:prstGeom prst="roundRect">
            <a:avLst>
              <a:gd name="adj" fmla="val 13636"/>
            </a:avLst>
          </a:prstGeom>
          <a:solidFill>
            <a:schemeClr val="accent2"/>
          </a:solidFill>
          <a:ln/>
        </p:spPr>
      </p:sp>
      <p:sp>
        <p:nvSpPr>
          <p:cNvPr id="9" name="text-43"/>
          <p:cNvSpPr txBox="1"/>
          <p:nvPr/>
        </p:nvSpPr>
        <p:spPr>
          <a:xfrm>
            <a:off x="301752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Giá</a:t>
            </a:r>
            <a:endParaRPr lang="en-US" sz="2400" dirty="0"/>
          </a:p>
        </p:txBody>
      </p:sp>
      <p:sp>
        <p:nvSpPr>
          <p:cNvPr id="10" name="card-44"/>
          <p:cNvSpPr/>
          <p:nvPr/>
        </p:nvSpPr>
        <p:spPr>
          <a:xfrm>
            <a:off x="868680" y="4069080"/>
            <a:ext cx="1965960" cy="1005840"/>
          </a:xfrm>
          <a:prstGeom prst="roundRect">
            <a:avLst>
              <a:gd name="adj" fmla="val 13636"/>
            </a:avLst>
          </a:prstGeom>
          <a:solidFill>
            <a:schemeClr val="accent5"/>
          </a:solidFill>
          <a:ln/>
        </p:spPr>
      </p:sp>
      <p:sp>
        <p:nvSpPr>
          <p:cNvPr id="11" name="text-45"/>
          <p:cNvSpPr txBox="1"/>
          <p:nvPr/>
        </p:nvSpPr>
        <p:spPr>
          <a:xfrm>
            <a:off x="86868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Phân phối</a:t>
            </a:r>
            <a:endParaRPr lang="en-US" sz="2400" dirty="0"/>
          </a:p>
        </p:txBody>
      </p:sp>
      <p:sp>
        <p:nvSpPr>
          <p:cNvPr id="12" name="card-46"/>
          <p:cNvSpPr/>
          <p:nvPr/>
        </p:nvSpPr>
        <p:spPr>
          <a:xfrm>
            <a:off x="3017520" y="4069080"/>
            <a:ext cx="1965960" cy="1005840"/>
          </a:xfrm>
          <a:prstGeom prst="roundRect">
            <a:avLst>
              <a:gd name="adj" fmla="val 13636"/>
            </a:avLst>
          </a:prstGeom>
          <a:solidFill>
            <a:schemeClr val="accent6"/>
          </a:solidFill>
          <a:ln/>
        </p:spPr>
      </p:sp>
      <p:sp>
        <p:nvSpPr>
          <p:cNvPr id="13" name="text-47"/>
          <p:cNvSpPr txBox="1"/>
          <p:nvPr/>
        </p:nvSpPr>
        <p:spPr>
          <a:xfrm>
            <a:off x="301752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Xúc tiến</a:t>
            </a:r>
            <a:endParaRPr lang="en-US" sz="2400" dirty="0"/>
          </a:p>
        </p:txBody>
      </p:sp>
      <p:sp>
        <p:nvSpPr>
          <p:cNvPr id="14" name="arrow-48"/>
          <p:cNvSpPr/>
          <p:nvPr/>
        </p:nvSpPr>
        <p:spPr>
          <a:xfrm>
            <a:off x="5623560" y="3337560"/>
            <a:ext cx="914400" cy="822960"/>
          </a:xfrm>
          <a:prstGeom prst="rightArrow">
            <a:avLst/>
          </a:prstGeom>
          <a:solidFill>
            <a:schemeClr val="accent2"/>
          </a:solidFill>
          <a:ln/>
        </p:spPr>
      </p:sp>
      <p:sp>
        <p:nvSpPr>
          <p:cNvPr id="15" name="card-49"/>
          <p:cNvSpPr/>
          <p:nvPr/>
        </p:nvSpPr>
        <p:spPr>
          <a:xfrm>
            <a:off x="6766560" y="1828800"/>
            <a:ext cx="4873752" cy="3840480"/>
          </a:xfrm>
          <a:prstGeom prst="roundRect">
            <a:avLst>
              <a:gd name="adj" fmla="val 3571"/>
            </a:avLst>
          </a:prstGeom>
          <a:solidFill>
            <a:schemeClr val="accent2"/>
          </a:solidFill>
          <a:ln/>
        </p:spPr>
      </p:sp>
      <p:sp>
        <p:nvSpPr>
          <p:cNvPr id="16" name="text-50"/>
          <p:cNvSpPr txBox="1"/>
          <p:nvPr/>
        </p:nvSpPr>
        <p:spPr>
          <a:xfrm>
            <a:off x="7086600" y="2057400"/>
            <a:ext cx="4297680" cy="548640"/>
          </a:xfrm>
          <a:prstGeom prst="rect">
            <a:avLst/>
          </a:prstGeom>
          <a:noFill/>
          <a:ln/>
        </p:spPr>
        <p:txBody>
          <a:bodyPr wrap="square" lIns="0" tIns="0" rIns="0" bIns="0" rtlCol="0" anchor="t"/>
          <a:lstStyle/>
          <a:p>
            <a:pPr indent="0" marL="0">
              <a:buNone/>
            </a:pPr>
            <a:r>
              <a:rPr lang="en-US" sz="2400" b="1" dirty="0">
                <a:solidFill>
                  <a:schemeClr val="bg1"/>
                </a:solidFill>
              </a:rPr>
              <a:t>Môn này</a:t>
            </a:r>
            <a:endParaRPr lang="en-US" sz="2400" dirty="0"/>
          </a:p>
        </p:txBody>
      </p:sp>
      <p:sp>
        <p:nvSpPr>
          <p:cNvPr id="17" name="text-51"/>
          <p:cNvSpPr txBox="1"/>
          <p:nvPr/>
        </p:nvSpPr>
        <p:spPr>
          <a:xfrm>
            <a:off x="7086600" y="2834640"/>
            <a:ext cx="4297680" cy="2377440"/>
          </a:xfrm>
          <a:prstGeom prst="rect">
            <a:avLst/>
          </a:prstGeom>
          <a:noFill/>
          <a:ln/>
        </p:spPr>
        <p:txBody>
          <a:bodyPr wrap="square" lIns="0" tIns="0" rIns="0" bIns="0" rtlCol="0" anchor="ctr"/>
          <a:lstStyle/>
          <a:p>
            <a:pPr indent="0" marL="0">
              <a:buNone/>
            </a:pPr>
            <a:r>
              <a:rPr lang="en-US" sz="4000" b="1" dirty="0">
                <a:solidFill>
                  <a:schemeClr val="bg1"/>
                </a:solidFill>
              </a:rPr>
              <a:t>Dựa vào thông tin nào?</a:t>
            </a:r>
            <a:endParaRPr lang="en-US" sz="4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Hết học phần, bạn tự làm được một nghiên cứu marketing từ đầu đến cuối</a:t>
            </a:r>
            <a:endParaRPr lang="en-US" sz="3000" dirty="0"/>
          </a:p>
        </p:txBody>
      </p:sp>
      <p:sp>
        <p:nvSpPr>
          <p:cNvPr id="4" name="icon-bg-52"/>
          <p:cNvSpPr/>
          <p:nvPr/>
        </p:nvSpPr>
        <p:spPr>
          <a:xfrm>
            <a:off x="548640" y="1828800"/>
            <a:ext cx="868680" cy="868680"/>
          </a:xfrm>
          <a:prstGeom prst="ellipse">
            <a:avLst/>
          </a:prstGeom>
          <a:solidFill>
            <a:schemeClr val="accent1"/>
          </a:solidFill>
          <a:ln/>
        </p:spPr>
      </p:sp>
      <p:pic>
        <p:nvPicPr>
          <p:cNvPr id="5" name="icon-53"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65810" y="2045970"/>
            <a:ext cx="434340" cy="434340"/>
          </a:xfrm>
          <a:prstGeom prst="rect">
            <a:avLst/>
          </a:prstGeom>
        </p:spPr>
      </p:pic>
      <p:sp>
        <p:nvSpPr>
          <p:cNvPr id="6" name="text-54"/>
          <p:cNvSpPr txBox="1"/>
          <p:nvPr/>
        </p:nvSpPr>
        <p:spPr>
          <a:xfrm>
            <a:off x="1737360" y="1828800"/>
            <a:ext cx="9601200" cy="868680"/>
          </a:xfrm>
          <a:prstGeom prst="rect">
            <a:avLst/>
          </a:prstGeom>
          <a:noFill/>
          <a:ln/>
        </p:spPr>
        <p:txBody>
          <a:bodyPr wrap="square" lIns="0" tIns="0" rIns="0" bIns="0" rtlCol="0" anchor="ctr"/>
          <a:lstStyle/>
          <a:p>
            <a:pPr indent="0" marL="0">
              <a:buNone/>
            </a:pPr>
            <a:r>
              <a:rPr lang="en-US" sz="2800" dirty="0">
                <a:solidFill>
                  <a:schemeClr val="tx1"/>
                </a:solidFill>
              </a:rPr>
              <a:t>Giải thích khái niệm &amp; phương pháp</a:t>
            </a:r>
            <a:endParaRPr lang="en-US" sz="2800" dirty="0"/>
          </a:p>
        </p:txBody>
      </p:sp>
      <p:sp>
        <p:nvSpPr>
          <p:cNvPr id="7" name="icon-bg-55"/>
          <p:cNvSpPr/>
          <p:nvPr/>
        </p:nvSpPr>
        <p:spPr>
          <a:xfrm>
            <a:off x="548640" y="2907792"/>
            <a:ext cx="868680" cy="868680"/>
          </a:xfrm>
          <a:prstGeom prst="ellipse">
            <a:avLst/>
          </a:prstGeom>
          <a:solidFill>
            <a:schemeClr val="accent2"/>
          </a:solidFill>
          <a:ln/>
        </p:spPr>
      </p:sp>
      <p:pic>
        <p:nvPicPr>
          <p:cNvPr id="8" name="icon-56"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5810" y="3124962"/>
            <a:ext cx="434340" cy="434340"/>
          </a:xfrm>
          <a:prstGeom prst="rect">
            <a:avLst/>
          </a:prstGeom>
        </p:spPr>
      </p:pic>
      <p:sp>
        <p:nvSpPr>
          <p:cNvPr id="9" name="text-57"/>
          <p:cNvSpPr txBox="1"/>
          <p:nvPr/>
        </p:nvSpPr>
        <p:spPr>
          <a:xfrm>
            <a:off x="1737360" y="2907792"/>
            <a:ext cx="9601200" cy="868680"/>
          </a:xfrm>
          <a:prstGeom prst="rect">
            <a:avLst/>
          </a:prstGeom>
          <a:noFill/>
          <a:ln/>
        </p:spPr>
        <p:txBody>
          <a:bodyPr wrap="square" lIns="0" tIns="0" rIns="0" bIns="0" rtlCol="0" anchor="ctr"/>
          <a:lstStyle/>
          <a:p>
            <a:pPr indent="0" marL="0">
              <a:buNone/>
            </a:pPr>
            <a:r>
              <a:rPr lang="en-US" sz="2800" dirty="0">
                <a:solidFill>
                  <a:schemeClr val="tx1"/>
                </a:solidFill>
              </a:rPr>
              <a:t>Lập kế hoạch nghiên cứu</a:t>
            </a:r>
            <a:endParaRPr lang="en-US" sz="2800" dirty="0"/>
          </a:p>
        </p:txBody>
      </p:sp>
      <p:sp>
        <p:nvSpPr>
          <p:cNvPr id="10" name="icon-bg-58"/>
          <p:cNvSpPr/>
          <p:nvPr/>
        </p:nvSpPr>
        <p:spPr>
          <a:xfrm>
            <a:off x="548640" y="3986784"/>
            <a:ext cx="868680" cy="868680"/>
          </a:xfrm>
          <a:prstGeom prst="ellipse">
            <a:avLst/>
          </a:prstGeom>
          <a:solidFill>
            <a:schemeClr val="accent5"/>
          </a:solidFill>
          <a:ln/>
        </p:spPr>
      </p:sp>
      <p:pic>
        <p:nvPicPr>
          <p:cNvPr id="11" name="icon-59"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5810" y="4203954"/>
            <a:ext cx="434340" cy="434340"/>
          </a:xfrm>
          <a:prstGeom prst="rect">
            <a:avLst/>
          </a:prstGeom>
        </p:spPr>
      </p:pic>
      <p:sp>
        <p:nvSpPr>
          <p:cNvPr id="12" name="text-60"/>
          <p:cNvSpPr txBox="1"/>
          <p:nvPr/>
        </p:nvSpPr>
        <p:spPr>
          <a:xfrm>
            <a:off x="1737360" y="3986784"/>
            <a:ext cx="9601200" cy="868680"/>
          </a:xfrm>
          <a:prstGeom prst="rect">
            <a:avLst/>
          </a:prstGeom>
          <a:noFill/>
          <a:ln/>
        </p:spPr>
        <p:txBody>
          <a:bodyPr wrap="square" lIns="0" tIns="0" rIns="0" bIns="0" rtlCol="0" anchor="ctr"/>
          <a:lstStyle/>
          <a:p>
            <a:pPr indent="0" marL="0">
              <a:buNone/>
            </a:pPr>
            <a:r>
              <a:rPr lang="en-US" sz="2800" dirty="0">
                <a:solidFill>
                  <a:schemeClr val="tx1"/>
                </a:solidFill>
              </a:rPr>
              <a:t>Thực hiện các bước</a:t>
            </a:r>
            <a:endParaRPr lang="en-US" sz="2800" dirty="0"/>
          </a:p>
        </p:txBody>
      </p:sp>
      <p:sp>
        <p:nvSpPr>
          <p:cNvPr id="13" name="icon-bg-61"/>
          <p:cNvSpPr/>
          <p:nvPr/>
        </p:nvSpPr>
        <p:spPr>
          <a:xfrm>
            <a:off x="548640" y="5065776"/>
            <a:ext cx="868680" cy="868680"/>
          </a:xfrm>
          <a:prstGeom prst="ellipse">
            <a:avLst/>
          </a:prstGeom>
          <a:solidFill>
            <a:schemeClr val="accent6"/>
          </a:solidFill>
          <a:ln/>
        </p:spPr>
      </p:sp>
      <p:pic>
        <p:nvPicPr>
          <p:cNvPr id="14" name="icon-6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65810" y="5282946"/>
            <a:ext cx="434340" cy="434340"/>
          </a:xfrm>
          <a:prstGeom prst="rect">
            <a:avLst/>
          </a:prstGeom>
        </p:spPr>
      </p:pic>
      <p:sp>
        <p:nvSpPr>
          <p:cNvPr id="15" name="text-63"/>
          <p:cNvSpPr txBox="1"/>
          <p:nvPr/>
        </p:nvSpPr>
        <p:spPr>
          <a:xfrm>
            <a:off x="1737360" y="5065776"/>
            <a:ext cx="9601200" cy="868680"/>
          </a:xfrm>
          <a:prstGeom prst="rect">
            <a:avLst/>
          </a:prstGeom>
          <a:noFill/>
          <a:ln/>
        </p:spPr>
        <p:txBody>
          <a:bodyPr wrap="square" lIns="0" tIns="0" rIns="0" bIns="0" rtlCol="0" anchor="ctr"/>
          <a:lstStyle/>
          <a:p>
            <a:pPr indent="0" marL="0">
              <a:buNone/>
            </a:pPr>
            <a:r>
              <a:rPr lang="en-US" sz="2800" dirty="0">
                <a:solidFill>
                  <a:schemeClr val="tx1"/>
                </a:solidFill>
              </a:rPr>
              <a:t>Làm việc nhóm, có đạo đức nghiên cứu</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nhóm 2–3 bạn làm một nghiên cứu thật: 3 chương (định tính) hoặc 5 chương (định lượng)</a:t>
            </a:r>
            <a:endParaRPr lang="en-US" sz="3000" dirty="0"/>
          </a:p>
        </p:txBody>
      </p:sp>
      <p:sp>
        <p:nvSpPr>
          <p:cNvPr id="4" name="card-64"/>
          <p:cNvSpPr/>
          <p:nvPr/>
        </p:nvSpPr>
        <p:spPr>
          <a:xfrm>
            <a:off x="548640" y="1783080"/>
            <a:ext cx="5376672" cy="777240"/>
          </a:xfrm>
          <a:prstGeom prst="roundRect">
            <a:avLst>
              <a:gd name="adj" fmla="val 17647"/>
            </a:avLst>
          </a:prstGeom>
          <a:solidFill>
            <a:schemeClr val="accent5"/>
          </a:solidFill>
          <a:ln/>
        </p:spPr>
      </p:sp>
      <p:sp>
        <p:nvSpPr>
          <p:cNvPr id="5" name="text-65"/>
          <p:cNvSpPr txBox="1"/>
          <p:nvPr/>
        </p:nvSpPr>
        <p:spPr>
          <a:xfrm>
            <a:off x="822960" y="1783080"/>
            <a:ext cx="4846320" cy="777240"/>
          </a:xfrm>
          <a:prstGeom prst="rect">
            <a:avLst/>
          </a:prstGeom>
          <a:noFill/>
          <a:ln/>
        </p:spPr>
        <p:txBody>
          <a:bodyPr wrap="square" lIns="0" tIns="0" rIns="0" bIns="0" rtlCol="0" anchor="ctr"/>
          <a:lstStyle/>
          <a:p>
            <a:pPr indent="0" marL="0">
              <a:buNone/>
            </a:pPr>
            <a:r>
              <a:rPr lang="en-US" sz="2800" b="1" dirty="0">
                <a:solidFill>
                  <a:schemeClr val="bg1"/>
                </a:solidFill>
              </a:rPr>
              <a:t>Định lượng · 5 chương</a:t>
            </a:r>
            <a:endParaRPr lang="en-US" sz="2800" dirty="0"/>
          </a:p>
        </p:txBody>
      </p:sp>
      <p:sp>
        <p:nvSpPr>
          <p:cNvPr id="6" name="dot-66"/>
          <p:cNvSpPr/>
          <p:nvPr/>
        </p:nvSpPr>
        <p:spPr>
          <a:xfrm>
            <a:off x="685800" y="2788920"/>
            <a:ext cx="502920" cy="502920"/>
          </a:xfrm>
          <a:prstGeom prst="ellipse">
            <a:avLst/>
          </a:prstGeom>
          <a:solidFill>
            <a:schemeClr val="accent5"/>
          </a:solidFill>
          <a:ln/>
        </p:spPr>
      </p:sp>
      <p:sp>
        <p:nvSpPr>
          <p:cNvPr id="7" name="text-67"/>
          <p:cNvSpPr txBox="1"/>
          <p:nvPr/>
        </p:nvSpPr>
        <p:spPr>
          <a:xfrm>
            <a:off x="685800" y="27889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68"/>
          <p:cNvSpPr txBox="1"/>
          <p:nvPr/>
        </p:nvSpPr>
        <p:spPr>
          <a:xfrm>
            <a:off x="1417320" y="2743200"/>
            <a:ext cx="4507992" cy="594360"/>
          </a:xfrm>
          <a:prstGeom prst="rect">
            <a:avLst/>
          </a:prstGeom>
          <a:noFill/>
          <a:ln/>
        </p:spPr>
        <p:txBody>
          <a:bodyPr wrap="square" lIns="0" tIns="0" rIns="0" bIns="0" rtlCol="0" anchor="ctr"/>
          <a:lstStyle/>
          <a:p>
            <a:pPr indent="0" marL="0">
              <a:buNone/>
            </a:pPr>
            <a:r>
              <a:rPr lang="en-US" sz="2400" dirty="0">
                <a:solidFill>
                  <a:schemeClr val="tx1"/>
                </a:solidFill>
              </a:rPr>
              <a:t>Giới thiệu</a:t>
            </a:r>
            <a:endParaRPr lang="en-US" sz="2400" dirty="0"/>
          </a:p>
        </p:txBody>
      </p:sp>
      <p:sp>
        <p:nvSpPr>
          <p:cNvPr id="9" name="dot-69"/>
          <p:cNvSpPr/>
          <p:nvPr/>
        </p:nvSpPr>
        <p:spPr>
          <a:xfrm>
            <a:off x="685800" y="3474720"/>
            <a:ext cx="502920" cy="502920"/>
          </a:xfrm>
          <a:prstGeom prst="ellipse">
            <a:avLst/>
          </a:prstGeom>
          <a:solidFill>
            <a:schemeClr val="accent5"/>
          </a:solidFill>
          <a:ln/>
        </p:spPr>
      </p:sp>
      <p:sp>
        <p:nvSpPr>
          <p:cNvPr id="10" name="text-70"/>
          <p:cNvSpPr txBox="1"/>
          <p:nvPr/>
        </p:nvSpPr>
        <p:spPr>
          <a:xfrm>
            <a:off x="685800" y="34747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71"/>
          <p:cNvSpPr txBox="1"/>
          <p:nvPr/>
        </p:nvSpPr>
        <p:spPr>
          <a:xfrm>
            <a:off x="1417320" y="3429000"/>
            <a:ext cx="4507992" cy="594360"/>
          </a:xfrm>
          <a:prstGeom prst="rect">
            <a:avLst/>
          </a:prstGeom>
          <a:noFill/>
          <a:ln/>
        </p:spPr>
        <p:txBody>
          <a:bodyPr wrap="square" lIns="0" tIns="0" rIns="0" bIns="0" rtlCol="0" anchor="ctr"/>
          <a:lstStyle/>
          <a:p>
            <a:pPr indent="0" marL="0">
              <a:buNone/>
            </a:pPr>
            <a:r>
              <a:rPr lang="en-US" sz="2400" dirty="0">
                <a:solidFill>
                  <a:schemeClr val="tx1"/>
                </a:solidFill>
              </a:rPr>
              <a:t>Cơ sở lý thuyết &amp; mô hình</a:t>
            </a:r>
            <a:endParaRPr lang="en-US" sz="2400" dirty="0"/>
          </a:p>
        </p:txBody>
      </p:sp>
      <p:sp>
        <p:nvSpPr>
          <p:cNvPr id="12" name="dot-72"/>
          <p:cNvSpPr/>
          <p:nvPr/>
        </p:nvSpPr>
        <p:spPr>
          <a:xfrm>
            <a:off x="685800" y="4160520"/>
            <a:ext cx="502920" cy="502920"/>
          </a:xfrm>
          <a:prstGeom prst="ellipse">
            <a:avLst/>
          </a:prstGeom>
          <a:solidFill>
            <a:schemeClr val="accent5"/>
          </a:solidFill>
          <a:ln/>
        </p:spPr>
      </p:sp>
      <p:sp>
        <p:nvSpPr>
          <p:cNvPr id="13" name="text-73"/>
          <p:cNvSpPr txBox="1"/>
          <p:nvPr/>
        </p:nvSpPr>
        <p:spPr>
          <a:xfrm>
            <a:off x="685800" y="41605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74"/>
          <p:cNvSpPr txBox="1"/>
          <p:nvPr/>
        </p:nvSpPr>
        <p:spPr>
          <a:xfrm>
            <a:off x="1417320" y="4114800"/>
            <a:ext cx="4507992"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15" name="dot-75"/>
          <p:cNvSpPr/>
          <p:nvPr/>
        </p:nvSpPr>
        <p:spPr>
          <a:xfrm>
            <a:off x="685800" y="4846320"/>
            <a:ext cx="502920" cy="502920"/>
          </a:xfrm>
          <a:prstGeom prst="ellipse">
            <a:avLst/>
          </a:prstGeom>
          <a:solidFill>
            <a:schemeClr val="accent5"/>
          </a:solidFill>
          <a:ln/>
        </p:spPr>
      </p:sp>
      <p:sp>
        <p:nvSpPr>
          <p:cNvPr id="16" name="text-76"/>
          <p:cNvSpPr txBox="1"/>
          <p:nvPr/>
        </p:nvSpPr>
        <p:spPr>
          <a:xfrm>
            <a:off x="685800" y="48463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77"/>
          <p:cNvSpPr txBox="1"/>
          <p:nvPr/>
        </p:nvSpPr>
        <p:spPr>
          <a:xfrm>
            <a:off x="1417320" y="48006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quả</a:t>
            </a:r>
            <a:endParaRPr lang="en-US" sz="2400" dirty="0"/>
          </a:p>
        </p:txBody>
      </p:sp>
      <p:sp>
        <p:nvSpPr>
          <p:cNvPr id="18" name="dot-78"/>
          <p:cNvSpPr/>
          <p:nvPr/>
        </p:nvSpPr>
        <p:spPr>
          <a:xfrm>
            <a:off x="685800" y="5532120"/>
            <a:ext cx="502920" cy="502920"/>
          </a:xfrm>
          <a:prstGeom prst="ellipse">
            <a:avLst/>
          </a:prstGeom>
          <a:solidFill>
            <a:schemeClr val="accent5"/>
          </a:solidFill>
          <a:ln/>
        </p:spPr>
      </p:sp>
      <p:sp>
        <p:nvSpPr>
          <p:cNvPr id="19" name="text-79"/>
          <p:cNvSpPr txBox="1"/>
          <p:nvPr/>
        </p:nvSpPr>
        <p:spPr>
          <a:xfrm>
            <a:off x="685800" y="55321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0" name="text-80"/>
          <p:cNvSpPr txBox="1"/>
          <p:nvPr/>
        </p:nvSpPr>
        <p:spPr>
          <a:xfrm>
            <a:off x="1417320" y="54864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luận &amp; hàm ý</a:t>
            </a:r>
            <a:endParaRPr lang="en-US" sz="2400" dirty="0"/>
          </a:p>
        </p:txBody>
      </p:sp>
      <p:sp>
        <p:nvSpPr>
          <p:cNvPr id="21" name="card-81"/>
          <p:cNvSpPr/>
          <p:nvPr/>
        </p:nvSpPr>
        <p:spPr>
          <a:xfrm>
            <a:off x="6263640" y="1783080"/>
            <a:ext cx="5376672" cy="777240"/>
          </a:xfrm>
          <a:prstGeom prst="roundRect">
            <a:avLst>
              <a:gd name="adj" fmla="val 17647"/>
            </a:avLst>
          </a:prstGeom>
          <a:solidFill>
            <a:schemeClr val="accent4"/>
          </a:solidFill>
          <a:ln/>
        </p:spPr>
      </p:sp>
      <p:sp>
        <p:nvSpPr>
          <p:cNvPr id="22" name="text-82"/>
          <p:cNvSpPr txBox="1"/>
          <p:nvPr/>
        </p:nvSpPr>
        <p:spPr>
          <a:xfrm>
            <a:off x="6537960" y="1783080"/>
            <a:ext cx="4846320" cy="777240"/>
          </a:xfrm>
          <a:prstGeom prst="rect">
            <a:avLst/>
          </a:prstGeom>
          <a:noFill/>
          <a:ln/>
        </p:spPr>
        <p:txBody>
          <a:bodyPr wrap="square" lIns="0" tIns="0" rIns="0" bIns="0" rtlCol="0" anchor="ctr"/>
          <a:lstStyle/>
          <a:p>
            <a:pPr indent="0" marL="0">
              <a:buNone/>
            </a:pPr>
            <a:r>
              <a:rPr lang="en-US" sz="2800" b="1" dirty="0">
                <a:solidFill>
                  <a:schemeClr val="tx1"/>
                </a:solidFill>
              </a:rPr>
              <a:t>Định tính · 3 chương</a:t>
            </a:r>
            <a:endParaRPr lang="en-US" sz="2800" dirty="0"/>
          </a:p>
        </p:txBody>
      </p:sp>
      <p:sp>
        <p:nvSpPr>
          <p:cNvPr id="23" name="dot-83"/>
          <p:cNvSpPr/>
          <p:nvPr/>
        </p:nvSpPr>
        <p:spPr>
          <a:xfrm>
            <a:off x="6400800" y="2788920"/>
            <a:ext cx="502920" cy="502920"/>
          </a:xfrm>
          <a:prstGeom prst="ellipse">
            <a:avLst/>
          </a:prstGeom>
          <a:solidFill>
            <a:schemeClr val="accent4"/>
          </a:solidFill>
          <a:ln/>
        </p:spPr>
      </p:sp>
      <p:sp>
        <p:nvSpPr>
          <p:cNvPr id="24" name="text-84"/>
          <p:cNvSpPr txBox="1"/>
          <p:nvPr/>
        </p:nvSpPr>
        <p:spPr>
          <a:xfrm>
            <a:off x="6400800" y="27889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25" name="text-85"/>
          <p:cNvSpPr txBox="1"/>
          <p:nvPr/>
        </p:nvSpPr>
        <p:spPr>
          <a:xfrm>
            <a:off x="7132320" y="2743200"/>
            <a:ext cx="4507992" cy="594360"/>
          </a:xfrm>
          <a:prstGeom prst="rect">
            <a:avLst/>
          </a:prstGeom>
          <a:noFill/>
          <a:ln/>
        </p:spPr>
        <p:txBody>
          <a:bodyPr wrap="square" lIns="0" tIns="0" rIns="0" bIns="0" rtlCol="0" anchor="ctr"/>
          <a:lstStyle/>
          <a:p>
            <a:pPr indent="0" marL="0">
              <a:buNone/>
            </a:pPr>
            <a:r>
              <a:rPr lang="en-US" sz="2400" dirty="0">
                <a:solidFill>
                  <a:schemeClr val="tx1"/>
                </a:solidFill>
              </a:rPr>
              <a:t>Giới thiệu &amp; cơ sở lý thuyết</a:t>
            </a:r>
            <a:endParaRPr lang="en-US" sz="2400" dirty="0"/>
          </a:p>
        </p:txBody>
      </p:sp>
      <p:sp>
        <p:nvSpPr>
          <p:cNvPr id="26" name="dot-86"/>
          <p:cNvSpPr/>
          <p:nvPr/>
        </p:nvSpPr>
        <p:spPr>
          <a:xfrm>
            <a:off x="6400800" y="3474720"/>
            <a:ext cx="502920" cy="502920"/>
          </a:xfrm>
          <a:prstGeom prst="ellipse">
            <a:avLst/>
          </a:prstGeom>
          <a:solidFill>
            <a:schemeClr val="accent4"/>
          </a:solidFill>
          <a:ln/>
        </p:spPr>
      </p:sp>
      <p:sp>
        <p:nvSpPr>
          <p:cNvPr id="27" name="text-87"/>
          <p:cNvSpPr txBox="1"/>
          <p:nvPr/>
        </p:nvSpPr>
        <p:spPr>
          <a:xfrm>
            <a:off x="6400800" y="34747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28" name="text-88"/>
          <p:cNvSpPr txBox="1"/>
          <p:nvPr/>
        </p:nvSpPr>
        <p:spPr>
          <a:xfrm>
            <a:off x="7132320" y="3429000"/>
            <a:ext cx="4507992"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29" name="dot-89"/>
          <p:cNvSpPr/>
          <p:nvPr/>
        </p:nvSpPr>
        <p:spPr>
          <a:xfrm>
            <a:off x="6400800" y="4160520"/>
            <a:ext cx="502920" cy="502920"/>
          </a:xfrm>
          <a:prstGeom prst="ellipse">
            <a:avLst/>
          </a:prstGeom>
          <a:solidFill>
            <a:schemeClr val="accent4"/>
          </a:solidFill>
          <a:ln/>
        </p:spPr>
      </p:sp>
      <p:sp>
        <p:nvSpPr>
          <p:cNvPr id="30" name="text-90"/>
          <p:cNvSpPr txBox="1"/>
          <p:nvPr/>
        </p:nvSpPr>
        <p:spPr>
          <a:xfrm>
            <a:off x="6400800" y="41605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31" name="text-91"/>
          <p:cNvSpPr txBox="1"/>
          <p:nvPr/>
        </p:nvSpPr>
        <p:spPr>
          <a:xfrm>
            <a:off x="7132320" y="41148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quả, thảo luận &amp; kết luận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Theo kịp từng buổi thì đến Buổi 13 bạn đã có gần đủ tiểu luận</a:t>
            </a:r>
            <a:endParaRPr lang="en-US" sz="3000" dirty="0"/>
          </a:p>
        </p:txBody>
      </p:sp>
      <p:sp>
        <p:nvSpPr>
          <p:cNvPr id="4" name="FIG" descr="Lộ trình 15 buổi, mỗi buổi gắn với một phần của dự án nghiên cứu nhóm."/>
          <p:cNvSpPr/>
          <p:nvPr/>
        </p:nvSpPr>
        <p:spPr>
          <a:xfrm>
            <a:off x="548640" y="1691640"/>
            <a:ext cx="11094415" cy="4434840"/>
          </a:xfrm>
          <a:prstGeom prst="rect">
            <a:avLst/>
          </a:prstGeom>
          <a:solidFill>
            <a:schemeClr val="bg1">
              <a:alpha val="0"/>
            </a:schemeClr>
          </a:solidFill>
          <a:ln/>
        </p:spPr>
      </p:sp>
      <p:sp>
        <p:nvSpPr>
          <p:cNvPr id="5" name="card-92"/>
          <p:cNvSpPr/>
          <p:nvPr/>
        </p:nvSpPr>
        <p:spPr>
          <a:xfrm>
            <a:off x="548640" y="1691640"/>
            <a:ext cx="2606040" cy="1600200"/>
          </a:xfrm>
          <a:prstGeom prst="roundRect">
            <a:avLst>
              <a:gd name="adj" fmla="val 8571"/>
            </a:avLst>
          </a:prstGeom>
          <a:solidFill>
            <a:schemeClr val="bg2"/>
          </a:solidFill>
          <a:ln/>
        </p:spPr>
      </p:sp>
      <p:sp>
        <p:nvSpPr>
          <p:cNvPr id="6" name="text-93"/>
          <p:cNvSpPr txBox="1"/>
          <p:nvPr/>
        </p:nvSpPr>
        <p:spPr>
          <a:xfrm>
            <a:off x="777240" y="18288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B1</a:t>
            </a:r>
            <a:endParaRPr lang="en-US" sz="2800" dirty="0"/>
          </a:p>
        </p:txBody>
      </p:sp>
      <p:sp>
        <p:nvSpPr>
          <p:cNvPr id="7" name="card-94"/>
          <p:cNvSpPr/>
          <p:nvPr/>
        </p:nvSpPr>
        <p:spPr>
          <a:xfrm>
            <a:off x="2286000" y="1847088"/>
            <a:ext cx="685800" cy="457200"/>
          </a:xfrm>
          <a:prstGeom prst="roundRect">
            <a:avLst>
              <a:gd name="adj" fmla="val 30000"/>
            </a:avLst>
          </a:prstGeom>
          <a:solidFill>
            <a:schemeClr val="accent4"/>
          </a:solidFill>
          <a:ln/>
        </p:spPr>
      </p:sp>
      <p:sp>
        <p:nvSpPr>
          <p:cNvPr id="8" name="text-95"/>
          <p:cNvSpPr txBox="1"/>
          <p:nvPr/>
        </p:nvSpPr>
        <p:spPr>
          <a:xfrm>
            <a:off x="228600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M1</a:t>
            </a:r>
            <a:endParaRPr lang="en-US" sz="2400" dirty="0"/>
          </a:p>
        </p:txBody>
      </p:sp>
      <p:sp>
        <p:nvSpPr>
          <p:cNvPr id="9" name="text-96"/>
          <p:cNvSpPr txBox="1"/>
          <p:nvPr/>
        </p:nvSpPr>
        <p:spPr>
          <a:xfrm>
            <a:off x="77724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tài</a:t>
            </a:r>
            <a:endParaRPr lang="en-US" sz="2400" dirty="0"/>
          </a:p>
        </p:txBody>
      </p:sp>
      <p:sp>
        <p:nvSpPr>
          <p:cNvPr id="10" name="card-97"/>
          <p:cNvSpPr/>
          <p:nvPr/>
        </p:nvSpPr>
        <p:spPr>
          <a:xfrm>
            <a:off x="3367735" y="1691640"/>
            <a:ext cx="2606040" cy="1600200"/>
          </a:xfrm>
          <a:prstGeom prst="roundRect">
            <a:avLst>
              <a:gd name="adj" fmla="val 8571"/>
            </a:avLst>
          </a:prstGeom>
          <a:solidFill>
            <a:schemeClr val="bg2"/>
          </a:solidFill>
          <a:ln/>
        </p:spPr>
      </p:sp>
      <p:sp>
        <p:nvSpPr>
          <p:cNvPr id="11" name="text-98"/>
          <p:cNvSpPr txBox="1"/>
          <p:nvPr/>
        </p:nvSpPr>
        <p:spPr>
          <a:xfrm>
            <a:off x="3596335" y="18288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B2–3</a:t>
            </a:r>
            <a:endParaRPr lang="en-US" sz="2800" dirty="0"/>
          </a:p>
        </p:txBody>
      </p:sp>
      <p:sp>
        <p:nvSpPr>
          <p:cNvPr id="12" name="card-99"/>
          <p:cNvSpPr/>
          <p:nvPr/>
        </p:nvSpPr>
        <p:spPr>
          <a:xfrm>
            <a:off x="5105095" y="1847088"/>
            <a:ext cx="685800" cy="457200"/>
          </a:xfrm>
          <a:prstGeom prst="roundRect">
            <a:avLst>
              <a:gd name="adj" fmla="val 30000"/>
            </a:avLst>
          </a:prstGeom>
          <a:solidFill>
            <a:schemeClr val="accent4"/>
          </a:solidFill>
          <a:ln/>
        </p:spPr>
      </p:sp>
      <p:sp>
        <p:nvSpPr>
          <p:cNvPr id="13" name="text-100"/>
          <p:cNvSpPr txBox="1"/>
          <p:nvPr/>
        </p:nvSpPr>
        <p:spPr>
          <a:xfrm>
            <a:off x="5105095"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M2</a:t>
            </a:r>
            <a:endParaRPr lang="en-US" sz="2400" dirty="0"/>
          </a:p>
        </p:txBody>
      </p:sp>
      <p:sp>
        <p:nvSpPr>
          <p:cNvPr id="14" name="text-101"/>
          <p:cNvSpPr txBox="1"/>
          <p:nvPr/>
        </p:nvSpPr>
        <p:spPr>
          <a:xfrm>
            <a:off x="3596335"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Tài liệu</a:t>
            </a:r>
            <a:endParaRPr lang="en-US" sz="2400" dirty="0"/>
          </a:p>
        </p:txBody>
      </p:sp>
      <p:sp>
        <p:nvSpPr>
          <p:cNvPr id="15" name="card-102"/>
          <p:cNvSpPr/>
          <p:nvPr/>
        </p:nvSpPr>
        <p:spPr>
          <a:xfrm>
            <a:off x="6186830" y="1691640"/>
            <a:ext cx="2606040" cy="1600200"/>
          </a:xfrm>
          <a:prstGeom prst="roundRect">
            <a:avLst>
              <a:gd name="adj" fmla="val 8571"/>
            </a:avLst>
          </a:prstGeom>
          <a:solidFill>
            <a:schemeClr val="bg2"/>
          </a:solidFill>
          <a:ln/>
        </p:spPr>
      </p:sp>
      <p:sp>
        <p:nvSpPr>
          <p:cNvPr id="16" name="text-103"/>
          <p:cNvSpPr txBox="1"/>
          <p:nvPr/>
        </p:nvSpPr>
        <p:spPr>
          <a:xfrm>
            <a:off x="6415430" y="18288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B4–5</a:t>
            </a:r>
            <a:endParaRPr lang="en-US" sz="2800" dirty="0"/>
          </a:p>
        </p:txBody>
      </p:sp>
      <p:sp>
        <p:nvSpPr>
          <p:cNvPr id="17" name="card-104"/>
          <p:cNvSpPr/>
          <p:nvPr/>
        </p:nvSpPr>
        <p:spPr>
          <a:xfrm>
            <a:off x="7924190" y="1847088"/>
            <a:ext cx="685800" cy="457200"/>
          </a:xfrm>
          <a:prstGeom prst="roundRect">
            <a:avLst>
              <a:gd name="adj" fmla="val 30000"/>
            </a:avLst>
          </a:prstGeom>
          <a:solidFill>
            <a:schemeClr val="accent4"/>
          </a:solidFill>
          <a:ln/>
        </p:spPr>
      </p:sp>
      <p:sp>
        <p:nvSpPr>
          <p:cNvPr id="18" name="text-105"/>
          <p:cNvSpPr txBox="1"/>
          <p:nvPr/>
        </p:nvSpPr>
        <p:spPr>
          <a:xfrm>
            <a:off x="792419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M3</a:t>
            </a:r>
            <a:endParaRPr lang="en-US" sz="2400" dirty="0"/>
          </a:p>
        </p:txBody>
      </p:sp>
      <p:sp>
        <p:nvSpPr>
          <p:cNvPr id="19" name="text-106"/>
          <p:cNvSpPr txBox="1"/>
          <p:nvPr/>
        </p:nvSpPr>
        <p:spPr>
          <a:xfrm>
            <a:off x="641543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AI, chọn hướng</a:t>
            </a:r>
            <a:endParaRPr lang="en-US" sz="2400" dirty="0"/>
          </a:p>
        </p:txBody>
      </p:sp>
      <p:sp>
        <p:nvSpPr>
          <p:cNvPr id="20" name="card-107"/>
          <p:cNvSpPr/>
          <p:nvPr/>
        </p:nvSpPr>
        <p:spPr>
          <a:xfrm>
            <a:off x="9005926" y="1691640"/>
            <a:ext cx="2606040" cy="1600200"/>
          </a:xfrm>
          <a:prstGeom prst="roundRect">
            <a:avLst>
              <a:gd name="adj" fmla="val 8571"/>
            </a:avLst>
          </a:prstGeom>
          <a:solidFill>
            <a:schemeClr val="bg2"/>
          </a:solidFill>
          <a:ln/>
        </p:spPr>
      </p:sp>
      <p:sp>
        <p:nvSpPr>
          <p:cNvPr id="21" name="text-108"/>
          <p:cNvSpPr txBox="1"/>
          <p:nvPr/>
        </p:nvSpPr>
        <p:spPr>
          <a:xfrm>
            <a:off x="9234526" y="1828800"/>
            <a:ext cx="1645920" cy="502920"/>
          </a:xfrm>
          <a:prstGeom prst="rect">
            <a:avLst/>
          </a:prstGeom>
          <a:noFill/>
          <a:ln/>
        </p:spPr>
        <p:txBody>
          <a:bodyPr wrap="square" lIns="0" tIns="0" rIns="0" bIns="0" rtlCol="0" anchor="t"/>
          <a:lstStyle/>
          <a:p>
            <a:pPr indent="0" marL="0">
              <a:buNone/>
            </a:pPr>
            <a:r>
              <a:rPr lang="en-US" sz="2800" b="1" dirty="0">
                <a:solidFill>
                  <a:schemeClr val="accent6"/>
                </a:solidFill>
              </a:rPr>
              <a:t>B6</a:t>
            </a:r>
            <a:endParaRPr lang="en-US" sz="2800" dirty="0"/>
          </a:p>
        </p:txBody>
      </p:sp>
      <p:sp>
        <p:nvSpPr>
          <p:cNvPr id="22" name="card-109"/>
          <p:cNvSpPr/>
          <p:nvPr/>
        </p:nvSpPr>
        <p:spPr>
          <a:xfrm>
            <a:off x="10743286" y="1847088"/>
            <a:ext cx="685800" cy="457200"/>
          </a:xfrm>
          <a:prstGeom prst="roundRect">
            <a:avLst>
              <a:gd name="adj" fmla="val 30000"/>
            </a:avLst>
          </a:prstGeom>
          <a:solidFill>
            <a:schemeClr val="accent4"/>
          </a:solidFill>
          <a:ln/>
        </p:spPr>
      </p:sp>
      <p:sp>
        <p:nvSpPr>
          <p:cNvPr id="23" name="text-110"/>
          <p:cNvSpPr txBox="1"/>
          <p:nvPr/>
        </p:nvSpPr>
        <p:spPr>
          <a:xfrm>
            <a:off x="10743286"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M4</a:t>
            </a:r>
            <a:endParaRPr lang="en-US" sz="2400" dirty="0"/>
          </a:p>
        </p:txBody>
      </p:sp>
      <p:sp>
        <p:nvSpPr>
          <p:cNvPr id="24" name="text-111"/>
          <p:cNvSpPr txBox="1"/>
          <p:nvPr/>
        </p:nvSpPr>
        <p:spPr>
          <a:xfrm>
            <a:off x="9234526"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cương</a:t>
            </a:r>
            <a:endParaRPr lang="en-US" sz="2400" dirty="0"/>
          </a:p>
        </p:txBody>
      </p:sp>
      <p:sp>
        <p:nvSpPr>
          <p:cNvPr id="25" name="card-112"/>
          <p:cNvSpPr/>
          <p:nvPr/>
        </p:nvSpPr>
        <p:spPr>
          <a:xfrm>
            <a:off x="548640" y="3520440"/>
            <a:ext cx="2606040" cy="1600200"/>
          </a:xfrm>
          <a:prstGeom prst="roundRect">
            <a:avLst>
              <a:gd name="adj" fmla="val 8571"/>
            </a:avLst>
          </a:prstGeom>
          <a:solidFill>
            <a:schemeClr val="bg2"/>
          </a:solidFill>
          <a:ln/>
        </p:spPr>
      </p:sp>
      <p:sp>
        <p:nvSpPr>
          <p:cNvPr id="26" name="text-113"/>
          <p:cNvSpPr txBox="1"/>
          <p:nvPr/>
        </p:nvSpPr>
        <p:spPr>
          <a:xfrm>
            <a:off x="777240" y="36576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B7–9</a:t>
            </a:r>
            <a:endParaRPr lang="en-US" sz="2800" dirty="0"/>
          </a:p>
        </p:txBody>
      </p:sp>
      <p:sp>
        <p:nvSpPr>
          <p:cNvPr id="27" name="text-114"/>
          <p:cNvSpPr txBox="1"/>
          <p:nvPr/>
        </p:nvSpPr>
        <p:spPr>
          <a:xfrm>
            <a:off x="77724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Phương pháp, mẫu, thang đo</a:t>
            </a:r>
            <a:endParaRPr lang="en-US" sz="2400" dirty="0"/>
          </a:p>
        </p:txBody>
      </p:sp>
      <p:sp>
        <p:nvSpPr>
          <p:cNvPr id="28" name="card-115"/>
          <p:cNvSpPr/>
          <p:nvPr/>
        </p:nvSpPr>
        <p:spPr>
          <a:xfrm>
            <a:off x="3367735" y="3520440"/>
            <a:ext cx="2606040" cy="1600200"/>
          </a:xfrm>
          <a:prstGeom prst="roundRect">
            <a:avLst>
              <a:gd name="adj" fmla="val 8571"/>
            </a:avLst>
          </a:prstGeom>
          <a:solidFill>
            <a:schemeClr val="bg2"/>
          </a:solidFill>
          <a:ln/>
        </p:spPr>
      </p:sp>
      <p:sp>
        <p:nvSpPr>
          <p:cNvPr id="29" name="text-116"/>
          <p:cNvSpPr txBox="1"/>
          <p:nvPr/>
        </p:nvSpPr>
        <p:spPr>
          <a:xfrm>
            <a:off x="3596335" y="36576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B10–12</a:t>
            </a:r>
            <a:endParaRPr lang="en-US" sz="2800" dirty="0"/>
          </a:p>
        </p:txBody>
      </p:sp>
      <p:sp>
        <p:nvSpPr>
          <p:cNvPr id="30" name="text-117"/>
          <p:cNvSpPr txBox="1"/>
          <p:nvPr/>
        </p:nvSpPr>
        <p:spPr>
          <a:xfrm>
            <a:off x="3596335"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Bảng hỏi, phát hành sau B11</a:t>
            </a:r>
            <a:endParaRPr lang="en-US" sz="2400" dirty="0"/>
          </a:p>
        </p:txBody>
      </p:sp>
      <p:sp>
        <p:nvSpPr>
          <p:cNvPr id="31" name="card-118"/>
          <p:cNvSpPr/>
          <p:nvPr/>
        </p:nvSpPr>
        <p:spPr>
          <a:xfrm>
            <a:off x="6186830" y="3520440"/>
            <a:ext cx="2606040" cy="1600200"/>
          </a:xfrm>
          <a:prstGeom prst="roundRect">
            <a:avLst>
              <a:gd name="adj" fmla="val 8571"/>
            </a:avLst>
          </a:prstGeom>
          <a:solidFill>
            <a:schemeClr val="bg2"/>
          </a:solidFill>
          <a:ln/>
        </p:spPr>
      </p:sp>
      <p:sp>
        <p:nvSpPr>
          <p:cNvPr id="32" name="text-119"/>
          <p:cNvSpPr txBox="1"/>
          <p:nvPr/>
        </p:nvSpPr>
        <p:spPr>
          <a:xfrm>
            <a:off x="6415430" y="36576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B13</a:t>
            </a:r>
            <a:endParaRPr lang="en-US" sz="2800" dirty="0"/>
          </a:p>
        </p:txBody>
      </p:sp>
      <p:sp>
        <p:nvSpPr>
          <p:cNvPr id="33" name="text-120"/>
          <p:cNvSpPr txBox="1"/>
          <p:nvPr/>
        </p:nvSpPr>
        <p:spPr>
          <a:xfrm>
            <a:off x="641543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Phân tích</a:t>
            </a:r>
            <a:endParaRPr lang="en-US" sz="2400" dirty="0"/>
          </a:p>
        </p:txBody>
      </p:sp>
      <p:sp>
        <p:nvSpPr>
          <p:cNvPr id="34" name="card-121"/>
          <p:cNvSpPr/>
          <p:nvPr/>
        </p:nvSpPr>
        <p:spPr>
          <a:xfrm>
            <a:off x="9005926" y="3520440"/>
            <a:ext cx="2606040" cy="1600200"/>
          </a:xfrm>
          <a:prstGeom prst="roundRect">
            <a:avLst>
              <a:gd name="adj" fmla="val 8571"/>
            </a:avLst>
          </a:prstGeom>
          <a:solidFill>
            <a:schemeClr val="bg2"/>
          </a:solidFill>
          <a:ln/>
        </p:spPr>
      </p:sp>
      <p:sp>
        <p:nvSpPr>
          <p:cNvPr id="35" name="text-122"/>
          <p:cNvSpPr txBox="1"/>
          <p:nvPr/>
        </p:nvSpPr>
        <p:spPr>
          <a:xfrm>
            <a:off x="9234526" y="3657600"/>
            <a:ext cx="1645920" cy="502920"/>
          </a:xfrm>
          <a:prstGeom prst="rect">
            <a:avLst/>
          </a:prstGeom>
          <a:noFill/>
          <a:ln/>
        </p:spPr>
        <p:txBody>
          <a:bodyPr wrap="square" lIns="0" tIns="0" rIns="0" bIns="0" rtlCol="0" anchor="t"/>
          <a:lstStyle/>
          <a:p>
            <a:pPr indent="0" marL="0">
              <a:buNone/>
            </a:pPr>
            <a:r>
              <a:rPr lang="en-US" sz="2800" b="1" dirty="0">
                <a:solidFill>
                  <a:schemeClr val="accent3"/>
                </a:solidFill>
              </a:rPr>
              <a:t>B14–15</a:t>
            </a:r>
            <a:endParaRPr lang="en-US" sz="2800" dirty="0"/>
          </a:p>
        </p:txBody>
      </p:sp>
      <p:sp>
        <p:nvSpPr>
          <p:cNvPr id="36" name="text-123"/>
          <p:cNvSpPr txBox="1"/>
          <p:nvPr/>
        </p:nvSpPr>
        <p:spPr>
          <a:xfrm>
            <a:off x="9234526"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Thi</a:t>
            </a:r>
            <a:endParaRPr lang="en-US" sz="2400" dirty="0"/>
          </a:p>
        </p:txBody>
      </p:sp>
      <p:sp>
        <p:nvSpPr>
          <p:cNvPr id="37" name="card-124"/>
          <p:cNvSpPr/>
          <p:nvPr/>
        </p:nvSpPr>
        <p:spPr>
          <a:xfrm>
            <a:off x="548640" y="5440680"/>
            <a:ext cx="5394960" cy="685800"/>
          </a:xfrm>
          <a:prstGeom prst="roundRect">
            <a:avLst>
              <a:gd name="adj" fmla="val 20000"/>
            </a:avLst>
          </a:prstGeom>
          <a:solidFill>
            <a:schemeClr val="accent6"/>
          </a:solidFill>
          <a:ln/>
        </p:spPr>
      </p:sp>
      <p:sp>
        <p:nvSpPr>
          <p:cNvPr id="38" name="text-125"/>
          <p:cNvSpPr txBox="1"/>
          <p:nvPr/>
        </p:nvSpPr>
        <p:spPr>
          <a:xfrm>
            <a:off x="822960"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Giữa kỳ: trước B11</a:t>
            </a:r>
            <a:endParaRPr lang="en-US" sz="2400" dirty="0"/>
          </a:p>
        </p:txBody>
      </p:sp>
      <p:sp>
        <p:nvSpPr>
          <p:cNvPr id="39" name="card-126"/>
          <p:cNvSpPr/>
          <p:nvPr/>
        </p:nvSpPr>
        <p:spPr>
          <a:xfrm>
            <a:off x="6245352" y="5440680"/>
            <a:ext cx="5394960" cy="685800"/>
          </a:xfrm>
          <a:prstGeom prst="roundRect">
            <a:avLst>
              <a:gd name="adj" fmla="val 20000"/>
            </a:avLst>
          </a:prstGeom>
          <a:solidFill>
            <a:schemeClr val="accent3"/>
          </a:solidFill>
          <a:ln/>
        </p:spPr>
      </p:sp>
      <p:sp>
        <p:nvSpPr>
          <p:cNvPr id="40" name="text-127"/>
          <p:cNvSpPr txBox="1"/>
          <p:nvPr/>
        </p:nvSpPr>
        <p:spPr>
          <a:xfrm>
            <a:off x="6519672"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Hạn thu dữ liệu: trước B13</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70% điểm đến từ sản phẩm nghiên cứu của nhóm</a:t>
            </a:r>
            <a:endParaRPr lang="en-US" sz="3000" dirty="0"/>
          </a:p>
        </p:txBody>
      </p:sp>
      <p:sp>
        <p:nvSpPr>
          <p:cNvPr id="4" name="card-128"/>
          <p:cNvSpPr/>
          <p:nvPr/>
        </p:nvSpPr>
        <p:spPr>
          <a:xfrm>
            <a:off x="548640" y="1737360"/>
            <a:ext cx="7680960" cy="777240"/>
          </a:xfrm>
          <a:prstGeom prst="roundRect">
            <a:avLst>
              <a:gd name="adj" fmla="val 17647"/>
            </a:avLst>
          </a:prstGeom>
          <a:solidFill>
            <a:schemeClr val="bg2"/>
          </a:solidFill>
          <a:ln/>
        </p:spPr>
      </p:sp>
      <p:sp>
        <p:nvSpPr>
          <p:cNvPr id="5" name="text-129"/>
          <p:cNvSpPr txBox="1"/>
          <p:nvPr/>
        </p:nvSpPr>
        <p:spPr>
          <a:xfrm>
            <a:off x="868680" y="1737360"/>
            <a:ext cx="5120640" cy="777240"/>
          </a:xfrm>
          <a:prstGeom prst="rect">
            <a:avLst/>
          </a:prstGeom>
          <a:noFill/>
          <a:ln/>
        </p:spPr>
        <p:txBody>
          <a:bodyPr wrap="square" lIns="0" tIns="0" rIns="0" bIns="0" rtlCol="0" anchor="ctr"/>
          <a:lstStyle/>
          <a:p>
            <a:pPr indent="0" marL="0">
              <a:buNone/>
            </a:pPr>
            <a:r>
              <a:rPr lang="en-US" sz="2600" dirty="0">
                <a:solidFill>
                  <a:schemeClr val="tx1"/>
                </a:solidFill>
              </a:rPr>
              <a:t>Chuyên cần</a:t>
            </a:r>
            <a:endParaRPr lang="en-US" sz="2600" dirty="0"/>
          </a:p>
        </p:txBody>
      </p:sp>
      <p:sp>
        <p:nvSpPr>
          <p:cNvPr id="6" name="text-130"/>
          <p:cNvSpPr txBox="1"/>
          <p:nvPr/>
        </p:nvSpPr>
        <p:spPr>
          <a:xfrm>
            <a:off x="6035040" y="1737360"/>
            <a:ext cx="1920240" cy="777240"/>
          </a:xfrm>
          <a:prstGeom prst="rect">
            <a:avLst/>
          </a:prstGeom>
          <a:noFill/>
          <a:ln/>
        </p:spPr>
        <p:txBody>
          <a:bodyPr wrap="square" lIns="0" tIns="0" rIns="0" bIns="0" rtlCol="0" anchor="ctr"/>
          <a:lstStyle/>
          <a:p>
            <a:pPr algn="r" indent="0" marL="0">
              <a:buNone/>
            </a:pPr>
            <a:r>
              <a:rPr lang="en-US" sz="3600" b="1" dirty="0">
                <a:solidFill>
                  <a:schemeClr val="tx2"/>
                </a:solidFill>
              </a:rPr>
              <a:t>10%</a:t>
            </a:r>
            <a:endParaRPr lang="en-US" sz="3600" dirty="0"/>
          </a:p>
        </p:txBody>
      </p:sp>
      <p:sp>
        <p:nvSpPr>
          <p:cNvPr id="7" name="card-131"/>
          <p:cNvSpPr/>
          <p:nvPr/>
        </p:nvSpPr>
        <p:spPr>
          <a:xfrm>
            <a:off x="548640" y="2651760"/>
            <a:ext cx="7680960" cy="777240"/>
          </a:xfrm>
          <a:prstGeom prst="roundRect">
            <a:avLst>
              <a:gd name="adj" fmla="val 17647"/>
            </a:avLst>
          </a:prstGeom>
          <a:solidFill>
            <a:schemeClr val="bg2"/>
          </a:solidFill>
          <a:ln/>
        </p:spPr>
      </p:sp>
      <p:sp>
        <p:nvSpPr>
          <p:cNvPr id="8" name="text-132"/>
          <p:cNvSpPr txBox="1"/>
          <p:nvPr/>
        </p:nvSpPr>
        <p:spPr>
          <a:xfrm>
            <a:off x="868680" y="2651760"/>
            <a:ext cx="5120640" cy="777240"/>
          </a:xfrm>
          <a:prstGeom prst="rect">
            <a:avLst/>
          </a:prstGeom>
          <a:noFill/>
          <a:ln/>
        </p:spPr>
        <p:txBody>
          <a:bodyPr wrap="square" lIns="0" tIns="0" rIns="0" bIns="0" rtlCol="0" anchor="ctr"/>
          <a:lstStyle/>
          <a:p>
            <a:pPr indent="0" marL="0">
              <a:buNone/>
            </a:pPr>
            <a:r>
              <a:rPr lang="en-US" sz="2600" dirty="0">
                <a:solidFill>
                  <a:schemeClr val="tx1"/>
                </a:solidFill>
              </a:rPr>
              <a:t>Bài tập nhóm M1–M4</a:t>
            </a:r>
            <a:endParaRPr lang="en-US" sz="2600" dirty="0"/>
          </a:p>
        </p:txBody>
      </p:sp>
      <p:sp>
        <p:nvSpPr>
          <p:cNvPr id="9" name="text-133"/>
          <p:cNvSpPr txBox="1"/>
          <p:nvPr/>
        </p:nvSpPr>
        <p:spPr>
          <a:xfrm>
            <a:off x="6035040" y="2651760"/>
            <a:ext cx="1920240" cy="777240"/>
          </a:xfrm>
          <a:prstGeom prst="rect">
            <a:avLst/>
          </a:prstGeom>
          <a:noFill/>
          <a:ln/>
        </p:spPr>
        <p:txBody>
          <a:bodyPr wrap="square" lIns="0" tIns="0" rIns="0" bIns="0" rtlCol="0" anchor="ctr"/>
          <a:lstStyle/>
          <a:p>
            <a:pPr algn="r" indent="0" marL="0">
              <a:buNone/>
            </a:pPr>
            <a:r>
              <a:rPr lang="en-US" sz="3600" b="1" dirty="0">
                <a:solidFill>
                  <a:schemeClr val="accent1"/>
                </a:solidFill>
              </a:rPr>
              <a:t>20%</a:t>
            </a:r>
            <a:endParaRPr lang="en-US" sz="3600" dirty="0"/>
          </a:p>
        </p:txBody>
      </p:sp>
      <p:sp>
        <p:nvSpPr>
          <p:cNvPr id="10" name="card-134"/>
          <p:cNvSpPr/>
          <p:nvPr/>
        </p:nvSpPr>
        <p:spPr>
          <a:xfrm>
            <a:off x="548640" y="3566160"/>
            <a:ext cx="7680960" cy="777240"/>
          </a:xfrm>
          <a:prstGeom prst="roundRect">
            <a:avLst>
              <a:gd name="adj" fmla="val 17647"/>
            </a:avLst>
          </a:prstGeom>
          <a:solidFill>
            <a:schemeClr val="bg2"/>
          </a:solidFill>
          <a:ln/>
        </p:spPr>
      </p:sp>
      <p:sp>
        <p:nvSpPr>
          <p:cNvPr id="11" name="text-135"/>
          <p:cNvSpPr txBox="1"/>
          <p:nvPr/>
        </p:nvSpPr>
        <p:spPr>
          <a:xfrm>
            <a:off x="868680" y="3566160"/>
            <a:ext cx="5120640" cy="777240"/>
          </a:xfrm>
          <a:prstGeom prst="rect">
            <a:avLst/>
          </a:prstGeom>
          <a:noFill/>
          <a:ln/>
        </p:spPr>
        <p:txBody>
          <a:bodyPr wrap="square" lIns="0" tIns="0" rIns="0" bIns="0" rtlCol="0" anchor="ctr"/>
          <a:lstStyle/>
          <a:p>
            <a:pPr indent="0" marL="0">
              <a:buNone/>
            </a:pPr>
            <a:r>
              <a:rPr lang="en-US" sz="2600" dirty="0">
                <a:solidFill>
                  <a:schemeClr val="tx1"/>
                </a:solidFill>
              </a:rPr>
              <a:t>Giữa kỳ (nộp LMS)</a:t>
            </a:r>
            <a:endParaRPr lang="en-US" sz="2600" dirty="0"/>
          </a:p>
        </p:txBody>
      </p:sp>
      <p:sp>
        <p:nvSpPr>
          <p:cNvPr id="12" name="text-136"/>
          <p:cNvSpPr txBox="1"/>
          <p:nvPr/>
        </p:nvSpPr>
        <p:spPr>
          <a:xfrm>
            <a:off x="6035040" y="3566160"/>
            <a:ext cx="1920240" cy="777240"/>
          </a:xfrm>
          <a:prstGeom prst="rect">
            <a:avLst/>
          </a:prstGeom>
          <a:noFill/>
          <a:ln/>
        </p:spPr>
        <p:txBody>
          <a:bodyPr wrap="square" lIns="0" tIns="0" rIns="0" bIns="0" rtlCol="0" anchor="ctr"/>
          <a:lstStyle/>
          <a:p>
            <a:pPr algn="r" indent="0" marL="0">
              <a:buNone/>
            </a:pPr>
            <a:r>
              <a:rPr lang="en-US" sz="3600" b="1" dirty="0">
                <a:solidFill>
                  <a:schemeClr val="accent5"/>
                </a:solidFill>
              </a:rPr>
              <a:t>20%</a:t>
            </a:r>
            <a:endParaRPr lang="en-US" sz="3600" dirty="0"/>
          </a:p>
        </p:txBody>
      </p:sp>
      <p:sp>
        <p:nvSpPr>
          <p:cNvPr id="13" name="card-137"/>
          <p:cNvSpPr/>
          <p:nvPr/>
        </p:nvSpPr>
        <p:spPr>
          <a:xfrm>
            <a:off x="548640" y="4480560"/>
            <a:ext cx="7680960" cy="777240"/>
          </a:xfrm>
          <a:prstGeom prst="roundRect">
            <a:avLst>
              <a:gd name="adj" fmla="val 17647"/>
            </a:avLst>
          </a:prstGeom>
          <a:solidFill>
            <a:schemeClr val="bg2"/>
          </a:solidFill>
          <a:ln/>
        </p:spPr>
      </p:sp>
      <p:sp>
        <p:nvSpPr>
          <p:cNvPr id="14" name="text-138"/>
          <p:cNvSpPr txBox="1"/>
          <p:nvPr/>
        </p:nvSpPr>
        <p:spPr>
          <a:xfrm>
            <a:off x="868680" y="4480560"/>
            <a:ext cx="5120640" cy="777240"/>
          </a:xfrm>
          <a:prstGeom prst="rect">
            <a:avLst/>
          </a:prstGeom>
          <a:noFill/>
          <a:ln/>
        </p:spPr>
        <p:txBody>
          <a:bodyPr wrap="square" lIns="0" tIns="0" rIns="0" bIns="0" rtlCol="0" anchor="ctr"/>
          <a:lstStyle/>
          <a:p>
            <a:pPr indent="0" marL="0">
              <a:buNone/>
            </a:pPr>
            <a:r>
              <a:rPr lang="en-US" sz="2600" dirty="0">
                <a:solidFill>
                  <a:schemeClr val="tx1"/>
                </a:solidFill>
              </a:rPr>
              <a:t>Tiểu luận nhóm</a:t>
            </a:r>
            <a:endParaRPr lang="en-US" sz="2600" dirty="0"/>
          </a:p>
        </p:txBody>
      </p:sp>
      <p:sp>
        <p:nvSpPr>
          <p:cNvPr id="15" name="text-139"/>
          <p:cNvSpPr txBox="1"/>
          <p:nvPr/>
        </p:nvSpPr>
        <p:spPr>
          <a:xfrm>
            <a:off x="6035040" y="4480560"/>
            <a:ext cx="1920240" cy="777240"/>
          </a:xfrm>
          <a:prstGeom prst="rect">
            <a:avLst/>
          </a:prstGeom>
          <a:noFill/>
          <a:ln/>
        </p:spPr>
        <p:txBody>
          <a:bodyPr wrap="square" lIns="0" tIns="0" rIns="0" bIns="0" rtlCol="0" anchor="ctr"/>
          <a:lstStyle/>
          <a:p>
            <a:pPr algn="r" indent="0" marL="0">
              <a:buNone/>
            </a:pPr>
            <a:r>
              <a:rPr lang="en-US" sz="3600" b="1" dirty="0">
                <a:solidFill>
                  <a:schemeClr val="accent2"/>
                </a:solidFill>
              </a:rPr>
              <a:t>50%</a:t>
            </a:r>
            <a:endParaRPr lang="en-US" sz="3600" dirty="0"/>
          </a:p>
        </p:txBody>
      </p:sp>
      <p:sp>
        <p:nvSpPr>
          <p:cNvPr id="16" name="line-140"/>
          <p:cNvSpPr/>
          <p:nvPr/>
        </p:nvSpPr>
        <p:spPr>
          <a:xfrm>
            <a:off x="8503920" y="2697480"/>
            <a:ext cx="228600" cy="0"/>
          </a:xfrm>
          <a:prstGeom prst="line">
            <a:avLst/>
          </a:prstGeom>
          <a:noFill/>
          <a:ln w="38100">
            <a:solidFill>
              <a:schemeClr val="accent2"/>
            </a:solidFill>
            <a:prstDash val="solid"/>
          </a:ln>
        </p:spPr>
      </p:sp>
      <p:sp>
        <p:nvSpPr>
          <p:cNvPr id="17" name="line-141"/>
          <p:cNvSpPr/>
          <p:nvPr/>
        </p:nvSpPr>
        <p:spPr>
          <a:xfrm>
            <a:off x="8732520" y="2697480"/>
            <a:ext cx="0" cy="2560320"/>
          </a:xfrm>
          <a:prstGeom prst="line">
            <a:avLst/>
          </a:prstGeom>
          <a:noFill/>
          <a:ln w="38100">
            <a:solidFill>
              <a:schemeClr val="accent2"/>
            </a:solidFill>
            <a:prstDash val="solid"/>
          </a:ln>
        </p:spPr>
      </p:sp>
      <p:sp>
        <p:nvSpPr>
          <p:cNvPr id="18" name="line-142"/>
          <p:cNvSpPr/>
          <p:nvPr/>
        </p:nvSpPr>
        <p:spPr>
          <a:xfrm>
            <a:off x="8503920" y="5257800"/>
            <a:ext cx="228600" cy="0"/>
          </a:xfrm>
          <a:prstGeom prst="line">
            <a:avLst/>
          </a:prstGeom>
          <a:noFill/>
          <a:ln w="38100">
            <a:solidFill>
              <a:schemeClr val="accent2"/>
            </a:solidFill>
            <a:prstDash val="solid"/>
          </a:ln>
        </p:spPr>
      </p:sp>
      <p:sp>
        <p:nvSpPr>
          <p:cNvPr id="19" name="text-143"/>
          <p:cNvSpPr txBox="1"/>
          <p:nvPr/>
        </p:nvSpPr>
        <p:spPr>
          <a:xfrm>
            <a:off x="8961120" y="3429000"/>
            <a:ext cx="2651760" cy="1097280"/>
          </a:xfrm>
          <a:prstGeom prst="rect">
            <a:avLst/>
          </a:prstGeom>
          <a:noFill/>
          <a:ln/>
        </p:spPr>
        <p:txBody>
          <a:bodyPr wrap="square" lIns="0" tIns="0" rIns="0" bIns="0" rtlCol="0" anchor="ctr"/>
          <a:lstStyle/>
          <a:p>
            <a:pPr indent="0" marL="0">
              <a:buNone/>
            </a:pPr>
            <a:r>
              <a:rPr lang="en-US" sz="6000" b="1" dirty="0">
                <a:solidFill>
                  <a:schemeClr val="accent2"/>
                </a:solidFill>
              </a:rPr>
              <a:t>70%</a:t>
            </a:r>
            <a:endParaRPr lang="en-US" sz="6000" dirty="0"/>
          </a:p>
        </p:txBody>
      </p:sp>
      <p:sp>
        <p:nvSpPr>
          <p:cNvPr id="20" name="text-144"/>
          <p:cNvSpPr txBox="1"/>
          <p:nvPr/>
        </p:nvSpPr>
        <p:spPr>
          <a:xfrm>
            <a:off x="548640" y="5623560"/>
            <a:ext cx="8229600" cy="548640"/>
          </a:xfrm>
          <a:prstGeom prst="rect">
            <a:avLst/>
          </a:prstGeom>
          <a:noFill/>
          <a:ln/>
        </p:spPr>
        <p:txBody>
          <a:bodyPr wrap="square" lIns="0" tIns="0" rIns="0" bIns="0" rtlCol="0" anchor="t"/>
          <a:lstStyle/>
          <a:p>
            <a:pPr indent="0" marL="0">
              <a:buNone/>
            </a:pPr>
            <a:r>
              <a:rPr lang="en-US" sz="2400" b="1" dirty="0">
                <a:solidFill>
                  <a:schemeClr val="accent1"/>
                </a:solidFill>
              </a:rPr>
              <a:t>Phân tích nâng cao → điểm cộng.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Được dùng AI, nhưng phải khai báo và tự kiểm chứng; trích dẫn theo APA 7</a:t>
            </a:r>
            <a:endParaRPr lang="en-US" sz="3000" dirty="0"/>
          </a:p>
        </p:txBody>
      </p:sp>
      <p:sp>
        <p:nvSpPr>
          <p:cNvPr id="4" name="card-145"/>
          <p:cNvSpPr/>
          <p:nvPr/>
        </p:nvSpPr>
        <p:spPr>
          <a:xfrm>
            <a:off x="548640" y="1783080"/>
            <a:ext cx="6035040" cy="4343400"/>
          </a:xfrm>
          <a:prstGeom prst="roundRect">
            <a:avLst>
              <a:gd name="adj" fmla="val 3158"/>
            </a:avLst>
          </a:prstGeom>
          <a:solidFill>
            <a:schemeClr val="bg2"/>
          </a:solidFill>
          <a:ln/>
        </p:spPr>
      </p:sp>
      <p:sp>
        <p:nvSpPr>
          <p:cNvPr id="5" name="icon-bg-146"/>
          <p:cNvSpPr/>
          <p:nvPr/>
        </p:nvSpPr>
        <p:spPr>
          <a:xfrm>
            <a:off x="868680" y="2011680"/>
            <a:ext cx="868680" cy="868680"/>
          </a:xfrm>
          <a:prstGeom prst="ellipse">
            <a:avLst/>
          </a:prstGeom>
          <a:solidFill>
            <a:schemeClr val="accent5"/>
          </a:solidFill>
          <a:ln/>
        </p:spPr>
      </p:sp>
      <p:pic>
        <p:nvPicPr>
          <p:cNvPr id="6" name="icon-14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85850" y="2228850"/>
            <a:ext cx="434340" cy="434340"/>
          </a:xfrm>
          <a:prstGeom prst="rect">
            <a:avLst/>
          </a:prstGeom>
        </p:spPr>
      </p:pic>
      <p:sp>
        <p:nvSpPr>
          <p:cNvPr id="7" name="text-148"/>
          <p:cNvSpPr txBox="1"/>
          <p:nvPr/>
        </p:nvSpPr>
        <p:spPr>
          <a:xfrm>
            <a:off x="1920240" y="2011680"/>
            <a:ext cx="4114800" cy="868680"/>
          </a:xfrm>
          <a:prstGeom prst="rect">
            <a:avLst/>
          </a:prstGeom>
          <a:noFill/>
          <a:ln/>
        </p:spPr>
        <p:txBody>
          <a:bodyPr wrap="square" lIns="0" tIns="0" rIns="0" bIns="0" rtlCol="0" anchor="ctr"/>
          <a:lstStyle/>
          <a:p>
            <a:pPr indent="0" marL="0">
              <a:buNone/>
            </a:pPr>
            <a:r>
              <a:rPr lang="en-US" sz="3000" b="1" dirty="0">
                <a:solidFill>
                  <a:schemeClr val="accent5"/>
                </a:solidFill>
              </a:rPr>
              <a:t>Dùng AI</a:t>
            </a:r>
            <a:endParaRPr lang="en-US" sz="3000" dirty="0"/>
          </a:p>
        </p:txBody>
      </p:sp>
      <p:sp>
        <p:nvSpPr>
          <p:cNvPr id="8" name="text-149"/>
          <p:cNvSpPr txBox="1"/>
          <p:nvPr/>
        </p:nvSpPr>
        <p:spPr>
          <a:xfrm>
            <a:off x="914400" y="3154680"/>
            <a:ext cx="5394960" cy="265176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chemeClr val="tx1"/>
                </a:solidFill>
              </a:rPr>
              <a:t>Khai báo công cụ + mục đích</a:t>
            </a:r>
            <a:endParaRPr lang="en-US" sz="2600" dirty="0"/>
          </a:p>
          <a:p>
            <a:pPr marL="342900" indent="-342900">
              <a:spcAft>
                <a:spcPts val="1400"/>
              </a:spcAft>
              <a:buSzPct val="100000"/>
              <a:buChar char="•"/>
            </a:pPr>
            <a:r>
              <a:rPr lang="en-US" sz="2600" dirty="0">
                <a:solidFill>
                  <a:schemeClr val="tx1"/>
                </a:solidFill>
              </a:rPr>
              <a:t>Nộp nhật ký sử dụng AI</a:t>
            </a:r>
            <a:endParaRPr lang="en-US" sz="2600" dirty="0"/>
          </a:p>
          <a:p>
            <a:pPr marL="342900" indent="-342900">
              <a:spcAft>
                <a:spcPts val="1400"/>
              </a:spcAft>
              <a:buSzPct val="100000"/>
              <a:buChar char="•"/>
            </a:pPr>
            <a:r>
              <a:rPr lang="en-US" sz="2600" dirty="0">
                <a:solidFill>
                  <a:schemeClr val="tx1"/>
                </a:solidFill>
              </a:rPr>
              <a:t>Tự kiểm chứng mọi trích dẫn</a:t>
            </a:r>
            <a:endParaRPr lang="en-US" sz="2600" dirty="0"/>
          </a:p>
        </p:txBody>
      </p:sp>
      <p:sp>
        <p:nvSpPr>
          <p:cNvPr id="9" name="card-150"/>
          <p:cNvSpPr/>
          <p:nvPr/>
        </p:nvSpPr>
        <p:spPr>
          <a:xfrm>
            <a:off x="6812280" y="1783080"/>
            <a:ext cx="4828032" cy="4343400"/>
          </a:xfrm>
          <a:prstGeom prst="roundRect">
            <a:avLst>
              <a:gd name="adj" fmla="val 3158"/>
            </a:avLst>
          </a:prstGeom>
          <a:solidFill>
            <a:schemeClr val="bg2"/>
          </a:solidFill>
          <a:ln/>
        </p:spPr>
      </p:sp>
      <p:sp>
        <p:nvSpPr>
          <p:cNvPr id="10" name="icon-bg-151"/>
          <p:cNvSpPr/>
          <p:nvPr/>
        </p:nvSpPr>
        <p:spPr>
          <a:xfrm>
            <a:off x="7132320" y="2011680"/>
            <a:ext cx="868680" cy="868680"/>
          </a:xfrm>
          <a:prstGeom prst="ellipse">
            <a:avLst/>
          </a:prstGeom>
          <a:solidFill>
            <a:schemeClr val="accent1"/>
          </a:solidFill>
          <a:ln/>
        </p:spPr>
      </p:sp>
      <p:pic>
        <p:nvPicPr>
          <p:cNvPr id="11" name="icon-15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349490" y="2228850"/>
            <a:ext cx="434340" cy="434340"/>
          </a:xfrm>
          <a:prstGeom prst="rect">
            <a:avLst/>
          </a:prstGeom>
        </p:spPr>
      </p:pic>
      <p:sp>
        <p:nvSpPr>
          <p:cNvPr id="12" name="text-153"/>
          <p:cNvSpPr txBox="1"/>
          <p:nvPr/>
        </p:nvSpPr>
        <p:spPr>
          <a:xfrm>
            <a:off x="8183880" y="2011680"/>
            <a:ext cx="3200400" cy="868680"/>
          </a:xfrm>
          <a:prstGeom prst="rect">
            <a:avLst/>
          </a:prstGeom>
          <a:noFill/>
          <a:ln/>
        </p:spPr>
        <p:txBody>
          <a:bodyPr wrap="square" lIns="0" tIns="0" rIns="0" bIns="0" rtlCol="0" anchor="ctr"/>
          <a:lstStyle/>
          <a:p>
            <a:pPr indent="0" marL="0">
              <a:buNone/>
            </a:pPr>
            <a:r>
              <a:rPr lang="en-US" sz="3000" b="1" dirty="0">
                <a:solidFill>
                  <a:schemeClr val="accent1"/>
                </a:solidFill>
              </a:rPr>
              <a:t>APA 7</a:t>
            </a:r>
            <a:endParaRPr lang="en-US" sz="3000" dirty="0"/>
          </a:p>
        </p:txBody>
      </p:sp>
      <p:sp>
        <p:nvSpPr>
          <p:cNvPr id="13" name="text-154"/>
          <p:cNvSpPr txBox="1"/>
          <p:nvPr/>
        </p:nvSpPr>
        <p:spPr>
          <a:xfrm>
            <a:off x="7178040" y="3154680"/>
            <a:ext cx="4206240" cy="457200"/>
          </a:xfrm>
          <a:prstGeom prst="rect">
            <a:avLst/>
          </a:prstGeom>
          <a:noFill/>
          <a:ln/>
        </p:spPr>
        <p:txBody>
          <a:bodyPr wrap="square" lIns="0" tIns="0" rIns="0" bIns="0" rtlCol="0" anchor="t"/>
          <a:lstStyle/>
          <a:p>
            <a:pPr indent="0" marL="0">
              <a:buNone/>
            </a:pPr>
            <a:r>
              <a:rPr lang="en-US" sz="2400" dirty="0">
                <a:solidFill>
                  <a:schemeClr val="tx2"/>
                </a:solidFill>
              </a:rPr>
              <a:t>Danh mục tài liệu</a:t>
            </a:r>
            <a:endParaRPr lang="en-US" sz="2400" dirty="0"/>
          </a:p>
        </p:txBody>
      </p:sp>
      <p:sp>
        <p:nvSpPr>
          <p:cNvPr id="14" name="text-155"/>
          <p:cNvSpPr txBox="1"/>
          <p:nvPr/>
        </p:nvSpPr>
        <p:spPr>
          <a:xfrm>
            <a:off x="7178040" y="361188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Q. H. (2017)</a:t>
            </a:r>
            <a:endParaRPr lang="en-US" sz="2800" dirty="0"/>
          </a:p>
        </p:txBody>
      </p:sp>
      <p:sp>
        <p:nvSpPr>
          <p:cNvPr id="15" name="text-156"/>
          <p:cNvSpPr txBox="1"/>
          <p:nvPr/>
        </p:nvSpPr>
        <p:spPr>
          <a:xfrm>
            <a:off x="7178040" y="4434840"/>
            <a:ext cx="4206240" cy="457200"/>
          </a:xfrm>
          <a:prstGeom prst="rect">
            <a:avLst/>
          </a:prstGeom>
          <a:noFill/>
          <a:ln/>
        </p:spPr>
        <p:txBody>
          <a:bodyPr wrap="square" lIns="0" tIns="0" rIns="0" bIns="0" rtlCol="0" anchor="t"/>
          <a:lstStyle/>
          <a:p>
            <a:pPr indent="0" marL="0">
              <a:buNone/>
            </a:pPr>
            <a:r>
              <a:rPr lang="en-US" sz="2400" dirty="0">
                <a:solidFill>
                  <a:schemeClr val="tx2"/>
                </a:solidFill>
              </a:rPr>
              <a:t>Trong bài</a:t>
            </a:r>
            <a:endParaRPr lang="en-US" sz="2400" dirty="0"/>
          </a:p>
        </p:txBody>
      </p:sp>
      <p:sp>
        <p:nvSpPr>
          <p:cNvPr id="16" name="text-157"/>
          <p:cNvSpPr txBox="1"/>
          <p:nvPr/>
        </p:nvSpPr>
        <p:spPr>
          <a:xfrm>
            <a:off x="7178040" y="489204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2017)</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marketing không chỉ là gửi một bảng hỏi Google Forms</a:t>
            </a:r>
            <a:endParaRPr lang="en-US" sz="3000" dirty="0"/>
          </a:p>
        </p:txBody>
      </p:sp>
      <p:sp>
        <p:nvSpPr>
          <p:cNvPr id="4" name="icon-bg-158"/>
          <p:cNvSpPr/>
          <p:nvPr/>
        </p:nvSpPr>
        <p:spPr>
          <a:xfrm>
            <a:off x="5184648" y="1828800"/>
            <a:ext cx="1828800" cy="1828800"/>
          </a:xfrm>
          <a:prstGeom prst="ellipse">
            <a:avLst/>
          </a:prstGeom>
          <a:solidFill>
            <a:schemeClr val="accent2"/>
          </a:solidFill>
          <a:ln/>
        </p:spPr>
      </p:sp>
      <p:pic>
        <p:nvPicPr>
          <p:cNvPr id="5" name="icon-159"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641848" y="2286000"/>
            <a:ext cx="914400" cy="914400"/>
          </a:xfrm>
          <a:prstGeom prst="rect">
            <a:avLst/>
          </a:prstGeom>
        </p:spPr>
      </p:pic>
      <p:sp>
        <p:nvSpPr>
          <p:cNvPr id="6" name="text-160"/>
          <p:cNvSpPr txBox="1"/>
          <p:nvPr/>
        </p:nvSpPr>
        <p:spPr>
          <a:xfrm>
            <a:off x="548640" y="3977640"/>
            <a:ext cx="11094415" cy="1188720"/>
          </a:xfrm>
          <a:prstGeom prst="rect">
            <a:avLst/>
          </a:prstGeom>
          <a:noFill/>
          <a:ln/>
        </p:spPr>
        <p:txBody>
          <a:bodyPr wrap="square" lIns="0" tIns="0" rIns="0" bIns="0" rtlCol="0" anchor="ctr"/>
          <a:lstStyle/>
          <a:p>
            <a:pPr algn="ctr" indent="0" marL="0">
              <a:buNone/>
            </a:pPr>
            <a:r>
              <a:rPr lang="en-US" sz="4400" b="1" dirty="0">
                <a:solidFill>
                  <a:schemeClr val="accent2"/>
                </a:solidFill>
              </a:rPr>
              <a:t>Theo bạn, nghiên cứu marketing là gì?</a:t>
            </a:r>
            <a:endParaRPr lang="en-US" sz="4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tác giả, ba câu chữ — cùng một ý: có hệ thống, để ra quyết định</a:t>
            </a:r>
            <a:endParaRPr lang="en-US" sz="3000" dirty="0"/>
          </a:p>
        </p:txBody>
      </p:sp>
      <p:sp>
        <p:nvSpPr>
          <p:cNvPr id="4" name="card-161"/>
          <p:cNvSpPr/>
          <p:nvPr/>
        </p:nvSpPr>
        <p:spPr>
          <a:xfrm>
            <a:off x="548640" y="1691640"/>
            <a:ext cx="3557016" cy="731520"/>
          </a:xfrm>
          <a:prstGeom prst="roundRect">
            <a:avLst>
              <a:gd name="adj" fmla="val 18750"/>
            </a:avLst>
          </a:prstGeom>
          <a:solidFill>
            <a:schemeClr val="accent5"/>
          </a:solidFill>
          <a:ln/>
        </p:spPr>
      </p:sp>
      <p:sp>
        <p:nvSpPr>
          <p:cNvPr id="5" name="text-162"/>
          <p:cNvSpPr txBox="1"/>
          <p:nvPr/>
        </p:nvSpPr>
        <p:spPr>
          <a:xfrm>
            <a:off x="731520"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Kotler &amp; Keller</a:t>
            </a:r>
            <a:endParaRPr lang="en-US" sz="2600" dirty="0"/>
          </a:p>
        </p:txBody>
      </p:sp>
      <p:sp>
        <p:nvSpPr>
          <p:cNvPr id="6" name="card-163"/>
          <p:cNvSpPr/>
          <p:nvPr/>
        </p:nvSpPr>
        <p:spPr>
          <a:xfrm>
            <a:off x="548640" y="2560320"/>
            <a:ext cx="3557016" cy="2514600"/>
          </a:xfrm>
          <a:prstGeom prst="roundRect">
            <a:avLst>
              <a:gd name="adj" fmla="val 5455"/>
            </a:avLst>
          </a:prstGeom>
          <a:solidFill>
            <a:schemeClr val="bg2"/>
          </a:solidFill>
          <a:ln/>
        </p:spPr>
      </p:sp>
      <p:sp>
        <p:nvSpPr>
          <p:cNvPr id="7" name="text-164"/>
          <p:cNvSpPr txBox="1"/>
          <p:nvPr/>
        </p:nvSpPr>
        <p:spPr>
          <a:xfrm>
            <a:off x="777240" y="2697480"/>
            <a:ext cx="3108960" cy="2286000"/>
          </a:xfrm>
          <a:prstGeom prst="rect">
            <a:avLst/>
          </a:prstGeom>
          <a:noFill/>
          <a:ln/>
        </p:spPr>
        <p:txBody>
          <a:bodyPr wrap="square" lIns="0" tIns="0" rIns="0" bIns="0" rtlCol="0" anchor="t"/>
          <a:lstStyle/>
          <a:p>
            <a:pPr indent="0" marL="0">
              <a:buNone/>
            </a:pPr>
            <a:r>
              <a:rPr lang="en-US" sz="2400" b="1" dirty="0">
                <a:solidFill>
                  <a:schemeClr val="accent5"/>
                </a:solidFill>
              </a:rPr>
              <a:t>Thiết kế, thu thập, phân tích, báo cáo</a:t>
            </a:r>
            <a:pPr indent="0" marL="0">
              <a:buNone/>
            </a:pPr>
            <a:r>
              <a:rPr lang="en-US" sz="2400" dirty="0">
                <a:solidFill>
                  <a:schemeClr val="tx1"/>
                </a:solidFill>
              </a:rPr>
              <a:t> cho một tình huống marketing cụ thể</a:t>
            </a:r>
            <a:endParaRPr lang="en-US" sz="2400" dirty="0"/>
          </a:p>
        </p:txBody>
      </p:sp>
      <p:sp>
        <p:nvSpPr>
          <p:cNvPr id="8" name="text-165"/>
          <p:cNvSpPr txBox="1"/>
          <p:nvPr/>
        </p:nvSpPr>
        <p:spPr>
          <a:xfrm>
            <a:off x="548640"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(Kotler &amp; Keller, 2012)</a:t>
            </a:r>
            <a:endParaRPr lang="en-US" sz="2400" dirty="0"/>
          </a:p>
        </p:txBody>
      </p:sp>
      <p:sp>
        <p:nvSpPr>
          <p:cNvPr id="9" name="card-166"/>
          <p:cNvSpPr/>
          <p:nvPr/>
        </p:nvSpPr>
        <p:spPr>
          <a:xfrm>
            <a:off x="4315968" y="1691640"/>
            <a:ext cx="3557016" cy="731520"/>
          </a:xfrm>
          <a:prstGeom prst="roundRect">
            <a:avLst>
              <a:gd name="adj" fmla="val 18750"/>
            </a:avLst>
          </a:prstGeom>
          <a:solidFill>
            <a:schemeClr val="accent1"/>
          </a:solidFill>
          <a:ln/>
        </p:spPr>
      </p:sp>
      <p:sp>
        <p:nvSpPr>
          <p:cNvPr id="10" name="text-167"/>
          <p:cNvSpPr txBox="1"/>
          <p:nvPr/>
        </p:nvSpPr>
        <p:spPr>
          <a:xfrm>
            <a:off x="4498848"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AMA</a:t>
            </a:r>
            <a:endParaRPr lang="en-US" sz="2600" dirty="0"/>
          </a:p>
        </p:txBody>
      </p:sp>
      <p:sp>
        <p:nvSpPr>
          <p:cNvPr id="11" name="card-168"/>
          <p:cNvSpPr/>
          <p:nvPr/>
        </p:nvSpPr>
        <p:spPr>
          <a:xfrm>
            <a:off x="4315968" y="2560320"/>
            <a:ext cx="3557016" cy="2514600"/>
          </a:xfrm>
          <a:prstGeom prst="roundRect">
            <a:avLst>
              <a:gd name="adj" fmla="val 5455"/>
            </a:avLst>
          </a:prstGeom>
          <a:solidFill>
            <a:schemeClr val="bg2"/>
          </a:solidFill>
          <a:ln/>
        </p:spPr>
      </p:sp>
      <p:sp>
        <p:nvSpPr>
          <p:cNvPr id="12" name="text-169"/>
          <p:cNvSpPr txBox="1"/>
          <p:nvPr/>
        </p:nvSpPr>
        <p:spPr>
          <a:xfrm>
            <a:off x="4544568" y="2697480"/>
            <a:ext cx="3108960" cy="2286000"/>
          </a:xfrm>
          <a:prstGeom prst="rect">
            <a:avLst/>
          </a:prstGeom>
          <a:noFill/>
          <a:ln/>
        </p:spPr>
        <p:txBody>
          <a:bodyPr wrap="square" lIns="0" tIns="0" rIns="0" bIns="0" rtlCol="0" anchor="t"/>
          <a:lstStyle/>
          <a:p>
            <a:pPr indent="0" marL="0">
              <a:buNone/>
            </a:pPr>
            <a:r>
              <a:rPr lang="en-US" sz="2400" dirty="0">
                <a:solidFill>
                  <a:schemeClr val="tx1"/>
                </a:solidFill>
              </a:rPr>
              <a:t>Chức năng </a:t>
            </a:r>
            <a:pPr indent="0" marL="0">
              <a:buNone/>
            </a:pPr>
            <a:r>
              <a:rPr lang="en-US" sz="2400" b="1" dirty="0">
                <a:solidFill>
                  <a:schemeClr val="accent1"/>
                </a:solidFill>
              </a:rPr>
              <a:t>kết nối</a:t>
            </a:r>
            <a:pPr indent="0" marL="0">
              <a:buNone/>
            </a:pPr>
            <a:r>
              <a:rPr lang="en-US" sz="2400" dirty="0">
                <a:solidFill>
                  <a:schemeClr val="tx1"/>
                </a:solidFill>
              </a:rPr>
              <a:t> khách hàng với nhà marketing qua thông tin</a:t>
            </a:r>
            <a:endParaRPr lang="en-US" sz="2400" dirty="0"/>
          </a:p>
        </p:txBody>
      </p:sp>
      <p:sp>
        <p:nvSpPr>
          <p:cNvPr id="13" name="text-170"/>
          <p:cNvSpPr txBox="1"/>
          <p:nvPr/>
        </p:nvSpPr>
        <p:spPr>
          <a:xfrm>
            <a:off x="4315968"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(American Marketing Association, 2017)</a:t>
            </a:r>
            <a:endParaRPr lang="en-US" sz="2400" dirty="0"/>
          </a:p>
        </p:txBody>
      </p:sp>
      <p:sp>
        <p:nvSpPr>
          <p:cNvPr id="14" name="card-171"/>
          <p:cNvSpPr/>
          <p:nvPr/>
        </p:nvSpPr>
        <p:spPr>
          <a:xfrm>
            <a:off x="8083296" y="1691640"/>
            <a:ext cx="3557016" cy="731520"/>
          </a:xfrm>
          <a:prstGeom prst="roundRect">
            <a:avLst>
              <a:gd name="adj" fmla="val 18750"/>
            </a:avLst>
          </a:prstGeom>
          <a:solidFill>
            <a:schemeClr val="accent6"/>
          </a:solidFill>
          <a:ln/>
        </p:spPr>
      </p:sp>
      <p:sp>
        <p:nvSpPr>
          <p:cNvPr id="15" name="text-172"/>
          <p:cNvSpPr txBox="1"/>
          <p:nvPr/>
        </p:nvSpPr>
        <p:spPr>
          <a:xfrm>
            <a:off x="8266176"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Nguyễn &amp; Nguyễn</a:t>
            </a:r>
            <a:endParaRPr lang="en-US" sz="2600" dirty="0"/>
          </a:p>
        </p:txBody>
      </p:sp>
      <p:sp>
        <p:nvSpPr>
          <p:cNvPr id="16" name="card-173"/>
          <p:cNvSpPr/>
          <p:nvPr/>
        </p:nvSpPr>
        <p:spPr>
          <a:xfrm>
            <a:off x="8083296" y="2560320"/>
            <a:ext cx="3557016" cy="2514600"/>
          </a:xfrm>
          <a:prstGeom prst="roundRect">
            <a:avLst>
              <a:gd name="adj" fmla="val 5455"/>
            </a:avLst>
          </a:prstGeom>
          <a:solidFill>
            <a:schemeClr val="bg2"/>
          </a:solidFill>
          <a:ln/>
        </p:spPr>
      </p:sp>
      <p:sp>
        <p:nvSpPr>
          <p:cNvPr id="17" name="text-174"/>
          <p:cNvSpPr txBox="1"/>
          <p:nvPr/>
        </p:nvSpPr>
        <p:spPr>
          <a:xfrm>
            <a:off x="8311896" y="2697480"/>
            <a:ext cx="3108960" cy="2286000"/>
          </a:xfrm>
          <a:prstGeom prst="rect">
            <a:avLst/>
          </a:prstGeom>
          <a:noFill/>
          <a:ln/>
        </p:spPr>
        <p:txBody>
          <a:bodyPr wrap="square" lIns="0" tIns="0" rIns="0" bIns="0" rtlCol="0" anchor="t"/>
          <a:lstStyle/>
          <a:p>
            <a:pPr indent="0" marL="0">
              <a:buNone/>
            </a:pPr>
            <a:r>
              <a:rPr lang="en-US" sz="2400" dirty="0">
                <a:solidFill>
                  <a:schemeClr val="tx1"/>
                </a:solidFill>
              </a:rPr>
              <a:t>Chức năng </a:t>
            </a:r>
            <a:pPr indent="0" marL="0">
              <a:buNone/>
            </a:pPr>
            <a:r>
              <a:rPr lang="en-US" sz="2400" b="1" dirty="0">
                <a:solidFill>
                  <a:schemeClr val="accent6"/>
                </a:solidFill>
              </a:rPr>
              <a:t>gắn với</a:t>
            </a:r>
            <a:pPr indent="0" marL="0">
              <a:buNone/>
            </a:pPr>
            <a:r>
              <a:rPr lang="en-US" sz="2400" dirty="0">
                <a:solidFill>
                  <a:schemeClr val="tx1"/>
                </a:solidFill>
              </a:rPr>
              <a:t> mọi hoạt động marketing</a:t>
            </a:r>
            <a:endParaRPr lang="en-US" sz="2400" dirty="0"/>
          </a:p>
        </p:txBody>
      </p:sp>
      <p:sp>
        <p:nvSpPr>
          <p:cNvPr id="18" name="text-175"/>
          <p:cNvSpPr txBox="1"/>
          <p:nvPr/>
        </p:nvSpPr>
        <p:spPr>
          <a:xfrm>
            <a:off x="8083296"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(Nguyễn &amp; Nguyễn, 2015)</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Bốn thành tố phân biệt nghiên cứu thật với "khảo sát cho có"</a:t>
            </a:r>
            <a:endParaRPr lang="en-US" sz="3000" dirty="0"/>
          </a:p>
        </p:txBody>
      </p:sp>
      <p:sp>
        <p:nvSpPr>
          <p:cNvPr id="4" name="text-176"/>
          <p:cNvSpPr txBox="1"/>
          <p:nvPr/>
        </p:nvSpPr>
        <p:spPr>
          <a:xfrm>
            <a:off x="548640" y="1645920"/>
            <a:ext cx="11094415" cy="1600200"/>
          </a:xfrm>
          <a:prstGeom prst="rect">
            <a:avLst/>
          </a:prstGeom>
          <a:noFill/>
          <a:ln/>
        </p:spPr>
        <p:txBody>
          <a:bodyPr wrap="square" lIns="0" tIns="0" rIns="0" bIns="0" rtlCol="0" anchor="t"/>
          <a:lstStyle/>
          <a:p>
            <a:pPr indent="0" marL="0">
              <a:buNone/>
            </a:pPr>
            <a:r>
              <a:rPr lang="en-US" sz="2400" i="1" dirty="0">
                <a:solidFill>
                  <a:schemeClr val="tx2"/>
                </a:solidFill>
              </a:rPr>
              <a:t>Nghiên cứu marketing là một hoạt động có hệ thống và khách quan nhằm thu thập, phân tích và diễn giải dữ liệu, từ đó cung cấp thông tin có ý nghĩa làm cơ sở cho nhà quản trị ra quyết định về các vấn đề marketing.</a:t>
            </a:r>
            <a:endParaRPr lang="en-US" sz="2400" dirty="0"/>
          </a:p>
        </p:txBody>
      </p:sp>
      <p:sp>
        <p:nvSpPr>
          <p:cNvPr id="5" name="FIG" descr="Bốn thành tố của nghiên cứu marketing nối tiếp nhau."/>
          <p:cNvSpPr/>
          <p:nvPr/>
        </p:nvSpPr>
        <p:spPr>
          <a:xfrm>
            <a:off x="548640" y="3429000"/>
            <a:ext cx="11094415" cy="2194560"/>
          </a:xfrm>
          <a:prstGeom prst="rect">
            <a:avLst/>
          </a:prstGeom>
          <a:solidFill>
            <a:schemeClr val="bg1">
              <a:alpha val="0"/>
            </a:schemeClr>
          </a:solidFill>
          <a:ln/>
        </p:spPr>
      </p:sp>
      <p:sp>
        <p:nvSpPr>
          <p:cNvPr id="6" name="card-177"/>
          <p:cNvSpPr/>
          <p:nvPr/>
        </p:nvSpPr>
        <p:spPr>
          <a:xfrm>
            <a:off x="548640" y="3429000"/>
            <a:ext cx="2331720" cy="2194560"/>
          </a:xfrm>
          <a:prstGeom prst="roundRect">
            <a:avLst>
              <a:gd name="adj" fmla="val 6250"/>
            </a:avLst>
          </a:prstGeom>
          <a:solidFill>
            <a:schemeClr val="accent1"/>
          </a:solidFill>
          <a:ln/>
        </p:spPr>
      </p:sp>
      <p:sp>
        <p:nvSpPr>
          <p:cNvPr id="7" name="text-178"/>
          <p:cNvSpPr txBox="1"/>
          <p:nvPr/>
        </p:nvSpPr>
        <p:spPr>
          <a:xfrm>
            <a:off x="548640"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1</a:t>
            </a:r>
            <a:endParaRPr lang="en-US" sz="3200" dirty="0"/>
          </a:p>
        </p:txBody>
      </p:sp>
      <p:sp>
        <p:nvSpPr>
          <p:cNvPr id="8" name="text-179"/>
          <p:cNvSpPr txBox="1"/>
          <p:nvPr/>
        </p:nvSpPr>
        <p:spPr>
          <a:xfrm>
            <a:off x="685800"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Có hệ thống</a:t>
            </a:r>
            <a:endParaRPr lang="en-US" sz="2400" dirty="0"/>
          </a:p>
        </p:txBody>
      </p:sp>
      <p:sp>
        <p:nvSpPr>
          <p:cNvPr id="9" name="arrow-180"/>
          <p:cNvSpPr/>
          <p:nvPr/>
        </p:nvSpPr>
        <p:spPr>
          <a:xfrm>
            <a:off x="2971800" y="4297680"/>
            <a:ext cx="384048" cy="457200"/>
          </a:xfrm>
          <a:prstGeom prst="rightArrow">
            <a:avLst/>
          </a:prstGeom>
          <a:solidFill>
            <a:schemeClr val="tx2"/>
          </a:solidFill>
          <a:ln/>
        </p:spPr>
      </p:sp>
      <p:sp>
        <p:nvSpPr>
          <p:cNvPr id="10" name="card-181"/>
          <p:cNvSpPr/>
          <p:nvPr/>
        </p:nvSpPr>
        <p:spPr>
          <a:xfrm>
            <a:off x="3447288" y="3429000"/>
            <a:ext cx="2331720" cy="2194560"/>
          </a:xfrm>
          <a:prstGeom prst="roundRect">
            <a:avLst>
              <a:gd name="adj" fmla="val 6250"/>
            </a:avLst>
          </a:prstGeom>
          <a:solidFill>
            <a:schemeClr val="accent2"/>
          </a:solidFill>
          <a:ln/>
        </p:spPr>
      </p:sp>
      <p:sp>
        <p:nvSpPr>
          <p:cNvPr id="11" name="text-182"/>
          <p:cNvSpPr txBox="1"/>
          <p:nvPr/>
        </p:nvSpPr>
        <p:spPr>
          <a:xfrm>
            <a:off x="3447288"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2</a:t>
            </a:r>
            <a:endParaRPr lang="en-US" sz="3200" dirty="0"/>
          </a:p>
        </p:txBody>
      </p:sp>
      <p:sp>
        <p:nvSpPr>
          <p:cNvPr id="12" name="text-183"/>
          <p:cNvSpPr txBox="1"/>
          <p:nvPr/>
        </p:nvSpPr>
        <p:spPr>
          <a:xfrm>
            <a:off x="3584448"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Khách quan</a:t>
            </a:r>
            <a:endParaRPr lang="en-US" sz="2400" dirty="0"/>
          </a:p>
        </p:txBody>
      </p:sp>
      <p:sp>
        <p:nvSpPr>
          <p:cNvPr id="13" name="arrow-184"/>
          <p:cNvSpPr/>
          <p:nvPr/>
        </p:nvSpPr>
        <p:spPr>
          <a:xfrm>
            <a:off x="5870448" y="4297680"/>
            <a:ext cx="384048" cy="457200"/>
          </a:xfrm>
          <a:prstGeom prst="rightArrow">
            <a:avLst/>
          </a:prstGeom>
          <a:solidFill>
            <a:schemeClr val="tx2"/>
          </a:solidFill>
          <a:ln/>
        </p:spPr>
      </p:sp>
      <p:sp>
        <p:nvSpPr>
          <p:cNvPr id="14" name="card-185"/>
          <p:cNvSpPr/>
          <p:nvPr/>
        </p:nvSpPr>
        <p:spPr>
          <a:xfrm>
            <a:off x="6345936" y="3429000"/>
            <a:ext cx="2331720" cy="2194560"/>
          </a:xfrm>
          <a:prstGeom prst="roundRect">
            <a:avLst>
              <a:gd name="adj" fmla="val 6250"/>
            </a:avLst>
          </a:prstGeom>
          <a:solidFill>
            <a:schemeClr val="accent5"/>
          </a:solidFill>
          <a:ln/>
        </p:spPr>
      </p:sp>
      <p:sp>
        <p:nvSpPr>
          <p:cNvPr id="15" name="text-186"/>
          <p:cNvSpPr txBox="1"/>
          <p:nvPr/>
        </p:nvSpPr>
        <p:spPr>
          <a:xfrm>
            <a:off x="6345936"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3</a:t>
            </a:r>
            <a:endParaRPr lang="en-US" sz="3200" dirty="0"/>
          </a:p>
        </p:txBody>
      </p:sp>
      <p:sp>
        <p:nvSpPr>
          <p:cNvPr id="16" name="text-187"/>
          <p:cNvSpPr txBox="1"/>
          <p:nvPr/>
        </p:nvSpPr>
        <p:spPr>
          <a:xfrm>
            <a:off x="6483096"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Thu thập, phân tích, diễn giải</a:t>
            </a:r>
            <a:endParaRPr lang="en-US" sz="2400" dirty="0"/>
          </a:p>
        </p:txBody>
      </p:sp>
      <p:sp>
        <p:nvSpPr>
          <p:cNvPr id="17" name="arrow-188"/>
          <p:cNvSpPr/>
          <p:nvPr/>
        </p:nvSpPr>
        <p:spPr>
          <a:xfrm>
            <a:off x="8769096" y="4297680"/>
            <a:ext cx="384048" cy="457200"/>
          </a:xfrm>
          <a:prstGeom prst="rightArrow">
            <a:avLst/>
          </a:prstGeom>
          <a:solidFill>
            <a:schemeClr val="tx2"/>
          </a:solidFill>
          <a:ln/>
        </p:spPr>
      </p:sp>
      <p:sp>
        <p:nvSpPr>
          <p:cNvPr id="18" name="card-189"/>
          <p:cNvSpPr/>
          <p:nvPr/>
        </p:nvSpPr>
        <p:spPr>
          <a:xfrm>
            <a:off x="9244584" y="3429000"/>
            <a:ext cx="2331720" cy="2194560"/>
          </a:xfrm>
          <a:prstGeom prst="roundRect">
            <a:avLst>
              <a:gd name="adj" fmla="val 6250"/>
            </a:avLst>
          </a:prstGeom>
          <a:solidFill>
            <a:schemeClr val="accent6"/>
          </a:solidFill>
          <a:ln/>
        </p:spPr>
      </p:sp>
      <p:sp>
        <p:nvSpPr>
          <p:cNvPr id="19" name="text-190"/>
          <p:cNvSpPr txBox="1"/>
          <p:nvPr/>
        </p:nvSpPr>
        <p:spPr>
          <a:xfrm>
            <a:off x="9244584"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4</a:t>
            </a:r>
            <a:endParaRPr lang="en-US" sz="3200" dirty="0"/>
          </a:p>
        </p:txBody>
      </p:sp>
      <p:sp>
        <p:nvSpPr>
          <p:cNvPr id="20" name="text-191"/>
          <p:cNvSpPr txBox="1"/>
          <p:nvPr/>
        </p:nvSpPr>
        <p:spPr>
          <a:xfrm>
            <a:off x="9381744"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Làm cơ sở ra quyết định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giảm rủi ro, nhưng không ra quyết định thay nhà quản trị</a:t>
            </a:r>
            <a:endParaRPr lang="en-US" sz="3000" dirty="0"/>
          </a:p>
        </p:txBody>
      </p:sp>
      <p:sp>
        <p:nvSpPr>
          <p:cNvPr id="4" name="card-192"/>
          <p:cNvSpPr/>
          <p:nvPr/>
        </p:nvSpPr>
        <p:spPr>
          <a:xfrm>
            <a:off x="548640" y="1691640"/>
            <a:ext cx="6035040" cy="4434840"/>
          </a:xfrm>
          <a:prstGeom prst="roundRect">
            <a:avLst>
              <a:gd name="adj" fmla="val 3093"/>
            </a:avLst>
          </a:prstGeom>
          <a:solidFill>
            <a:schemeClr val="bg2"/>
          </a:solidFill>
          <a:ln/>
        </p:spPr>
      </p:sp>
      <p:sp>
        <p:nvSpPr>
          <p:cNvPr id="5" name="text-193"/>
          <p:cNvSpPr txBox="1"/>
          <p:nvPr/>
        </p:nvSpPr>
        <p:spPr>
          <a:xfrm>
            <a:off x="868680" y="1828800"/>
            <a:ext cx="5394960" cy="548640"/>
          </a:xfrm>
          <a:prstGeom prst="rect">
            <a:avLst/>
          </a:prstGeom>
          <a:noFill/>
          <a:ln/>
        </p:spPr>
        <p:txBody>
          <a:bodyPr wrap="square" lIns="0" tIns="0" rIns="0" bIns="0" rtlCol="0" anchor="t"/>
          <a:lstStyle/>
          <a:p>
            <a:pPr indent="0" marL="0">
              <a:buNone/>
            </a:pPr>
            <a:r>
              <a:rPr lang="en-US" sz="2800" b="1" dirty="0">
                <a:solidFill>
                  <a:schemeClr val="accent1"/>
                </a:solidFill>
              </a:rPr>
              <a:t>Vai trò</a:t>
            </a:r>
            <a:endParaRPr lang="en-US" sz="2800" dirty="0"/>
          </a:p>
        </p:txBody>
      </p:sp>
      <p:sp>
        <p:nvSpPr>
          <p:cNvPr id="6" name="dot-194"/>
          <p:cNvSpPr/>
          <p:nvPr/>
        </p:nvSpPr>
        <p:spPr>
          <a:xfrm>
            <a:off x="868680" y="2587752"/>
            <a:ext cx="457200" cy="457200"/>
          </a:xfrm>
          <a:prstGeom prst="ellipse">
            <a:avLst/>
          </a:prstGeom>
          <a:solidFill>
            <a:schemeClr val="accent1"/>
          </a:solidFill>
          <a:ln/>
        </p:spPr>
      </p:sp>
      <p:sp>
        <p:nvSpPr>
          <p:cNvPr id="7" name="text-195"/>
          <p:cNvSpPr txBox="1"/>
          <p:nvPr/>
        </p:nvSpPr>
        <p:spPr>
          <a:xfrm>
            <a:off x="868680" y="25877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196"/>
          <p:cNvSpPr txBox="1"/>
          <p:nvPr/>
        </p:nvSpPr>
        <p:spPr>
          <a:xfrm>
            <a:off x="1554480" y="2514600"/>
            <a:ext cx="4846320" cy="603504"/>
          </a:xfrm>
          <a:prstGeom prst="rect">
            <a:avLst/>
          </a:prstGeom>
          <a:noFill/>
          <a:ln/>
        </p:spPr>
        <p:txBody>
          <a:bodyPr wrap="square" lIns="0" tIns="0" rIns="0" bIns="0" rtlCol="0" anchor="ctr"/>
          <a:lstStyle/>
          <a:p>
            <a:pPr indent="0" marL="0">
              <a:buNone/>
            </a:pPr>
            <a:r>
              <a:rPr lang="en-US" sz="2400" dirty="0">
                <a:solidFill>
                  <a:schemeClr val="tx1"/>
                </a:solidFill>
              </a:rPr>
              <a:t>Làm rõ vấn đề</a:t>
            </a:r>
            <a:endParaRPr lang="en-US" sz="2400" dirty="0"/>
          </a:p>
        </p:txBody>
      </p:sp>
      <p:sp>
        <p:nvSpPr>
          <p:cNvPr id="9" name="dot-197"/>
          <p:cNvSpPr/>
          <p:nvPr/>
        </p:nvSpPr>
        <p:spPr>
          <a:xfrm>
            <a:off x="868680" y="3273552"/>
            <a:ext cx="457200" cy="457200"/>
          </a:xfrm>
          <a:prstGeom prst="ellipse">
            <a:avLst/>
          </a:prstGeom>
          <a:solidFill>
            <a:schemeClr val="accent1"/>
          </a:solidFill>
          <a:ln/>
        </p:spPr>
      </p:sp>
      <p:sp>
        <p:nvSpPr>
          <p:cNvPr id="10" name="text-198"/>
          <p:cNvSpPr txBox="1"/>
          <p:nvPr/>
        </p:nvSpPr>
        <p:spPr>
          <a:xfrm>
            <a:off x="868680" y="32735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199"/>
          <p:cNvSpPr txBox="1"/>
          <p:nvPr/>
        </p:nvSpPr>
        <p:spPr>
          <a:xfrm>
            <a:off x="1554480" y="3200400"/>
            <a:ext cx="4846320" cy="603504"/>
          </a:xfrm>
          <a:prstGeom prst="rect">
            <a:avLst/>
          </a:prstGeom>
          <a:noFill/>
          <a:ln/>
        </p:spPr>
        <p:txBody>
          <a:bodyPr wrap="square" lIns="0" tIns="0" rIns="0" bIns="0" rtlCol="0" anchor="ctr"/>
          <a:lstStyle/>
          <a:p>
            <a:pPr indent="0" marL="0">
              <a:buNone/>
            </a:pPr>
            <a:r>
              <a:rPr lang="en-US" sz="2400" dirty="0">
                <a:solidFill>
                  <a:schemeClr val="tx1"/>
                </a:solidFill>
              </a:rPr>
              <a:t>Giảm rủi ro</a:t>
            </a:r>
            <a:endParaRPr lang="en-US" sz="2400" dirty="0"/>
          </a:p>
        </p:txBody>
      </p:sp>
      <p:sp>
        <p:nvSpPr>
          <p:cNvPr id="12" name="dot-200"/>
          <p:cNvSpPr/>
          <p:nvPr/>
        </p:nvSpPr>
        <p:spPr>
          <a:xfrm>
            <a:off x="868680" y="3959352"/>
            <a:ext cx="457200" cy="457200"/>
          </a:xfrm>
          <a:prstGeom prst="ellipse">
            <a:avLst/>
          </a:prstGeom>
          <a:solidFill>
            <a:schemeClr val="accent1"/>
          </a:solidFill>
          <a:ln/>
        </p:spPr>
      </p:sp>
      <p:sp>
        <p:nvSpPr>
          <p:cNvPr id="13" name="text-201"/>
          <p:cNvSpPr txBox="1"/>
          <p:nvPr/>
        </p:nvSpPr>
        <p:spPr>
          <a:xfrm>
            <a:off x="868680" y="39593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202"/>
          <p:cNvSpPr txBox="1"/>
          <p:nvPr/>
        </p:nvSpPr>
        <p:spPr>
          <a:xfrm>
            <a:off x="1554480" y="3886200"/>
            <a:ext cx="4846320" cy="603504"/>
          </a:xfrm>
          <a:prstGeom prst="rect">
            <a:avLst/>
          </a:prstGeom>
          <a:noFill/>
          <a:ln/>
        </p:spPr>
        <p:txBody>
          <a:bodyPr wrap="square" lIns="0" tIns="0" rIns="0" bIns="0" rtlCol="0" anchor="ctr"/>
          <a:lstStyle/>
          <a:p>
            <a:pPr indent="0" marL="0">
              <a:buNone/>
            </a:pPr>
            <a:r>
              <a:rPr lang="en-US" sz="2400" dirty="0">
                <a:solidFill>
                  <a:schemeClr val="tx1"/>
                </a:solidFill>
              </a:rPr>
              <a:t>Thông tin cho quyết định</a:t>
            </a:r>
            <a:endParaRPr lang="en-US" sz="2400" dirty="0"/>
          </a:p>
        </p:txBody>
      </p:sp>
      <p:sp>
        <p:nvSpPr>
          <p:cNvPr id="15" name="dot-203"/>
          <p:cNvSpPr/>
          <p:nvPr/>
        </p:nvSpPr>
        <p:spPr>
          <a:xfrm>
            <a:off x="868680" y="4645152"/>
            <a:ext cx="457200" cy="457200"/>
          </a:xfrm>
          <a:prstGeom prst="ellipse">
            <a:avLst/>
          </a:prstGeom>
          <a:solidFill>
            <a:schemeClr val="accent1"/>
          </a:solidFill>
          <a:ln/>
        </p:spPr>
      </p:sp>
      <p:sp>
        <p:nvSpPr>
          <p:cNvPr id="16" name="text-204"/>
          <p:cNvSpPr txBox="1"/>
          <p:nvPr/>
        </p:nvSpPr>
        <p:spPr>
          <a:xfrm>
            <a:off x="868680" y="46451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205"/>
          <p:cNvSpPr txBox="1"/>
          <p:nvPr/>
        </p:nvSpPr>
        <p:spPr>
          <a:xfrm>
            <a:off x="1554480" y="4572000"/>
            <a:ext cx="4846320" cy="603504"/>
          </a:xfrm>
          <a:prstGeom prst="rect">
            <a:avLst/>
          </a:prstGeom>
          <a:noFill/>
          <a:ln/>
        </p:spPr>
        <p:txBody>
          <a:bodyPr wrap="square" lIns="0" tIns="0" rIns="0" bIns="0" rtlCol="0" anchor="ctr"/>
          <a:lstStyle/>
          <a:p>
            <a:pPr indent="0" marL="0">
              <a:buNone/>
            </a:pPr>
            <a:r>
              <a:rPr lang="en-US" sz="2400" dirty="0">
                <a:solidFill>
                  <a:schemeClr val="tx1"/>
                </a:solidFill>
              </a:rPr>
              <a:t>Hoạt động hiệu quả hơn</a:t>
            </a:r>
            <a:endParaRPr lang="en-US" sz="2400" dirty="0"/>
          </a:p>
        </p:txBody>
      </p:sp>
      <p:sp>
        <p:nvSpPr>
          <p:cNvPr id="18" name="dot-206"/>
          <p:cNvSpPr/>
          <p:nvPr/>
        </p:nvSpPr>
        <p:spPr>
          <a:xfrm>
            <a:off x="868680" y="5330952"/>
            <a:ext cx="457200" cy="457200"/>
          </a:xfrm>
          <a:prstGeom prst="ellipse">
            <a:avLst/>
          </a:prstGeom>
          <a:solidFill>
            <a:schemeClr val="accent1"/>
          </a:solidFill>
          <a:ln/>
        </p:spPr>
      </p:sp>
      <p:sp>
        <p:nvSpPr>
          <p:cNvPr id="19" name="text-207"/>
          <p:cNvSpPr txBox="1"/>
          <p:nvPr/>
        </p:nvSpPr>
        <p:spPr>
          <a:xfrm>
            <a:off x="868680" y="53309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0" name="text-208"/>
          <p:cNvSpPr txBox="1"/>
          <p:nvPr/>
        </p:nvSpPr>
        <p:spPr>
          <a:xfrm>
            <a:off x="1554480" y="5257800"/>
            <a:ext cx="4846320" cy="603504"/>
          </a:xfrm>
          <a:prstGeom prst="rect">
            <a:avLst/>
          </a:prstGeom>
          <a:noFill/>
          <a:ln/>
        </p:spPr>
        <p:txBody>
          <a:bodyPr wrap="square" lIns="0" tIns="0" rIns="0" bIns="0" rtlCol="0" anchor="ctr"/>
          <a:lstStyle/>
          <a:p>
            <a:pPr indent="0" marL="0">
              <a:buNone/>
            </a:pPr>
            <a:r>
              <a:rPr lang="en-US" sz="2400" dirty="0">
                <a:solidFill>
                  <a:schemeClr val="tx1"/>
                </a:solidFill>
              </a:rPr>
              <a:t>Hỗ trợ các bộ phận khác</a:t>
            </a:r>
            <a:endParaRPr lang="en-US" sz="2400" dirty="0"/>
          </a:p>
        </p:txBody>
      </p:sp>
      <p:sp>
        <p:nvSpPr>
          <p:cNvPr id="21" name="ANIM-13-a"/>
          <p:cNvSpPr/>
          <p:nvPr/>
        </p:nvSpPr>
        <p:spPr>
          <a:xfrm>
            <a:off x="6812280" y="1691640"/>
            <a:ext cx="4828032" cy="4434840"/>
          </a:xfrm>
          <a:prstGeom prst="roundRect">
            <a:avLst>
              <a:gd name="adj" fmla="val 3093"/>
            </a:avLst>
          </a:prstGeom>
          <a:solidFill>
            <a:schemeClr val="bg2"/>
          </a:solidFill>
          <a:ln/>
        </p:spPr>
      </p:sp>
      <p:sp>
        <p:nvSpPr>
          <p:cNvPr id="22" name="ANIM-13-b"/>
          <p:cNvSpPr txBox="1"/>
          <p:nvPr/>
        </p:nvSpPr>
        <p:spPr>
          <a:xfrm>
            <a:off x="7132320" y="1828800"/>
            <a:ext cx="4206240" cy="548640"/>
          </a:xfrm>
          <a:prstGeom prst="rect">
            <a:avLst/>
          </a:prstGeom>
          <a:noFill/>
          <a:ln/>
        </p:spPr>
        <p:txBody>
          <a:bodyPr wrap="square" lIns="0" tIns="0" rIns="0" bIns="0" rtlCol="0" anchor="t"/>
          <a:lstStyle/>
          <a:p>
            <a:pPr indent="0" marL="0">
              <a:buNone/>
            </a:pPr>
            <a:r>
              <a:rPr lang="en-US" sz="2800" b="1" dirty="0">
                <a:solidFill>
                  <a:schemeClr val="accent3"/>
                </a:solidFill>
              </a:rPr>
              <a:t>Giới hạn</a:t>
            </a:r>
            <a:endParaRPr lang="en-US" sz="2800" dirty="0"/>
          </a:p>
        </p:txBody>
      </p:sp>
      <p:sp>
        <p:nvSpPr>
          <p:cNvPr id="23" name="ANIM-13-c"/>
          <p:cNvSpPr txBox="1"/>
          <p:nvPr/>
        </p:nvSpPr>
        <p:spPr>
          <a:xfrm>
            <a:off x="7132320" y="2560320"/>
            <a:ext cx="4206240" cy="594360"/>
          </a:xfrm>
          <a:prstGeom prst="rect">
            <a:avLst/>
          </a:prstGeom>
          <a:noFill/>
          <a:ln/>
        </p:spPr>
        <p:txBody>
          <a:bodyPr wrap="square" lIns="0" tIns="0" rIns="0" bIns="0" rtlCol="0" anchor="ctr"/>
          <a:lstStyle/>
          <a:p>
            <a:pPr indent="0" marL="0">
              <a:buNone/>
            </a:pPr>
            <a:r>
              <a:rPr lang="en-US" sz="2400" dirty="0">
                <a:solidFill>
                  <a:schemeClr val="tx1"/>
                </a:solidFill>
              </a:rPr>
              <a:t>Không ra quyết định</a:t>
            </a:r>
            <a:endParaRPr lang="en-US" sz="2400" dirty="0"/>
          </a:p>
        </p:txBody>
      </p:sp>
      <p:sp>
        <p:nvSpPr>
          <p:cNvPr id="24" name="ANIM-13-d"/>
          <p:cNvSpPr txBox="1"/>
          <p:nvPr/>
        </p:nvSpPr>
        <p:spPr>
          <a:xfrm>
            <a:off x="7132320" y="3246120"/>
            <a:ext cx="4206240" cy="594360"/>
          </a:xfrm>
          <a:prstGeom prst="rect">
            <a:avLst/>
          </a:prstGeom>
          <a:noFill/>
          <a:ln/>
        </p:spPr>
        <p:txBody>
          <a:bodyPr wrap="square" lIns="0" tIns="0" rIns="0" bIns="0" rtlCol="0" anchor="ctr"/>
          <a:lstStyle/>
          <a:p>
            <a:pPr indent="0" marL="0">
              <a:buNone/>
            </a:pPr>
            <a:r>
              <a:rPr lang="en-US" sz="2400" dirty="0">
                <a:solidFill>
                  <a:schemeClr val="tx1"/>
                </a:solidFill>
              </a:rPr>
              <a:t>Không bảo đảm thành công</a:t>
            </a:r>
            <a:endParaRPr lang="en-US" sz="2400" dirty="0"/>
          </a:p>
        </p:txBody>
      </p:sp>
      <p:sp>
        <p:nvSpPr>
          <p:cNvPr id="25" name="ANIM-13-e"/>
          <p:cNvSpPr txBox="1"/>
          <p:nvPr/>
        </p:nvSpPr>
        <p:spPr>
          <a:xfrm>
            <a:off x="7132320" y="4206240"/>
            <a:ext cx="4206240" cy="1097280"/>
          </a:xfrm>
          <a:prstGeom prst="rect">
            <a:avLst/>
          </a:prstGeom>
          <a:noFill/>
          <a:ln/>
        </p:spPr>
        <p:txBody>
          <a:bodyPr wrap="square" lIns="0" tIns="0" rIns="0" bIns="0" rtlCol="0" anchor="ctr"/>
          <a:lstStyle/>
          <a:p>
            <a:pPr indent="0" marL="0">
              <a:buNone/>
            </a:pPr>
            <a:r>
              <a:rPr lang="en-US" sz="3400" b="1" dirty="0">
                <a:solidFill>
                  <a:schemeClr val="accent2"/>
                </a:solidFill>
              </a:rPr>
              <a:t>Y = f(x₁, x₂, …, xₙ)</a:t>
            </a:r>
            <a:endParaRPr lang="en-US" sz="3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để giải quyết vấn đề hoặc để khai thác cơ hội</a:t>
            </a:r>
            <a:endParaRPr lang="en-US" sz="3000" dirty="0"/>
          </a:p>
        </p:txBody>
      </p:sp>
      <p:sp>
        <p:nvSpPr>
          <p:cNvPr id="4" name="text-214"/>
          <p:cNvSpPr txBox="1"/>
          <p:nvPr/>
        </p:nvSpPr>
        <p:spPr>
          <a:xfrm>
            <a:off x="54864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Mục đích</a:t>
            </a:r>
            <a:endParaRPr lang="en-US" sz="2400" dirty="0"/>
          </a:p>
        </p:txBody>
      </p:sp>
      <p:sp>
        <p:nvSpPr>
          <p:cNvPr id="5" name="scale-215"/>
          <p:cNvSpPr/>
          <p:nvPr/>
        </p:nvSpPr>
        <p:spPr>
          <a:xfrm>
            <a:off x="2880360" y="4069080"/>
            <a:ext cx="914400" cy="822960"/>
          </a:xfrm>
          <a:prstGeom prst="triangle">
            <a:avLst/>
          </a:prstGeom>
          <a:solidFill>
            <a:schemeClr val="tx2"/>
          </a:solidFill>
          <a:ln/>
        </p:spPr>
      </p:sp>
      <p:sp>
        <p:nvSpPr>
          <p:cNvPr id="6" name="line-216"/>
          <p:cNvSpPr/>
          <p:nvPr/>
        </p:nvSpPr>
        <p:spPr>
          <a:xfrm>
            <a:off x="777240" y="4069080"/>
            <a:ext cx="5120640" cy="0"/>
          </a:xfrm>
          <a:prstGeom prst="line">
            <a:avLst/>
          </a:prstGeom>
          <a:noFill/>
          <a:ln w="63500">
            <a:solidFill>
              <a:schemeClr val="tx2"/>
            </a:solidFill>
            <a:prstDash val="solid"/>
          </a:ln>
        </p:spPr>
      </p:sp>
      <p:sp>
        <p:nvSpPr>
          <p:cNvPr id="7" name="line-217"/>
          <p:cNvSpPr/>
          <p:nvPr/>
        </p:nvSpPr>
        <p:spPr>
          <a:xfrm>
            <a:off x="1920240" y="3429000"/>
            <a:ext cx="0" cy="640080"/>
          </a:xfrm>
          <a:prstGeom prst="line">
            <a:avLst/>
          </a:prstGeom>
          <a:noFill/>
          <a:ln w="38100">
            <a:solidFill>
              <a:schemeClr val="tx2"/>
            </a:solidFill>
            <a:prstDash val="solid"/>
          </a:ln>
        </p:spPr>
      </p:sp>
      <p:sp>
        <p:nvSpPr>
          <p:cNvPr id="8" name="line-218"/>
          <p:cNvSpPr/>
          <p:nvPr/>
        </p:nvSpPr>
        <p:spPr>
          <a:xfrm>
            <a:off x="4754880" y="3429000"/>
            <a:ext cx="0" cy="640080"/>
          </a:xfrm>
          <a:prstGeom prst="line">
            <a:avLst/>
          </a:prstGeom>
          <a:noFill/>
          <a:ln w="38100">
            <a:solidFill>
              <a:schemeClr val="tx2"/>
            </a:solidFill>
            <a:prstDash val="solid"/>
          </a:ln>
        </p:spPr>
      </p:sp>
      <p:sp>
        <p:nvSpPr>
          <p:cNvPr id="9" name="card-219"/>
          <p:cNvSpPr/>
          <p:nvPr/>
        </p:nvSpPr>
        <p:spPr>
          <a:xfrm>
            <a:off x="548640" y="2240280"/>
            <a:ext cx="2743200" cy="1188720"/>
          </a:xfrm>
          <a:prstGeom prst="roundRect">
            <a:avLst>
              <a:gd name="adj" fmla="val 11538"/>
            </a:avLst>
          </a:prstGeom>
          <a:solidFill>
            <a:schemeClr val="accent3"/>
          </a:solidFill>
          <a:ln/>
        </p:spPr>
      </p:sp>
      <p:sp>
        <p:nvSpPr>
          <p:cNvPr id="10" name="text-220"/>
          <p:cNvSpPr txBox="1"/>
          <p:nvPr/>
        </p:nvSpPr>
        <p:spPr>
          <a:xfrm>
            <a:off x="594360" y="2240280"/>
            <a:ext cx="2651760" cy="1188720"/>
          </a:xfrm>
          <a:prstGeom prst="rect">
            <a:avLst/>
          </a:prstGeom>
          <a:noFill/>
          <a:ln/>
        </p:spPr>
        <p:txBody>
          <a:bodyPr wrap="square" lIns="0" tIns="0" rIns="0" bIns="0" rtlCol="0" anchor="ctr"/>
          <a:lstStyle/>
          <a:p>
            <a:pPr algn="ctr" indent="0" marL="0">
              <a:buNone/>
            </a:pPr>
            <a:r>
              <a:rPr lang="en-US" sz="2400" b="1" dirty="0">
                <a:solidFill>
                  <a:schemeClr val="bg1"/>
                </a:solidFill>
              </a:rPr>
              <a:t>Giải quyết vấn đề</a:t>
            </a:r>
            <a:endParaRPr lang="en-US" sz="2400" dirty="0"/>
          </a:p>
        </p:txBody>
      </p:sp>
      <p:sp>
        <p:nvSpPr>
          <p:cNvPr id="11" name="card-221"/>
          <p:cNvSpPr/>
          <p:nvPr/>
        </p:nvSpPr>
        <p:spPr>
          <a:xfrm>
            <a:off x="3383280" y="2240280"/>
            <a:ext cx="2743200" cy="1188720"/>
          </a:xfrm>
          <a:prstGeom prst="roundRect">
            <a:avLst>
              <a:gd name="adj" fmla="val 11538"/>
            </a:avLst>
          </a:prstGeom>
          <a:solidFill>
            <a:schemeClr val="accent1"/>
          </a:solidFill>
          <a:ln/>
        </p:spPr>
      </p:sp>
      <p:sp>
        <p:nvSpPr>
          <p:cNvPr id="12" name="text-222"/>
          <p:cNvSpPr txBox="1"/>
          <p:nvPr/>
        </p:nvSpPr>
        <p:spPr>
          <a:xfrm>
            <a:off x="3429000" y="2240280"/>
            <a:ext cx="2651760" cy="1188720"/>
          </a:xfrm>
          <a:prstGeom prst="rect">
            <a:avLst/>
          </a:prstGeom>
          <a:noFill/>
          <a:ln/>
        </p:spPr>
        <p:txBody>
          <a:bodyPr wrap="square" lIns="0" tIns="0" rIns="0" bIns="0" rtlCol="0" anchor="ctr"/>
          <a:lstStyle/>
          <a:p>
            <a:pPr algn="ctr" indent="0" marL="0">
              <a:buNone/>
            </a:pPr>
            <a:r>
              <a:rPr lang="en-US" sz="2400" b="1" dirty="0">
                <a:solidFill>
                  <a:schemeClr val="bg1"/>
                </a:solidFill>
              </a:rPr>
              <a:t>Khai thác cơ hội</a:t>
            </a:r>
            <a:endParaRPr lang="en-US" sz="2400" dirty="0"/>
          </a:p>
        </p:txBody>
      </p:sp>
      <p:sp>
        <p:nvSpPr>
          <p:cNvPr id="13" name="text-223"/>
          <p:cNvSpPr txBox="1"/>
          <p:nvPr/>
        </p:nvSpPr>
        <p:spPr>
          <a:xfrm>
            <a:off x="635508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Phạm vi</a:t>
            </a:r>
            <a:endParaRPr lang="en-US" sz="2400" dirty="0"/>
          </a:p>
        </p:txBody>
      </p:sp>
      <p:sp>
        <p:nvSpPr>
          <p:cNvPr id="14" name="card-224"/>
          <p:cNvSpPr/>
          <p:nvPr/>
        </p:nvSpPr>
        <p:spPr>
          <a:xfrm>
            <a:off x="6355080" y="2240280"/>
            <a:ext cx="2606040" cy="868680"/>
          </a:xfrm>
          <a:prstGeom prst="roundRect">
            <a:avLst>
              <a:gd name="adj" fmla="val 15789"/>
            </a:avLst>
          </a:prstGeom>
          <a:solidFill>
            <a:schemeClr val="bg2"/>
          </a:solidFill>
          <a:ln/>
        </p:spPr>
      </p:sp>
      <p:sp>
        <p:nvSpPr>
          <p:cNvPr id="15" name="text-225"/>
          <p:cNvSpPr txBox="1"/>
          <p:nvPr/>
        </p:nvSpPr>
        <p:spPr>
          <a:xfrm>
            <a:off x="6355080" y="224028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Thị trường</a:t>
            </a:r>
            <a:endParaRPr lang="en-US" sz="2400" dirty="0"/>
          </a:p>
        </p:txBody>
      </p:sp>
      <p:sp>
        <p:nvSpPr>
          <p:cNvPr id="16" name="card-226"/>
          <p:cNvSpPr/>
          <p:nvPr/>
        </p:nvSpPr>
        <p:spPr>
          <a:xfrm>
            <a:off x="9034272" y="2240280"/>
            <a:ext cx="2606040" cy="868680"/>
          </a:xfrm>
          <a:prstGeom prst="roundRect">
            <a:avLst>
              <a:gd name="adj" fmla="val 15789"/>
            </a:avLst>
          </a:prstGeom>
          <a:solidFill>
            <a:schemeClr val="bg2"/>
          </a:solidFill>
          <a:ln/>
        </p:spPr>
      </p:sp>
      <p:sp>
        <p:nvSpPr>
          <p:cNvPr id="17" name="text-227"/>
          <p:cNvSpPr txBox="1"/>
          <p:nvPr/>
        </p:nvSpPr>
        <p:spPr>
          <a:xfrm>
            <a:off x="9034272" y="224028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Hành vi NTD</a:t>
            </a:r>
            <a:endParaRPr lang="en-US" sz="2400" dirty="0"/>
          </a:p>
        </p:txBody>
      </p:sp>
      <p:sp>
        <p:nvSpPr>
          <p:cNvPr id="18" name="card-228"/>
          <p:cNvSpPr/>
          <p:nvPr/>
        </p:nvSpPr>
        <p:spPr>
          <a:xfrm>
            <a:off x="6355080" y="3337560"/>
            <a:ext cx="2606040" cy="868680"/>
          </a:xfrm>
          <a:prstGeom prst="roundRect">
            <a:avLst>
              <a:gd name="adj" fmla="val 15789"/>
            </a:avLst>
          </a:prstGeom>
          <a:solidFill>
            <a:schemeClr val="bg2"/>
          </a:solidFill>
          <a:ln/>
        </p:spPr>
      </p:sp>
      <p:sp>
        <p:nvSpPr>
          <p:cNvPr id="19" name="text-229"/>
          <p:cNvSpPr txBox="1"/>
          <p:nvPr/>
        </p:nvSpPr>
        <p:spPr>
          <a:xfrm>
            <a:off x="6355080" y="333756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Sản phẩm</a:t>
            </a:r>
            <a:endParaRPr lang="en-US" sz="2400" dirty="0"/>
          </a:p>
        </p:txBody>
      </p:sp>
      <p:sp>
        <p:nvSpPr>
          <p:cNvPr id="20" name="card-230"/>
          <p:cNvSpPr/>
          <p:nvPr/>
        </p:nvSpPr>
        <p:spPr>
          <a:xfrm>
            <a:off x="9034272" y="3337560"/>
            <a:ext cx="2606040" cy="868680"/>
          </a:xfrm>
          <a:prstGeom prst="roundRect">
            <a:avLst>
              <a:gd name="adj" fmla="val 15789"/>
            </a:avLst>
          </a:prstGeom>
          <a:solidFill>
            <a:schemeClr val="bg2"/>
          </a:solidFill>
          <a:ln/>
        </p:spPr>
      </p:sp>
      <p:sp>
        <p:nvSpPr>
          <p:cNvPr id="21" name="text-231"/>
          <p:cNvSpPr txBox="1"/>
          <p:nvPr/>
        </p:nvSpPr>
        <p:spPr>
          <a:xfrm>
            <a:off x="9034272" y="333756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Giá</a:t>
            </a:r>
            <a:endParaRPr lang="en-US" sz="2400" dirty="0"/>
          </a:p>
        </p:txBody>
      </p:sp>
      <p:sp>
        <p:nvSpPr>
          <p:cNvPr id="22" name="card-232"/>
          <p:cNvSpPr/>
          <p:nvPr/>
        </p:nvSpPr>
        <p:spPr>
          <a:xfrm>
            <a:off x="6355080" y="4434840"/>
            <a:ext cx="2606040" cy="868680"/>
          </a:xfrm>
          <a:prstGeom prst="roundRect">
            <a:avLst>
              <a:gd name="adj" fmla="val 15789"/>
            </a:avLst>
          </a:prstGeom>
          <a:solidFill>
            <a:schemeClr val="bg2"/>
          </a:solidFill>
          <a:ln/>
        </p:spPr>
      </p:sp>
      <p:sp>
        <p:nvSpPr>
          <p:cNvPr id="23" name="text-233"/>
          <p:cNvSpPr txBox="1"/>
          <p:nvPr/>
        </p:nvSpPr>
        <p:spPr>
          <a:xfrm>
            <a:off x="6355080" y="443484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Phân phối</a:t>
            </a:r>
            <a:endParaRPr lang="en-US" sz="2400" dirty="0"/>
          </a:p>
        </p:txBody>
      </p:sp>
      <p:sp>
        <p:nvSpPr>
          <p:cNvPr id="24" name="card-234"/>
          <p:cNvSpPr/>
          <p:nvPr/>
        </p:nvSpPr>
        <p:spPr>
          <a:xfrm>
            <a:off x="9034272" y="4434840"/>
            <a:ext cx="2606040" cy="868680"/>
          </a:xfrm>
          <a:prstGeom prst="roundRect">
            <a:avLst>
              <a:gd name="adj" fmla="val 15789"/>
            </a:avLst>
          </a:prstGeom>
          <a:solidFill>
            <a:schemeClr val="bg2"/>
          </a:solidFill>
          <a:ln/>
        </p:spPr>
      </p:sp>
      <p:sp>
        <p:nvSpPr>
          <p:cNvPr id="25" name="text-235"/>
          <p:cNvSpPr txBox="1"/>
          <p:nvPr/>
        </p:nvSpPr>
        <p:spPr>
          <a:xfrm>
            <a:off x="9034272" y="443484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Xúc tiến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nghiên cứu có một vị trí trên ba tiêu chí phân loại</a:t>
            </a:r>
            <a:endParaRPr lang="en-US" sz="3000" dirty="0"/>
          </a:p>
        </p:txBody>
      </p:sp>
      <p:sp>
        <p:nvSpPr>
          <p:cNvPr id="4" name="card-236"/>
          <p:cNvSpPr/>
          <p:nvPr/>
        </p:nvSpPr>
        <p:spPr>
          <a:xfrm>
            <a:off x="548640" y="2926080"/>
            <a:ext cx="2743200" cy="1371600"/>
          </a:xfrm>
          <a:prstGeom prst="roundRect">
            <a:avLst>
              <a:gd name="adj" fmla="val 10000"/>
            </a:avLst>
          </a:prstGeom>
          <a:solidFill>
            <a:schemeClr val="accent2"/>
          </a:solidFill>
          <a:ln/>
        </p:spPr>
      </p:sp>
      <p:sp>
        <p:nvSpPr>
          <p:cNvPr id="5" name="text-237"/>
          <p:cNvSpPr txBox="1"/>
          <p:nvPr/>
        </p:nvSpPr>
        <p:spPr>
          <a:xfrm>
            <a:off x="685800" y="2926080"/>
            <a:ext cx="2468880" cy="1371600"/>
          </a:xfrm>
          <a:prstGeom prst="rect">
            <a:avLst/>
          </a:prstGeom>
          <a:noFill/>
          <a:ln/>
        </p:spPr>
        <p:txBody>
          <a:bodyPr wrap="square" lIns="0" tIns="0" rIns="0" bIns="0" rtlCol="0" anchor="ctr"/>
          <a:lstStyle/>
          <a:p>
            <a:pPr algn="ctr" indent="0" marL="0">
              <a:buNone/>
            </a:pPr>
            <a:r>
              <a:rPr lang="en-US" sz="2600" b="1" dirty="0">
                <a:solidFill>
                  <a:schemeClr val="bg1"/>
                </a:solidFill>
              </a:rPr>
              <a:t>Nghiên cứu marketing</a:t>
            </a:r>
            <a:endParaRPr lang="en-US" sz="2600" dirty="0"/>
          </a:p>
        </p:txBody>
      </p:sp>
      <p:sp>
        <p:nvSpPr>
          <p:cNvPr id="6" name="line-238"/>
          <p:cNvSpPr/>
          <p:nvPr/>
        </p:nvSpPr>
        <p:spPr>
          <a:xfrm>
            <a:off x="3291840" y="3611880"/>
            <a:ext cx="822960" cy="-1371600"/>
          </a:xfrm>
          <a:prstGeom prst="line">
            <a:avLst/>
          </a:prstGeom>
          <a:noFill/>
          <a:ln w="38100">
            <a:solidFill>
              <a:schemeClr val="accent1"/>
            </a:solidFill>
            <a:prstDash val="solid"/>
          </a:ln>
        </p:spPr>
      </p:sp>
      <p:sp>
        <p:nvSpPr>
          <p:cNvPr id="7" name="card-239"/>
          <p:cNvSpPr/>
          <p:nvPr/>
        </p:nvSpPr>
        <p:spPr>
          <a:xfrm>
            <a:off x="4114800" y="1691640"/>
            <a:ext cx="7525512" cy="1097280"/>
          </a:xfrm>
          <a:prstGeom prst="roundRect">
            <a:avLst>
              <a:gd name="adj" fmla="val 12500"/>
            </a:avLst>
          </a:prstGeom>
          <a:solidFill>
            <a:schemeClr val="bg2"/>
          </a:solidFill>
          <a:ln/>
        </p:spPr>
      </p:sp>
      <p:sp>
        <p:nvSpPr>
          <p:cNvPr id="8" name="dot-240"/>
          <p:cNvSpPr/>
          <p:nvPr/>
        </p:nvSpPr>
        <p:spPr>
          <a:xfrm>
            <a:off x="4343400" y="1920240"/>
            <a:ext cx="640080" cy="640080"/>
          </a:xfrm>
          <a:prstGeom prst="ellipse">
            <a:avLst/>
          </a:prstGeom>
          <a:solidFill>
            <a:schemeClr val="accent1"/>
          </a:solidFill>
          <a:ln/>
        </p:spPr>
      </p:sp>
      <p:sp>
        <p:nvSpPr>
          <p:cNvPr id="9" name="text-241"/>
          <p:cNvSpPr txBox="1"/>
          <p:nvPr/>
        </p:nvSpPr>
        <p:spPr>
          <a:xfrm>
            <a:off x="4343400" y="192024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10" name="text-242"/>
          <p:cNvSpPr txBox="1"/>
          <p:nvPr/>
        </p:nvSpPr>
        <p:spPr>
          <a:xfrm>
            <a:off x="5212080" y="1691640"/>
            <a:ext cx="6217920" cy="1097280"/>
          </a:xfrm>
          <a:prstGeom prst="rect">
            <a:avLst/>
          </a:prstGeom>
          <a:noFill/>
          <a:ln/>
        </p:spPr>
        <p:txBody>
          <a:bodyPr wrap="square" lIns="0" tIns="0" rIns="0" bIns="0" rtlCol="0" anchor="ctr"/>
          <a:lstStyle/>
          <a:p>
            <a:pPr indent="0" marL="0">
              <a:buNone/>
            </a:pPr>
            <a:r>
              <a:rPr lang="en-US" sz="2800" b="1" dirty="0">
                <a:solidFill>
                  <a:schemeClr val="accent1"/>
                </a:solidFill>
              </a:rPr>
              <a:t>Theo mục tiêu nghiên cứu</a:t>
            </a:r>
            <a:endParaRPr lang="en-US" sz="2800" dirty="0"/>
          </a:p>
        </p:txBody>
      </p:sp>
      <p:sp>
        <p:nvSpPr>
          <p:cNvPr id="11" name="line-243"/>
          <p:cNvSpPr/>
          <p:nvPr/>
        </p:nvSpPr>
        <p:spPr>
          <a:xfrm>
            <a:off x="3291840" y="3611880"/>
            <a:ext cx="822960" cy="-45720"/>
          </a:xfrm>
          <a:prstGeom prst="line">
            <a:avLst/>
          </a:prstGeom>
          <a:noFill/>
          <a:ln w="38100">
            <a:solidFill>
              <a:schemeClr val="accent5"/>
            </a:solidFill>
            <a:prstDash val="solid"/>
          </a:ln>
        </p:spPr>
      </p:sp>
      <p:sp>
        <p:nvSpPr>
          <p:cNvPr id="12" name="card-244"/>
          <p:cNvSpPr/>
          <p:nvPr/>
        </p:nvSpPr>
        <p:spPr>
          <a:xfrm>
            <a:off x="4114800" y="3017520"/>
            <a:ext cx="7525512" cy="1097280"/>
          </a:xfrm>
          <a:prstGeom prst="roundRect">
            <a:avLst>
              <a:gd name="adj" fmla="val 12500"/>
            </a:avLst>
          </a:prstGeom>
          <a:solidFill>
            <a:schemeClr val="bg2"/>
          </a:solidFill>
          <a:ln/>
        </p:spPr>
      </p:sp>
      <p:sp>
        <p:nvSpPr>
          <p:cNvPr id="13" name="dot-245"/>
          <p:cNvSpPr/>
          <p:nvPr/>
        </p:nvSpPr>
        <p:spPr>
          <a:xfrm>
            <a:off x="4343400" y="3246120"/>
            <a:ext cx="640080" cy="640080"/>
          </a:xfrm>
          <a:prstGeom prst="ellipse">
            <a:avLst/>
          </a:prstGeom>
          <a:solidFill>
            <a:schemeClr val="accent5"/>
          </a:solidFill>
          <a:ln/>
        </p:spPr>
      </p:sp>
      <p:sp>
        <p:nvSpPr>
          <p:cNvPr id="14" name="text-246"/>
          <p:cNvSpPr txBox="1"/>
          <p:nvPr/>
        </p:nvSpPr>
        <p:spPr>
          <a:xfrm>
            <a:off x="4343400" y="324612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5" name="text-247"/>
          <p:cNvSpPr txBox="1"/>
          <p:nvPr/>
        </p:nvSpPr>
        <p:spPr>
          <a:xfrm>
            <a:off x="5212080" y="3017520"/>
            <a:ext cx="6217920" cy="1097280"/>
          </a:xfrm>
          <a:prstGeom prst="rect">
            <a:avLst/>
          </a:prstGeom>
          <a:noFill/>
          <a:ln/>
        </p:spPr>
        <p:txBody>
          <a:bodyPr wrap="square" lIns="0" tIns="0" rIns="0" bIns="0" rtlCol="0" anchor="ctr"/>
          <a:lstStyle/>
          <a:p>
            <a:pPr indent="0" marL="0">
              <a:buNone/>
            </a:pPr>
            <a:r>
              <a:rPr lang="en-US" sz="2800" b="1" dirty="0">
                <a:solidFill>
                  <a:schemeClr val="accent5"/>
                </a:solidFill>
              </a:rPr>
              <a:t>Theo mức độ chuyên sâu</a:t>
            </a:r>
            <a:endParaRPr lang="en-US" sz="2800" dirty="0"/>
          </a:p>
        </p:txBody>
      </p:sp>
      <p:sp>
        <p:nvSpPr>
          <p:cNvPr id="16" name="line-248"/>
          <p:cNvSpPr/>
          <p:nvPr/>
        </p:nvSpPr>
        <p:spPr>
          <a:xfrm>
            <a:off x="3291840" y="3611880"/>
            <a:ext cx="822960" cy="1280160"/>
          </a:xfrm>
          <a:prstGeom prst="line">
            <a:avLst/>
          </a:prstGeom>
          <a:noFill/>
          <a:ln w="38100">
            <a:solidFill>
              <a:schemeClr val="accent3"/>
            </a:solidFill>
            <a:prstDash val="solid"/>
          </a:ln>
        </p:spPr>
      </p:sp>
      <p:sp>
        <p:nvSpPr>
          <p:cNvPr id="17" name="card-249"/>
          <p:cNvSpPr/>
          <p:nvPr/>
        </p:nvSpPr>
        <p:spPr>
          <a:xfrm>
            <a:off x="4114800" y="4343400"/>
            <a:ext cx="7525512" cy="1097280"/>
          </a:xfrm>
          <a:prstGeom prst="roundRect">
            <a:avLst>
              <a:gd name="adj" fmla="val 12500"/>
            </a:avLst>
          </a:prstGeom>
          <a:solidFill>
            <a:schemeClr val="bg2"/>
          </a:solidFill>
          <a:ln/>
        </p:spPr>
      </p:sp>
      <p:sp>
        <p:nvSpPr>
          <p:cNvPr id="18" name="dot-250"/>
          <p:cNvSpPr/>
          <p:nvPr/>
        </p:nvSpPr>
        <p:spPr>
          <a:xfrm>
            <a:off x="4343400" y="4572000"/>
            <a:ext cx="640080" cy="640080"/>
          </a:xfrm>
          <a:prstGeom prst="ellipse">
            <a:avLst/>
          </a:prstGeom>
          <a:solidFill>
            <a:schemeClr val="accent3"/>
          </a:solidFill>
          <a:ln/>
        </p:spPr>
      </p:sp>
      <p:sp>
        <p:nvSpPr>
          <p:cNvPr id="19" name="text-251"/>
          <p:cNvSpPr txBox="1"/>
          <p:nvPr/>
        </p:nvSpPr>
        <p:spPr>
          <a:xfrm>
            <a:off x="4343400" y="457200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20" name="text-252"/>
          <p:cNvSpPr txBox="1"/>
          <p:nvPr/>
        </p:nvSpPr>
        <p:spPr>
          <a:xfrm>
            <a:off x="5212080" y="4343400"/>
            <a:ext cx="6217920" cy="1097280"/>
          </a:xfrm>
          <a:prstGeom prst="rect">
            <a:avLst/>
          </a:prstGeom>
          <a:noFill/>
          <a:ln/>
        </p:spPr>
        <p:txBody>
          <a:bodyPr wrap="square" lIns="0" tIns="0" rIns="0" bIns="0" rtlCol="0" anchor="ctr"/>
          <a:lstStyle/>
          <a:p>
            <a:pPr indent="0" marL="0">
              <a:buNone/>
            </a:pPr>
            <a:r>
              <a:rPr lang="en-US" sz="2800" b="1" dirty="0">
                <a:solidFill>
                  <a:schemeClr val="accent3"/>
                </a:solidFill>
              </a:rPr>
              <a:t>Theo tính chất nghiên cứu</a:t>
            </a:r>
            <a:endParaRPr lang="en-US" sz="2800" dirty="0"/>
          </a:p>
        </p:txBody>
      </p:sp>
      <p:sp>
        <p:nvSpPr>
          <p:cNvPr id="21" name="text-253"/>
          <p:cNvSpPr txBox="1"/>
          <p:nvPr/>
        </p:nvSpPr>
        <p:spPr>
          <a:xfrm>
            <a:off x="548640" y="5715000"/>
            <a:ext cx="10332720" cy="457200"/>
          </a:xfrm>
          <a:prstGeom prst="rect">
            <a:avLst/>
          </a:prstGeom>
          <a:noFill/>
          <a:ln/>
        </p:spPr>
        <p:txBody>
          <a:bodyPr wrap="square" lIns="0" tIns="0" rIns="0" bIns="0" rtlCol="0" anchor="t"/>
          <a:lstStyle/>
          <a:p>
            <a:pPr indent="0" marL="0">
              <a:buNone/>
            </a:pPr>
            <a:r>
              <a:rPr lang="en-US" sz="2400" i="1" dirty="0">
                <a:solidFill>
                  <a:schemeClr val="tx2"/>
                </a:solidFill>
              </a:rPr>
              <a:t>Cách phân loại khác (địa điểm, tính liên tục) → tài liệu đọc thêm</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Trước hết phải biết vấn đề là gì, rồi mới tìm cách giải quyết</a:t>
            </a:r>
            <a:endParaRPr lang="en-US" sz="3000" dirty="0"/>
          </a:p>
        </p:txBody>
      </p:sp>
      <p:sp>
        <p:nvSpPr>
          <p:cNvPr id="4" name="card-254"/>
          <p:cNvSpPr/>
          <p:nvPr/>
        </p:nvSpPr>
        <p:spPr>
          <a:xfrm>
            <a:off x="548640" y="1691640"/>
            <a:ext cx="7360920" cy="4069080"/>
          </a:xfrm>
          <a:prstGeom prst="roundRect">
            <a:avLst>
              <a:gd name="adj" fmla="val 3371"/>
            </a:avLst>
          </a:prstGeom>
          <a:solidFill>
            <a:schemeClr val="bg2"/>
          </a:solidFill>
          <a:ln/>
        </p:spPr>
      </p:sp>
      <p:sp>
        <p:nvSpPr>
          <p:cNvPr id="5" name="text-255"/>
          <p:cNvSpPr txBox="1"/>
          <p:nvPr/>
        </p:nvSpPr>
        <p:spPr>
          <a:xfrm>
            <a:off x="822960" y="1828800"/>
            <a:ext cx="6858000" cy="548640"/>
          </a:xfrm>
          <a:prstGeom prst="rect">
            <a:avLst/>
          </a:prstGeom>
          <a:noFill/>
          <a:ln/>
        </p:spPr>
        <p:txBody>
          <a:bodyPr wrap="square" lIns="0" tIns="0" rIns="0" bIns="0" rtlCol="0" anchor="t"/>
          <a:lstStyle/>
          <a:p>
            <a:pPr indent="0" marL="0">
              <a:buNone/>
            </a:pPr>
            <a:r>
              <a:rPr lang="en-US" sz="2600" b="1" dirty="0">
                <a:solidFill>
                  <a:schemeClr val="accent5"/>
                </a:solidFill>
              </a:rPr>
              <a:t>Nghiên cứu xác định vấn đề</a:t>
            </a:r>
            <a:endParaRPr lang="en-US" sz="2600" dirty="0"/>
          </a:p>
        </p:txBody>
      </p:sp>
      <p:sp>
        <p:nvSpPr>
          <p:cNvPr id="6" name="text-256"/>
          <p:cNvSpPr txBox="1"/>
          <p:nvPr/>
        </p:nvSpPr>
        <p:spPr>
          <a:xfrm>
            <a:off x="822960" y="2560320"/>
            <a:ext cx="3474720" cy="658368"/>
          </a:xfrm>
          <a:prstGeom prst="rect">
            <a:avLst/>
          </a:prstGeom>
          <a:noFill/>
          <a:ln/>
        </p:spPr>
        <p:txBody>
          <a:bodyPr wrap="square" lIns="0" tIns="0" rIns="0" bIns="0" rtlCol="0" anchor="ctr"/>
          <a:lstStyle/>
          <a:p>
            <a:pPr indent="0" marL="0">
              <a:buNone/>
            </a:pPr>
            <a:r>
              <a:rPr lang="en-US" sz="2400" dirty="0">
                <a:solidFill>
                  <a:schemeClr val="tx1"/>
                </a:solidFill>
              </a:rPr>
              <a:t>• Tiềm năng thị trường</a:t>
            </a:r>
            <a:endParaRPr lang="en-US" sz="2400" dirty="0"/>
          </a:p>
        </p:txBody>
      </p:sp>
      <p:sp>
        <p:nvSpPr>
          <p:cNvPr id="7" name="text-257"/>
          <p:cNvSpPr txBox="1"/>
          <p:nvPr/>
        </p:nvSpPr>
        <p:spPr>
          <a:xfrm>
            <a:off x="822960" y="3310128"/>
            <a:ext cx="3474720" cy="658368"/>
          </a:xfrm>
          <a:prstGeom prst="rect">
            <a:avLst/>
          </a:prstGeom>
          <a:noFill/>
          <a:ln/>
        </p:spPr>
        <p:txBody>
          <a:bodyPr wrap="square" lIns="0" tIns="0" rIns="0" bIns="0" rtlCol="0" anchor="ctr"/>
          <a:lstStyle/>
          <a:p>
            <a:pPr indent="0" marL="0">
              <a:buNone/>
            </a:pPr>
            <a:r>
              <a:rPr lang="en-US" sz="2400" dirty="0">
                <a:solidFill>
                  <a:schemeClr val="tx1"/>
                </a:solidFill>
              </a:rPr>
              <a:t>• Thị phần</a:t>
            </a:r>
            <a:endParaRPr lang="en-US" sz="2400" dirty="0"/>
          </a:p>
        </p:txBody>
      </p:sp>
      <p:sp>
        <p:nvSpPr>
          <p:cNvPr id="8" name="text-258"/>
          <p:cNvSpPr txBox="1"/>
          <p:nvPr/>
        </p:nvSpPr>
        <p:spPr>
          <a:xfrm>
            <a:off x="822960" y="4059936"/>
            <a:ext cx="3474720" cy="658368"/>
          </a:xfrm>
          <a:prstGeom prst="rect">
            <a:avLst/>
          </a:prstGeom>
          <a:noFill/>
          <a:ln/>
        </p:spPr>
        <p:txBody>
          <a:bodyPr wrap="square" lIns="0" tIns="0" rIns="0" bIns="0" rtlCol="0" anchor="ctr"/>
          <a:lstStyle/>
          <a:p>
            <a:pPr indent="0" marL="0">
              <a:buNone/>
            </a:pPr>
            <a:r>
              <a:rPr lang="en-US" sz="2400" dirty="0">
                <a:solidFill>
                  <a:schemeClr val="tx1"/>
                </a:solidFill>
              </a:rPr>
              <a:t>• Hình ảnh</a:t>
            </a:r>
            <a:endParaRPr lang="en-US" sz="2400" dirty="0"/>
          </a:p>
        </p:txBody>
      </p:sp>
      <p:sp>
        <p:nvSpPr>
          <p:cNvPr id="9" name="text-259"/>
          <p:cNvSpPr txBox="1"/>
          <p:nvPr/>
        </p:nvSpPr>
        <p:spPr>
          <a:xfrm>
            <a:off x="822960" y="4809744"/>
            <a:ext cx="3474720" cy="658368"/>
          </a:xfrm>
          <a:prstGeom prst="rect">
            <a:avLst/>
          </a:prstGeom>
          <a:noFill/>
          <a:ln/>
        </p:spPr>
        <p:txBody>
          <a:bodyPr wrap="square" lIns="0" tIns="0" rIns="0" bIns="0" rtlCol="0" anchor="ctr"/>
          <a:lstStyle/>
          <a:p>
            <a:pPr indent="0" marL="0">
              <a:buNone/>
            </a:pPr>
            <a:r>
              <a:rPr lang="en-US" sz="2400" dirty="0">
                <a:solidFill>
                  <a:schemeClr val="tx1"/>
                </a:solidFill>
              </a:rPr>
              <a:t>• Đặc điểm thị trường</a:t>
            </a:r>
            <a:endParaRPr lang="en-US" sz="2400" dirty="0"/>
          </a:p>
        </p:txBody>
      </p:sp>
      <p:sp>
        <p:nvSpPr>
          <p:cNvPr id="10" name="text-260"/>
          <p:cNvSpPr txBox="1"/>
          <p:nvPr/>
        </p:nvSpPr>
        <p:spPr>
          <a:xfrm>
            <a:off x="4389120" y="2560320"/>
            <a:ext cx="3474720" cy="658368"/>
          </a:xfrm>
          <a:prstGeom prst="rect">
            <a:avLst/>
          </a:prstGeom>
          <a:noFill/>
          <a:ln/>
        </p:spPr>
        <p:txBody>
          <a:bodyPr wrap="square" lIns="0" tIns="0" rIns="0" bIns="0" rtlCol="0" anchor="ctr"/>
          <a:lstStyle/>
          <a:p>
            <a:pPr indent="0" marL="0">
              <a:buNone/>
            </a:pPr>
            <a:r>
              <a:rPr lang="en-US" sz="2400" dirty="0">
                <a:solidFill>
                  <a:schemeClr val="tx1"/>
                </a:solidFill>
              </a:rPr>
              <a:t>• Phân tích bán hàng</a:t>
            </a:r>
            <a:endParaRPr lang="en-US" sz="2400" dirty="0"/>
          </a:p>
        </p:txBody>
      </p:sp>
      <p:sp>
        <p:nvSpPr>
          <p:cNvPr id="11" name="text-261"/>
          <p:cNvSpPr txBox="1"/>
          <p:nvPr/>
        </p:nvSpPr>
        <p:spPr>
          <a:xfrm>
            <a:off x="4389120" y="3310128"/>
            <a:ext cx="3474720" cy="658368"/>
          </a:xfrm>
          <a:prstGeom prst="rect">
            <a:avLst/>
          </a:prstGeom>
          <a:noFill/>
          <a:ln/>
        </p:spPr>
        <p:txBody>
          <a:bodyPr wrap="square" lIns="0" tIns="0" rIns="0" bIns="0" rtlCol="0" anchor="ctr"/>
          <a:lstStyle/>
          <a:p>
            <a:pPr indent="0" marL="0">
              <a:buNone/>
            </a:pPr>
            <a:r>
              <a:rPr lang="en-US" sz="2400" dirty="0">
                <a:solidFill>
                  <a:schemeClr val="tx1"/>
                </a:solidFill>
              </a:rPr>
              <a:t>• Dự báo</a:t>
            </a:r>
            <a:endParaRPr lang="en-US" sz="2400" dirty="0"/>
          </a:p>
        </p:txBody>
      </p:sp>
      <p:sp>
        <p:nvSpPr>
          <p:cNvPr id="12" name="text-262"/>
          <p:cNvSpPr txBox="1"/>
          <p:nvPr/>
        </p:nvSpPr>
        <p:spPr>
          <a:xfrm>
            <a:off x="4389120" y="4059936"/>
            <a:ext cx="3474720" cy="658368"/>
          </a:xfrm>
          <a:prstGeom prst="rect">
            <a:avLst/>
          </a:prstGeom>
          <a:noFill/>
          <a:ln/>
        </p:spPr>
        <p:txBody>
          <a:bodyPr wrap="square" lIns="0" tIns="0" rIns="0" bIns="0" rtlCol="0" anchor="ctr"/>
          <a:lstStyle/>
          <a:p>
            <a:pPr indent="0" marL="0">
              <a:buNone/>
            </a:pPr>
            <a:r>
              <a:rPr lang="en-US" sz="2400" dirty="0">
                <a:solidFill>
                  <a:schemeClr val="tx1"/>
                </a:solidFill>
              </a:rPr>
              <a:t>• Xu hướng</a:t>
            </a:r>
            <a:endParaRPr lang="en-US" sz="2400" dirty="0"/>
          </a:p>
        </p:txBody>
      </p:sp>
      <p:sp>
        <p:nvSpPr>
          <p:cNvPr id="13" name="card-263"/>
          <p:cNvSpPr/>
          <p:nvPr/>
        </p:nvSpPr>
        <p:spPr>
          <a:xfrm>
            <a:off x="8092440" y="1691640"/>
            <a:ext cx="3547872" cy="4069080"/>
          </a:xfrm>
          <a:prstGeom prst="roundRect">
            <a:avLst>
              <a:gd name="adj" fmla="val 3866"/>
            </a:avLst>
          </a:prstGeom>
          <a:solidFill>
            <a:schemeClr val="bg2"/>
          </a:solidFill>
          <a:ln/>
        </p:spPr>
      </p:sp>
      <p:sp>
        <p:nvSpPr>
          <p:cNvPr id="14" name="text-264"/>
          <p:cNvSpPr txBox="1"/>
          <p:nvPr/>
        </p:nvSpPr>
        <p:spPr>
          <a:xfrm>
            <a:off x="8366760" y="1828800"/>
            <a:ext cx="3108960" cy="868680"/>
          </a:xfrm>
          <a:prstGeom prst="rect">
            <a:avLst/>
          </a:prstGeom>
          <a:noFill/>
          <a:ln/>
        </p:spPr>
        <p:txBody>
          <a:bodyPr wrap="square" lIns="0" tIns="0" rIns="0" bIns="0" rtlCol="0" anchor="t"/>
          <a:lstStyle/>
          <a:p>
            <a:pPr indent="0" marL="0">
              <a:buNone/>
            </a:pPr>
            <a:r>
              <a:rPr lang="en-US" sz="2600" b="1" dirty="0">
                <a:solidFill>
                  <a:schemeClr val="accent6"/>
                </a:solidFill>
              </a:rPr>
              <a:t>Nghiên cứu giải quyết vấn đề</a:t>
            </a:r>
            <a:endParaRPr lang="en-US" sz="2600" dirty="0"/>
          </a:p>
        </p:txBody>
      </p:sp>
      <p:sp>
        <p:nvSpPr>
          <p:cNvPr id="15" name="text-265"/>
          <p:cNvSpPr txBox="1"/>
          <p:nvPr/>
        </p:nvSpPr>
        <p:spPr>
          <a:xfrm>
            <a:off x="8366760" y="2788920"/>
            <a:ext cx="3108960" cy="530352"/>
          </a:xfrm>
          <a:prstGeom prst="rect">
            <a:avLst/>
          </a:prstGeom>
          <a:noFill/>
          <a:ln/>
        </p:spPr>
        <p:txBody>
          <a:bodyPr wrap="square" lIns="0" tIns="0" rIns="0" bIns="0" rtlCol="0" anchor="ctr"/>
          <a:lstStyle/>
          <a:p>
            <a:pPr indent="0" marL="0">
              <a:buNone/>
            </a:pPr>
            <a:r>
              <a:rPr lang="en-US" sz="2400" dirty="0">
                <a:solidFill>
                  <a:schemeClr val="tx1"/>
                </a:solidFill>
              </a:rPr>
              <a:t>• Phân khúc</a:t>
            </a:r>
            <a:endParaRPr lang="en-US" sz="2400" dirty="0"/>
          </a:p>
        </p:txBody>
      </p:sp>
      <p:sp>
        <p:nvSpPr>
          <p:cNvPr id="16" name="text-266"/>
          <p:cNvSpPr txBox="1"/>
          <p:nvPr/>
        </p:nvSpPr>
        <p:spPr>
          <a:xfrm>
            <a:off x="8366760" y="3355848"/>
            <a:ext cx="3108960" cy="530352"/>
          </a:xfrm>
          <a:prstGeom prst="rect">
            <a:avLst/>
          </a:prstGeom>
          <a:noFill/>
          <a:ln/>
        </p:spPr>
        <p:txBody>
          <a:bodyPr wrap="square" lIns="0" tIns="0" rIns="0" bIns="0" rtlCol="0" anchor="ctr"/>
          <a:lstStyle/>
          <a:p>
            <a:pPr indent="0" marL="0">
              <a:buNone/>
            </a:pPr>
            <a:r>
              <a:rPr lang="en-US" sz="2400" dirty="0">
                <a:solidFill>
                  <a:schemeClr val="tx1"/>
                </a:solidFill>
              </a:rPr>
              <a:t>• Sản phẩm</a:t>
            </a:r>
            <a:endParaRPr lang="en-US" sz="2400" dirty="0"/>
          </a:p>
        </p:txBody>
      </p:sp>
      <p:sp>
        <p:nvSpPr>
          <p:cNvPr id="17" name="text-267"/>
          <p:cNvSpPr txBox="1"/>
          <p:nvPr/>
        </p:nvSpPr>
        <p:spPr>
          <a:xfrm>
            <a:off x="8366760" y="3922776"/>
            <a:ext cx="3108960" cy="530352"/>
          </a:xfrm>
          <a:prstGeom prst="rect">
            <a:avLst/>
          </a:prstGeom>
          <a:noFill/>
          <a:ln/>
        </p:spPr>
        <p:txBody>
          <a:bodyPr wrap="square" lIns="0" tIns="0" rIns="0" bIns="0" rtlCol="0" anchor="ctr"/>
          <a:lstStyle/>
          <a:p>
            <a:pPr indent="0" marL="0">
              <a:buNone/>
            </a:pPr>
            <a:r>
              <a:rPr lang="en-US" sz="2400" dirty="0">
                <a:solidFill>
                  <a:schemeClr val="tx1"/>
                </a:solidFill>
              </a:rPr>
              <a:t>• Giá</a:t>
            </a:r>
            <a:endParaRPr lang="en-US" sz="2400" dirty="0"/>
          </a:p>
        </p:txBody>
      </p:sp>
      <p:sp>
        <p:nvSpPr>
          <p:cNvPr id="18" name="text-268"/>
          <p:cNvSpPr txBox="1"/>
          <p:nvPr/>
        </p:nvSpPr>
        <p:spPr>
          <a:xfrm>
            <a:off x="8366760" y="4489704"/>
            <a:ext cx="3108960" cy="530352"/>
          </a:xfrm>
          <a:prstGeom prst="rect">
            <a:avLst/>
          </a:prstGeom>
          <a:noFill/>
          <a:ln/>
        </p:spPr>
        <p:txBody>
          <a:bodyPr wrap="square" lIns="0" tIns="0" rIns="0" bIns="0" rtlCol="0" anchor="ctr"/>
          <a:lstStyle/>
          <a:p>
            <a:pPr indent="0" marL="0">
              <a:buNone/>
            </a:pPr>
            <a:r>
              <a:rPr lang="en-US" sz="2400" dirty="0">
                <a:solidFill>
                  <a:schemeClr val="tx1"/>
                </a:solidFill>
              </a:rPr>
              <a:t>• Chiêu thị</a:t>
            </a:r>
            <a:endParaRPr lang="en-US" sz="2400" dirty="0"/>
          </a:p>
        </p:txBody>
      </p:sp>
      <p:sp>
        <p:nvSpPr>
          <p:cNvPr id="19" name="text-269"/>
          <p:cNvSpPr txBox="1"/>
          <p:nvPr/>
        </p:nvSpPr>
        <p:spPr>
          <a:xfrm>
            <a:off x="8366760" y="5056632"/>
            <a:ext cx="3108960" cy="530352"/>
          </a:xfrm>
          <a:prstGeom prst="rect">
            <a:avLst/>
          </a:prstGeom>
          <a:noFill/>
          <a:ln/>
        </p:spPr>
        <p:txBody>
          <a:bodyPr wrap="square" lIns="0" tIns="0" rIns="0" bIns="0" rtlCol="0" anchor="ctr"/>
          <a:lstStyle/>
          <a:p>
            <a:pPr indent="0" marL="0">
              <a:buNone/>
            </a:pPr>
            <a:r>
              <a:rPr lang="en-US" sz="2400" dirty="0">
                <a:solidFill>
                  <a:schemeClr val="tx1"/>
                </a:solidFill>
              </a:rPr>
              <a:t>• Phân phối</a:t>
            </a:r>
            <a:endParaRPr lang="en-US" sz="2400" dirty="0"/>
          </a:p>
        </p:txBody>
      </p:sp>
      <p:sp>
        <p:nvSpPr>
          <p:cNvPr id="20" name="text-270"/>
          <p:cNvSpPr txBox="1"/>
          <p:nvPr/>
        </p:nvSpPr>
        <p:spPr>
          <a:xfrm>
            <a:off x="548640" y="5897880"/>
            <a:ext cx="7315200" cy="457200"/>
          </a:xfrm>
          <a:prstGeom prst="rect">
            <a:avLst/>
          </a:prstGeom>
          <a:noFill/>
          <a:ln/>
        </p:spPr>
        <p:txBody>
          <a:bodyPr wrap="square" lIns="0" tIns="0" rIns="0" bIns="0" rtlCol="0" anchor="t"/>
          <a:lstStyle/>
          <a:p>
            <a:pPr indent="0" marL="0">
              <a:buNone/>
            </a:pPr>
            <a:r>
              <a:rPr lang="en-US" sz="2400" i="1" dirty="0">
                <a:solidFill>
                  <a:schemeClr val="tx2"/>
                </a:solidFill>
              </a:rPr>
              <a:t>Nguồn: Malhotra (2019)</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Dự án của các bạn là nghiên cứu ứng dụng, phục vụ một quyết định cụ thể</a:t>
            </a:r>
            <a:endParaRPr lang="en-US" sz="3000" dirty="0"/>
          </a:p>
        </p:txBody>
      </p:sp>
      <p:sp>
        <p:nvSpPr>
          <p:cNvPr id="4" name="text-271"/>
          <p:cNvSpPr txBox="1"/>
          <p:nvPr/>
        </p:nvSpPr>
        <p:spPr>
          <a:xfrm>
            <a:off x="2743200" y="1691640"/>
            <a:ext cx="4370832" cy="640080"/>
          </a:xfrm>
          <a:prstGeom prst="rect">
            <a:avLst/>
          </a:prstGeom>
          <a:noFill/>
          <a:ln/>
        </p:spPr>
        <p:txBody>
          <a:bodyPr wrap="square" lIns="0" tIns="0" rIns="0" bIns="0" rtlCol="0" anchor="ctr"/>
          <a:lstStyle/>
          <a:p>
            <a:pPr indent="0" marL="0">
              <a:buNone/>
            </a:pPr>
            <a:r>
              <a:rPr lang="en-US" sz="2800" b="1" dirty="0">
                <a:solidFill>
                  <a:schemeClr val="tx2"/>
                </a:solidFill>
              </a:rPr>
              <a:t>Hàn lâm</a:t>
            </a:r>
            <a:endParaRPr lang="en-US" sz="2800" dirty="0"/>
          </a:p>
        </p:txBody>
      </p:sp>
      <p:sp>
        <p:nvSpPr>
          <p:cNvPr id="5" name="card-272"/>
          <p:cNvSpPr/>
          <p:nvPr/>
        </p:nvSpPr>
        <p:spPr>
          <a:xfrm>
            <a:off x="7086600" y="1600200"/>
            <a:ext cx="4736592" cy="4617720"/>
          </a:xfrm>
          <a:prstGeom prst="roundRect">
            <a:avLst>
              <a:gd name="adj" fmla="val 2970"/>
            </a:avLst>
          </a:prstGeom>
          <a:solidFill>
            <a:schemeClr val="bg2"/>
          </a:solidFill>
          <a:ln/>
        </p:spPr>
      </p:sp>
      <p:sp>
        <p:nvSpPr>
          <p:cNvPr id="6" name="text-273"/>
          <p:cNvSpPr txBox="1"/>
          <p:nvPr/>
        </p:nvSpPr>
        <p:spPr>
          <a:xfrm>
            <a:off x="7269480" y="1691640"/>
            <a:ext cx="4370832" cy="640080"/>
          </a:xfrm>
          <a:prstGeom prst="rect">
            <a:avLst/>
          </a:prstGeom>
          <a:noFill/>
          <a:ln/>
        </p:spPr>
        <p:txBody>
          <a:bodyPr wrap="square" lIns="0" tIns="0" rIns="0" bIns="0" rtlCol="0" anchor="ctr"/>
          <a:lstStyle/>
          <a:p>
            <a:pPr indent="0" marL="0">
              <a:buNone/>
            </a:pPr>
            <a:r>
              <a:rPr lang="en-US" sz="2800" b="1" dirty="0">
                <a:solidFill>
                  <a:schemeClr val="accent1"/>
                </a:solidFill>
              </a:rPr>
              <a:t>Ứng dụng</a:t>
            </a:r>
            <a:endParaRPr lang="en-US" sz="2800" dirty="0"/>
          </a:p>
        </p:txBody>
      </p:sp>
      <p:sp>
        <p:nvSpPr>
          <p:cNvPr id="7" name="text-274"/>
          <p:cNvSpPr txBox="1"/>
          <p:nvPr/>
        </p:nvSpPr>
        <p:spPr>
          <a:xfrm>
            <a:off x="548640" y="2514600"/>
            <a:ext cx="2011680" cy="960120"/>
          </a:xfrm>
          <a:prstGeom prst="rect">
            <a:avLst/>
          </a:prstGeom>
          <a:noFill/>
          <a:ln/>
        </p:spPr>
        <p:txBody>
          <a:bodyPr wrap="square" lIns="0" tIns="0" rIns="0" bIns="0" rtlCol="0" anchor="t"/>
          <a:lstStyle/>
          <a:p>
            <a:pPr indent="0" marL="0">
              <a:buNone/>
            </a:pPr>
            <a:r>
              <a:rPr lang="en-US" sz="2400" b="1" dirty="0">
                <a:solidFill>
                  <a:schemeClr val="tx2"/>
                </a:solidFill>
              </a:rPr>
              <a:t>Mục tiêu</a:t>
            </a:r>
            <a:endParaRPr lang="en-US" sz="2400" dirty="0"/>
          </a:p>
        </p:txBody>
      </p:sp>
      <p:sp>
        <p:nvSpPr>
          <p:cNvPr id="8" name="text-275"/>
          <p:cNvSpPr txBox="1"/>
          <p:nvPr/>
        </p:nvSpPr>
        <p:spPr>
          <a:xfrm>
            <a:off x="2743200" y="2514600"/>
            <a:ext cx="4187952" cy="960120"/>
          </a:xfrm>
          <a:prstGeom prst="rect">
            <a:avLst/>
          </a:prstGeom>
          <a:noFill/>
          <a:ln/>
        </p:spPr>
        <p:txBody>
          <a:bodyPr wrap="square" lIns="0" tIns="0" rIns="0" bIns="0" rtlCol="0" anchor="t"/>
          <a:lstStyle/>
          <a:p>
            <a:pPr indent="0" marL="0">
              <a:buNone/>
            </a:pPr>
            <a:r>
              <a:rPr lang="en-US" sz="2400" dirty="0">
                <a:solidFill>
                  <a:schemeClr val="tx1"/>
                </a:solidFill>
              </a:rPr>
              <a:t>Mở rộng lý thuyết, kiểm định mô hình</a:t>
            </a:r>
            <a:endParaRPr lang="en-US" sz="2400" dirty="0"/>
          </a:p>
        </p:txBody>
      </p:sp>
      <p:sp>
        <p:nvSpPr>
          <p:cNvPr id="9" name="text-276"/>
          <p:cNvSpPr txBox="1"/>
          <p:nvPr/>
        </p:nvSpPr>
        <p:spPr>
          <a:xfrm>
            <a:off x="7269480" y="2514600"/>
            <a:ext cx="4370832" cy="960120"/>
          </a:xfrm>
          <a:prstGeom prst="rect">
            <a:avLst/>
          </a:prstGeom>
          <a:noFill/>
          <a:ln/>
        </p:spPr>
        <p:txBody>
          <a:bodyPr wrap="square" lIns="0" tIns="0" rIns="0" bIns="0" rtlCol="0" anchor="t"/>
          <a:lstStyle/>
          <a:p>
            <a:pPr indent="0" marL="0">
              <a:buNone/>
            </a:pPr>
            <a:r>
              <a:rPr lang="en-US" sz="2400" dirty="0">
                <a:solidFill>
                  <a:schemeClr val="tx1"/>
                </a:solidFill>
              </a:rPr>
              <a:t>Giải quyết vấn đề kinh doanh cụ thể</a:t>
            </a:r>
            <a:endParaRPr lang="en-US" sz="2400" dirty="0"/>
          </a:p>
        </p:txBody>
      </p:sp>
      <p:sp>
        <p:nvSpPr>
          <p:cNvPr id="10" name="text-277"/>
          <p:cNvSpPr txBox="1"/>
          <p:nvPr/>
        </p:nvSpPr>
        <p:spPr>
          <a:xfrm>
            <a:off x="548640" y="3611880"/>
            <a:ext cx="2011680" cy="960120"/>
          </a:xfrm>
          <a:prstGeom prst="rect">
            <a:avLst/>
          </a:prstGeom>
          <a:noFill/>
          <a:ln/>
        </p:spPr>
        <p:txBody>
          <a:bodyPr wrap="square" lIns="0" tIns="0" rIns="0" bIns="0" rtlCol="0" anchor="t"/>
          <a:lstStyle/>
          <a:p>
            <a:pPr indent="0" marL="0">
              <a:buNone/>
            </a:pPr>
            <a:r>
              <a:rPr lang="en-US" sz="2400" b="1" dirty="0">
                <a:solidFill>
                  <a:schemeClr val="tx2"/>
                </a:solidFill>
              </a:rPr>
              <a:t>Ứng dụng</a:t>
            </a:r>
            <a:endParaRPr lang="en-US" sz="2400" dirty="0"/>
          </a:p>
        </p:txBody>
      </p:sp>
      <p:sp>
        <p:nvSpPr>
          <p:cNvPr id="11" name="text-278"/>
          <p:cNvSpPr txBox="1"/>
          <p:nvPr/>
        </p:nvSpPr>
        <p:spPr>
          <a:xfrm>
            <a:off x="2743200" y="3611880"/>
            <a:ext cx="4187952" cy="960120"/>
          </a:xfrm>
          <a:prstGeom prst="rect">
            <a:avLst/>
          </a:prstGeom>
          <a:noFill/>
          <a:ln/>
        </p:spPr>
        <p:txBody>
          <a:bodyPr wrap="square" lIns="0" tIns="0" rIns="0" bIns="0" rtlCol="0" anchor="t"/>
          <a:lstStyle/>
          <a:p>
            <a:pPr indent="0" marL="0">
              <a:buNone/>
            </a:pPr>
            <a:r>
              <a:rPr lang="en-US" sz="2400" dirty="0">
                <a:solidFill>
                  <a:schemeClr val="tx1"/>
                </a:solidFill>
              </a:rPr>
              <a:t>Đóng góp cho khoa học marketing</a:t>
            </a:r>
            <a:endParaRPr lang="en-US" sz="2400" dirty="0"/>
          </a:p>
        </p:txBody>
      </p:sp>
      <p:sp>
        <p:nvSpPr>
          <p:cNvPr id="12" name="text-279"/>
          <p:cNvSpPr txBox="1"/>
          <p:nvPr/>
        </p:nvSpPr>
        <p:spPr>
          <a:xfrm>
            <a:off x="7269480" y="3611880"/>
            <a:ext cx="4370832" cy="960120"/>
          </a:xfrm>
          <a:prstGeom prst="rect">
            <a:avLst/>
          </a:prstGeom>
          <a:noFill/>
          <a:ln/>
        </p:spPr>
        <p:txBody>
          <a:bodyPr wrap="square" lIns="0" tIns="0" rIns="0" bIns="0" rtlCol="0" anchor="t"/>
          <a:lstStyle/>
          <a:p>
            <a:pPr indent="0" marL="0">
              <a:buNone/>
            </a:pPr>
            <a:r>
              <a:rPr lang="en-US" sz="2400" dirty="0">
                <a:solidFill>
                  <a:schemeClr val="tx1"/>
                </a:solidFill>
              </a:rPr>
              <a:t>Hỗ trợ quyết định của nhà quản trị</a:t>
            </a:r>
            <a:endParaRPr lang="en-US" sz="2400" dirty="0"/>
          </a:p>
        </p:txBody>
      </p:sp>
      <p:sp>
        <p:nvSpPr>
          <p:cNvPr id="13" name="text-280"/>
          <p:cNvSpPr txBox="1"/>
          <p:nvPr/>
        </p:nvSpPr>
        <p:spPr>
          <a:xfrm>
            <a:off x="548640" y="4709160"/>
            <a:ext cx="2011680" cy="1600200"/>
          </a:xfrm>
          <a:prstGeom prst="rect">
            <a:avLst/>
          </a:prstGeom>
          <a:noFill/>
          <a:ln/>
        </p:spPr>
        <p:txBody>
          <a:bodyPr wrap="square" lIns="0" tIns="0" rIns="0" bIns="0" rtlCol="0" anchor="t"/>
          <a:lstStyle/>
          <a:p>
            <a:pPr indent="0" marL="0">
              <a:buNone/>
            </a:pPr>
            <a:r>
              <a:rPr lang="en-US" sz="2400" b="1" dirty="0">
                <a:solidFill>
                  <a:schemeClr val="tx2"/>
                </a:solidFill>
              </a:rPr>
              <a:t>Ví dụ</a:t>
            </a:r>
            <a:endParaRPr lang="en-US" sz="2400" dirty="0"/>
          </a:p>
        </p:txBody>
      </p:sp>
      <p:sp>
        <p:nvSpPr>
          <p:cNvPr id="14" name="text-281"/>
          <p:cNvSpPr txBox="1"/>
          <p:nvPr/>
        </p:nvSpPr>
        <p:spPr>
          <a:xfrm>
            <a:off x="2743200" y="4709160"/>
            <a:ext cx="4187952" cy="1600200"/>
          </a:xfrm>
          <a:prstGeom prst="rect">
            <a:avLst/>
          </a:prstGeom>
          <a:noFill/>
          <a:ln/>
        </p:spPr>
        <p:txBody>
          <a:bodyPr wrap="square" lIns="0" tIns="0" rIns="0" bIns="0" rtlCol="0" anchor="t"/>
          <a:lstStyle/>
          <a:p>
            <a:pPr indent="0" marL="0">
              <a:buNone/>
            </a:pPr>
            <a:r>
              <a:rPr lang="en-US" sz="2400" dirty="0">
                <a:solidFill>
                  <a:schemeClr val="tx1"/>
                </a:solidFill>
              </a:rPr>
              <a:t>Quảng cáo truyền hình → lòng tin thương hiệu</a:t>
            </a:r>
            <a:endParaRPr lang="en-US" sz="2400" dirty="0"/>
          </a:p>
        </p:txBody>
      </p:sp>
      <p:sp>
        <p:nvSpPr>
          <p:cNvPr id="15" name="text-282"/>
          <p:cNvSpPr txBox="1"/>
          <p:nvPr/>
        </p:nvSpPr>
        <p:spPr>
          <a:xfrm>
            <a:off x="7269480" y="4709160"/>
            <a:ext cx="4370832" cy="1600200"/>
          </a:xfrm>
          <a:prstGeom prst="rect">
            <a:avLst/>
          </a:prstGeom>
          <a:noFill/>
          <a:ln/>
        </p:spPr>
        <p:txBody>
          <a:bodyPr wrap="square" lIns="0" tIns="0" rIns="0" bIns="0" rtlCol="0" anchor="t"/>
          <a:lstStyle/>
          <a:p>
            <a:pPr indent="0" marL="0">
              <a:buNone/>
            </a:pPr>
            <a:r>
              <a:rPr lang="en-US" sz="2400" dirty="0">
                <a:solidFill>
                  <a:schemeClr val="tx1"/>
                </a:solidFill>
              </a:rPr>
              <a:t>Tối ưu ngân sách quảng cáo MXH cho công ty mỹ phẩm X</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Theo mức độ chuyên sâu: bốn thiết kế trả lời bốn kiểu câu hỏi</a:t>
            </a:r>
            <a:endParaRPr lang="en-US" sz="3000" dirty="0"/>
          </a:p>
        </p:txBody>
      </p:sp>
      <p:sp>
        <p:nvSpPr>
          <p:cNvPr id="4" name="chev-283"/>
          <p:cNvSpPr/>
          <p:nvPr/>
        </p:nvSpPr>
        <p:spPr>
          <a:xfrm>
            <a:off x="548640" y="1828800"/>
            <a:ext cx="2926080" cy="1188720"/>
          </a:xfrm>
          <a:prstGeom prst="homePlate">
            <a:avLst/>
          </a:prstGeom>
          <a:solidFill>
            <a:schemeClr val="accent1"/>
          </a:solidFill>
          <a:ln/>
        </p:spPr>
      </p:sp>
      <p:sp>
        <p:nvSpPr>
          <p:cNvPr id="5" name="text-284"/>
          <p:cNvSpPr txBox="1"/>
          <p:nvPr/>
        </p:nvSpPr>
        <p:spPr>
          <a:xfrm>
            <a:off x="64008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Khám phá</a:t>
            </a:r>
            <a:endParaRPr lang="en-US" sz="2400" dirty="0"/>
          </a:p>
        </p:txBody>
      </p:sp>
      <p:sp>
        <p:nvSpPr>
          <p:cNvPr id="6" name="card-285"/>
          <p:cNvSpPr/>
          <p:nvPr/>
        </p:nvSpPr>
        <p:spPr>
          <a:xfrm>
            <a:off x="594360" y="3337560"/>
            <a:ext cx="2560320" cy="2011680"/>
          </a:xfrm>
          <a:prstGeom prst="roundRect">
            <a:avLst>
              <a:gd name="adj" fmla="val 6818"/>
            </a:avLst>
          </a:prstGeom>
          <a:solidFill>
            <a:schemeClr val="bg2"/>
          </a:solidFill>
          <a:ln/>
        </p:spPr>
      </p:sp>
      <p:sp>
        <p:nvSpPr>
          <p:cNvPr id="7" name="text-286"/>
          <p:cNvSpPr txBox="1"/>
          <p:nvPr/>
        </p:nvSpPr>
        <p:spPr>
          <a:xfrm>
            <a:off x="822960" y="3520440"/>
            <a:ext cx="2148840" cy="1645920"/>
          </a:xfrm>
          <a:prstGeom prst="rect">
            <a:avLst/>
          </a:prstGeom>
          <a:noFill/>
          <a:ln/>
        </p:spPr>
        <p:txBody>
          <a:bodyPr wrap="square" lIns="0" tIns="0" rIns="0" bIns="0" rtlCol="0" anchor="t"/>
          <a:lstStyle/>
          <a:p>
            <a:pPr indent="0" marL="0">
              <a:buNone/>
            </a:pPr>
            <a:r>
              <a:rPr lang="en-US" sz="2600" b="1" dirty="0">
                <a:solidFill>
                  <a:schemeClr val="accent1"/>
                </a:solidFill>
              </a:rPr>
              <a:t>“Chuyện gì đang xảy ra?”</a:t>
            </a:r>
            <a:endParaRPr lang="en-US" sz="2600" dirty="0"/>
          </a:p>
        </p:txBody>
      </p:sp>
      <p:sp>
        <p:nvSpPr>
          <p:cNvPr id="8" name="chev-287"/>
          <p:cNvSpPr/>
          <p:nvPr/>
        </p:nvSpPr>
        <p:spPr>
          <a:xfrm>
            <a:off x="3337560" y="1828800"/>
            <a:ext cx="2926080" cy="1188720"/>
          </a:xfrm>
          <a:prstGeom prst="chevron">
            <a:avLst/>
          </a:prstGeom>
          <a:solidFill>
            <a:schemeClr val="accent2"/>
          </a:solidFill>
          <a:ln/>
        </p:spPr>
      </p:sp>
      <p:sp>
        <p:nvSpPr>
          <p:cNvPr id="9" name="text-288"/>
          <p:cNvSpPr txBox="1"/>
          <p:nvPr/>
        </p:nvSpPr>
        <p:spPr>
          <a:xfrm>
            <a:off x="384048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Mô tả</a:t>
            </a:r>
            <a:endParaRPr lang="en-US" sz="2400" dirty="0"/>
          </a:p>
        </p:txBody>
      </p:sp>
      <p:sp>
        <p:nvSpPr>
          <p:cNvPr id="10" name="card-289"/>
          <p:cNvSpPr/>
          <p:nvPr/>
        </p:nvSpPr>
        <p:spPr>
          <a:xfrm>
            <a:off x="3383280" y="3337560"/>
            <a:ext cx="2560320" cy="2011680"/>
          </a:xfrm>
          <a:prstGeom prst="roundRect">
            <a:avLst>
              <a:gd name="adj" fmla="val 6818"/>
            </a:avLst>
          </a:prstGeom>
          <a:solidFill>
            <a:schemeClr val="bg2"/>
          </a:solidFill>
          <a:ln/>
        </p:spPr>
      </p:sp>
      <p:sp>
        <p:nvSpPr>
          <p:cNvPr id="11" name="text-290"/>
          <p:cNvSpPr txBox="1"/>
          <p:nvPr/>
        </p:nvSpPr>
        <p:spPr>
          <a:xfrm>
            <a:off x="3611880" y="3520440"/>
            <a:ext cx="2148840" cy="1645920"/>
          </a:xfrm>
          <a:prstGeom prst="rect">
            <a:avLst/>
          </a:prstGeom>
          <a:noFill/>
          <a:ln/>
        </p:spPr>
        <p:txBody>
          <a:bodyPr wrap="square" lIns="0" tIns="0" rIns="0" bIns="0" rtlCol="0" anchor="t"/>
          <a:lstStyle/>
          <a:p>
            <a:pPr indent="0" marL="0">
              <a:buNone/>
            </a:pPr>
            <a:r>
              <a:rPr lang="en-US" sz="2600" b="1" dirty="0">
                <a:solidFill>
                  <a:schemeClr val="accent2"/>
                </a:solidFill>
              </a:rPr>
              <a:t>“Ai, cái gì, bao nhiêu?”</a:t>
            </a:r>
            <a:endParaRPr lang="en-US" sz="2600" dirty="0"/>
          </a:p>
        </p:txBody>
      </p:sp>
      <p:sp>
        <p:nvSpPr>
          <p:cNvPr id="12" name="chev-291"/>
          <p:cNvSpPr/>
          <p:nvPr/>
        </p:nvSpPr>
        <p:spPr>
          <a:xfrm>
            <a:off x="6126480" y="1828800"/>
            <a:ext cx="2926080" cy="1188720"/>
          </a:xfrm>
          <a:prstGeom prst="chevron">
            <a:avLst/>
          </a:prstGeom>
          <a:solidFill>
            <a:schemeClr val="accent5"/>
          </a:solidFill>
          <a:ln/>
        </p:spPr>
      </p:sp>
      <p:sp>
        <p:nvSpPr>
          <p:cNvPr id="13" name="text-292"/>
          <p:cNvSpPr txBox="1"/>
          <p:nvPr/>
        </p:nvSpPr>
        <p:spPr>
          <a:xfrm>
            <a:off x="662940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Tương quan</a:t>
            </a:r>
            <a:endParaRPr lang="en-US" sz="2400" dirty="0"/>
          </a:p>
        </p:txBody>
      </p:sp>
      <p:sp>
        <p:nvSpPr>
          <p:cNvPr id="14" name="card-293"/>
          <p:cNvSpPr/>
          <p:nvPr/>
        </p:nvSpPr>
        <p:spPr>
          <a:xfrm>
            <a:off x="6172200" y="3337560"/>
            <a:ext cx="2560320" cy="2011680"/>
          </a:xfrm>
          <a:prstGeom prst="roundRect">
            <a:avLst>
              <a:gd name="adj" fmla="val 6818"/>
            </a:avLst>
          </a:prstGeom>
          <a:solidFill>
            <a:schemeClr val="bg2"/>
          </a:solidFill>
          <a:ln/>
        </p:spPr>
      </p:sp>
      <p:sp>
        <p:nvSpPr>
          <p:cNvPr id="15" name="text-294"/>
          <p:cNvSpPr txBox="1"/>
          <p:nvPr/>
        </p:nvSpPr>
        <p:spPr>
          <a:xfrm>
            <a:off x="6400800" y="3520440"/>
            <a:ext cx="2148840" cy="1645920"/>
          </a:xfrm>
          <a:prstGeom prst="rect">
            <a:avLst/>
          </a:prstGeom>
          <a:noFill/>
          <a:ln/>
        </p:spPr>
        <p:txBody>
          <a:bodyPr wrap="square" lIns="0" tIns="0" rIns="0" bIns="0" rtlCol="0" anchor="t"/>
          <a:lstStyle/>
          <a:p>
            <a:pPr indent="0" marL="0">
              <a:buNone/>
            </a:pPr>
            <a:r>
              <a:rPr lang="en-US" sz="2600" b="1" dirty="0">
                <a:solidFill>
                  <a:schemeClr val="accent5"/>
                </a:solidFill>
              </a:rPr>
              <a:t>“Có đi cùng nhau không?”</a:t>
            </a:r>
            <a:endParaRPr lang="en-US" sz="2600" dirty="0"/>
          </a:p>
        </p:txBody>
      </p:sp>
      <p:sp>
        <p:nvSpPr>
          <p:cNvPr id="16" name="chev-295"/>
          <p:cNvSpPr/>
          <p:nvPr/>
        </p:nvSpPr>
        <p:spPr>
          <a:xfrm>
            <a:off x="8915400" y="1828800"/>
            <a:ext cx="2926080" cy="1188720"/>
          </a:xfrm>
          <a:prstGeom prst="chevron">
            <a:avLst/>
          </a:prstGeom>
          <a:solidFill>
            <a:schemeClr val="accent3"/>
          </a:solidFill>
          <a:ln/>
        </p:spPr>
      </p:sp>
      <p:sp>
        <p:nvSpPr>
          <p:cNvPr id="17" name="text-296"/>
          <p:cNvSpPr txBox="1"/>
          <p:nvPr/>
        </p:nvSpPr>
        <p:spPr>
          <a:xfrm>
            <a:off x="941832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Nhân quả</a:t>
            </a:r>
            <a:endParaRPr lang="en-US" sz="2400" dirty="0"/>
          </a:p>
        </p:txBody>
      </p:sp>
      <p:sp>
        <p:nvSpPr>
          <p:cNvPr id="18" name="card-297"/>
          <p:cNvSpPr/>
          <p:nvPr/>
        </p:nvSpPr>
        <p:spPr>
          <a:xfrm>
            <a:off x="8961120" y="3337560"/>
            <a:ext cx="2560320" cy="2011680"/>
          </a:xfrm>
          <a:prstGeom prst="roundRect">
            <a:avLst>
              <a:gd name="adj" fmla="val 6818"/>
            </a:avLst>
          </a:prstGeom>
          <a:solidFill>
            <a:schemeClr val="bg2"/>
          </a:solidFill>
          <a:ln/>
        </p:spPr>
      </p:sp>
      <p:sp>
        <p:nvSpPr>
          <p:cNvPr id="19" name="text-298"/>
          <p:cNvSpPr txBox="1"/>
          <p:nvPr/>
        </p:nvSpPr>
        <p:spPr>
          <a:xfrm>
            <a:off x="9189720" y="3520440"/>
            <a:ext cx="2148840" cy="1645920"/>
          </a:xfrm>
          <a:prstGeom prst="rect">
            <a:avLst/>
          </a:prstGeom>
          <a:noFill/>
          <a:ln/>
        </p:spPr>
        <p:txBody>
          <a:bodyPr wrap="square" lIns="0" tIns="0" rIns="0" bIns="0" rtlCol="0" anchor="t"/>
          <a:lstStyle/>
          <a:p>
            <a:pPr indent="0" marL="0">
              <a:buNone/>
            </a:pPr>
            <a:r>
              <a:rPr lang="en-US" sz="2600" b="1" dirty="0">
                <a:solidFill>
                  <a:schemeClr val="accent3"/>
                </a:solidFill>
              </a:rPr>
              <a:t>“A có gây ra B không?”</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Doanh số kem giảm mà không rõ lý do: bắt đầu bằng khám phá</a:t>
            </a:r>
            <a:endParaRPr lang="en-US" sz="3000" dirty="0"/>
          </a:p>
        </p:txBody>
      </p:sp>
      <p:sp>
        <p:nvSpPr>
          <p:cNvPr id="4" name="icon-bg-299"/>
          <p:cNvSpPr/>
          <p:nvPr/>
        </p:nvSpPr>
        <p:spPr>
          <a:xfrm>
            <a:off x="548640" y="1783080"/>
            <a:ext cx="1188720" cy="1188720"/>
          </a:xfrm>
          <a:prstGeom prst="ellipse">
            <a:avLst/>
          </a:prstGeom>
          <a:solidFill>
            <a:schemeClr val="accent1"/>
          </a:solidFill>
          <a:ln/>
        </p:spPr>
      </p:sp>
      <p:pic>
        <p:nvPicPr>
          <p:cNvPr id="5" name="icon-30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5820" y="2080260"/>
            <a:ext cx="594360" cy="594360"/>
          </a:xfrm>
          <a:prstGeom prst="rect">
            <a:avLst/>
          </a:prstGeom>
        </p:spPr>
      </p:pic>
      <p:sp>
        <p:nvSpPr>
          <p:cNvPr id="6" name="text-301"/>
          <p:cNvSpPr txBox="1"/>
          <p:nvPr/>
        </p:nvSpPr>
        <p:spPr>
          <a:xfrm>
            <a:off x="2057400" y="1783080"/>
            <a:ext cx="7863840" cy="1188720"/>
          </a:xfrm>
          <a:prstGeom prst="rect">
            <a:avLst/>
          </a:prstGeom>
          <a:noFill/>
          <a:ln/>
        </p:spPr>
        <p:txBody>
          <a:bodyPr wrap="square" lIns="0" tIns="0" rIns="0" bIns="0" rtlCol="0" anchor="ctr"/>
          <a:lstStyle/>
          <a:p>
            <a:pPr indent="0" marL="0">
              <a:buNone/>
            </a:pPr>
            <a:r>
              <a:rPr lang="en-US" sz="2800" dirty="0">
                <a:solidFill>
                  <a:schemeClr val="tx1"/>
                </a:solidFill>
              </a:rPr>
              <a:t>Doanh số kem mùa hè giảm, không rõ lý do</a:t>
            </a:r>
            <a:endParaRPr lang="en-US" sz="2800" dirty="0"/>
          </a:p>
        </p:txBody>
      </p:sp>
      <p:sp>
        <p:nvSpPr>
          <p:cNvPr id="7" name="text-302"/>
          <p:cNvSpPr txBox="1"/>
          <p:nvPr/>
        </p:nvSpPr>
        <p:spPr>
          <a:xfrm>
            <a:off x="9966960" y="1783080"/>
            <a:ext cx="1673352" cy="1188720"/>
          </a:xfrm>
          <a:prstGeom prst="rect">
            <a:avLst/>
          </a:prstGeom>
          <a:noFill/>
          <a:ln/>
        </p:spPr>
        <p:txBody>
          <a:bodyPr wrap="square" lIns="0" tIns="0" rIns="0" bIns="0" rtlCol="0" anchor="ctr"/>
          <a:lstStyle/>
          <a:p>
            <a:pPr algn="r" indent="0" marL="0">
              <a:buNone/>
            </a:pPr>
            <a:r>
              <a:rPr lang="en-US" sz="2400" i="1" dirty="0">
                <a:solidFill>
                  <a:schemeClr val="tx2"/>
                </a:solidFill>
              </a:rPr>
              <a:t>(minh họa)</a:t>
            </a:r>
            <a:endParaRPr lang="en-US" sz="2400" dirty="0"/>
          </a:p>
        </p:txBody>
      </p:sp>
      <p:sp>
        <p:nvSpPr>
          <p:cNvPr id="8" name="card-303"/>
          <p:cNvSpPr/>
          <p:nvPr/>
        </p:nvSpPr>
        <p:spPr>
          <a:xfrm>
            <a:off x="548640" y="3474720"/>
            <a:ext cx="3291840" cy="2011680"/>
          </a:xfrm>
          <a:prstGeom prst="roundRect">
            <a:avLst>
              <a:gd name="adj" fmla="val 6818"/>
            </a:avLst>
          </a:prstGeom>
          <a:solidFill>
            <a:schemeClr val="bg2"/>
          </a:solidFill>
          <a:ln/>
        </p:spPr>
      </p:sp>
      <p:sp>
        <p:nvSpPr>
          <p:cNvPr id="9" name="text-304"/>
          <p:cNvSpPr txBox="1"/>
          <p:nvPr/>
        </p:nvSpPr>
        <p:spPr>
          <a:xfrm>
            <a:off x="777240" y="3474720"/>
            <a:ext cx="2834640" cy="2011680"/>
          </a:xfrm>
          <a:prstGeom prst="rect">
            <a:avLst/>
          </a:prstGeom>
          <a:noFill/>
          <a:ln/>
        </p:spPr>
        <p:txBody>
          <a:bodyPr wrap="square" lIns="0" tIns="0" rIns="0" bIns="0" rtlCol="0" anchor="ctr"/>
          <a:lstStyle/>
          <a:p>
            <a:pPr indent="0" marL="0">
              <a:buNone/>
            </a:pPr>
            <a:r>
              <a:rPr lang="en-US" sz="2600" dirty="0">
                <a:solidFill>
                  <a:schemeClr val="tx1"/>
                </a:solidFill>
              </a:rPr>
              <a:t>Trò chuyện với khách và chủ cửa hàng</a:t>
            </a:r>
            <a:endParaRPr lang="en-US" sz="2600" dirty="0"/>
          </a:p>
        </p:txBody>
      </p:sp>
      <p:sp>
        <p:nvSpPr>
          <p:cNvPr id="10" name="arrow-305"/>
          <p:cNvSpPr/>
          <p:nvPr/>
        </p:nvSpPr>
        <p:spPr>
          <a:xfrm>
            <a:off x="3931920" y="4251960"/>
            <a:ext cx="411480" cy="457200"/>
          </a:xfrm>
          <a:prstGeom prst="rightArrow">
            <a:avLst/>
          </a:prstGeom>
          <a:solidFill>
            <a:schemeClr val="tx2"/>
          </a:solidFill>
          <a:ln/>
        </p:spPr>
      </p:sp>
      <p:sp>
        <p:nvSpPr>
          <p:cNvPr id="11" name="card-306"/>
          <p:cNvSpPr/>
          <p:nvPr/>
        </p:nvSpPr>
        <p:spPr>
          <a:xfrm>
            <a:off x="4448556" y="3474720"/>
            <a:ext cx="3291840" cy="2011680"/>
          </a:xfrm>
          <a:prstGeom prst="roundRect">
            <a:avLst>
              <a:gd name="adj" fmla="val 6818"/>
            </a:avLst>
          </a:prstGeom>
          <a:solidFill>
            <a:schemeClr val="bg2"/>
          </a:solidFill>
          <a:ln/>
        </p:spPr>
      </p:sp>
      <p:sp>
        <p:nvSpPr>
          <p:cNvPr id="12" name="text-307"/>
          <p:cNvSpPr txBox="1"/>
          <p:nvPr/>
        </p:nvSpPr>
        <p:spPr>
          <a:xfrm>
            <a:off x="4677156" y="3474720"/>
            <a:ext cx="2834640" cy="2011680"/>
          </a:xfrm>
          <a:prstGeom prst="rect">
            <a:avLst/>
          </a:prstGeom>
          <a:noFill/>
          <a:ln/>
        </p:spPr>
        <p:txBody>
          <a:bodyPr wrap="square" lIns="0" tIns="0" rIns="0" bIns="0" rtlCol="0" anchor="ctr"/>
          <a:lstStyle/>
          <a:p>
            <a:pPr indent="0" marL="0">
              <a:buNone/>
            </a:pPr>
            <a:r>
              <a:rPr lang="en-US" sz="2600" dirty="0">
                <a:solidFill>
                  <a:schemeClr val="tx1"/>
                </a:solidFill>
              </a:rPr>
              <a:t>Phát hiện đối thủ kem ít đường</a:t>
            </a:r>
            <a:endParaRPr lang="en-US" sz="2600" dirty="0"/>
          </a:p>
        </p:txBody>
      </p:sp>
      <p:sp>
        <p:nvSpPr>
          <p:cNvPr id="13" name="arrow-308"/>
          <p:cNvSpPr/>
          <p:nvPr/>
        </p:nvSpPr>
        <p:spPr>
          <a:xfrm>
            <a:off x="7831836" y="4251960"/>
            <a:ext cx="411480" cy="457200"/>
          </a:xfrm>
          <a:prstGeom prst="rightArrow">
            <a:avLst/>
          </a:prstGeom>
          <a:solidFill>
            <a:schemeClr val="tx2"/>
          </a:solidFill>
          <a:ln/>
        </p:spPr>
      </p:sp>
      <p:sp>
        <p:nvSpPr>
          <p:cNvPr id="14" name="card-309"/>
          <p:cNvSpPr/>
          <p:nvPr/>
        </p:nvSpPr>
        <p:spPr>
          <a:xfrm>
            <a:off x="8348472" y="3474720"/>
            <a:ext cx="3291840" cy="2011680"/>
          </a:xfrm>
          <a:prstGeom prst="roundRect">
            <a:avLst>
              <a:gd name="adj" fmla="val 6818"/>
            </a:avLst>
          </a:prstGeom>
          <a:solidFill>
            <a:schemeClr val="accent2"/>
          </a:solidFill>
          <a:ln/>
        </p:spPr>
      </p:sp>
      <p:sp>
        <p:nvSpPr>
          <p:cNvPr id="15" name="text-310"/>
          <p:cNvSpPr txBox="1"/>
          <p:nvPr/>
        </p:nvSpPr>
        <p:spPr>
          <a:xfrm>
            <a:off x="8577072" y="3474720"/>
            <a:ext cx="2834640" cy="2011680"/>
          </a:xfrm>
          <a:prstGeom prst="rect">
            <a:avLst/>
          </a:prstGeom>
          <a:noFill/>
          <a:ln/>
        </p:spPr>
        <p:txBody>
          <a:bodyPr wrap="square" lIns="0" tIns="0" rIns="0" bIns="0" rtlCol="0" anchor="ctr"/>
          <a:lstStyle/>
          <a:p>
            <a:pPr indent="0" marL="0">
              <a:buNone/>
            </a:pPr>
            <a:r>
              <a:rPr lang="en-US" sz="2600" b="1" dirty="0">
                <a:solidFill>
                  <a:schemeClr val="bg1"/>
                </a:solidFill>
              </a:rPr>
              <a:t>Giả thuyết, chưa phải kết luận</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Ai đặt đồ ăn cuối tuần, lúc nào, bao nhiêu: đó là mô tả</a:t>
            </a:r>
            <a:endParaRPr lang="en-US" sz="3000" dirty="0"/>
          </a:p>
        </p:txBody>
      </p:sp>
      <p:sp>
        <p:nvSpPr>
          <p:cNvPr id="4" name="icon-bg-311"/>
          <p:cNvSpPr/>
          <p:nvPr/>
        </p:nvSpPr>
        <p:spPr>
          <a:xfrm>
            <a:off x="548640" y="1783080"/>
            <a:ext cx="1188720" cy="1188720"/>
          </a:xfrm>
          <a:prstGeom prst="ellipse">
            <a:avLst/>
          </a:prstGeom>
          <a:solidFill>
            <a:schemeClr val="accent2"/>
          </a:solidFill>
          <a:ln/>
        </p:spPr>
      </p:sp>
      <p:pic>
        <p:nvPicPr>
          <p:cNvPr id="5" name="icon-312"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5820" y="2080260"/>
            <a:ext cx="594360" cy="594360"/>
          </a:xfrm>
          <a:prstGeom prst="rect">
            <a:avLst/>
          </a:prstGeom>
        </p:spPr>
      </p:pic>
      <p:sp>
        <p:nvSpPr>
          <p:cNvPr id="6" name="text-313"/>
          <p:cNvSpPr txBox="1"/>
          <p:nvPr/>
        </p:nvSpPr>
        <p:spPr>
          <a:xfrm>
            <a:off x="2057400" y="1783080"/>
            <a:ext cx="7863840" cy="1188720"/>
          </a:xfrm>
          <a:prstGeom prst="rect">
            <a:avLst/>
          </a:prstGeom>
          <a:noFill/>
          <a:ln/>
        </p:spPr>
        <p:txBody>
          <a:bodyPr wrap="square" lIns="0" tIns="0" rIns="0" bIns="0" rtlCol="0" anchor="ctr"/>
          <a:lstStyle/>
          <a:p>
            <a:pPr indent="0" marL="0">
              <a:buNone/>
            </a:pPr>
            <a:r>
              <a:rPr lang="en-US" sz="2800" dirty="0">
                <a:solidFill>
                  <a:schemeClr val="tx1"/>
                </a:solidFill>
              </a:rPr>
              <a:t>Ứng dụng giao đồ ăn muốn tăng đơn cuối tuần</a:t>
            </a:r>
            <a:endParaRPr lang="en-US" sz="2800" dirty="0"/>
          </a:p>
        </p:txBody>
      </p:sp>
      <p:sp>
        <p:nvSpPr>
          <p:cNvPr id="7" name="text-314"/>
          <p:cNvSpPr txBox="1"/>
          <p:nvPr/>
        </p:nvSpPr>
        <p:spPr>
          <a:xfrm>
            <a:off x="9966960" y="1783080"/>
            <a:ext cx="1673352" cy="1188720"/>
          </a:xfrm>
          <a:prstGeom prst="rect">
            <a:avLst/>
          </a:prstGeom>
          <a:noFill/>
          <a:ln/>
        </p:spPr>
        <p:txBody>
          <a:bodyPr wrap="square" lIns="0" tIns="0" rIns="0" bIns="0" rtlCol="0" anchor="ctr"/>
          <a:lstStyle/>
          <a:p>
            <a:pPr algn="r" indent="0" marL="0">
              <a:buNone/>
            </a:pPr>
            <a:r>
              <a:rPr lang="en-US" sz="2400" i="1" dirty="0">
                <a:solidFill>
                  <a:schemeClr val="tx2"/>
                </a:solidFill>
              </a:rPr>
              <a:t>(minh họa)</a:t>
            </a:r>
            <a:endParaRPr lang="en-US" sz="2400" dirty="0"/>
          </a:p>
        </p:txBody>
      </p:sp>
      <p:sp>
        <p:nvSpPr>
          <p:cNvPr id="8" name="card-315"/>
          <p:cNvSpPr/>
          <p:nvPr/>
        </p:nvSpPr>
        <p:spPr>
          <a:xfrm>
            <a:off x="548640" y="3337560"/>
            <a:ext cx="3291840" cy="1554480"/>
          </a:xfrm>
          <a:prstGeom prst="roundRect">
            <a:avLst>
              <a:gd name="adj" fmla="val 8824"/>
            </a:avLst>
          </a:prstGeom>
          <a:solidFill>
            <a:schemeClr val="bg2"/>
          </a:solidFill>
          <a:ln/>
        </p:spPr>
      </p:sp>
      <p:sp>
        <p:nvSpPr>
          <p:cNvPr id="9" name="text-316"/>
          <p:cNvSpPr txBox="1"/>
          <p:nvPr/>
        </p:nvSpPr>
        <p:spPr>
          <a:xfrm>
            <a:off x="777240"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Khảo sát</a:t>
            </a:r>
            <a:endParaRPr lang="en-US" sz="2600" dirty="0"/>
          </a:p>
        </p:txBody>
      </p:sp>
      <p:sp>
        <p:nvSpPr>
          <p:cNvPr id="10" name="arrow-317"/>
          <p:cNvSpPr/>
          <p:nvPr/>
        </p:nvSpPr>
        <p:spPr>
          <a:xfrm>
            <a:off x="3931920" y="3886200"/>
            <a:ext cx="411480" cy="457200"/>
          </a:xfrm>
          <a:prstGeom prst="rightArrow">
            <a:avLst/>
          </a:prstGeom>
          <a:solidFill>
            <a:schemeClr val="tx2"/>
          </a:solidFill>
          <a:ln/>
        </p:spPr>
      </p:sp>
      <p:sp>
        <p:nvSpPr>
          <p:cNvPr id="11" name="card-318"/>
          <p:cNvSpPr/>
          <p:nvPr/>
        </p:nvSpPr>
        <p:spPr>
          <a:xfrm>
            <a:off x="4448556" y="3337560"/>
            <a:ext cx="3291840" cy="1554480"/>
          </a:xfrm>
          <a:prstGeom prst="roundRect">
            <a:avLst>
              <a:gd name="adj" fmla="val 8824"/>
            </a:avLst>
          </a:prstGeom>
          <a:solidFill>
            <a:schemeClr val="bg2"/>
          </a:solidFill>
          <a:ln/>
        </p:spPr>
      </p:sp>
      <p:sp>
        <p:nvSpPr>
          <p:cNvPr id="12" name="text-319"/>
          <p:cNvSpPr txBox="1"/>
          <p:nvPr/>
        </p:nvSpPr>
        <p:spPr>
          <a:xfrm>
            <a:off x="4677156"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Nhóm 18–30, sinh viên đặt muộn</a:t>
            </a:r>
            <a:endParaRPr lang="en-US" sz="2600" dirty="0"/>
          </a:p>
        </p:txBody>
      </p:sp>
      <p:sp>
        <p:nvSpPr>
          <p:cNvPr id="13" name="arrow-320"/>
          <p:cNvSpPr/>
          <p:nvPr/>
        </p:nvSpPr>
        <p:spPr>
          <a:xfrm>
            <a:off x="7831836" y="3886200"/>
            <a:ext cx="411480" cy="457200"/>
          </a:xfrm>
          <a:prstGeom prst="rightArrow">
            <a:avLst/>
          </a:prstGeom>
          <a:solidFill>
            <a:schemeClr val="tx2"/>
          </a:solidFill>
          <a:ln/>
        </p:spPr>
      </p:sp>
      <p:sp>
        <p:nvSpPr>
          <p:cNvPr id="14" name="card-321"/>
          <p:cNvSpPr/>
          <p:nvPr/>
        </p:nvSpPr>
        <p:spPr>
          <a:xfrm>
            <a:off x="8348472" y="3337560"/>
            <a:ext cx="3291840" cy="1554480"/>
          </a:xfrm>
          <a:prstGeom prst="roundRect">
            <a:avLst>
              <a:gd name="adj" fmla="val 8824"/>
            </a:avLst>
          </a:prstGeom>
          <a:solidFill>
            <a:schemeClr val="bg2"/>
          </a:solidFill>
          <a:ln/>
        </p:spPr>
      </p:sp>
      <p:sp>
        <p:nvSpPr>
          <p:cNvPr id="15" name="text-322"/>
          <p:cNvSpPr txBox="1"/>
          <p:nvPr/>
        </p:nvSpPr>
        <p:spPr>
          <a:xfrm>
            <a:off x="8577072"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Ưu đãi đêm khuya</a:t>
            </a:r>
            <a:endParaRPr lang="en-US" sz="2600" dirty="0"/>
          </a:p>
        </p:txBody>
      </p:sp>
      <p:sp>
        <p:nvSpPr>
          <p:cNvPr id="16" name="card-323"/>
          <p:cNvSpPr/>
          <p:nvPr/>
        </p:nvSpPr>
        <p:spPr>
          <a:xfrm>
            <a:off x="548640" y="5257800"/>
            <a:ext cx="11094415" cy="868680"/>
          </a:xfrm>
          <a:prstGeom prst="roundRect">
            <a:avLst>
              <a:gd name="adj" fmla="val 15789"/>
            </a:avLst>
          </a:prstGeom>
          <a:solidFill>
            <a:schemeClr val="accent2"/>
          </a:solidFill>
          <a:ln/>
        </p:spPr>
      </p:sp>
      <p:sp>
        <p:nvSpPr>
          <p:cNvPr id="17" name="text-324"/>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2800" dirty="0">
                <a:solidFill>
                  <a:schemeClr val="bg1"/>
                </a:solidFill>
              </a:rPr>
              <a:t>Trả lời </a:t>
            </a:r>
            <a:pPr indent="0" marL="0">
              <a:buNone/>
            </a:pPr>
            <a:r>
              <a:rPr lang="en-US" sz="2800" b="1" i="1" dirty="0">
                <a:solidFill>
                  <a:schemeClr val="bg1"/>
                </a:solidFill>
              </a:rPr>
              <a:t>cái gì</a:t>
            </a:r>
            <a:pPr indent="0" marL="0">
              <a:buNone/>
            </a:pPr>
            <a:r>
              <a:rPr lang="en-US" sz="2800" dirty="0">
                <a:solidFill>
                  <a:schemeClr val="bg1"/>
                </a:solidFill>
              </a:rPr>
              <a:t>, không trả lời </a:t>
            </a:r>
            <a:pPr indent="0" marL="0">
              <a:buNone/>
            </a:pPr>
            <a:r>
              <a:rPr lang="en-US" sz="2800" b="1" i="1" dirty="0">
                <a:solidFill>
                  <a:schemeClr val="bg1"/>
                </a:solidFill>
              </a:rPr>
              <a:t>vì sao</a:t>
            </a:r>
            <a:pPr indent="0" marL="0">
              <a:buNone/>
            </a:pPr>
            <a:r>
              <a:rPr lang="en-US" sz="2800" dirty="0">
                <a:solidFill>
                  <a:schemeClr val="bg1"/>
                </a:solidFill>
              </a:rPr>
              <a:t>.</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Chỉ thử nghiệm có kiểm soát mới cho phép nói "A gây ra B"</a:t>
            </a:r>
            <a:endParaRPr lang="en-US" sz="3000" dirty="0"/>
          </a:p>
        </p:txBody>
      </p:sp>
      <p:sp>
        <p:nvSpPr>
          <p:cNvPr id="4" name="FIG" descr="Thử nghiệm A/B: hai nhóm khách ngẫu nhiên xem hai kiểu ảnh sản phẩm khác nhau."/>
          <p:cNvSpPr/>
          <p:nvPr/>
        </p:nvSpPr>
        <p:spPr>
          <a:xfrm>
            <a:off x="548640" y="1737360"/>
            <a:ext cx="11094415" cy="3657600"/>
          </a:xfrm>
          <a:prstGeom prst="rect">
            <a:avLst/>
          </a:prstGeom>
          <a:solidFill>
            <a:schemeClr val="bg1">
              <a:alpha val="0"/>
            </a:schemeClr>
          </a:solidFill>
          <a:ln/>
        </p:spPr>
      </p:sp>
      <p:sp>
        <p:nvSpPr>
          <p:cNvPr id="5" name="text-325"/>
          <p:cNvSpPr txBox="1"/>
          <p:nvPr/>
        </p:nvSpPr>
        <p:spPr>
          <a:xfrm>
            <a:off x="9966960" y="5669280"/>
            <a:ext cx="1673352" cy="457200"/>
          </a:xfrm>
          <a:prstGeom prst="rect">
            <a:avLst/>
          </a:prstGeom>
          <a:noFill/>
          <a:ln/>
        </p:spPr>
        <p:txBody>
          <a:bodyPr wrap="square" lIns="0" tIns="0" rIns="0" bIns="0" rtlCol="0" anchor="t"/>
          <a:lstStyle/>
          <a:p>
            <a:pPr algn="r" indent="0" marL="0">
              <a:buNone/>
            </a:pPr>
            <a:r>
              <a:rPr lang="en-US" sz="2400" i="1" dirty="0">
                <a:solidFill>
                  <a:schemeClr val="tx2"/>
                </a:solidFill>
              </a:rPr>
              <a:t>(minh họa)</a:t>
            </a:r>
            <a:endParaRPr lang="en-US" sz="2400" dirty="0"/>
          </a:p>
        </p:txBody>
      </p:sp>
      <p:sp>
        <p:nvSpPr>
          <p:cNvPr id="6" name="card-326"/>
          <p:cNvSpPr/>
          <p:nvPr/>
        </p:nvSpPr>
        <p:spPr>
          <a:xfrm>
            <a:off x="548640" y="1737360"/>
            <a:ext cx="5212080" cy="1691640"/>
          </a:xfrm>
          <a:prstGeom prst="roundRect">
            <a:avLst>
              <a:gd name="adj" fmla="val 8108"/>
            </a:avLst>
          </a:prstGeom>
          <a:solidFill>
            <a:schemeClr val="bg2"/>
          </a:solidFill>
          <a:ln/>
        </p:spPr>
      </p:sp>
      <p:sp>
        <p:nvSpPr>
          <p:cNvPr id="7" name="icon-bg-327"/>
          <p:cNvSpPr/>
          <p:nvPr/>
        </p:nvSpPr>
        <p:spPr>
          <a:xfrm>
            <a:off x="822960" y="2057400"/>
            <a:ext cx="1051560" cy="1051560"/>
          </a:xfrm>
          <a:prstGeom prst="ellipse">
            <a:avLst/>
          </a:prstGeom>
          <a:solidFill>
            <a:schemeClr val="accent5"/>
          </a:solidFill>
          <a:ln/>
        </p:spPr>
      </p:sp>
      <p:pic>
        <p:nvPicPr>
          <p:cNvPr id="8" name="icon-328"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85850" y="2320290"/>
            <a:ext cx="525780" cy="525780"/>
          </a:xfrm>
          <a:prstGeom prst="rect">
            <a:avLst/>
          </a:prstGeom>
        </p:spPr>
      </p:pic>
      <p:sp>
        <p:nvSpPr>
          <p:cNvPr id="9" name="text-329"/>
          <p:cNvSpPr txBox="1"/>
          <p:nvPr/>
        </p:nvSpPr>
        <p:spPr>
          <a:xfrm>
            <a:off x="2103120" y="2011680"/>
            <a:ext cx="3566160" cy="548640"/>
          </a:xfrm>
          <a:prstGeom prst="rect">
            <a:avLst/>
          </a:prstGeom>
          <a:noFill/>
          <a:ln/>
        </p:spPr>
        <p:txBody>
          <a:bodyPr wrap="square" lIns="0" tIns="0" rIns="0" bIns="0" rtlCol="0" anchor="t"/>
          <a:lstStyle/>
          <a:p>
            <a:pPr indent="0" marL="0">
              <a:buNone/>
            </a:pPr>
            <a:r>
              <a:rPr lang="en-US" sz="2400" b="1" dirty="0">
                <a:solidFill>
                  <a:schemeClr val="accent5"/>
                </a:solidFill>
              </a:rPr>
              <a:t>Nhóm A (ngẫu nhiên)</a:t>
            </a:r>
            <a:endParaRPr lang="en-US" sz="2400" dirty="0"/>
          </a:p>
        </p:txBody>
      </p:sp>
      <p:sp>
        <p:nvSpPr>
          <p:cNvPr id="10" name="text-330"/>
          <p:cNvSpPr txBox="1"/>
          <p:nvPr/>
        </p:nvSpPr>
        <p:spPr>
          <a:xfrm>
            <a:off x="2103120" y="2606040"/>
            <a:ext cx="3566160" cy="548640"/>
          </a:xfrm>
          <a:prstGeom prst="rect">
            <a:avLst/>
          </a:prstGeom>
          <a:noFill/>
          <a:ln/>
        </p:spPr>
        <p:txBody>
          <a:bodyPr wrap="square" lIns="0" tIns="0" rIns="0" bIns="0" rtlCol="0" anchor="t"/>
          <a:lstStyle/>
          <a:p>
            <a:pPr indent="0" marL="0">
              <a:buNone/>
            </a:pPr>
            <a:r>
              <a:rPr lang="en-US" sz="2400" dirty="0">
                <a:solidFill>
                  <a:schemeClr val="tx1"/>
                </a:solidFill>
              </a:rPr>
              <a:t>Áo treo trên móc</a:t>
            </a:r>
            <a:endParaRPr lang="en-US" sz="2400" dirty="0"/>
          </a:p>
        </p:txBody>
      </p:sp>
      <p:sp>
        <p:nvSpPr>
          <p:cNvPr id="11" name="line-331"/>
          <p:cNvSpPr/>
          <p:nvPr/>
        </p:nvSpPr>
        <p:spPr>
          <a:xfrm>
            <a:off x="5852160" y="2578608"/>
            <a:ext cx="1143000" cy="987552"/>
          </a:xfrm>
          <a:prstGeom prst="line">
            <a:avLst/>
          </a:prstGeom>
          <a:noFill/>
          <a:ln w="38100">
            <a:solidFill>
              <a:schemeClr val="tx2"/>
            </a:solidFill>
            <a:prstDash val="solid"/>
            <a:tailEnd type="triangle"/>
          </a:ln>
        </p:spPr>
      </p:sp>
      <p:sp>
        <p:nvSpPr>
          <p:cNvPr id="12" name="card-332"/>
          <p:cNvSpPr/>
          <p:nvPr/>
        </p:nvSpPr>
        <p:spPr>
          <a:xfrm>
            <a:off x="548640" y="3703320"/>
            <a:ext cx="5212080" cy="1691640"/>
          </a:xfrm>
          <a:prstGeom prst="roundRect">
            <a:avLst>
              <a:gd name="adj" fmla="val 8108"/>
            </a:avLst>
          </a:prstGeom>
          <a:solidFill>
            <a:schemeClr val="bg2"/>
          </a:solidFill>
          <a:ln/>
        </p:spPr>
      </p:sp>
      <p:sp>
        <p:nvSpPr>
          <p:cNvPr id="13" name="icon-bg-333"/>
          <p:cNvSpPr/>
          <p:nvPr/>
        </p:nvSpPr>
        <p:spPr>
          <a:xfrm>
            <a:off x="822960" y="4023360"/>
            <a:ext cx="1051560" cy="1051560"/>
          </a:xfrm>
          <a:prstGeom prst="ellipse">
            <a:avLst/>
          </a:prstGeom>
          <a:solidFill>
            <a:schemeClr val="accent6"/>
          </a:solidFill>
          <a:ln/>
        </p:spPr>
      </p:sp>
      <p:pic>
        <p:nvPicPr>
          <p:cNvPr id="14" name="icon-334"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85850" y="4286250"/>
            <a:ext cx="525780" cy="525780"/>
          </a:xfrm>
          <a:prstGeom prst="rect">
            <a:avLst/>
          </a:prstGeom>
        </p:spPr>
      </p:pic>
      <p:sp>
        <p:nvSpPr>
          <p:cNvPr id="15" name="text-335"/>
          <p:cNvSpPr txBox="1"/>
          <p:nvPr/>
        </p:nvSpPr>
        <p:spPr>
          <a:xfrm>
            <a:off x="2103120" y="3977640"/>
            <a:ext cx="3566160" cy="548640"/>
          </a:xfrm>
          <a:prstGeom prst="rect">
            <a:avLst/>
          </a:prstGeom>
          <a:noFill/>
          <a:ln/>
        </p:spPr>
        <p:txBody>
          <a:bodyPr wrap="square" lIns="0" tIns="0" rIns="0" bIns="0" rtlCol="0" anchor="t"/>
          <a:lstStyle/>
          <a:p>
            <a:pPr indent="0" marL="0">
              <a:buNone/>
            </a:pPr>
            <a:r>
              <a:rPr lang="en-US" sz="2400" b="1" dirty="0">
                <a:solidFill>
                  <a:schemeClr val="accent6"/>
                </a:solidFill>
              </a:rPr>
              <a:t>Nhóm B (ngẫu nhiên)</a:t>
            </a:r>
            <a:endParaRPr lang="en-US" sz="2400" dirty="0"/>
          </a:p>
        </p:txBody>
      </p:sp>
      <p:sp>
        <p:nvSpPr>
          <p:cNvPr id="16" name="text-336"/>
          <p:cNvSpPr txBox="1"/>
          <p:nvPr/>
        </p:nvSpPr>
        <p:spPr>
          <a:xfrm>
            <a:off x="2103120" y="4572000"/>
            <a:ext cx="3566160" cy="548640"/>
          </a:xfrm>
          <a:prstGeom prst="rect">
            <a:avLst/>
          </a:prstGeom>
          <a:noFill/>
          <a:ln/>
        </p:spPr>
        <p:txBody>
          <a:bodyPr wrap="square" lIns="0" tIns="0" rIns="0" bIns="0" rtlCol="0" anchor="t"/>
          <a:lstStyle/>
          <a:p>
            <a:pPr indent="0" marL="0">
              <a:buNone/>
            </a:pPr>
            <a:r>
              <a:rPr lang="en-US" sz="2400" dirty="0">
                <a:solidFill>
                  <a:schemeClr val="tx1"/>
                </a:solidFill>
              </a:rPr>
              <a:t>Người mẫu mặc</a:t>
            </a:r>
            <a:endParaRPr lang="en-US" sz="2400" dirty="0"/>
          </a:p>
        </p:txBody>
      </p:sp>
      <p:sp>
        <p:nvSpPr>
          <p:cNvPr id="17" name="line-337"/>
          <p:cNvSpPr/>
          <p:nvPr/>
        </p:nvSpPr>
        <p:spPr>
          <a:xfrm>
            <a:off x="5852160" y="4544568"/>
            <a:ext cx="1143000" cy="-978408"/>
          </a:xfrm>
          <a:prstGeom prst="line">
            <a:avLst/>
          </a:prstGeom>
          <a:noFill/>
          <a:ln w="38100">
            <a:solidFill>
              <a:schemeClr val="tx2"/>
            </a:solidFill>
            <a:prstDash val="solid"/>
            <a:tailEnd type="triangle"/>
          </a:ln>
        </p:spPr>
      </p:sp>
      <p:sp>
        <p:nvSpPr>
          <p:cNvPr id="18" name="card-338"/>
          <p:cNvSpPr/>
          <p:nvPr/>
        </p:nvSpPr>
        <p:spPr>
          <a:xfrm>
            <a:off x="7040880" y="2651760"/>
            <a:ext cx="4599432" cy="1828800"/>
          </a:xfrm>
          <a:prstGeom prst="roundRect">
            <a:avLst>
              <a:gd name="adj" fmla="val 7500"/>
            </a:avLst>
          </a:prstGeom>
          <a:solidFill>
            <a:schemeClr val="accent2"/>
          </a:solidFill>
          <a:ln/>
        </p:spPr>
      </p:sp>
      <p:sp>
        <p:nvSpPr>
          <p:cNvPr id="19" name="text-339"/>
          <p:cNvSpPr txBox="1"/>
          <p:nvPr/>
        </p:nvSpPr>
        <p:spPr>
          <a:xfrm>
            <a:off x="7040880" y="2651760"/>
            <a:ext cx="4599432" cy="1828800"/>
          </a:xfrm>
          <a:prstGeom prst="rect">
            <a:avLst/>
          </a:prstGeom>
          <a:noFill/>
          <a:ln/>
        </p:spPr>
        <p:txBody>
          <a:bodyPr wrap="square" lIns="0" tIns="0" rIns="0" bIns="0" rtlCol="0" anchor="ctr"/>
          <a:lstStyle/>
          <a:p>
            <a:pPr algn="ctr" indent="0" marL="0">
              <a:buNone/>
            </a:pPr>
            <a:r>
              <a:rPr lang="en-US" sz="3400" b="1" dirty="0">
                <a:solidFill>
                  <a:schemeClr val="bg1"/>
                </a:solidFill>
              </a:rPr>
              <a:t>Tỷ lệ mua</a:t>
            </a:r>
            <a:endParaRPr lang="en-US" sz="3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Cùng tăng chưa chắc là nguyên nhân</a:t>
            </a:r>
            <a:endParaRPr lang="en-US" sz="3000" dirty="0"/>
          </a:p>
        </p:txBody>
      </p:sp>
      <p:sp>
        <p:nvSpPr>
          <p:cNvPr id="4" name="text-340"/>
          <p:cNvSpPr txBox="1"/>
          <p:nvPr/>
        </p:nvSpPr>
        <p:spPr>
          <a:xfrm>
            <a:off x="548640" y="1645920"/>
            <a:ext cx="11094415" cy="548640"/>
          </a:xfrm>
          <a:prstGeom prst="rect">
            <a:avLst/>
          </a:prstGeom>
          <a:noFill/>
          <a:ln/>
        </p:spPr>
        <p:txBody>
          <a:bodyPr wrap="square" lIns="0" tIns="0" rIns="0" bIns="0" rtlCol="0" anchor="t"/>
          <a:lstStyle/>
          <a:p>
            <a:pPr indent="0" marL="0">
              <a:buNone/>
            </a:pPr>
            <a:r>
              <a:rPr lang="en-US" sz="2400" dirty="0">
                <a:solidFill>
                  <a:schemeClr val="tx2"/>
                </a:solidFill>
              </a:rPr>
              <a:t>Tháng chi nhiều cho quảng cáo, doanh thu cũng cao</a:t>
            </a:r>
            <a:endParaRPr lang="en-US" sz="2400" dirty="0"/>
          </a:p>
        </p:txBody>
      </p:sp>
      <p:sp>
        <p:nvSpPr>
          <p:cNvPr id="5" name="card-341"/>
          <p:cNvSpPr/>
          <p:nvPr/>
        </p:nvSpPr>
        <p:spPr>
          <a:xfrm>
            <a:off x="4480560" y="2377440"/>
            <a:ext cx="3200400" cy="914400"/>
          </a:xfrm>
          <a:prstGeom prst="roundRect">
            <a:avLst>
              <a:gd name="adj" fmla="val 15000"/>
            </a:avLst>
          </a:prstGeom>
          <a:solidFill>
            <a:schemeClr val="accent2"/>
          </a:solidFill>
          <a:ln/>
        </p:spPr>
      </p:sp>
      <p:sp>
        <p:nvSpPr>
          <p:cNvPr id="6" name="text-342"/>
          <p:cNvSpPr txBox="1"/>
          <p:nvPr/>
        </p:nvSpPr>
        <p:spPr>
          <a:xfrm>
            <a:off x="4480560" y="2377440"/>
            <a:ext cx="3200400" cy="914400"/>
          </a:xfrm>
          <a:prstGeom prst="rect">
            <a:avLst/>
          </a:prstGeom>
          <a:noFill/>
          <a:ln/>
        </p:spPr>
        <p:txBody>
          <a:bodyPr wrap="square" lIns="0" tIns="0" rIns="0" bIns="0" rtlCol="0" anchor="ctr"/>
          <a:lstStyle/>
          <a:p>
            <a:pPr algn="ctr" indent="0" marL="0">
              <a:buNone/>
            </a:pPr>
            <a:r>
              <a:rPr lang="en-US" sz="3000" b="1" dirty="0">
                <a:solidFill>
                  <a:schemeClr val="bg1"/>
                </a:solidFill>
              </a:rPr>
              <a:t>Mùa Tết</a:t>
            </a:r>
            <a:endParaRPr lang="en-US" sz="3000" dirty="0"/>
          </a:p>
        </p:txBody>
      </p:sp>
      <p:sp>
        <p:nvSpPr>
          <p:cNvPr id="7" name="line-343"/>
          <p:cNvSpPr/>
          <p:nvPr/>
        </p:nvSpPr>
        <p:spPr>
          <a:xfrm>
            <a:off x="4937760" y="3291840"/>
            <a:ext cx="-2011680" cy="1188720"/>
          </a:xfrm>
          <a:prstGeom prst="line">
            <a:avLst/>
          </a:prstGeom>
          <a:noFill/>
          <a:ln w="38100">
            <a:solidFill>
              <a:schemeClr val="accent2"/>
            </a:solidFill>
            <a:prstDash val="solid"/>
            <a:tailEnd type="triangle"/>
          </a:ln>
        </p:spPr>
      </p:sp>
      <p:sp>
        <p:nvSpPr>
          <p:cNvPr id="8" name="line-344"/>
          <p:cNvSpPr/>
          <p:nvPr/>
        </p:nvSpPr>
        <p:spPr>
          <a:xfrm>
            <a:off x="7223760" y="3291840"/>
            <a:ext cx="2011680" cy="1188720"/>
          </a:xfrm>
          <a:prstGeom prst="line">
            <a:avLst/>
          </a:prstGeom>
          <a:noFill/>
          <a:ln w="38100">
            <a:solidFill>
              <a:schemeClr val="accent2"/>
            </a:solidFill>
            <a:prstDash val="solid"/>
            <a:tailEnd type="triangle"/>
          </a:ln>
        </p:spPr>
      </p:sp>
      <p:sp>
        <p:nvSpPr>
          <p:cNvPr id="9" name="card-345"/>
          <p:cNvSpPr/>
          <p:nvPr/>
        </p:nvSpPr>
        <p:spPr>
          <a:xfrm>
            <a:off x="548640" y="4480560"/>
            <a:ext cx="4206240" cy="1005840"/>
          </a:xfrm>
          <a:prstGeom prst="roundRect">
            <a:avLst>
              <a:gd name="adj" fmla="val 13636"/>
            </a:avLst>
          </a:prstGeom>
          <a:solidFill>
            <a:schemeClr val="bg2"/>
          </a:solidFill>
          <a:ln/>
        </p:spPr>
      </p:sp>
      <p:sp>
        <p:nvSpPr>
          <p:cNvPr id="10" name="text-346"/>
          <p:cNvSpPr txBox="1"/>
          <p:nvPr/>
        </p:nvSpPr>
        <p:spPr>
          <a:xfrm>
            <a:off x="548640" y="4480560"/>
            <a:ext cx="4206240" cy="1005840"/>
          </a:xfrm>
          <a:prstGeom prst="rect">
            <a:avLst/>
          </a:prstGeom>
          <a:noFill/>
          <a:ln/>
        </p:spPr>
        <p:txBody>
          <a:bodyPr wrap="square" lIns="0" tIns="0" rIns="0" bIns="0" rtlCol="0" anchor="ctr"/>
          <a:lstStyle/>
          <a:p>
            <a:pPr algn="ctr" indent="0" marL="0">
              <a:buNone/>
            </a:pPr>
            <a:r>
              <a:rPr lang="en-US" sz="2800" b="1" dirty="0">
                <a:solidFill>
                  <a:schemeClr val="tx1"/>
                </a:solidFill>
              </a:rPr>
              <a:t>Quảng cáo</a:t>
            </a:r>
            <a:endParaRPr lang="en-US" sz="2800" dirty="0"/>
          </a:p>
        </p:txBody>
      </p:sp>
      <p:sp>
        <p:nvSpPr>
          <p:cNvPr id="11" name="card-347"/>
          <p:cNvSpPr/>
          <p:nvPr/>
        </p:nvSpPr>
        <p:spPr>
          <a:xfrm>
            <a:off x="7434072" y="4480560"/>
            <a:ext cx="4206240" cy="1005840"/>
          </a:xfrm>
          <a:prstGeom prst="roundRect">
            <a:avLst>
              <a:gd name="adj" fmla="val 13636"/>
            </a:avLst>
          </a:prstGeom>
          <a:solidFill>
            <a:schemeClr val="bg2"/>
          </a:solidFill>
          <a:ln/>
        </p:spPr>
      </p:sp>
      <p:sp>
        <p:nvSpPr>
          <p:cNvPr id="12" name="text-348"/>
          <p:cNvSpPr txBox="1"/>
          <p:nvPr/>
        </p:nvSpPr>
        <p:spPr>
          <a:xfrm>
            <a:off x="7434072" y="4480560"/>
            <a:ext cx="4206240" cy="1005840"/>
          </a:xfrm>
          <a:prstGeom prst="rect">
            <a:avLst/>
          </a:prstGeom>
          <a:noFill/>
          <a:ln/>
        </p:spPr>
        <p:txBody>
          <a:bodyPr wrap="square" lIns="0" tIns="0" rIns="0" bIns="0" rtlCol="0" anchor="ctr"/>
          <a:lstStyle/>
          <a:p>
            <a:pPr algn="ctr" indent="0" marL="0">
              <a:buNone/>
            </a:pPr>
            <a:r>
              <a:rPr lang="en-US" sz="2800" b="1" dirty="0">
                <a:solidFill>
                  <a:schemeClr val="tx1"/>
                </a:solidFill>
              </a:rPr>
              <a:t>Doanh thu</a:t>
            </a:r>
            <a:endParaRPr lang="en-US" sz="2800" dirty="0"/>
          </a:p>
        </p:txBody>
      </p:sp>
      <p:sp>
        <p:nvSpPr>
          <p:cNvPr id="13" name="line-349"/>
          <p:cNvSpPr/>
          <p:nvPr/>
        </p:nvSpPr>
        <p:spPr>
          <a:xfrm>
            <a:off x="4892040" y="4983480"/>
            <a:ext cx="2423160" cy="0"/>
          </a:xfrm>
          <a:prstGeom prst="line">
            <a:avLst/>
          </a:prstGeom>
          <a:noFill/>
          <a:ln w="38100">
            <a:solidFill>
              <a:schemeClr val="accent3"/>
            </a:solidFill>
            <a:prstDash val="dash"/>
            <a:tailEnd type="triangle"/>
          </a:ln>
        </p:spPr>
      </p:sp>
      <p:sp>
        <p:nvSpPr>
          <p:cNvPr id="14" name="text-350"/>
          <p:cNvSpPr txBox="1"/>
          <p:nvPr/>
        </p:nvSpPr>
        <p:spPr>
          <a:xfrm>
            <a:off x="4846320" y="5120640"/>
            <a:ext cx="2514600" cy="502920"/>
          </a:xfrm>
          <a:prstGeom prst="rect">
            <a:avLst/>
          </a:prstGeom>
          <a:noFill/>
          <a:ln/>
        </p:spPr>
        <p:txBody>
          <a:bodyPr wrap="square" lIns="0" tIns="0" rIns="0" bIns="0" rtlCol="0" anchor="t"/>
          <a:lstStyle/>
          <a:p>
            <a:pPr algn="ctr" indent="0" marL="0">
              <a:buNone/>
            </a:pPr>
            <a:r>
              <a:rPr lang="en-US" sz="2400" b="1" dirty="0">
                <a:solidFill>
                  <a:schemeClr val="accent3"/>
                </a:solidFill>
              </a:rPr>
              <a:t>gây ra?</a:t>
            </a:r>
            <a:endParaRPr lang="en-US" sz="2400" dirty="0"/>
          </a:p>
        </p:txBody>
      </p:sp>
      <p:sp>
        <p:nvSpPr>
          <p:cNvPr id="15" name="text-351"/>
          <p:cNvSpPr txBox="1"/>
          <p:nvPr/>
        </p:nvSpPr>
        <p:spPr>
          <a:xfrm>
            <a:off x="548640" y="5760720"/>
            <a:ext cx="9144000" cy="502920"/>
          </a:xfrm>
          <a:prstGeom prst="rect">
            <a:avLst/>
          </a:prstGeom>
          <a:noFill/>
          <a:ln/>
        </p:spPr>
        <p:txBody>
          <a:bodyPr wrap="square" lIns="0" tIns="0" rIns="0" bIns="0" rtlCol="0" anchor="t"/>
          <a:lstStyle/>
          <a:p>
            <a:pPr indent="0" marL="0">
              <a:buNone/>
            </a:pPr>
            <a:r>
              <a:rPr lang="en-US" sz="2400" b="1" dirty="0">
                <a:solidFill>
                  <a:schemeClr val="accent2"/>
                </a:solidFill>
              </a:rPr>
              <a:t>Có thể cả hai cùng tăng vì mùa Tết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Định tính để hiểu sâu, định lượng để đo trên diện rộng</a:t>
            </a:r>
            <a:endParaRPr lang="en-US" sz="3000" dirty="0"/>
          </a:p>
        </p:txBody>
      </p:sp>
      <p:sp>
        <p:nvSpPr>
          <p:cNvPr id="4" name="card-352"/>
          <p:cNvSpPr/>
          <p:nvPr/>
        </p:nvSpPr>
        <p:spPr>
          <a:xfrm>
            <a:off x="2880360" y="1691640"/>
            <a:ext cx="4297680" cy="685800"/>
          </a:xfrm>
          <a:prstGeom prst="roundRect">
            <a:avLst>
              <a:gd name="adj" fmla="val 20000"/>
            </a:avLst>
          </a:prstGeom>
          <a:solidFill>
            <a:schemeClr val="accent4"/>
          </a:solidFill>
          <a:ln/>
        </p:spPr>
      </p:sp>
      <p:sp>
        <p:nvSpPr>
          <p:cNvPr id="5" name="text-353"/>
          <p:cNvSpPr txBox="1"/>
          <p:nvPr/>
        </p:nvSpPr>
        <p:spPr>
          <a:xfrm>
            <a:off x="3017520" y="1691640"/>
            <a:ext cx="4206240" cy="685800"/>
          </a:xfrm>
          <a:prstGeom prst="rect">
            <a:avLst/>
          </a:prstGeom>
          <a:noFill/>
          <a:ln/>
        </p:spPr>
        <p:txBody>
          <a:bodyPr wrap="square" lIns="0" tIns="0" rIns="0" bIns="0" rtlCol="0" anchor="ctr"/>
          <a:lstStyle/>
          <a:p>
            <a:pPr indent="0" marL="0">
              <a:buNone/>
            </a:pPr>
            <a:r>
              <a:rPr lang="en-US" sz="2800" b="1" dirty="0">
                <a:solidFill>
                  <a:schemeClr val="tx1"/>
                </a:solidFill>
              </a:rPr>
              <a:t>Định tính</a:t>
            </a:r>
            <a:endParaRPr lang="en-US" sz="2800" dirty="0"/>
          </a:p>
        </p:txBody>
      </p:sp>
      <p:sp>
        <p:nvSpPr>
          <p:cNvPr id="6" name="card-354"/>
          <p:cNvSpPr/>
          <p:nvPr/>
        </p:nvSpPr>
        <p:spPr>
          <a:xfrm>
            <a:off x="7269480" y="1691640"/>
            <a:ext cx="4343400" cy="685800"/>
          </a:xfrm>
          <a:prstGeom prst="roundRect">
            <a:avLst>
              <a:gd name="adj" fmla="val 20000"/>
            </a:avLst>
          </a:prstGeom>
          <a:solidFill>
            <a:schemeClr val="accent5"/>
          </a:solidFill>
          <a:ln/>
        </p:spPr>
      </p:sp>
      <p:sp>
        <p:nvSpPr>
          <p:cNvPr id="7" name="text-355"/>
          <p:cNvSpPr txBox="1"/>
          <p:nvPr/>
        </p:nvSpPr>
        <p:spPr>
          <a:xfrm>
            <a:off x="7406640" y="1691640"/>
            <a:ext cx="4206240" cy="685800"/>
          </a:xfrm>
          <a:prstGeom prst="rect">
            <a:avLst/>
          </a:prstGeom>
          <a:noFill/>
          <a:ln/>
        </p:spPr>
        <p:txBody>
          <a:bodyPr wrap="square" lIns="0" tIns="0" rIns="0" bIns="0" rtlCol="0" anchor="ctr"/>
          <a:lstStyle/>
          <a:p>
            <a:pPr indent="0" marL="0">
              <a:buNone/>
            </a:pPr>
            <a:r>
              <a:rPr lang="en-US" sz="2800" b="1" dirty="0">
                <a:solidFill>
                  <a:schemeClr val="bg1"/>
                </a:solidFill>
              </a:rPr>
              <a:t>Định lượng</a:t>
            </a:r>
            <a:endParaRPr lang="en-US" sz="2800" dirty="0"/>
          </a:p>
        </p:txBody>
      </p:sp>
      <p:sp>
        <p:nvSpPr>
          <p:cNvPr id="8" name="card-356"/>
          <p:cNvSpPr/>
          <p:nvPr/>
        </p:nvSpPr>
        <p:spPr>
          <a:xfrm>
            <a:off x="457200" y="2478024"/>
            <a:ext cx="11277295" cy="822960"/>
          </a:xfrm>
          <a:prstGeom prst="roundRect">
            <a:avLst>
              <a:gd name="adj" fmla="val 16667"/>
            </a:avLst>
          </a:prstGeom>
          <a:solidFill>
            <a:schemeClr val="bg2"/>
          </a:solidFill>
          <a:ln/>
        </p:spPr>
      </p:sp>
      <p:sp>
        <p:nvSpPr>
          <p:cNvPr id="9" name="text-357"/>
          <p:cNvSpPr txBox="1"/>
          <p:nvPr/>
        </p:nvSpPr>
        <p:spPr>
          <a:xfrm>
            <a:off x="548640" y="2514600"/>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Mục đích</a:t>
            </a:r>
            <a:endParaRPr lang="en-US" sz="2400" dirty="0"/>
          </a:p>
        </p:txBody>
      </p:sp>
      <p:sp>
        <p:nvSpPr>
          <p:cNvPr id="10" name="text-358"/>
          <p:cNvSpPr txBox="1"/>
          <p:nvPr/>
        </p:nvSpPr>
        <p:spPr>
          <a:xfrm>
            <a:off x="301752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Hiểu sâu, xây dựng lý thuyết</a:t>
            </a:r>
            <a:endParaRPr lang="en-US" sz="2400" dirty="0"/>
          </a:p>
        </p:txBody>
      </p:sp>
      <p:sp>
        <p:nvSpPr>
          <p:cNvPr id="11" name="text-359"/>
          <p:cNvSpPr txBox="1"/>
          <p:nvPr/>
        </p:nvSpPr>
        <p:spPr>
          <a:xfrm>
            <a:off x="740664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Đo lường, kiểm định giả thuyết</a:t>
            </a:r>
            <a:endParaRPr lang="en-US" sz="2400" dirty="0"/>
          </a:p>
        </p:txBody>
      </p:sp>
      <p:sp>
        <p:nvSpPr>
          <p:cNvPr id="12" name="text-360"/>
          <p:cNvSpPr txBox="1"/>
          <p:nvPr/>
        </p:nvSpPr>
        <p:spPr>
          <a:xfrm>
            <a:off x="548640" y="3355848"/>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13" name="text-361"/>
          <p:cNvSpPr txBox="1"/>
          <p:nvPr/>
        </p:nvSpPr>
        <p:spPr>
          <a:xfrm>
            <a:off x="301752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Lời nói, văn bản, hình ảnh</a:t>
            </a:r>
            <a:endParaRPr lang="en-US" sz="2400" dirty="0"/>
          </a:p>
        </p:txBody>
      </p:sp>
      <p:sp>
        <p:nvSpPr>
          <p:cNvPr id="14" name="text-362"/>
          <p:cNvSpPr txBox="1"/>
          <p:nvPr/>
        </p:nvSpPr>
        <p:spPr>
          <a:xfrm>
            <a:off x="740664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Con số, tỷ lệ</a:t>
            </a:r>
            <a:endParaRPr lang="en-US" sz="2400" dirty="0"/>
          </a:p>
        </p:txBody>
      </p:sp>
      <p:sp>
        <p:nvSpPr>
          <p:cNvPr id="15" name="card-363"/>
          <p:cNvSpPr/>
          <p:nvPr/>
        </p:nvSpPr>
        <p:spPr>
          <a:xfrm>
            <a:off x="457200" y="4160520"/>
            <a:ext cx="11277295" cy="822960"/>
          </a:xfrm>
          <a:prstGeom prst="roundRect">
            <a:avLst>
              <a:gd name="adj" fmla="val 16667"/>
            </a:avLst>
          </a:prstGeom>
          <a:solidFill>
            <a:schemeClr val="bg2"/>
          </a:solidFill>
          <a:ln/>
        </p:spPr>
      </p:sp>
      <p:sp>
        <p:nvSpPr>
          <p:cNvPr id="16" name="text-364"/>
          <p:cNvSpPr txBox="1"/>
          <p:nvPr/>
        </p:nvSpPr>
        <p:spPr>
          <a:xfrm>
            <a:off x="548640" y="4197096"/>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Cỡ mẫu</a:t>
            </a:r>
            <a:endParaRPr lang="en-US" sz="2400" dirty="0"/>
          </a:p>
        </p:txBody>
      </p:sp>
      <p:sp>
        <p:nvSpPr>
          <p:cNvPr id="17" name="text-365"/>
          <p:cNvSpPr txBox="1"/>
          <p:nvPr/>
        </p:nvSpPr>
        <p:spPr>
          <a:xfrm>
            <a:off x="301752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Nhỏ</a:t>
            </a:r>
            <a:endParaRPr lang="en-US" sz="2400" dirty="0"/>
          </a:p>
        </p:txBody>
      </p:sp>
      <p:sp>
        <p:nvSpPr>
          <p:cNvPr id="18" name="text-366"/>
          <p:cNvSpPr txBox="1"/>
          <p:nvPr/>
        </p:nvSpPr>
        <p:spPr>
          <a:xfrm>
            <a:off x="740664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Lớn, hướng tới đại diện</a:t>
            </a:r>
            <a:endParaRPr lang="en-US" sz="2400" dirty="0"/>
          </a:p>
        </p:txBody>
      </p:sp>
      <p:sp>
        <p:nvSpPr>
          <p:cNvPr id="19" name="text-367"/>
          <p:cNvSpPr txBox="1"/>
          <p:nvPr/>
        </p:nvSpPr>
        <p:spPr>
          <a:xfrm>
            <a:off x="548640" y="5038344"/>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Phương pháp</a:t>
            </a:r>
            <a:endParaRPr lang="en-US" sz="2400" dirty="0"/>
          </a:p>
        </p:txBody>
      </p:sp>
      <p:sp>
        <p:nvSpPr>
          <p:cNvPr id="20" name="text-368"/>
          <p:cNvSpPr txBox="1"/>
          <p:nvPr/>
        </p:nvSpPr>
        <p:spPr>
          <a:xfrm>
            <a:off x="301752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Phỏng vấn sâu, focus group</a:t>
            </a:r>
            <a:endParaRPr lang="en-US" sz="2400" dirty="0"/>
          </a:p>
        </p:txBody>
      </p:sp>
      <p:sp>
        <p:nvSpPr>
          <p:cNvPr id="21" name="text-369"/>
          <p:cNvSpPr txBox="1"/>
          <p:nvPr/>
        </p:nvSpPr>
        <p:spPr>
          <a:xfrm>
            <a:off x="740664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Khảo sát, thử nghiệm, panel</a:t>
            </a:r>
            <a:endParaRPr lang="en-US" sz="2400" dirty="0"/>
          </a:p>
        </p:txBody>
      </p:sp>
      <p:sp>
        <p:nvSpPr>
          <p:cNvPr id="22" name="text-370"/>
          <p:cNvSpPr txBox="1"/>
          <p:nvPr/>
        </p:nvSpPr>
        <p:spPr>
          <a:xfrm>
            <a:off x="548640" y="5897880"/>
            <a:ext cx="8229600" cy="502920"/>
          </a:xfrm>
          <a:prstGeom prst="rect">
            <a:avLst/>
          </a:prstGeom>
          <a:noFill/>
          <a:ln/>
        </p:spPr>
        <p:txBody>
          <a:bodyPr wrap="square" lIns="0" tIns="0" rIns="0" bIns="0" rtlCol="0" anchor="t"/>
          <a:lstStyle/>
          <a:p>
            <a:pPr indent="0" marL="0">
              <a:buNone/>
            </a:pPr>
            <a:r>
              <a:rPr lang="en-US" sz="2400" dirty="0">
                <a:solidFill>
                  <a:schemeClr val="accent1"/>
                </a:solidFill>
              </a:rPr>
              <a:t>Kết hợp cả hai = </a:t>
            </a:r>
            <a:pPr indent="0" marL="0">
              <a:buNone/>
            </a:pPr>
            <a:r>
              <a:rPr lang="en-US" sz="2400" b="1" i="1" dirty="0">
                <a:solidFill>
                  <a:schemeClr val="accent1"/>
                </a:solidFill>
              </a:rPr>
              <a:t>mixed methods</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Phân loại nhanh: 30 giây bàn với bạn, rồi giơ tay</a:t>
            </a:r>
            <a:endParaRPr lang="en-US" sz="3000" dirty="0"/>
          </a:p>
        </p:txBody>
      </p:sp>
      <p:sp>
        <p:nvSpPr>
          <p:cNvPr id="4" name="card-371"/>
          <p:cNvSpPr/>
          <p:nvPr/>
        </p:nvSpPr>
        <p:spPr>
          <a:xfrm>
            <a:off x="548640" y="1645920"/>
            <a:ext cx="2606040" cy="1005840"/>
          </a:xfrm>
          <a:prstGeom prst="roundRect">
            <a:avLst>
              <a:gd name="adj" fmla="val 13636"/>
            </a:avLst>
          </a:prstGeom>
          <a:solidFill>
            <a:schemeClr val="accent1"/>
          </a:solidFill>
          <a:ln/>
        </p:spPr>
      </p:sp>
      <p:sp>
        <p:nvSpPr>
          <p:cNvPr id="5" name="text-372"/>
          <p:cNvSpPr txBox="1"/>
          <p:nvPr/>
        </p:nvSpPr>
        <p:spPr>
          <a:xfrm>
            <a:off x="731520"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1 ngón</a:t>
            </a:r>
            <a:endParaRPr lang="en-US" sz="2400" dirty="0"/>
          </a:p>
        </p:txBody>
      </p:sp>
      <p:sp>
        <p:nvSpPr>
          <p:cNvPr id="6" name="text-373"/>
          <p:cNvSpPr txBox="1"/>
          <p:nvPr/>
        </p:nvSpPr>
        <p:spPr>
          <a:xfrm>
            <a:off x="731520"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Khám phá</a:t>
            </a:r>
            <a:endParaRPr lang="en-US" sz="2400" dirty="0"/>
          </a:p>
        </p:txBody>
      </p:sp>
      <p:sp>
        <p:nvSpPr>
          <p:cNvPr id="7" name="card-374"/>
          <p:cNvSpPr/>
          <p:nvPr/>
        </p:nvSpPr>
        <p:spPr>
          <a:xfrm>
            <a:off x="3367735" y="1645920"/>
            <a:ext cx="2606040" cy="1005840"/>
          </a:xfrm>
          <a:prstGeom prst="roundRect">
            <a:avLst>
              <a:gd name="adj" fmla="val 13636"/>
            </a:avLst>
          </a:prstGeom>
          <a:solidFill>
            <a:schemeClr val="accent2"/>
          </a:solidFill>
          <a:ln/>
        </p:spPr>
      </p:sp>
      <p:sp>
        <p:nvSpPr>
          <p:cNvPr id="8" name="text-375"/>
          <p:cNvSpPr txBox="1"/>
          <p:nvPr/>
        </p:nvSpPr>
        <p:spPr>
          <a:xfrm>
            <a:off x="3550615"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2 ngón</a:t>
            </a:r>
            <a:endParaRPr lang="en-US" sz="2400" dirty="0"/>
          </a:p>
        </p:txBody>
      </p:sp>
      <p:sp>
        <p:nvSpPr>
          <p:cNvPr id="9" name="text-376"/>
          <p:cNvSpPr txBox="1"/>
          <p:nvPr/>
        </p:nvSpPr>
        <p:spPr>
          <a:xfrm>
            <a:off x="3550615"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Mô tả</a:t>
            </a:r>
            <a:endParaRPr lang="en-US" sz="2400" dirty="0"/>
          </a:p>
        </p:txBody>
      </p:sp>
      <p:sp>
        <p:nvSpPr>
          <p:cNvPr id="10" name="card-377"/>
          <p:cNvSpPr/>
          <p:nvPr/>
        </p:nvSpPr>
        <p:spPr>
          <a:xfrm>
            <a:off x="6186830" y="1645920"/>
            <a:ext cx="2606040" cy="1005840"/>
          </a:xfrm>
          <a:prstGeom prst="roundRect">
            <a:avLst>
              <a:gd name="adj" fmla="val 13636"/>
            </a:avLst>
          </a:prstGeom>
          <a:solidFill>
            <a:schemeClr val="accent5"/>
          </a:solidFill>
          <a:ln/>
        </p:spPr>
      </p:sp>
      <p:sp>
        <p:nvSpPr>
          <p:cNvPr id="11" name="text-378"/>
          <p:cNvSpPr txBox="1"/>
          <p:nvPr/>
        </p:nvSpPr>
        <p:spPr>
          <a:xfrm>
            <a:off x="6369710"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3 ngón</a:t>
            </a:r>
            <a:endParaRPr lang="en-US" sz="2400" dirty="0"/>
          </a:p>
        </p:txBody>
      </p:sp>
      <p:sp>
        <p:nvSpPr>
          <p:cNvPr id="12" name="text-379"/>
          <p:cNvSpPr txBox="1"/>
          <p:nvPr/>
        </p:nvSpPr>
        <p:spPr>
          <a:xfrm>
            <a:off x="6369710"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Tương quan</a:t>
            </a:r>
            <a:endParaRPr lang="en-US" sz="2400" dirty="0"/>
          </a:p>
        </p:txBody>
      </p:sp>
      <p:sp>
        <p:nvSpPr>
          <p:cNvPr id="13" name="card-380"/>
          <p:cNvSpPr/>
          <p:nvPr/>
        </p:nvSpPr>
        <p:spPr>
          <a:xfrm>
            <a:off x="9005926" y="1645920"/>
            <a:ext cx="2606040" cy="1005840"/>
          </a:xfrm>
          <a:prstGeom prst="roundRect">
            <a:avLst>
              <a:gd name="adj" fmla="val 13636"/>
            </a:avLst>
          </a:prstGeom>
          <a:solidFill>
            <a:schemeClr val="accent3"/>
          </a:solidFill>
          <a:ln/>
        </p:spPr>
      </p:sp>
      <p:sp>
        <p:nvSpPr>
          <p:cNvPr id="14" name="text-381"/>
          <p:cNvSpPr txBox="1"/>
          <p:nvPr/>
        </p:nvSpPr>
        <p:spPr>
          <a:xfrm>
            <a:off x="9188806"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4 ngón</a:t>
            </a:r>
            <a:endParaRPr lang="en-US" sz="2400" dirty="0"/>
          </a:p>
        </p:txBody>
      </p:sp>
      <p:sp>
        <p:nvSpPr>
          <p:cNvPr id="15" name="text-382"/>
          <p:cNvSpPr txBox="1"/>
          <p:nvPr/>
        </p:nvSpPr>
        <p:spPr>
          <a:xfrm>
            <a:off x="9188806"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Nhân quả</a:t>
            </a:r>
            <a:endParaRPr lang="en-US" sz="2400" dirty="0"/>
          </a:p>
        </p:txBody>
      </p:sp>
      <p:sp>
        <p:nvSpPr>
          <p:cNvPr id="16" name="ANIM-24-0"/>
          <p:cNvSpPr txBox="1"/>
          <p:nvPr/>
        </p:nvSpPr>
        <p:spPr>
          <a:xfrm>
            <a:off x="548640" y="292608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1  </a:t>
            </a:r>
            <a:pPr indent="0" marL="0">
              <a:buNone/>
            </a:pPr>
            <a:r>
              <a:rPr lang="en-US" sz="2400" dirty="0">
                <a:solidFill>
                  <a:schemeClr val="tx1"/>
                </a:solidFill>
              </a:rPr>
              <a:t>Doanh số kem giảm không rõ lý do: đi trò chuyện</a:t>
            </a:r>
            <a:endParaRPr lang="en-US" sz="2400" dirty="0"/>
          </a:p>
        </p:txBody>
      </p:sp>
      <p:sp>
        <p:nvSpPr>
          <p:cNvPr id="17" name="ANIM-24-1"/>
          <p:cNvSpPr txBox="1"/>
          <p:nvPr/>
        </p:nvSpPr>
        <p:spPr>
          <a:xfrm>
            <a:off x="548640" y="397764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2  </a:t>
            </a:r>
            <a:pPr indent="0" marL="0">
              <a:buNone/>
            </a:pPr>
            <a:r>
              <a:rPr lang="en-US" sz="2400" dirty="0">
                <a:solidFill>
                  <a:schemeClr val="tx1"/>
                </a:solidFill>
              </a:rPr>
              <a:t>Giao đồ ăn: ai đặt cuối tuần, giờ đặt, số tiền</a:t>
            </a:r>
            <a:endParaRPr lang="en-US" sz="2400" dirty="0"/>
          </a:p>
        </p:txBody>
      </p:sp>
      <p:sp>
        <p:nvSpPr>
          <p:cNvPr id="18" name="ANIM-24-2"/>
          <p:cNvSpPr txBox="1"/>
          <p:nvPr/>
        </p:nvSpPr>
        <p:spPr>
          <a:xfrm>
            <a:off x="548640" y="502920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3  </a:t>
            </a:r>
            <a:pPr indent="0" marL="0">
              <a:buNone/>
            </a:pPr>
            <a:r>
              <a:rPr lang="en-US" sz="2400" dirty="0">
                <a:solidFill>
                  <a:schemeClr val="tx1"/>
                </a:solidFill>
              </a:rPr>
              <a:t>Chia ngẫu nhiên: ảnh áo treo móc vs người mẫu</a:t>
            </a:r>
            <a:endParaRPr lang="en-US" sz="2400" dirty="0"/>
          </a:p>
        </p:txBody>
      </p:sp>
      <p:sp>
        <p:nvSpPr>
          <p:cNvPr id="19" name="ANIM-24-3"/>
          <p:cNvSpPr txBox="1"/>
          <p:nvPr/>
        </p:nvSpPr>
        <p:spPr>
          <a:xfrm>
            <a:off x="6172200" y="292608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4  </a:t>
            </a:r>
            <a:pPr indent="0" marL="0">
              <a:buNone/>
            </a:pPr>
            <a:r>
              <a:rPr lang="en-US" sz="2400" dirty="0">
                <a:solidFill>
                  <a:schemeClr val="tx1"/>
                </a:solidFill>
              </a:rPr>
              <a:t>Quảng cáo Facebook và doanh thu biến động cùng chiều?</a:t>
            </a:r>
            <a:endParaRPr lang="en-US" sz="2400" dirty="0"/>
          </a:p>
        </p:txBody>
      </p:sp>
      <p:sp>
        <p:nvSpPr>
          <p:cNvPr id="20" name="ANIM-24-4"/>
          <p:cNvSpPr txBox="1"/>
          <p:nvPr/>
        </p:nvSpPr>
        <p:spPr>
          <a:xfrm>
            <a:off x="6172200" y="397764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5  </a:t>
            </a:r>
            <a:pPr indent="0" marL="0">
              <a:buNone/>
            </a:pPr>
            <a:r>
              <a:rPr lang="en-US" sz="2400" dirty="0">
                <a:solidFill>
                  <a:schemeClr val="tx1"/>
                </a:solidFill>
              </a:rPr>
              <a:t>Giảng viên kiểm định mô hình niềm tin → ý định mua</a:t>
            </a:r>
            <a:endParaRPr lang="en-US" sz="2400" dirty="0"/>
          </a:p>
        </p:txBody>
      </p:sp>
      <p:sp>
        <p:nvSpPr>
          <p:cNvPr id="21" name="ANIM-24-5"/>
          <p:cNvSpPr txBox="1"/>
          <p:nvPr/>
        </p:nvSpPr>
        <p:spPr>
          <a:xfrm>
            <a:off x="6172200" y="502920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6  </a:t>
            </a:r>
            <a:pPr indent="0" marL="0">
              <a:buNone/>
            </a:pPr>
            <a:r>
              <a:rPr lang="en-US" sz="2400" dirty="0">
                <a:solidFill>
                  <a:schemeClr val="tx1"/>
                </a:solidFill>
              </a:rPr>
              <a:t>Phỏng vấn sâu 12 khách trung thành mỹ phẩm Việt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Đáp án: dấu hiệu nhận biết từng loại</a:t>
            </a:r>
            <a:endParaRPr lang="en-US" sz="3000" dirty="0"/>
          </a:p>
        </p:txBody>
      </p:sp>
      <p:sp>
        <p:nvSpPr>
          <p:cNvPr id="4" name="text-389"/>
          <p:cNvSpPr txBox="1"/>
          <p:nvPr/>
        </p:nvSpPr>
        <p:spPr>
          <a:xfrm>
            <a:off x="548640" y="1645920"/>
            <a:ext cx="822960" cy="548640"/>
          </a:xfrm>
          <a:prstGeom prst="rect">
            <a:avLst/>
          </a:prstGeom>
          <a:noFill/>
          <a:ln/>
        </p:spPr>
        <p:txBody>
          <a:bodyPr wrap="square" lIns="0" tIns="0" rIns="0" bIns="0" rtlCol="0" anchor="ctr"/>
          <a:lstStyle/>
          <a:p>
            <a:pPr indent="0" marL="0">
              <a:buNone/>
            </a:pPr>
            <a:r>
              <a:rPr lang="en-US" sz="2400" b="1" dirty="0">
                <a:solidFill>
                  <a:schemeClr val="tx2"/>
                </a:solidFill>
              </a:rPr>
              <a:t>#</a:t>
            </a:r>
            <a:endParaRPr lang="en-US" sz="2400" dirty="0"/>
          </a:p>
        </p:txBody>
      </p:sp>
      <p:sp>
        <p:nvSpPr>
          <p:cNvPr id="5" name="text-390"/>
          <p:cNvSpPr txBox="1"/>
          <p:nvPr/>
        </p:nvSpPr>
        <p:spPr>
          <a:xfrm>
            <a:off x="1554480" y="1645920"/>
            <a:ext cx="3383280" cy="548640"/>
          </a:xfrm>
          <a:prstGeom prst="rect">
            <a:avLst/>
          </a:prstGeom>
          <a:noFill/>
          <a:ln/>
        </p:spPr>
        <p:txBody>
          <a:bodyPr wrap="square" lIns="0" tIns="0" rIns="0" bIns="0" rtlCol="0" anchor="ctr"/>
          <a:lstStyle/>
          <a:p>
            <a:pPr indent="0" marL="0">
              <a:buNone/>
            </a:pPr>
            <a:r>
              <a:rPr lang="en-US" sz="2400" b="1" dirty="0">
                <a:solidFill>
                  <a:schemeClr val="tx2"/>
                </a:solidFill>
              </a:rPr>
              <a:t>Thiết kế</a:t>
            </a:r>
            <a:endParaRPr lang="en-US" sz="2400" dirty="0"/>
          </a:p>
        </p:txBody>
      </p:sp>
      <p:sp>
        <p:nvSpPr>
          <p:cNvPr id="6" name="text-391"/>
          <p:cNvSpPr txBox="1"/>
          <p:nvPr/>
        </p:nvSpPr>
        <p:spPr>
          <a:xfrm>
            <a:off x="5120640" y="1645920"/>
            <a:ext cx="3108960" cy="548640"/>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7" name="text-392"/>
          <p:cNvSpPr txBox="1"/>
          <p:nvPr/>
        </p:nvSpPr>
        <p:spPr>
          <a:xfrm>
            <a:off x="8412480" y="1645920"/>
            <a:ext cx="3227832" cy="548640"/>
          </a:xfrm>
          <a:prstGeom prst="rect">
            <a:avLst/>
          </a:prstGeom>
          <a:noFill/>
          <a:ln/>
        </p:spPr>
        <p:txBody>
          <a:bodyPr wrap="square" lIns="0" tIns="0" rIns="0" bIns="0" rtlCol="0" anchor="ctr"/>
          <a:lstStyle/>
          <a:p>
            <a:pPr indent="0" marL="0">
              <a:buNone/>
            </a:pPr>
            <a:r>
              <a:rPr lang="en-US" sz="2400" b="1" dirty="0">
                <a:solidFill>
                  <a:schemeClr val="tx2"/>
                </a:solidFill>
              </a:rPr>
              <a:t>Mục tiêu</a:t>
            </a:r>
            <a:endParaRPr lang="en-US" sz="2400" dirty="0"/>
          </a:p>
        </p:txBody>
      </p:sp>
      <p:sp>
        <p:nvSpPr>
          <p:cNvPr id="8" name="text-393"/>
          <p:cNvSpPr txBox="1"/>
          <p:nvPr/>
        </p:nvSpPr>
        <p:spPr>
          <a:xfrm>
            <a:off x="548640" y="2286000"/>
            <a:ext cx="822960" cy="512064"/>
          </a:xfrm>
          <a:prstGeom prst="rect">
            <a:avLst/>
          </a:prstGeom>
          <a:noFill/>
          <a:ln/>
        </p:spPr>
        <p:txBody>
          <a:bodyPr wrap="square" lIns="0" tIns="0" rIns="0" bIns="0" rtlCol="0" anchor="ctr"/>
          <a:lstStyle/>
          <a:p>
            <a:pPr indent="0" marL="0">
              <a:buNone/>
            </a:pPr>
            <a:r>
              <a:rPr lang="en-US" sz="2400" dirty="0">
                <a:solidFill>
                  <a:schemeClr val="tx1"/>
                </a:solidFill>
              </a:rPr>
              <a:t>1</a:t>
            </a:r>
            <a:endParaRPr lang="en-US" sz="2400" dirty="0"/>
          </a:p>
        </p:txBody>
      </p:sp>
      <p:sp>
        <p:nvSpPr>
          <p:cNvPr id="9" name="text-394"/>
          <p:cNvSpPr txBox="1"/>
          <p:nvPr/>
        </p:nvSpPr>
        <p:spPr>
          <a:xfrm>
            <a:off x="1554480" y="228600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10" name="text-395"/>
          <p:cNvSpPr txBox="1"/>
          <p:nvPr/>
        </p:nvSpPr>
        <p:spPr>
          <a:xfrm>
            <a:off x="5120640" y="228600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11" name="text-396"/>
          <p:cNvSpPr txBox="1"/>
          <p:nvPr/>
        </p:nvSpPr>
        <p:spPr>
          <a:xfrm>
            <a:off x="8412480" y="228600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2" name="text-397"/>
          <p:cNvSpPr txBox="1"/>
          <p:nvPr/>
        </p:nvSpPr>
        <p:spPr>
          <a:xfrm>
            <a:off x="548640" y="2926080"/>
            <a:ext cx="822960" cy="512064"/>
          </a:xfrm>
          <a:prstGeom prst="rect">
            <a:avLst/>
          </a:prstGeom>
          <a:noFill/>
          <a:ln/>
        </p:spPr>
        <p:txBody>
          <a:bodyPr wrap="square" lIns="0" tIns="0" rIns="0" bIns="0" rtlCol="0" anchor="ctr"/>
          <a:lstStyle/>
          <a:p>
            <a:pPr indent="0" marL="0">
              <a:buNone/>
            </a:pPr>
            <a:r>
              <a:rPr lang="en-US" sz="2400" dirty="0">
                <a:solidFill>
                  <a:schemeClr val="tx1"/>
                </a:solidFill>
              </a:rPr>
              <a:t>2</a:t>
            </a:r>
            <a:endParaRPr lang="en-US" sz="2400" dirty="0"/>
          </a:p>
        </p:txBody>
      </p:sp>
      <p:sp>
        <p:nvSpPr>
          <p:cNvPr id="13" name="text-398"/>
          <p:cNvSpPr txBox="1"/>
          <p:nvPr/>
        </p:nvSpPr>
        <p:spPr>
          <a:xfrm>
            <a:off x="1554480" y="2926080"/>
            <a:ext cx="3383280" cy="512064"/>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4" name="text-399"/>
          <p:cNvSpPr txBox="1"/>
          <p:nvPr/>
        </p:nvSpPr>
        <p:spPr>
          <a:xfrm>
            <a:off x="5120640" y="292608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15" name="text-400"/>
          <p:cNvSpPr txBox="1"/>
          <p:nvPr/>
        </p:nvSpPr>
        <p:spPr>
          <a:xfrm>
            <a:off x="8412480" y="292608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6" name="card-401"/>
          <p:cNvSpPr/>
          <p:nvPr/>
        </p:nvSpPr>
        <p:spPr>
          <a:xfrm>
            <a:off x="411480" y="3529584"/>
            <a:ext cx="11368735" cy="585216"/>
          </a:xfrm>
          <a:prstGeom prst="roundRect">
            <a:avLst>
              <a:gd name="adj" fmla="val 23438"/>
            </a:avLst>
          </a:prstGeom>
          <a:solidFill>
            <a:schemeClr val="bg2"/>
          </a:solidFill>
          <a:ln/>
        </p:spPr>
      </p:sp>
      <p:sp>
        <p:nvSpPr>
          <p:cNvPr id="17" name="text-402"/>
          <p:cNvSpPr txBox="1"/>
          <p:nvPr/>
        </p:nvSpPr>
        <p:spPr>
          <a:xfrm>
            <a:off x="548640" y="3566160"/>
            <a:ext cx="822960" cy="512064"/>
          </a:xfrm>
          <a:prstGeom prst="rect">
            <a:avLst/>
          </a:prstGeom>
          <a:noFill/>
          <a:ln/>
        </p:spPr>
        <p:txBody>
          <a:bodyPr wrap="square" lIns="0" tIns="0" rIns="0" bIns="0" rtlCol="0" anchor="ctr"/>
          <a:lstStyle/>
          <a:p>
            <a:pPr indent="0" marL="0">
              <a:buNone/>
            </a:pPr>
            <a:r>
              <a:rPr lang="en-US" sz="2400" dirty="0">
                <a:solidFill>
                  <a:schemeClr val="tx1"/>
                </a:solidFill>
              </a:rPr>
              <a:t>3</a:t>
            </a:r>
            <a:endParaRPr lang="en-US" sz="2400" dirty="0"/>
          </a:p>
        </p:txBody>
      </p:sp>
      <p:sp>
        <p:nvSpPr>
          <p:cNvPr id="18" name="text-403"/>
          <p:cNvSpPr txBox="1"/>
          <p:nvPr/>
        </p:nvSpPr>
        <p:spPr>
          <a:xfrm>
            <a:off x="1554480" y="3566160"/>
            <a:ext cx="3383280" cy="512064"/>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19" name="text-404"/>
          <p:cNvSpPr txBox="1"/>
          <p:nvPr/>
        </p:nvSpPr>
        <p:spPr>
          <a:xfrm>
            <a:off x="5120640" y="356616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0" name="text-405"/>
          <p:cNvSpPr txBox="1"/>
          <p:nvPr/>
        </p:nvSpPr>
        <p:spPr>
          <a:xfrm>
            <a:off x="8412480" y="356616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1" name="card-406"/>
          <p:cNvSpPr/>
          <p:nvPr/>
        </p:nvSpPr>
        <p:spPr>
          <a:xfrm>
            <a:off x="411480" y="4169664"/>
            <a:ext cx="11368735" cy="585216"/>
          </a:xfrm>
          <a:prstGeom prst="roundRect">
            <a:avLst>
              <a:gd name="adj" fmla="val 23438"/>
            </a:avLst>
          </a:prstGeom>
          <a:solidFill>
            <a:schemeClr val="bg2"/>
          </a:solidFill>
          <a:ln/>
        </p:spPr>
      </p:sp>
      <p:sp>
        <p:nvSpPr>
          <p:cNvPr id="22" name="text-407"/>
          <p:cNvSpPr txBox="1"/>
          <p:nvPr/>
        </p:nvSpPr>
        <p:spPr>
          <a:xfrm>
            <a:off x="548640" y="4206240"/>
            <a:ext cx="822960" cy="512064"/>
          </a:xfrm>
          <a:prstGeom prst="rect">
            <a:avLst/>
          </a:prstGeom>
          <a:noFill/>
          <a:ln/>
        </p:spPr>
        <p:txBody>
          <a:bodyPr wrap="square" lIns="0" tIns="0" rIns="0" bIns="0" rtlCol="0" anchor="ctr"/>
          <a:lstStyle/>
          <a:p>
            <a:pPr indent="0" marL="0">
              <a:buNone/>
            </a:pPr>
            <a:r>
              <a:rPr lang="en-US" sz="2400" dirty="0">
                <a:solidFill>
                  <a:schemeClr val="tx1"/>
                </a:solidFill>
              </a:rPr>
              <a:t>4</a:t>
            </a:r>
            <a:endParaRPr lang="en-US" sz="2400" dirty="0"/>
          </a:p>
        </p:txBody>
      </p:sp>
      <p:sp>
        <p:nvSpPr>
          <p:cNvPr id="23" name="text-408"/>
          <p:cNvSpPr txBox="1"/>
          <p:nvPr/>
        </p:nvSpPr>
        <p:spPr>
          <a:xfrm>
            <a:off x="1554480" y="4206240"/>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4" name="text-409"/>
          <p:cNvSpPr txBox="1"/>
          <p:nvPr/>
        </p:nvSpPr>
        <p:spPr>
          <a:xfrm>
            <a:off x="5120640" y="420624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5" name="text-410"/>
          <p:cNvSpPr txBox="1"/>
          <p:nvPr/>
        </p:nvSpPr>
        <p:spPr>
          <a:xfrm>
            <a:off x="8412480" y="420624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6" name="text-411"/>
          <p:cNvSpPr txBox="1"/>
          <p:nvPr/>
        </p:nvSpPr>
        <p:spPr>
          <a:xfrm>
            <a:off x="548640" y="4846320"/>
            <a:ext cx="822960" cy="512064"/>
          </a:xfrm>
          <a:prstGeom prst="rect">
            <a:avLst/>
          </a:prstGeom>
          <a:noFill/>
          <a:ln/>
        </p:spPr>
        <p:txBody>
          <a:bodyPr wrap="square" lIns="0" tIns="0" rIns="0" bIns="0" rtlCol="0" anchor="ctr"/>
          <a:lstStyle/>
          <a:p>
            <a:pPr indent="0" marL="0">
              <a:buNone/>
            </a:pPr>
            <a:r>
              <a:rPr lang="en-US" sz="2400" dirty="0">
                <a:solidFill>
                  <a:schemeClr val="tx1"/>
                </a:solidFill>
              </a:rPr>
              <a:t>5</a:t>
            </a:r>
            <a:endParaRPr lang="en-US" sz="2400" dirty="0"/>
          </a:p>
        </p:txBody>
      </p:sp>
      <p:sp>
        <p:nvSpPr>
          <p:cNvPr id="27" name="text-412"/>
          <p:cNvSpPr txBox="1"/>
          <p:nvPr/>
        </p:nvSpPr>
        <p:spPr>
          <a:xfrm>
            <a:off x="1554480" y="4846320"/>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8" name="text-413"/>
          <p:cNvSpPr txBox="1"/>
          <p:nvPr/>
        </p:nvSpPr>
        <p:spPr>
          <a:xfrm>
            <a:off x="5120640" y="484632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9" name="text-414"/>
          <p:cNvSpPr txBox="1"/>
          <p:nvPr/>
        </p:nvSpPr>
        <p:spPr>
          <a:xfrm>
            <a:off x="8412480" y="4846320"/>
            <a:ext cx="3227832" cy="512064"/>
          </a:xfrm>
          <a:prstGeom prst="rect">
            <a:avLst/>
          </a:prstGeom>
          <a:noFill/>
          <a:ln/>
        </p:spPr>
        <p:txBody>
          <a:bodyPr wrap="square" lIns="0" tIns="0" rIns="0" bIns="0" rtlCol="0" anchor="ctr"/>
          <a:lstStyle/>
          <a:p>
            <a:pPr indent="0" marL="0">
              <a:buNone/>
            </a:pPr>
            <a:r>
              <a:rPr lang="en-US" sz="2400" b="1" dirty="0">
                <a:solidFill>
                  <a:schemeClr val="accent6"/>
                </a:solidFill>
              </a:rPr>
              <a:t>Hàn lâm</a:t>
            </a:r>
            <a:endParaRPr lang="en-US" sz="2400" dirty="0"/>
          </a:p>
        </p:txBody>
      </p:sp>
      <p:sp>
        <p:nvSpPr>
          <p:cNvPr id="30" name="text-415"/>
          <p:cNvSpPr txBox="1"/>
          <p:nvPr/>
        </p:nvSpPr>
        <p:spPr>
          <a:xfrm>
            <a:off x="548640" y="5486400"/>
            <a:ext cx="822960" cy="512064"/>
          </a:xfrm>
          <a:prstGeom prst="rect">
            <a:avLst/>
          </a:prstGeom>
          <a:noFill/>
          <a:ln/>
        </p:spPr>
        <p:txBody>
          <a:bodyPr wrap="square" lIns="0" tIns="0" rIns="0" bIns="0" rtlCol="0" anchor="ctr"/>
          <a:lstStyle/>
          <a:p>
            <a:pPr indent="0" marL="0">
              <a:buNone/>
            </a:pPr>
            <a:r>
              <a:rPr lang="en-US" sz="2400" dirty="0">
                <a:solidFill>
                  <a:schemeClr val="tx1"/>
                </a:solidFill>
              </a:rPr>
              <a:t>6</a:t>
            </a:r>
            <a:endParaRPr lang="en-US" sz="2400" dirty="0"/>
          </a:p>
        </p:txBody>
      </p:sp>
      <p:sp>
        <p:nvSpPr>
          <p:cNvPr id="31" name="text-416"/>
          <p:cNvSpPr txBox="1"/>
          <p:nvPr/>
        </p:nvSpPr>
        <p:spPr>
          <a:xfrm>
            <a:off x="1554480" y="548640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32" name="text-417"/>
          <p:cNvSpPr txBox="1"/>
          <p:nvPr/>
        </p:nvSpPr>
        <p:spPr>
          <a:xfrm>
            <a:off x="5120640" y="548640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33" name="text-418"/>
          <p:cNvSpPr txBox="1"/>
          <p:nvPr/>
        </p:nvSpPr>
        <p:spPr>
          <a:xfrm>
            <a:off x="8412480" y="548640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Giải lao 15 phút</a:t>
            </a:r>
            <a:endParaRPr lang="en-US" sz="3000" dirty="0"/>
          </a:p>
        </p:txBody>
      </p:sp>
      <p:sp>
        <p:nvSpPr>
          <p:cNvPr id="4" name="icon-bg-419"/>
          <p:cNvSpPr/>
          <p:nvPr/>
        </p:nvSpPr>
        <p:spPr>
          <a:xfrm>
            <a:off x="4956048" y="1737360"/>
            <a:ext cx="2286000" cy="2286000"/>
          </a:xfrm>
          <a:prstGeom prst="ellipse">
            <a:avLst/>
          </a:prstGeom>
          <a:solidFill>
            <a:schemeClr val="accent6"/>
          </a:solidFill>
          <a:ln/>
        </p:spPr>
      </p:sp>
      <p:pic>
        <p:nvPicPr>
          <p:cNvPr id="5" name="icon-42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527548" y="2308860"/>
            <a:ext cx="1143000" cy="1143000"/>
          </a:xfrm>
          <a:prstGeom prst="rect">
            <a:avLst/>
          </a:prstGeom>
        </p:spPr>
      </p:pic>
      <p:sp>
        <p:nvSpPr>
          <p:cNvPr id="6" name="text-421"/>
          <p:cNvSpPr txBox="1"/>
          <p:nvPr/>
        </p:nvSpPr>
        <p:spPr>
          <a:xfrm>
            <a:off x="548640" y="4160520"/>
            <a:ext cx="11094415" cy="914400"/>
          </a:xfrm>
          <a:prstGeom prst="rect">
            <a:avLst/>
          </a:prstGeom>
          <a:noFill/>
          <a:ln/>
        </p:spPr>
        <p:txBody>
          <a:bodyPr wrap="square" lIns="0" tIns="0" rIns="0" bIns="0" rtlCol="0" anchor="ctr"/>
          <a:lstStyle/>
          <a:p>
            <a:pPr algn="ctr" indent="0" marL="0">
              <a:buNone/>
            </a:pPr>
            <a:r>
              <a:rPr lang="en-US" sz="5400" b="1" dirty="0">
                <a:solidFill>
                  <a:schemeClr val="accent6"/>
                </a:solidFill>
              </a:rPr>
              <a:t>15 phút</a:t>
            </a:r>
            <a:endParaRPr lang="en-US" sz="5400" dirty="0"/>
          </a:p>
        </p:txBody>
      </p:sp>
      <p:sp>
        <p:nvSpPr>
          <p:cNvPr id="7" name="card-422"/>
          <p:cNvSpPr/>
          <p:nvPr/>
        </p:nvSpPr>
        <p:spPr>
          <a:xfrm>
            <a:off x="1984248" y="5257800"/>
            <a:ext cx="8229600" cy="731520"/>
          </a:xfrm>
          <a:prstGeom prst="roundRect">
            <a:avLst>
              <a:gd name="adj" fmla="val 18750"/>
            </a:avLst>
          </a:prstGeom>
          <a:solidFill>
            <a:schemeClr val="accent2"/>
          </a:solidFill>
          <a:ln/>
        </p:spPr>
      </p:sp>
      <p:sp>
        <p:nvSpPr>
          <p:cNvPr id="8" name="text-423"/>
          <p:cNvSpPr txBox="1"/>
          <p:nvPr/>
        </p:nvSpPr>
        <p:spPr>
          <a:xfrm>
            <a:off x="2167128" y="5257800"/>
            <a:ext cx="7863840" cy="731520"/>
          </a:xfrm>
          <a:prstGeom prst="rect">
            <a:avLst/>
          </a:prstGeom>
          <a:noFill/>
          <a:ln/>
        </p:spPr>
        <p:txBody>
          <a:bodyPr wrap="square" lIns="0" tIns="0" rIns="0" bIns="0" rtlCol="0" anchor="ctr"/>
          <a:lstStyle/>
          <a:p>
            <a:pPr indent="0" marL="0">
              <a:buNone/>
            </a:pPr>
            <a:r>
              <a:rPr lang="en-US" sz="2400" b="1" dirty="0">
                <a:solidFill>
                  <a:schemeClr val="bg1"/>
                </a:solidFill>
              </a:rPr>
              <a:t>Quay lại lúc: [cần giảng viên xác nhận]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đi qua sáu bước, theo đúng thứ tự</a:t>
            </a:r>
            <a:endParaRPr lang="en-US" sz="3000" dirty="0"/>
          </a:p>
        </p:txBody>
      </p:sp>
      <p:sp>
        <p:nvSpPr>
          <p:cNvPr id="4" name="dot-424"/>
          <p:cNvSpPr/>
          <p:nvPr/>
        </p:nvSpPr>
        <p:spPr>
          <a:xfrm>
            <a:off x="3108960" y="1645920"/>
            <a:ext cx="640080" cy="640080"/>
          </a:xfrm>
          <a:prstGeom prst="ellipse">
            <a:avLst/>
          </a:prstGeom>
          <a:solidFill>
            <a:schemeClr val="accent3"/>
          </a:solidFill>
          <a:ln/>
        </p:spPr>
      </p:sp>
      <p:sp>
        <p:nvSpPr>
          <p:cNvPr id="5" name="text-425"/>
          <p:cNvSpPr txBox="1"/>
          <p:nvPr/>
        </p:nvSpPr>
        <p:spPr>
          <a:xfrm>
            <a:off x="3108960" y="16459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card-426"/>
          <p:cNvSpPr/>
          <p:nvPr/>
        </p:nvSpPr>
        <p:spPr>
          <a:xfrm>
            <a:off x="3977640" y="1645920"/>
            <a:ext cx="5120640" cy="640080"/>
          </a:xfrm>
          <a:prstGeom prst="roundRect">
            <a:avLst>
              <a:gd name="adj" fmla="val 21429"/>
            </a:avLst>
          </a:prstGeom>
          <a:solidFill>
            <a:schemeClr val="bg2"/>
          </a:solidFill>
          <a:ln/>
        </p:spPr>
      </p:sp>
      <p:sp>
        <p:nvSpPr>
          <p:cNvPr id="7" name="text-427"/>
          <p:cNvSpPr txBox="1"/>
          <p:nvPr/>
        </p:nvSpPr>
        <p:spPr>
          <a:xfrm>
            <a:off x="4251960" y="1645920"/>
            <a:ext cx="4754880" cy="640080"/>
          </a:xfrm>
          <a:prstGeom prst="rect">
            <a:avLst/>
          </a:prstGeom>
          <a:noFill/>
          <a:ln/>
        </p:spPr>
        <p:txBody>
          <a:bodyPr wrap="square" lIns="0" tIns="0" rIns="0" bIns="0" rtlCol="0" anchor="ctr"/>
          <a:lstStyle/>
          <a:p>
            <a:pPr indent="0" marL="0">
              <a:buNone/>
            </a:pPr>
            <a:r>
              <a:rPr lang="en-US" sz="2400" dirty="0">
                <a:solidFill>
                  <a:schemeClr val="tx1"/>
                </a:solidFill>
              </a:rPr>
              <a:t>Vấn đề</a:t>
            </a:r>
            <a:endParaRPr lang="en-US" sz="2400" dirty="0"/>
          </a:p>
        </p:txBody>
      </p:sp>
      <p:sp>
        <p:nvSpPr>
          <p:cNvPr id="8" name="dot-428"/>
          <p:cNvSpPr/>
          <p:nvPr/>
        </p:nvSpPr>
        <p:spPr>
          <a:xfrm>
            <a:off x="3108960" y="2404872"/>
            <a:ext cx="640080" cy="640080"/>
          </a:xfrm>
          <a:prstGeom prst="ellipse">
            <a:avLst/>
          </a:prstGeom>
          <a:solidFill>
            <a:schemeClr val="accent6"/>
          </a:solidFill>
          <a:ln/>
        </p:spPr>
      </p:sp>
      <p:sp>
        <p:nvSpPr>
          <p:cNvPr id="9" name="text-429"/>
          <p:cNvSpPr txBox="1"/>
          <p:nvPr/>
        </p:nvSpPr>
        <p:spPr>
          <a:xfrm>
            <a:off x="3108960" y="2404872"/>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0" name="card-430"/>
          <p:cNvSpPr/>
          <p:nvPr/>
        </p:nvSpPr>
        <p:spPr>
          <a:xfrm>
            <a:off x="3977640" y="2404872"/>
            <a:ext cx="5120640" cy="640080"/>
          </a:xfrm>
          <a:prstGeom prst="roundRect">
            <a:avLst>
              <a:gd name="adj" fmla="val 21429"/>
            </a:avLst>
          </a:prstGeom>
          <a:solidFill>
            <a:schemeClr val="bg2"/>
          </a:solidFill>
          <a:ln/>
        </p:spPr>
      </p:sp>
      <p:sp>
        <p:nvSpPr>
          <p:cNvPr id="11" name="text-431"/>
          <p:cNvSpPr txBox="1"/>
          <p:nvPr/>
        </p:nvSpPr>
        <p:spPr>
          <a:xfrm>
            <a:off x="4251960" y="2404872"/>
            <a:ext cx="4754880" cy="640080"/>
          </a:xfrm>
          <a:prstGeom prst="rect">
            <a:avLst/>
          </a:prstGeom>
          <a:noFill/>
          <a:ln/>
        </p:spPr>
        <p:txBody>
          <a:bodyPr wrap="square" lIns="0" tIns="0" rIns="0" bIns="0" rtlCol="0" anchor="ctr"/>
          <a:lstStyle/>
          <a:p>
            <a:pPr indent="0" marL="0">
              <a:buNone/>
            </a:pPr>
            <a:r>
              <a:rPr lang="en-US" sz="2400" dirty="0">
                <a:solidFill>
                  <a:schemeClr val="tx1"/>
                </a:solidFill>
              </a:rPr>
              <a:t>Mục tiêu</a:t>
            </a:r>
            <a:endParaRPr lang="en-US" sz="2400" dirty="0"/>
          </a:p>
        </p:txBody>
      </p:sp>
      <p:sp>
        <p:nvSpPr>
          <p:cNvPr id="12" name="dot-432"/>
          <p:cNvSpPr/>
          <p:nvPr/>
        </p:nvSpPr>
        <p:spPr>
          <a:xfrm>
            <a:off x="3108960" y="3163824"/>
            <a:ext cx="640080" cy="640080"/>
          </a:xfrm>
          <a:prstGeom prst="ellipse">
            <a:avLst/>
          </a:prstGeom>
          <a:solidFill>
            <a:schemeClr val="accent2"/>
          </a:solidFill>
          <a:ln/>
        </p:spPr>
      </p:sp>
      <p:sp>
        <p:nvSpPr>
          <p:cNvPr id="13" name="text-433"/>
          <p:cNvSpPr txBox="1"/>
          <p:nvPr/>
        </p:nvSpPr>
        <p:spPr>
          <a:xfrm>
            <a:off x="3108960" y="3163824"/>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4" name="card-434"/>
          <p:cNvSpPr/>
          <p:nvPr/>
        </p:nvSpPr>
        <p:spPr>
          <a:xfrm>
            <a:off x="3977640" y="3163824"/>
            <a:ext cx="5120640" cy="640080"/>
          </a:xfrm>
          <a:prstGeom prst="roundRect">
            <a:avLst>
              <a:gd name="adj" fmla="val 21429"/>
            </a:avLst>
          </a:prstGeom>
          <a:solidFill>
            <a:schemeClr val="bg2"/>
          </a:solidFill>
          <a:ln/>
        </p:spPr>
      </p:sp>
      <p:sp>
        <p:nvSpPr>
          <p:cNvPr id="15" name="text-435"/>
          <p:cNvSpPr txBox="1"/>
          <p:nvPr/>
        </p:nvSpPr>
        <p:spPr>
          <a:xfrm>
            <a:off x="4251960" y="3163824"/>
            <a:ext cx="4754880" cy="640080"/>
          </a:xfrm>
          <a:prstGeom prst="rect">
            <a:avLst/>
          </a:prstGeom>
          <a:noFill/>
          <a:ln/>
        </p:spPr>
        <p:txBody>
          <a:bodyPr wrap="square" lIns="0" tIns="0" rIns="0" bIns="0" rtlCol="0" anchor="ctr"/>
          <a:lstStyle/>
          <a:p>
            <a:pPr indent="0" marL="0">
              <a:buNone/>
            </a:pPr>
            <a:r>
              <a:rPr lang="en-US" sz="2400" dirty="0">
                <a:solidFill>
                  <a:schemeClr val="tx1"/>
                </a:solidFill>
              </a:rPr>
              <a:t>Mô hình</a:t>
            </a:r>
            <a:endParaRPr lang="en-US" sz="2400" dirty="0"/>
          </a:p>
        </p:txBody>
      </p:sp>
      <p:sp>
        <p:nvSpPr>
          <p:cNvPr id="16" name="dot-436"/>
          <p:cNvSpPr/>
          <p:nvPr/>
        </p:nvSpPr>
        <p:spPr>
          <a:xfrm>
            <a:off x="3108960" y="3922776"/>
            <a:ext cx="640080" cy="640080"/>
          </a:xfrm>
          <a:prstGeom prst="ellipse">
            <a:avLst/>
          </a:prstGeom>
          <a:solidFill>
            <a:schemeClr val="accent1"/>
          </a:solidFill>
          <a:ln/>
        </p:spPr>
      </p:sp>
      <p:sp>
        <p:nvSpPr>
          <p:cNvPr id="17" name="text-437"/>
          <p:cNvSpPr txBox="1"/>
          <p:nvPr/>
        </p:nvSpPr>
        <p:spPr>
          <a:xfrm>
            <a:off x="3108960" y="3922776"/>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8" name="card-438"/>
          <p:cNvSpPr/>
          <p:nvPr/>
        </p:nvSpPr>
        <p:spPr>
          <a:xfrm>
            <a:off x="3977640" y="3922776"/>
            <a:ext cx="5120640" cy="640080"/>
          </a:xfrm>
          <a:prstGeom prst="roundRect">
            <a:avLst>
              <a:gd name="adj" fmla="val 21429"/>
            </a:avLst>
          </a:prstGeom>
          <a:solidFill>
            <a:schemeClr val="bg2"/>
          </a:solidFill>
          <a:ln/>
        </p:spPr>
      </p:sp>
      <p:sp>
        <p:nvSpPr>
          <p:cNvPr id="19" name="text-439"/>
          <p:cNvSpPr txBox="1"/>
          <p:nvPr/>
        </p:nvSpPr>
        <p:spPr>
          <a:xfrm>
            <a:off x="4251960" y="3922776"/>
            <a:ext cx="4754880" cy="640080"/>
          </a:xfrm>
          <a:prstGeom prst="rect">
            <a:avLst/>
          </a:prstGeom>
          <a:noFill/>
          <a:ln/>
        </p:spPr>
        <p:txBody>
          <a:bodyPr wrap="square" lIns="0" tIns="0" rIns="0" bIns="0" rtlCol="0" anchor="ctr"/>
          <a:lstStyle/>
          <a:p>
            <a:pPr indent="0" marL="0">
              <a:buNone/>
            </a:pPr>
            <a:r>
              <a:rPr lang="en-US" sz="2400" dirty="0">
                <a:solidFill>
                  <a:schemeClr val="tx1"/>
                </a:solidFill>
              </a:rPr>
              <a:t>Thu thập</a:t>
            </a:r>
            <a:endParaRPr lang="en-US" sz="2400" dirty="0"/>
          </a:p>
        </p:txBody>
      </p:sp>
      <p:sp>
        <p:nvSpPr>
          <p:cNvPr id="20" name="dot-440"/>
          <p:cNvSpPr/>
          <p:nvPr/>
        </p:nvSpPr>
        <p:spPr>
          <a:xfrm>
            <a:off x="3108960" y="4681728"/>
            <a:ext cx="640080" cy="640080"/>
          </a:xfrm>
          <a:prstGeom prst="ellipse">
            <a:avLst/>
          </a:prstGeom>
          <a:solidFill>
            <a:schemeClr val="accent5"/>
          </a:solidFill>
          <a:ln/>
        </p:spPr>
      </p:sp>
      <p:sp>
        <p:nvSpPr>
          <p:cNvPr id="21" name="text-441"/>
          <p:cNvSpPr txBox="1"/>
          <p:nvPr/>
        </p:nvSpPr>
        <p:spPr>
          <a:xfrm>
            <a:off x="3108960" y="4681728"/>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2" name="card-442"/>
          <p:cNvSpPr/>
          <p:nvPr/>
        </p:nvSpPr>
        <p:spPr>
          <a:xfrm>
            <a:off x="3977640" y="4681728"/>
            <a:ext cx="5120640" cy="640080"/>
          </a:xfrm>
          <a:prstGeom prst="roundRect">
            <a:avLst>
              <a:gd name="adj" fmla="val 21429"/>
            </a:avLst>
          </a:prstGeom>
          <a:solidFill>
            <a:schemeClr val="bg2"/>
          </a:solidFill>
          <a:ln/>
        </p:spPr>
      </p:sp>
      <p:sp>
        <p:nvSpPr>
          <p:cNvPr id="23" name="text-443"/>
          <p:cNvSpPr txBox="1"/>
          <p:nvPr/>
        </p:nvSpPr>
        <p:spPr>
          <a:xfrm>
            <a:off x="4251960" y="4681728"/>
            <a:ext cx="4754880" cy="640080"/>
          </a:xfrm>
          <a:prstGeom prst="rect">
            <a:avLst/>
          </a:prstGeom>
          <a:noFill/>
          <a:ln/>
        </p:spPr>
        <p:txBody>
          <a:bodyPr wrap="square" lIns="0" tIns="0" rIns="0" bIns="0" rtlCol="0" anchor="ctr"/>
          <a:lstStyle/>
          <a:p>
            <a:pPr indent="0" marL="0">
              <a:buNone/>
            </a:pPr>
            <a:r>
              <a:rPr lang="en-US" sz="2400" dirty="0">
                <a:solidFill>
                  <a:schemeClr val="tx1"/>
                </a:solidFill>
              </a:rPr>
              <a:t>Chuẩn bị &amp; phân tích</a:t>
            </a:r>
            <a:endParaRPr lang="en-US" sz="2400" dirty="0"/>
          </a:p>
        </p:txBody>
      </p:sp>
      <p:sp>
        <p:nvSpPr>
          <p:cNvPr id="24" name="dot-444"/>
          <p:cNvSpPr/>
          <p:nvPr/>
        </p:nvSpPr>
        <p:spPr>
          <a:xfrm>
            <a:off x="3108960" y="5440680"/>
            <a:ext cx="640080" cy="640080"/>
          </a:xfrm>
          <a:prstGeom prst="ellipse">
            <a:avLst/>
          </a:prstGeom>
          <a:solidFill>
            <a:schemeClr val="accent4"/>
          </a:solidFill>
          <a:ln/>
        </p:spPr>
      </p:sp>
      <p:sp>
        <p:nvSpPr>
          <p:cNvPr id="25" name="text-445"/>
          <p:cNvSpPr txBox="1"/>
          <p:nvPr/>
        </p:nvSpPr>
        <p:spPr>
          <a:xfrm>
            <a:off x="3108960" y="5440680"/>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6</a:t>
            </a:r>
            <a:endParaRPr lang="en-US" sz="2600" dirty="0"/>
          </a:p>
        </p:txBody>
      </p:sp>
      <p:sp>
        <p:nvSpPr>
          <p:cNvPr id="26" name="card-446"/>
          <p:cNvSpPr/>
          <p:nvPr/>
        </p:nvSpPr>
        <p:spPr>
          <a:xfrm>
            <a:off x="3977640" y="5440680"/>
            <a:ext cx="5120640" cy="640080"/>
          </a:xfrm>
          <a:prstGeom prst="roundRect">
            <a:avLst>
              <a:gd name="adj" fmla="val 21429"/>
            </a:avLst>
          </a:prstGeom>
          <a:solidFill>
            <a:schemeClr val="bg2"/>
          </a:solidFill>
          <a:ln/>
        </p:spPr>
      </p:sp>
      <p:sp>
        <p:nvSpPr>
          <p:cNvPr id="27" name="text-447"/>
          <p:cNvSpPr txBox="1"/>
          <p:nvPr/>
        </p:nvSpPr>
        <p:spPr>
          <a:xfrm>
            <a:off x="4251960" y="5440680"/>
            <a:ext cx="4754880" cy="640080"/>
          </a:xfrm>
          <a:prstGeom prst="rect">
            <a:avLst/>
          </a:prstGeom>
          <a:noFill/>
          <a:ln/>
        </p:spPr>
        <p:txBody>
          <a:bodyPr wrap="square" lIns="0" tIns="0" rIns="0" bIns="0" rtlCol="0" anchor="ctr"/>
          <a:lstStyle/>
          <a:p>
            <a:pPr indent="0" marL="0">
              <a:buNone/>
            </a:pPr>
            <a:r>
              <a:rPr lang="en-US" sz="2400" dirty="0">
                <a:solidFill>
                  <a:schemeClr val="tx1"/>
                </a:solidFill>
              </a:rPr>
              <a:t>Trình bày</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"Có nên giảm giá?" là câu hỏi quản trị; "Vì sao sinh viên mua ít đi?" mới là vấn đề nghiên cứu</a:t>
            </a:r>
            <a:endParaRPr lang="en-US" sz="3000" dirty="0"/>
          </a:p>
        </p:txBody>
      </p:sp>
      <p:sp>
        <p:nvSpPr>
          <p:cNvPr id="4" name="text-448"/>
          <p:cNvSpPr txBox="1"/>
          <p:nvPr/>
        </p:nvSpPr>
        <p:spPr>
          <a:xfrm>
            <a:off x="548640" y="1691640"/>
            <a:ext cx="11094415" cy="548640"/>
          </a:xfrm>
          <a:prstGeom prst="rect">
            <a:avLst/>
          </a:prstGeom>
          <a:noFill/>
          <a:ln/>
        </p:spPr>
        <p:txBody>
          <a:bodyPr wrap="square" lIns="0" tIns="0" rIns="0" bIns="0" rtlCol="0" anchor="t"/>
          <a:lstStyle/>
          <a:p>
            <a:pPr indent="0" marL="0">
              <a:buNone/>
            </a:pPr>
            <a:r>
              <a:rPr lang="en-US" sz="2400" i="1" dirty="0">
                <a:solidFill>
                  <a:schemeClr val="tx2"/>
                </a:solidFill>
              </a:rPr>
              <a:t>Tình huống (giả định): doanh số cửa hàng gần trường giảm</a:t>
            </a:r>
            <a:endParaRPr lang="en-US" sz="2400" dirty="0"/>
          </a:p>
        </p:txBody>
      </p:sp>
      <p:sp>
        <p:nvSpPr>
          <p:cNvPr id="5" name="card-449"/>
          <p:cNvSpPr/>
          <p:nvPr/>
        </p:nvSpPr>
        <p:spPr>
          <a:xfrm>
            <a:off x="548640" y="2468880"/>
            <a:ext cx="4937760" cy="3566160"/>
          </a:xfrm>
          <a:prstGeom prst="roundRect">
            <a:avLst>
              <a:gd name="adj" fmla="val 3846"/>
            </a:avLst>
          </a:prstGeom>
          <a:solidFill>
            <a:schemeClr val="bg2"/>
          </a:solidFill>
          <a:ln/>
        </p:spPr>
      </p:sp>
      <p:sp>
        <p:nvSpPr>
          <p:cNvPr id="6" name="text-450"/>
          <p:cNvSpPr txBox="1"/>
          <p:nvPr/>
        </p:nvSpPr>
        <p:spPr>
          <a:xfrm>
            <a:off x="868680" y="2697480"/>
            <a:ext cx="4297680" cy="548640"/>
          </a:xfrm>
          <a:prstGeom prst="rect">
            <a:avLst/>
          </a:prstGeom>
          <a:noFill/>
          <a:ln/>
        </p:spPr>
        <p:txBody>
          <a:bodyPr wrap="square" lIns="0" tIns="0" rIns="0" bIns="0" rtlCol="0" anchor="t"/>
          <a:lstStyle/>
          <a:p>
            <a:pPr indent="0" marL="0">
              <a:buNone/>
            </a:pPr>
            <a:r>
              <a:rPr lang="en-US" sz="2800" b="1" dirty="0">
                <a:solidFill>
                  <a:schemeClr val="accent6"/>
                </a:solidFill>
              </a:rPr>
              <a:t>Vấn đề quản trị</a:t>
            </a:r>
            <a:endParaRPr lang="en-US" sz="2800" dirty="0"/>
          </a:p>
        </p:txBody>
      </p:sp>
      <p:sp>
        <p:nvSpPr>
          <p:cNvPr id="7" name="card-451"/>
          <p:cNvSpPr/>
          <p:nvPr/>
        </p:nvSpPr>
        <p:spPr>
          <a:xfrm>
            <a:off x="868680" y="3383280"/>
            <a:ext cx="2743200" cy="594360"/>
          </a:xfrm>
          <a:prstGeom prst="roundRect">
            <a:avLst>
              <a:gd name="adj" fmla="val 23077"/>
            </a:avLst>
          </a:prstGeom>
          <a:solidFill>
            <a:schemeClr val="accent6"/>
          </a:solidFill>
          <a:ln/>
        </p:spPr>
      </p:sp>
      <p:sp>
        <p:nvSpPr>
          <p:cNvPr id="8" name="text-452"/>
          <p:cNvSpPr txBox="1"/>
          <p:nvPr/>
        </p:nvSpPr>
        <p:spPr>
          <a:xfrm>
            <a:off x="868680"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làm gì?</a:t>
            </a:r>
            <a:endParaRPr lang="en-US" sz="2400" dirty="0"/>
          </a:p>
        </p:txBody>
      </p:sp>
      <p:sp>
        <p:nvSpPr>
          <p:cNvPr id="9" name="text-453"/>
          <p:cNvSpPr txBox="1"/>
          <p:nvPr/>
        </p:nvSpPr>
        <p:spPr>
          <a:xfrm>
            <a:off x="868680"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“Có nên giảm giá?”</a:t>
            </a:r>
            <a:endParaRPr lang="en-US" sz="2800" dirty="0"/>
          </a:p>
        </p:txBody>
      </p:sp>
      <p:sp>
        <p:nvSpPr>
          <p:cNvPr id="10" name="card-454"/>
          <p:cNvSpPr/>
          <p:nvPr/>
        </p:nvSpPr>
        <p:spPr>
          <a:xfrm>
            <a:off x="6702552" y="2468880"/>
            <a:ext cx="4937760" cy="3566160"/>
          </a:xfrm>
          <a:prstGeom prst="roundRect">
            <a:avLst>
              <a:gd name="adj" fmla="val 3846"/>
            </a:avLst>
          </a:prstGeom>
          <a:solidFill>
            <a:schemeClr val="bg2"/>
          </a:solidFill>
          <a:ln/>
        </p:spPr>
      </p:sp>
      <p:sp>
        <p:nvSpPr>
          <p:cNvPr id="11" name="text-455"/>
          <p:cNvSpPr txBox="1"/>
          <p:nvPr/>
        </p:nvSpPr>
        <p:spPr>
          <a:xfrm>
            <a:off x="7022592" y="2697480"/>
            <a:ext cx="4297680" cy="548640"/>
          </a:xfrm>
          <a:prstGeom prst="rect">
            <a:avLst/>
          </a:prstGeom>
          <a:noFill/>
          <a:ln/>
        </p:spPr>
        <p:txBody>
          <a:bodyPr wrap="square" lIns="0" tIns="0" rIns="0" bIns="0" rtlCol="0" anchor="t"/>
          <a:lstStyle/>
          <a:p>
            <a:pPr indent="0" marL="0">
              <a:buNone/>
            </a:pPr>
            <a:r>
              <a:rPr lang="en-US" sz="2800" b="1" dirty="0">
                <a:solidFill>
                  <a:schemeClr val="accent1"/>
                </a:solidFill>
              </a:rPr>
              <a:t>Vấn đề nghiên cứu</a:t>
            </a:r>
            <a:endParaRPr lang="en-US" sz="2800" dirty="0"/>
          </a:p>
        </p:txBody>
      </p:sp>
      <p:sp>
        <p:nvSpPr>
          <p:cNvPr id="12" name="card-456"/>
          <p:cNvSpPr/>
          <p:nvPr/>
        </p:nvSpPr>
        <p:spPr>
          <a:xfrm>
            <a:off x="7022592" y="3383280"/>
            <a:ext cx="2743200" cy="594360"/>
          </a:xfrm>
          <a:prstGeom prst="roundRect">
            <a:avLst>
              <a:gd name="adj" fmla="val 23077"/>
            </a:avLst>
          </a:prstGeom>
          <a:solidFill>
            <a:schemeClr val="accent1"/>
          </a:solidFill>
          <a:ln/>
        </p:spPr>
      </p:sp>
      <p:sp>
        <p:nvSpPr>
          <p:cNvPr id="13" name="text-457"/>
          <p:cNvSpPr txBox="1"/>
          <p:nvPr/>
        </p:nvSpPr>
        <p:spPr>
          <a:xfrm>
            <a:off x="7022592"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biết gì?</a:t>
            </a:r>
            <a:endParaRPr lang="en-US" sz="2400" dirty="0"/>
          </a:p>
        </p:txBody>
      </p:sp>
      <p:sp>
        <p:nvSpPr>
          <p:cNvPr id="14" name="text-458"/>
          <p:cNvSpPr txBox="1"/>
          <p:nvPr/>
        </p:nvSpPr>
        <p:spPr>
          <a:xfrm>
            <a:off x="7022592"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“Vì sao sinh viên mua ít đi?”</a:t>
            </a:r>
            <a:endParaRPr lang="en-US" sz="2800" dirty="0"/>
          </a:p>
        </p:txBody>
      </p:sp>
      <p:sp>
        <p:nvSpPr>
          <p:cNvPr id="15" name="arrow-459"/>
          <p:cNvSpPr/>
          <p:nvPr/>
        </p:nvSpPr>
        <p:spPr>
          <a:xfrm>
            <a:off x="5623560" y="3886200"/>
            <a:ext cx="914400" cy="731520"/>
          </a:xfrm>
          <a:prstGeom prst="rightArrow">
            <a:avLst/>
          </a:prstGeom>
          <a:solidFill>
            <a:schemeClr val="accent2"/>
          </a:solidFill>
          <a:ln/>
        </p:spPr>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Xác định sai vấn đề thì cả nghiên cứu đi sai hướng</a:t>
            </a:r>
            <a:endParaRPr lang="en-US" sz="3000" dirty="0"/>
          </a:p>
        </p:txBody>
      </p:sp>
      <p:sp>
        <p:nvSpPr>
          <p:cNvPr id="4" name="hub-460"/>
          <p:cNvSpPr/>
          <p:nvPr/>
        </p:nvSpPr>
        <p:spPr>
          <a:xfrm>
            <a:off x="4727448" y="2743200"/>
            <a:ext cx="2743200" cy="2377440"/>
          </a:xfrm>
          <a:prstGeom prst="ellipse">
            <a:avLst/>
          </a:prstGeom>
          <a:solidFill>
            <a:schemeClr val="accent2"/>
          </a:solidFill>
          <a:ln/>
        </p:spPr>
      </p:sp>
      <p:sp>
        <p:nvSpPr>
          <p:cNvPr id="5" name="text-461"/>
          <p:cNvSpPr txBox="1"/>
          <p:nvPr/>
        </p:nvSpPr>
        <p:spPr>
          <a:xfrm>
            <a:off x="4910328" y="2743200"/>
            <a:ext cx="2377440" cy="2377440"/>
          </a:xfrm>
          <a:prstGeom prst="rect">
            <a:avLst/>
          </a:prstGeom>
          <a:noFill/>
          <a:ln/>
        </p:spPr>
        <p:txBody>
          <a:bodyPr wrap="square" lIns="0" tIns="0" rIns="0" bIns="0" rtlCol="0" anchor="ctr"/>
          <a:lstStyle/>
          <a:p>
            <a:pPr algn="ctr" indent="0" marL="0">
              <a:buNone/>
            </a:pPr>
            <a:r>
              <a:rPr lang="en-US" sz="2600" b="1" dirty="0">
                <a:solidFill>
                  <a:schemeClr val="bg1"/>
                </a:solidFill>
              </a:rPr>
              <a:t>Vấn đề nghiên cứu</a:t>
            </a:r>
            <a:endParaRPr lang="en-US" sz="2600" dirty="0"/>
          </a:p>
        </p:txBody>
      </p:sp>
      <p:sp>
        <p:nvSpPr>
          <p:cNvPr id="6" name="line-462"/>
          <p:cNvSpPr/>
          <p:nvPr/>
        </p:nvSpPr>
        <p:spPr>
          <a:xfrm>
            <a:off x="4297680" y="2514600"/>
            <a:ext cx="685800" cy="685800"/>
          </a:xfrm>
          <a:prstGeom prst="line">
            <a:avLst/>
          </a:prstGeom>
          <a:noFill/>
          <a:ln w="38100">
            <a:solidFill>
              <a:schemeClr val="accent1"/>
            </a:solidFill>
            <a:prstDash val="solid"/>
          </a:ln>
        </p:spPr>
      </p:sp>
      <p:sp>
        <p:nvSpPr>
          <p:cNvPr id="7" name="card-463"/>
          <p:cNvSpPr/>
          <p:nvPr/>
        </p:nvSpPr>
        <p:spPr>
          <a:xfrm>
            <a:off x="548640" y="1783080"/>
            <a:ext cx="3749040" cy="1463040"/>
          </a:xfrm>
          <a:prstGeom prst="roundRect">
            <a:avLst>
              <a:gd name="adj" fmla="val 9375"/>
            </a:avLst>
          </a:prstGeom>
          <a:solidFill>
            <a:schemeClr val="bg2"/>
          </a:solidFill>
          <a:ln/>
        </p:spPr>
      </p:sp>
      <p:sp>
        <p:nvSpPr>
          <p:cNvPr id="8" name="icon-bg-464"/>
          <p:cNvSpPr/>
          <p:nvPr/>
        </p:nvSpPr>
        <p:spPr>
          <a:xfrm>
            <a:off x="777240" y="2103120"/>
            <a:ext cx="822960" cy="822960"/>
          </a:xfrm>
          <a:prstGeom prst="ellipse">
            <a:avLst/>
          </a:prstGeom>
          <a:solidFill>
            <a:schemeClr val="accent1"/>
          </a:solidFill>
          <a:ln/>
        </p:spPr>
      </p:sp>
      <p:pic>
        <p:nvPicPr>
          <p:cNvPr id="9" name="icon-465"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82980" y="2308860"/>
            <a:ext cx="411480" cy="411480"/>
          </a:xfrm>
          <a:prstGeom prst="rect">
            <a:avLst/>
          </a:prstGeom>
        </p:spPr>
      </p:pic>
      <p:sp>
        <p:nvSpPr>
          <p:cNvPr id="10" name="text-466"/>
          <p:cNvSpPr txBox="1"/>
          <p:nvPr/>
        </p:nvSpPr>
        <p:spPr>
          <a:xfrm>
            <a:off x="1783080" y="1783080"/>
            <a:ext cx="2377440" cy="1463040"/>
          </a:xfrm>
          <a:prstGeom prst="rect">
            <a:avLst/>
          </a:prstGeom>
          <a:noFill/>
          <a:ln/>
        </p:spPr>
        <p:txBody>
          <a:bodyPr wrap="square" lIns="0" tIns="0" rIns="0" bIns="0" rtlCol="0" anchor="ctr"/>
          <a:lstStyle/>
          <a:p>
            <a:pPr indent="0" marL="0">
              <a:buNone/>
            </a:pPr>
            <a:r>
              <a:rPr lang="en-US" sz="2400" dirty="0">
                <a:solidFill>
                  <a:schemeClr val="tx1"/>
                </a:solidFill>
              </a:rPr>
              <a:t>Thảo luận với người ra quyết định</a:t>
            </a:r>
            <a:endParaRPr lang="en-US" sz="2400" dirty="0"/>
          </a:p>
        </p:txBody>
      </p:sp>
      <p:sp>
        <p:nvSpPr>
          <p:cNvPr id="11" name="line-467"/>
          <p:cNvSpPr/>
          <p:nvPr/>
        </p:nvSpPr>
        <p:spPr>
          <a:xfrm>
            <a:off x="7891272" y="2514600"/>
            <a:ext cx="-667512" cy="685800"/>
          </a:xfrm>
          <a:prstGeom prst="line">
            <a:avLst/>
          </a:prstGeom>
          <a:noFill/>
          <a:ln w="38100">
            <a:solidFill>
              <a:schemeClr val="accent5"/>
            </a:solidFill>
            <a:prstDash val="solid"/>
          </a:ln>
        </p:spPr>
      </p:sp>
      <p:sp>
        <p:nvSpPr>
          <p:cNvPr id="12" name="card-468"/>
          <p:cNvSpPr/>
          <p:nvPr/>
        </p:nvSpPr>
        <p:spPr>
          <a:xfrm>
            <a:off x="7891272" y="1783080"/>
            <a:ext cx="3749040" cy="1463040"/>
          </a:xfrm>
          <a:prstGeom prst="roundRect">
            <a:avLst>
              <a:gd name="adj" fmla="val 9375"/>
            </a:avLst>
          </a:prstGeom>
          <a:solidFill>
            <a:schemeClr val="bg2"/>
          </a:solidFill>
          <a:ln/>
        </p:spPr>
      </p:sp>
      <p:sp>
        <p:nvSpPr>
          <p:cNvPr id="13" name="icon-bg-469"/>
          <p:cNvSpPr/>
          <p:nvPr/>
        </p:nvSpPr>
        <p:spPr>
          <a:xfrm>
            <a:off x="8119872" y="2103120"/>
            <a:ext cx="822960" cy="822960"/>
          </a:xfrm>
          <a:prstGeom prst="ellipse">
            <a:avLst/>
          </a:prstGeom>
          <a:solidFill>
            <a:schemeClr val="accent5"/>
          </a:solidFill>
          <a:ln/>
        </p:spPr>
      </p:sp>
      <p:pic>
        <p:nvPicPr>
          <p:cNvPr id="14" name="icon-470"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325612" y="2308860"/>
            <a:ext cx="411480" cy="411480"/>
          </a:xfrm>
          <a:prstGeom prst="rect">
            <a:avLst/>
          </a:prstGeom>
        </p:spPr>
      </p:pic>
      <p:sp>
        <p:nvSpPr>
          <p:cNvPr id="15" name="text-471"/>
          <p:cNvSpPr txBox="1"/>
          <p:nvPr/>
        </p:nvSpPr>
        <p:spPr>
          <a:xfrm>
            <a:off x="9125712" y="1783080"/>
            <a:ext cx="2377440" cy="1463040"/>
          </a:xfrm>
          <a:prstGeom prst="rect">
            <a:avLst/>
          </a:prstGeom>
          <a:noFill/>
          <a:ln/>
        </p:spPr>
        <p:txBody>
          <a:bodyPr wrap="square" lIns="0" tIns="0" rIns="0" bIns="0" rtlCol="0" anchor="ctr"/>
          <a:lstStyle/>
          <a:p>
            <a:pPr indent="0" marL="0">
              <a:buNone/>
            </a:pPr>
            <a:r>
              <a:rPr lang="en-US" sz="2400" dirty="0">
                <a:solidFill>
                  <a:schemeClr val="tx1"/>
                </a:solidFill>
              </a:rPr>
              <a:t>Hỏi chuyên gia</a:t>
            </a:r>
            <a:endParaRPr lang="en-US" sz="2400" dirty="0"/>
          </a:p>
        </p:txBody>
      </p:sp>
      <p:sp>
        <p:nvSpPr>
          <p:cNvPr id="16" name="line-472"/>
          <p:cNvSpPr/>
          <p:nvPr/>
        </p:nvSpPr>
        <p:spPr>
          <a:xfrm>
            <a:off x="4297680" y="5166360"/>
            <a:ext cx="685800" cy="-502920"/>
          </a:xfrm>
          <a:prstGeom prst="line">
            <a:avLst/>
          </a:prstGeom>
          <a:noFill/>
          <a:ln w="38100">
            <a:solidFill>
              <a:schemeClr val="accent6"/>
            </a:solidFill>
            <a:prstDash val="solid"/>
          </a:ln>
        </p:spPr>
      </p:sp>
      <p:sp>
        <p:nvSpPr>
          <p:cNvPr id="17" name="card-473"/>
          <p:cNvSpPr/>
          <p:nvPr/>
        </p:nvSpPr>
        <p:spPr>
          <a:xfrm>
            <a:off x="548640" y="4434840"/>
            <a:ext cx="3749040" cy="1463040"/>
          </a:xfrm>
          <a:prstGeom prst="roundRect">
            <a:avLst>
              <a:gd name="adj" fmla="val 9375"/>
            </a:avLst>
          </a:prstGeom>
          <a:solidFill>
            <a:schemeClr val="bg2"/>
          </a:solidFill>
          <a:ln/>
        </p:spPr>
      </p:sp>
      <p:sp>
        <p:nvSpPr>
          <p:cNvPr id="18" name="icon-bg-474"/>
          <p:cNvSpPr/>
          <p:nvPr/>
        </p:nvSpPr>
        <p:spPr>
          <a:xfrm>
            <a:off x="777240" y="4754880"/>
            <a:ext cx="822960" cy="822960"/>
          </a:xfrm>
          <a:prstGeom prst="ellipse">
            <a:avLst/>
          </a:prstGeom>
          <a:solidFill>
            <a:schemeClr val="accent6"/>
          </a:solidFill>
          <a:ln/>
        </p:spPr>
      </p:sp>
      <p:pic>
        <p:nvPicPr>
          <p:cNvPr id="19" name="icon-47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82980" y="4960620"/>
            <a:ext cx="411480" cy="411480"/>
          </a:xfrm>
          <a:prstGeom prst="rect">
            <a:avLst/>
          </a:prstGeom>
        </p:spPr>
      </p:pic>
      <p:sp>
        <p:nvSpPr>
          <p:cNvPr id="20" name="text-476"/>
          <p:cNvSpPr txBox="1"/>
          <p:nvPr/>
        </p:nvSpPr>
        <p:spPr>
          <a:xfrm>
            <a:off x="1783080" y="4434840"/>
            <a:ext cx="2377440" cy="1463040"/>
          </a:xfrm>
          <a:prstGeom prst="rect">
            <a:avLst/>
          </a:prstGeom>
          <a:noFill/>
          <a:ln/>
        </p:spPr>
        <p:txBody>
          <a:bodyPr wrap="square" lIns="0" tIns="0" rIns="0" bIns="0" rtlCol="0" anchor="ctr"/>
          <a:lstStyle/>
          <a:p>
            <a:pPr indent="0" marL="0">
              <a:buNone/>
            </a:pPr>
            <a:r>
              <a:rPr lang="en-US" sz="2400" dirty="0">
                <a:solidFill>
                  <a:schemeClr val="tx1"/>
                </a:solidFill>
              </a:rPr>
              <a:t>Phân tích dữ liệu thứ cấp</a:t>
            </a:r>
            <a:endParaRPr lang="en-US" sz="2400" dirty="0"/>
          </a:p>
        </p:txBody>
      </p:sp>
      <p:sp>
        <p:nvSpPr>
          <p:cNvPr id="21" name="line-477"/>
          <p:cNvSpPr/>
          <p:nvPr/>
        </p:nvSpPr>
        <p:spPr>
          <a:xfrm>
            <a:off x="7891272" y="5166360"/>
            <a:ext cx="-667512" cy="-502920"/>
          </a:xfrm>
          <a:prstGeom prst="line">
            <a:avLst/>
          </a:prstGeom>
          <a:noFill/>
          <a:ln w="38100">
            <a:solidFill>
              <a:schemeClr val="accent3"/>
            </a:solidFill>
            <a:prstDash val="solid"/>
          </a:ln>
        </p:spPr>
      </p:sp>
      <p:sp>
        <p:nvSpPr>
          <p:cNvPr id="22" name="card-478"/>
          <p:cNvSpPr/>
          <p:nvPr/>
        </p:nvSpPr>
        <p:spPr>
          <a:xfrm>
            <a:off x="7891272" y="4434840"/>
            <a:ext cx="3749040" cy="1463040"/>
          </a:xfrm>
          <a:prstGeom prst="roundRect">
            <a:avLst>
              <a:gd name="adj" fmla="val 9375"/>
            </a:avLst>
          </a:prstGeom>
          <a:solidFill>
            <a:schemeClr val="bg2"/>
          </a:solidFill>
          <a:ln/>
        </p:spPr>
      </p:sp>
      <p:sp>
        <p:nvSpPr>
          <p:cNvPr id="23" name="icon-bg-479"/>
          <p:cNvSpPr/>
          <p:nvPr/>
        </p:nvSpPr>
        <p:spPr>
          <a:xfrm>
            <a:off x="8119872" y="4754880"/>
            <a:ext cx="822960" cy="822960"/>
          </a:xfrm>
          <a:prstGeom prst="ellipse">
            <a:avLst/>
          </a:prstGeom>
          <a:solidFill>
            <a:schemeClr val="accent3"/>
          </a:solidFill>
          <a:ln/>
        </p:spPr>
      </p:sp>
      <p:pic>
        <p:nvPicPr>
          <p:cNvPr id="24" name="icon-480"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25612" y="4960620"/>
            <a:ext cx="411480" cy="411480"/>
          </a:xfrm>
          <a:prstGeom prst="rect">
            <a:avLst/>
          </a:prstGeom>
        </p:spPr>
      </p:pic>
      <p:sp>
        <p:nvSpPr>
          <p:cNvPr id="25" name="text-481"/>
          <p:cNvSpPr txBox="1"/>
          <p:nvPr/>
        </p:nvSpPr>
        <p:spPr>
          <a:xfrm>
            <a:off x="9125712" y="4434840"/>
            <a:ext cx="2377440" cy="1463040"/>
          </a:xfrm>
          <a:prstGeom prst="rect">
            <a:avLst/>
          </a:prstGeom>
          <a:noFill/>
          <a:ln/>
        </p:spPr>
        <p:txBody>
          <a:bodyPr wrap="square" lIns="0" tIns="0" rIns="0" bIns="0" rtlCol="0" anchor="ctr"/>
          <a:lstStyle/>
          <a:p>
            <a:pPr indent="0" marL="0">
              <a:buNone/>
            </a:pPr>
            <a:r>
              <a:rPr lang="en-US" sz="2400" dirty="0">
                <a:solidFill>
                  <a:schemeClr val="tx1"/>
                </a:solidFill>
              </a:rPr>
              <a:t>Nghiên cứu định tính thăm dò</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Từ mục tiêu đến mô hình: quyết định mình sẽ đo cái gì</a:t>
            </a:r>
            <a:endParaRPr lang="en-US" sz="3000" dirty="0"/>
          </a:p>
        </p:txBody>
      </p:sp>
      <p:sp>
        <p:nvSpPr>
          <p:cNvPr id="4" name="card-482"/>
          <p:cNvSpPr/>
          <p:nvPr/>
        </p:nvSpPr>
        <p:spPr>
          <a:xfrm>
            <a:off x="548640" y="1691640"/>
            <a:ext cx="3931920" cy="4434840"/>
          </a:xfrm>
          <a:prstGeom prst="roundRect">
            <a:avLst>
              <a:gd name="adj" fmla="val 3488"/>
            </a:avLst>
          </a:prstGeom>
          <a:solidFill>
            <a:schemeClr val="bg2"/>
          </a:solidFill>
          <a:ln/>
        </p:spPr>
      </p:sp>
      <p:sp>
        <p:nvSpPr>
          <p:cNvPr id="5" name="text-483"/>
          <p:cNvSpPr txBox="1"/>
          <p:nvPr/>
        </p:nvSpPr>
        <p:spPr>
          <a:xfrm>
            <a:off x="822960" y="1874520"/>
            <a:ext cx="1828800" cy="548640"/>
          </a:xfrm>
          <a:prstGeom prst="rect">
            <a:avLst/>
          </a:prstGeom>
          <a:noFill/>
          <a:ln/>
        </p:spPr>
        <p:txBody>
          <a:bodyPr wrap="square" lIns="0" tIns="0" rIns="0" bIns="0" rtlCol="0" anchor="t"/>
          <a:lstStyle/>
          <a:p>
            <a:pPr indent="0" marL="0">
              <a:buNone/>
            </a:pPr>
            <a:r>
              <a:rPr lang="en-US" sz="2800" b="1" dirty="0">
                <a:solidFill>
                  <a:schemeClr val="accent2"/>
                </a:solidFill>
              </a:rPr>
              <a:t>Mục tiêu</a:t>
            </a:r>
            <a:endParaRPr lang="en-US" sz="2800" dirty="0"/>
          </a:p>
        </p:txBody>
      </p:sp>
      <p:sp>
        <p:nvSpPr>
          <p:cNvPr id="6" name="text-484"/>
          <p:cNvSpPr txBox="1"/>
          <p:nvPr/>
        </p:nvSpPr>
        <p:spPr>
          <a:xfrm>
            <a:off x="2560320" y="1874520"/>
            <a:ext cx="1737360" cy="548640"/>
          </a:xfrm>
          <a:prstGeom prst="rect">
            <a:avLst/>
          </a:prstGeom>
          <a:noFill/>
          <a:ln/>
        </p:spPr>
        <p:txBody>
          <a:bodyPr wrap="square" lIns="0" tIns="0" rIns="0" bIns="0" rtlCol="0" anchor="t"/>
          <a:lstStyle/>
          <a:p>
            <a:pPr algn="r" indent="0" marL="0">
              <a:buNone/>
            </a:pPr>
            <a:r>
              <a:rPr lang="en-US" sz="2400" i="1" dirty="0">
                <a:solidFill>
                  <a:schemeClr val="tx2"/>
                </a:solidFill>
              </a:rPr>
              <a:t>(giả định)</a:t>
            </a:r>
            <a:endParaRPr lang="en-US" sz="2400" dirty="0"/>
          </a:p>
        </p:txBody>
      </p:sp>
      <p:sp>
        <p:nvSpPr>
          <p:cNvPr id="7" name="dot-485"/>
          <p:cNvSpPr/>
          <p:nvPr/>
        </p:nvSpPr>
        <p:spPr>
          <a:xfrm>
            <a:off x="822960" y="2743200"/>
            <a:ext cx="548640" cy="548640"/>
          </a:xfrm>
          <a:prstGeom prst="ellipse">
            <a:avLst/>
          </a:prstGeom>
          <a:solidFill>
            <a:schemeClr val="accent2"/>
          </a:solidFill>
          <a:ln/>
        </p:spPr>
      </p:sp>
      <p:sp>
        <p:nvSpPr>
          <p:cNvPr id="8" name="text-486"/>
          <p:cNvSpPr txBox="1"/>
          <p:nvPr/>
        </p:nvSpPr>
        <p:spPr>
          <a:xfrm>
            <a:off x="822960" y="274320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9" name="text-487"/>
          <p:cNvSpPr txBox="1"/>
          <p:nvPr/>
        </p:nvSpPr>
        <p:spPr>
          <a:xfrm>
            <a:off x="1554480" y="2606040"/>
            <a:ext cx="2743200" cy="868680"/>
          </a:xfrm>
          <a:prstGeom prst="rect">
            <a:avLst/>
          </a:prstGeom>
          <a:noFill/>
          <a:ln/>
        </p:spPr>
        <p:txBody>
          <a:bodyPr wrap="square" lIns="0" tIns="0" rIns="0" bIns="0" rtlCol="0" anchor="ctr"/>
          <a:lstStyle/>
          <a:p>
            <a:pPr indent="0" marL="0">
              <a:buNone/>
            </a:pPr>
            <a:r>
              <a:rPr lang="en-US" sz="2400" dirty="0">
                <a:solidFill>
                  <a:schemeClr val="tx1"/>
                </a:solidFill>
              </a:rPr>
              <a:t>Lý do sinh viên giảm mua</a:t>
            </a:r>
            <a:endParaRPr lang="en-US" sz="2400" dirty="0"/>
          </a:p>
        </p:txBody>
      </p:sp>
      <p:sp>
        <p:nvSpPr>
          <p:cNvPr id="10" name="dot-488"/>
          <p:cNvSpPr/>
          <p:nvPr/>
        </p:nvSpPr>
        <p:spPr>
          <a:xfrm>
            <a:off x="822960" y="3840480"/>
            <a:ext cx="548640" cy="548640"/>
          </a:xfrm>
          <a:prstGeom prst="ellipse">
            <a:avLst/>
          </a:prstGeom>
          <a:solidFill>
            <a:schemeClr val="accent2"/>
          </a:solidFill>
          <a:ln/>
        </p:spPr>
      </p:sp>
      <p:sp>
        <p:nvSpPr>
          <p:cNvPr id="11" name="text-489"/>
          <p:cNvSpPr txBox="1"/>
          <p:nvPr/>
        </p:nvSpPr>
        <p:spPr>
          <a:xfrm>
            <a:off x="822960" y="384048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490"/>
          <p:cNvSpPr txBox="1"/>
          <p:nvPr/>
        </p:nvSpPr>
        <p:spPr>
          <a:xfrm>
            <a:off x="1554480" y="3703320"/>
            <a:ext cx="2743200" cy="868680"/>
          </a:xfrm>
          <a:prstGeom prst="rect">
            <a:avLst/>
          </a:prstGeom>
          <a:noFill/>
          <a:ln/>
        </p:spPr>
        <p:txBody>
          <a:bodyPr wrap="square" lIns="0" tIns="0" rIns="0" bIns="0" rtlCol="0" anchor="ctr"/>
          <a:lstStyle/>
          <a:p>
            <a:pPr indent="0" marL="0">
              <a:buNone/>
            </a:pPr>
            <a:r>
              <a:rPr lang="en-US" sz="2400" dirty="0">
                <a:solidFill>
                  <a:schemeClr val="tx1"/>
                </a:solidFill>
              </a:rPr>
              <a:t>So sánh với đối thủ chính</a:t>
            </a:r>
            <a:endParaRPr lang="en-US" sz="2400" dirty="0"/>
          </a:p>
        </p:txBody>
      </p:sp>
      <p:sp>
        <p:nvSpPr>
          <p:cNvPr id="13" name="dot-491"/>
          <p:cNvSpPr/>
          <p:nvPr/>
        </p:nvSpPr>
        <p:spPr>
          <a:xfrm>
            <a:off x="822960" y="4937760"/>
            <a:ext cx="548640" cy="548640"/>
          </a:xfrm>
          <a:prstGeom prst="ellipse">
            <a:avLst/>
          </a:prstGeom>
          <a:solidFill>
            <a:schemeClr val="accent2"/>
          </a:solidFill>
          <a:ln/>
        </p:spPr>
      </p:sp>
      <p:sp>
        <p:nvSpPr>
          <p:cNvPr id="14" name="text-49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text-493"/>
          <p:cNvSpPr txBox="1"/>
          <p:nvPr/>
        </p:nvSpPr>
        <p:spPr>
          <a:xfrm>
            <a:off x="1554480" y="4800600"/>
            <a:ext cx="2743200" cy="868680"/>
          </a:xfrm>
          <a:prstGeom prst="rect">
            <a:avLst/>
          </a:prstGeom>
          <a:noFill/>
          <a:ln/>
        </p:spPr>
        <p:txBody>
          <a:bodyPr wrap="square" lIns="0" tIns="0" rIns="0" bIns="0" rtlCol="0" anchor="ctr"/>
          <a:lstStyle/>
          <a:p>
            <a:pPr indent="0" marL="0">
              <a:buNone/>
            </a:pPr>
            <a:r>
              <a:rPr lang="en-US" sz="2400" dirty="0">
                <a:solidFill>
                  <a:schemeClr val="tx1"/>
                </a:solidFill>
              </a:rPr>
              <a:t>Đề xuất giải pháp</a:t>
            </a:r>
            <a:endParaRPr lang="en-US" sz="2400" dirty="0"/>
          </a:p>
        </p:txBody>
      </p:sp>
      <p:sp>
        <p:nvSpPr>
          <p:cNvPr id="16" name="FIG" descr="Năm yếu tố có thể ảnh hưởng đến tần suất mua trà sữa của sinh viên."/>
          <p:cNvSpPr/>
          <p:nvPr/>
        </p:nvSpPr>
        <p:spPr>
          <a:xfrm>
            <a:off x="4846320" y="1691640"/>
            <a:ext cx="6793992" cy="4434840"/>
          </a:xfrm>
          <a:prstGeom prst="rect">
            <a:avLst/>
          </a:prstGeom>
          <a:solidFill>
            <a:schemeClr val="bg1">
              <a:alpha val="0"/>
            </a:schemeClr>
          </a:solidFill>
          <a:ln/>
        </p:spPr>
      </p:sp>
      <p:sp>
        <p:nvSpPr>
          <p:cNvPr id="17" name="text-494"/>
          <p:cNvSpPr txBox="1"/>
          <p:nvPr/>
        </p:nvSpPr>
        <p:spPr>
          <a:xfrm>
            <a:off x="4846320" y="1691640"/>
            <a:ext cx="2743200" cy="457200"/>
          </a:xfrm>
          <a:prstGeom prst="rect">
            <a:avLst/>
          </a:prstGeom>
          <a:noFill/>
          <a:ln/>
        </p:spPr>
        <p:txBody>
          <a:bodyPr wrap="square" lIns="0" tIns="0" rIns="0" bIns="0" rtlCol="0" anchor="t"/>
          <a:lstStyle/>
          <a:p>
            <a:pPr indent="0" marL="0">
              <a:buNone/>
            </a:pPr>
            <a:r>
              <a:rPr lang="en-US" sz="2400" b="1" dirty="0">
                <a:solidFill>
                  <a:schemeClr val="tx2"/>
                </a:solidFill>
              </a:rPr>
              <a:t>Biến độc lập</a:t>
            </a:r>
            <a:endParaRPr lang="en-US" sz="2400" dirty="0"/>
          </a:p>
        </p:txBody>
      </p:sp>
      <p:sp>
        <p:nvSpPr>
          <p:cNvPr id="18" name="card-495"/>
          <p:cNvSpPr/>
          <p:nvPr/>
        </p:nvSpPr>
        <p:spPr>
          <a:xfrm>
            <a:off x="4846320" y="2194560"/>
            <a:ext cx="2560320" cy="640080"/>
          </a:xfrm>
          <a:prstGeom prst="roundRect">
            <a:avLst>
              <a:gd name="adj" fmla="val 21429"/>
            </a:avLst>
          </a:prstGeom>
          <a:solidFill>
            <a:schemeClr val="bg2"/>
          </a:solidFill>
          <a:ln/>
        </p:spPr>
      </p:sp>
      <p:sp>
        <p:nvSpPr>
          <p:cNvPr id="19" name="text-496"/>
          <p:cNvSpPr txBox="1"/>
          <p:nvPr/>
        </p:nvSpPr>
        <p:spPr>
          <a:xfrm>
            <a:off x="4846320" y="2194560"/>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Giá</a:t>
            </a:r>
            <a:endParaRPr lang="en-US" sz="2400" dirty="0"/>
          </a:p>
        </p:txBody>
      </p:sp>
      <p:sp>
        <p:nvSpPr>
          <p:cNvPr id="20" name="line-497"/>
          <p:cNvSpPr/>
          <p:nvPr/>
        </p:nvSpPr>
        <p:spPr>
          <a:xfrm>
            <a:off x="7406640" y="2514600"/>
            <a:ext cx="1143000" cy="1600200"/>
          </a:xfrm>
          <a:prstGeom prst="line">
            <a:avLst/>
          </a:prstGeom>
          <a:noFill/>
          <a:ln w="38100">
            <a:solidFill>
              <a:schemeClr val="accent5"/>
            </a:solidFill>
            <a:prstDash val="solid"/>
            <a:tailEnd type="triangle"/>
          </a:ln>
        </p:spPr>
      </p:sp>
      <p:sp>
        <p:nvSpPr>
          <p:cNvPr id="21" name="card-498"/>
          <p:cNvSpPr/>
          <p:nvPr/>
        </p:nvSpPr>
        <p:spPr>
          <a:xfrm>
            <a:off x="4846320" y="2980944"/>
            <a:ext cx="2560320" cy="640080"/>
          </a:xfrm>
          <a:prstGeom prst="roundRect">
            <a:avLst>
              <a:gd name="adj" fmla="val 21429"/>
            </a:avLst>
          </a:prstGeom>
          <a:solidFill>
            <a:schemeClr val="bg2"/>
          </a:solidFill>
          <a:ln/>
        </p:spPr>
      </p:sp>
      <p:sp>
        <p:nvSpPr>
          <p:cNvPr id="22" name="text-499"/>
          <p:cNvSpPr txBox="1"/>
          <p:nvPr/>
        </p:nvSpPr>
        <p:spPr>
          <a:xfrm>
            <a:off x="4846320" y="2980944"/>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Chất lượng</a:t>
            </a:r>
            <a:endParaRPr lang="en-US" sz="2400" dirty="0"/>
          </a:p>
        </p:txBody>
      </p:sp>
      <p:sp>
        <p:nvSpPr>
          <p:cNvPr id="23" name="line-500"/>
          <p:cNvSpPr/>
          <p:nvPr/>
        </p:nvSpPr>
        <p:spPr>
          <a:xfrm>
            <a:off x="7406640" y="3300984"/>
            <a:ext cx="1143000" cy="813816"/>
          </a:xfrm>
          <a:prstGeom prst="line">
            <a:avLst/>
          </a:prstGeom>
          <a:noFill/>
          <a:ln w="38100">
            <a:solidFill>
              <a:schemeClr val="accent5"/>
            </a:solidFill>
            <a:prstDash val="solid"/>
            <a:tailEnd type="triangle"/>
          </a:ln>
        </p:spPr>
      </p:sp>
      <p:sp>
        <p:nvSpPr>
          <p:cNvPr id="24" name="card-501"/>
          <p:cNvSpPr/>
          <p:nvPr/>
        </p:nvSpPr>
        <p:spPr>
          <a:xfrm>
            <a:off x="4846320" y="3767328"/>
            <a:ext cx="2560320" cy="640080"/>
          </a:xfrm>
          <a:prstGeom prst="roundRect">
            <a:avLst>
              <a:gd name="adj" fmla="val 21429"/>
            </a:avLst>
          </a:prstGeom>
          <a:solidFill>
            <a:schemeClr val="bg2"/>
          </a:solidFill>
          <a:ln/>
        </p:spPr>
      </p:sp>
      <p:sp>
        <p:nvSpPr>
          <p:cNvPr id="25" name="text-502"/>
          <p:cNvSpPr txBox="1"/>
          <p:nvPr/>
        </p:nvSpPr>
        <p:spPr>
          <a:xfrm>
            <a:off x="4846320" y="3767328"/>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Khuyến mãi</a:t>
            </a:r>
            <a:endParaRPr lang="en-US" sz="2400" dirty="0"/>
          </a:p>
        </p:txBody>
      </p:sp>
      <p:sp>
        <p:nvSpPr>
          <p:cNvPr id="26" name="line-503"/>
          <p:cNvSpPr/>
          <p:nvPr/>
        </p:nvSpPr>
        <p:spPr>
          <a:xfrm>
            <a:off x="7406640" y="4087368"/>
            <a:ext cx="1143000" cy="27432"/>
          </a:xfrm>
          <a:prstGeom prst="line">
            <a:avLst/>
          </a:prstGeom>
          <a:noFill/>
          <a:ln w="38100">
            <a:solidFill>
              <a:schemeClr val="accent5"/>
            </a:solidFill>
            <a:prstDash val="solid"/>
            <a:tailEnd type="triangle"/>
          </a:ln>
        </p:spPr>
      </p:sp>
      <p:sp>
        <p:nvSpPr>
          <p:cNvPr id="27" name="card-504"/>
          <p:cNvSpPr/>
          <p:nvPr/>
        </p:nvSpPr>
        <p:spPr>
          <a:xfrm>
            <a:off x="4846320" y="4553712"/>
            <a:ext cx="2560320" cy="640080"/>
          </a:xfrm>
          <a:prstGeom prst="roundRect">
            <a:avLst>
              <a:gd name="adj" fmla="val 21429"/>
            </a:avLst>
          </a:prstGeom>
          <a:solidFill>
            <a:schemeClr val="bg2"/>
          </a:solidFill>
          <a:ln/>
        </p:spPr>
      </p:sp>
      <p:sp>
        <p:nvSpPr>
          <p:cNvPr id="28" name="text-505"/>
          <p:cNvSpPr txBox="1"/>
          <p:nvPr/>
        </p:nvSpPr>
        <p:spPr>
          <a:xfrm>
            <a:off x="4846320" y="4553712"/>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Không gian</a:t>
            </a:r>
            <a:endParaRPr lang="en-US" sz="2400" dirty="0"/>
          </a:p>
        </p:txBody>
      </p:sp>
      <p:sp>
        <p:nvSpPr>
          <p:cNvPr id="29" name="line-506"/>
          <p:cNvSpPr/>
          <p:nvPr/>
        </p:nvSpPr>
        <p:spPr>
          <a:xfrm>
            <a:off x="7406640" y="4873752"/>
            <a:ext cx="1143000" cy="-758952"/>
          </a:xfrm>
          <a:prstGeom prst="line">
            <a:avLst/>
          </a:prstGeom>
          <a:noFill/>
          <a:ln w="38100">
            <a:solidFill>
              <a:schemeClr val="accent5"/>
            </a:solidFill>
            <a:prstDash val="solid"/>
            <a:tailEnd type="triangle"/>
          </a:ln>
        </p:spPr>
      </p:sp>
      <p:sp>
        <p:nvSpPr>
          <p:cNvPr id="30" name="card-507"/>
          <p:cNvSpPr/>
          <p:nvPr/>
        </p:nvSpPr>
        <p:spPr>
          <a:xfrm>
            <a:off x="4846320" y="5340096"/>
            <a:ext cx="2560320" cy="640080"/>
          </a:xfrm>
          <a:prstGeom prst="roundRect">
            <a:avLst>
              <a:gd name="adj" fmla="val 21429"/>
            </a:avLst>
          </a:prstGeom>
          <a:solidFill>
            <a:schemeClr val="bg2"/>
          </a:solidFill>
          <a:ln/>
        </p:spPr>
      </p:sp>
      <p:sp>
        <p:nvSpPr>
          <p:cNvPr id="31" name="text-508"/>
          <p:cNvSpPr txBox="1"/>
          <p:nvPr/>
        </p:nvSpPr>
        <p:spPr>
          <a:xfrm>
            <a:off x="4846320" y="5340096"/>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Tiện lợi</a:t>
            </a:r>
            <a:endParaRPr lang="en-US" sz="2400" dirty="0"/>
          </a:p>
        </p:txBody>
      </p:sp>
      <p:sp>
        <p:nvSpPr>
          <p:cNvPr id="32" name="line-509"/>
          <p:cNvSpPr/>
          <p:nvPr/>
        </p:nvSpPr>
        <p:spPr>
          <a:xfrm>
            <a:off x="7406640" y="5660136"/>
            <a:ext cx="1143000" cy="-1545336"/>
          </a:xfrm>
          <a:prstGeom prst="line">
            <a:avLst/>
          </a:prstGeom>
          <a:noFill/>
          <a:ln w="38100">
            <a:solidFill>
              <a:schemeClr val="accent5"/>
            </a:solidFill>
            <a:prstDash val="solid"/>
            <a:tailEnd type="triangle"/>
          </a:ln>
        </p:spPr>
      </p:sp>
      <p:sp>
        <p:nvSpPr>
          <p:cNvPr id="33" name="text-510"/>
          <p:cNvSpPr txBox="1"/>
          <p:nvPr/>
        </p:nvSpPr>
        <p:spPr>
          <a:xfrm>
            <a:off x="8641080" y="2971800"/>
            <a:ext cx="2999232" cy="457200"/>
          </a:xfrm>
          <a:prstGeom prst="rect">
            <a:avLst/>
          </a:prstGeom>
          <a:noFill/>
          <a:ln/>
        </p:spPr>
        <p:txBody>
          <a:bodyPr wrap="square" lIns="0" tIns="0" rIns="0" bIns="0" rtlCol="0" anchor="t"/>
          <a:lstStyle/>
          <a:p>
            <a:pPr indent="0" marL="0">
              <a:buNone/>
            </a:pPr>
            <a:r>
              <a:rPr lang="en-US" sz="2400" b="1" dirty="0">
                <a:solidFill>
                  <a:schemeClr val="tx2"/>
                </a:solidFill>
              </a:rPr>
              <a:t>Biến phụ thuộc</a:t>
            </a:r>
            <a:endParaRPr lang="en-US" sz="2400" dirty="0"/>
          </a:p>
        </p:txBody>
      </p:sp>
      <p:sp>
        <p:nvSpPr>
          <p:cNvPr id="34" name="card-511"/>
          <p:cNvSpPr/>
          <p:nvPr/>
        </p:nvSpPr>
        <p:spPr>
          <a:xfrm>
            <a:off x="8641080" y="3474720"/>
            <a:ext cx="2999232" cy="1280160"/>
          </a:xfrm>
          <a:prstGeom prst="roundRect">
            <a:avLst>
              <a:gd name="adj" fmla="val 10714"/>
            </a:avLst>
          </a:prstGeom>
          <a:solidFill>
            <a:schemeClr val="accent5"/>
          </a:solidFill>
          <a:ln/>
        </p:spPr>
      </p:sp>
      <p:sp>
        <p:nvSpPr>
          <p:cNvPr id="35" name="text-512"/>
          <p:cNvSpPr txBox="1"/>
          <p:nvPr/>
        </p:nvSpPr>
        <p:spPr>
          <a:xfrm>
            <a:off x="8641080" y="3474720"/>
            <a:ext cx="2999232" cy="1280160"/>
          </a:xfrm>
          <a:prstGeom prst="rect">
            <a:avLst/>
          </a:prstGeom>
          <a:noFill/>
          <a:ln/>
        </p:spPr>
        <p:txBody>
          <a:bodyPr wrap="square" lIns="0" tIns="0" rIns="0" bIns="0" rtlCol="0" anchor="ctr"/>
          <a:lstStyle/>
          <a:p>
            <a:pPr algn="ctr" indent="0" marL="0">
              <a:buNone/>
            </a:pPr>
            <a:r>
              <a:rPr lang="en-US" sz="2800" b="1" dirty="0">
                <a:solidFill>
                  <a:schemeClr val="bg1"/>
                </a:solidFill>
              </a:rPr>
              <a:t>Tần suất mua</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Thu thập, phân tích, trình bày: dữ liệu thô phải thành câu trả lời cho nhà quản trị</a:t>
            </a:r>
            <a:endParaRPr lang="en-US" sz="3000" dirty="0"/>
          </a:p>
        </p:txBody>
      </p:sp>
      <p:sp>
        <p:nvSpPr>
          <p:cNvPr id="4" name="text-513"/>
          <p:cNvSpPr txBox="1"/>
          <p:nvPr/>
        </p:nvSpPr>
        <p:spPr>
          <a:xfrm>
            <a:off x="9966960" y="5852160"/>
            <a:ext cx="1673352" cy="457200"/>
          </a:xfrm>
          <a:prstGeom prst="rect">
            <a:avLst/>
          </a:prstGeom>
          <a:noFill/>
          <a:ln/>
        </p:spPr>
        <p:txBody>
          <a:bodyPr wrap="square" lIns="0" tIns="0" rIns="0" bIns="0" rtlCol="0" anchor="t"/>
          <a:lstStyle/>
          <a:p>
            <a:pPr algn="r" indent="0" marL="0">
              <a:buNone/>
            </a:pPr>
            <a:r>
              <a:rPr lang="en-US" sz="2400" i="1" dirty="0">
                <a:solidFill>
                  <a:schemeClr val="tx2"/>
                </a:solidFill>
              </a:rPr>
              <a:t>(giả định)</a:t>
            </a:r>
            <a:endParaRPr lang="en-US" sz="2400" dirty="0"/>
          </a:p>
        </p:txBody>
      </p:sp>
      <p:sp>
        <p:nvSpPr>
          <p:cNvPr id="5" name="card-514"/>
          <p:cNvSpPr/>
          <p:nvPr/>
        </p:nvSpPr>
        <p:spPr>
          <a:xfrm>
            <a:off x="548640" y="1783080"/>
            <a:ext cx="3520440" cy="3977640"/>
          </a:xfrm>
          <a:prstGeom prst="roundRect">
            <a:avLst>
              <a:gd name="adj" fmla="val 3896"/>
            </a:avLst>
          </a:prstGeom>
          <a:solidFill>
            <a:schemeClr val="bg2"/>
          </a:solidFill>
          <a:ln/>
        </p:spPr>
      </p:sp>
      <p:sp>
        <p:nvSpPr>
          <p:cNvPr id="6" name="dot-515"/>
          <p:cNvSpPr/>
          <p:nvPr/>
        </p:nvSpPr>
        <p:spPr>
          <a:xfrm>
            <a:off x="822960" y="2011680"/>
            <a:ext cx="685800" cy="685800"/>
          </a:xfrm>
          <a:prstGeom prst="ellipse">
            <a:avLst/>
          </a:prstGeom>
          <a:solidFill>
            <a:schemeClr val="accent1"/>
          </a:solidFill>
          <a:ln/>
        </p:spPr>
      </p:sp>
      <p:sp>
        <p:nvSpPr>
          <p:cNvPr id="7" name="text-516"/>
          <p:cNvSpPr txBox="1"/>
          <p:nvPr/>
        </p:nvSpPr>
        <p:spPr>
          <a:xfrm>
            <a:off x="822960"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8" name="text-517"/>
          <p:cNvSpPr txBox="1"/>
          <p:nvPr/>
        </p:nvSpPr>
        <p:spPr>
          <a:xfrm>
            <a:off x="1645920" y="2011680"/>
            <a:ext cx="2286000" cy="685800"/>
          </a:xfrm>
          <a:prstGeom prst="rect">
            <a:avLst/>
          </a:prstGeom>
          <a:noFill/>
          <a:ln/>
        </p:spPr>
        <p:txBody>
          <a:bodyPr wrap="square" lIns="0" tIns="0" rIns="0" bIns="0" rtlCol="0" anchor="ctr"/>
          <a:lstStyle/>
          <a:p>
            <a:pPr indent="0" marL="0">
              <a:buNone/>
            </a:pPr>
            <a:r>
              <a:rPr lang="en-US" sz="2400" b="1" dirty="0">
                <a:solidFill>
                  <a:schemeClr val="accent1"/>
                </a:solidFill>
              </a:rPr>
              <a:t>Thu thập</a:t>
            </a:r>
            <a:endParaRPr lang="en-US" sz="2400" dirty="0"/>
          </a:p>
        </p:txBody>
      </p:sp>
      <p:sp>
        <p:nvSpPr>
          <p:cNvPr id="9" name="text-518"/>
          <p:cNvSpPr txBox="1"/>
          <p:nvPr/>
        </p:nvSpPr>
        <p:spPr>
          <a:xfrm>
            <a:off x="868680" y="2971800"/>
            <a:ext cx="2971800" cy="603504"/>
          </a:xfrm>
          <a:prstGeom prst="rect">
            <a:avLst/>
          </a:prstGeom>
          <a:noFill/>
          <a:ln/>
        </p:spPr>
        <p:txBody>
          <a:bodyPr wrap="square" lIns="0" tIns="0" rIns="0" bIns="0" rtlCol="0" anchor="ctr"/>
          <a:lstStyle/>
          <a:p>
            <a:pPr indent="0" marL="0">
              <a:buNone/>
            </a:pPr>
            <a:r>
              <a:rPr lang="en-US" sz="2400" dirty="0">
                <a:solidFill>
                  <a:schemeClr val="tx1"/>
                </a:solidFill>
              </a:rPr>
              <a:t>• Dữ liệu thứ cấp</a:t>
            </a:r>
            <a:endParaRPr lang="en-US" sz="2400" dirty="0"/>
          </a:p>
        </p:txBody>
      </p:sp>
      <p:sp>
        <p:nvSpPr>
          <p:cNvPr id="10" name="text-519"/>
          <p:cNvSpPr txBox="1"/>
          <p:nvPr/>
        </p:nvSpPr>
        <p:spPr>
          <a:xfrm>
            <a:off x="868680" y="3630168"/>
            <a:ext cx="2971800" cy="603504"/>
          </a:xfrm>
          <a:prstGeom prst="rect">
            <a:avLst/>
          </a:prstGeom>
          <a:noFill/>
          <a:ln/>
        </p:spPr>
        <p:txBody>
          <a:bodyPr wrap="square" lIns="0" tIns="0" rIns="0" bIns="0" rtlCol="0" anchor="ctr"/>
          <a:lstStyle/>
          <a:p>
            <a:pPr indent="0" marL="0">
              <a:buNone/>
            </a:pPr>
            <a:r>
              <a:rPr lang="en-US" sz="2400" dirty="0">
                <a:solidFill>
                  <a:schemeClr val="tx1"/>
                </a:solidFill>
              </a:rPr>
              <a:t>• Phỏng vấn ~10 SV</a:t>
            </a:r>
            <a:endParaRPr lang="en-US" sz="2400" dirty="0"/>
          </a:p>
        </p:txBody>
      </p:sp>
      <p:sp>
        <p:nvSpPr>
          <p:cNvPr id="11" name="text-520"/>
          <p:cNvSpPr txBox="1"/>
          <p:nvPr/>
        </p:nvSpPr>
        <p:spPr>
          <a:xfrm>
            <a:off x="868680" y="4288536"/>
            <a:ext cx="2971800" cy="603504"/>
          </a:xfrm>
          <a:prstGeom prst="rect">
            <a:avLst/>
          </a:prstGeom>
          <a:noFill/>
          <a:ln/>
        </p:spPr>
        <p:txBody>
          <a:bodyPr wrap="square" lIns="0" tIns="0" rIns="0" bIns="0" rtlCol="0" anchor="ctr"/>
          <a:lstStyle/>
          <a:p>
            <a:pPr indent="0" marL="0">
              <a:buNone/>
            </a:pPr>
            <a:r>
              <a:rPr lang="en-US" sz="2400" dirty="0">
                <a:solidFill>
                  <a:schemeClr val="tx1"/>
                </a:solidFill>
              </a:rPr>
              <a:t>• Khảo sát ~200 SV</a:t>
            </a:r>
            <a:endParaRPr lang="en-US" sz="2400" dirty="0"/>
          </a:p>
        </p:txBody>
      </p:sp>
      <p:sp>
        <p:nvSpPr>
          <p:cNvPr id="12" name="card-521"/>
          <p:cNvSpPr/>
          <p:nvPr/>
        </p:nvSpPr>
        <p:spPr>
          <a:xfrm>
            <a:off x="4334256" y="1783080"/>
            <a:ext cx="3520440" cy="3977640"/>
          </a:xfrm>
          <a:prstGeom prst="roundRect">
            <a:avLst>
              <a:gd name="adj" fmla="val 3896"/>
            </a:avLst>
          </a:prstGeom>
          <a:solidFill>
            <a:schemeClr val="bg2"/>
          </a:solidFill>
          <a:ln/>
        </p:spPr>
      </p:sp>
      <p:sp>
        <p:nvSpPr>
          <p:cNvPr id="13" name="dot-522"/>
          <p:cNvSpPr/>
          <p:nvPr/>
        </p:nvSpPr>
        <p:spPr>
          <a:xfrm>
            <a:off x="4608576" y="2011680"/>
            <a:ext cx="685800" cy="685800"/>
          </a:xfrm>
          <a:prstGeom prst="ellipse">
            <a:avLst/>
          </a:prstGeom>
          <a:solidFill>
            <a:schemeClr val="accent5"/>
          </a:solidFill>
          <a:ln/>
        </p:spPr>
      </p:sp>
      <p:sp>
        <p:nvSpPr>
          <p:cNvPr id="14" name="text-523"/>
          <p:cNvSpPr txBox="1"/>
          <p:nvPr/>
        </p:nvSpPr>
        <p:spPr>
          <a:xfrm>
            <a:off x="4608576"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15" name="text-524"/>
          <p:cNvSpPr txBox="1"/>
          <p:nvPr/>
        </p:nvSpPr>
        <p:spPr>
          <a:xfrm>
            <a:off x="5431536" y="2011680"/>
            <a:ext cx="2286000" cy="685800"/>
          </a:xfrm>
          <a:prstGeom prst="rect">
            <a:avLst/>
          </a:prstGeom>
          <a:noFill/>
          <a:ln/>
        </p:spPr>
        <p:txBody>
          <a:bodyPr wrap="square" lIns="0" tIns="0" rIns="0" bIns="0" rtlCol="0" anchor="ctr"/>
          <a:lstStyle/>
          <a:p>
            <a:pPr indent="0" marL="0">
              <a:buNone/>
            </a:pPr>
            <a:r>
              <a:rPr lang="en-US" sz="2400" b="1" dirty="0">
                <a:solidFill>
                  <a:schemeClr val="accent5"/>
                </a:solidFill>
              </a:rPr>
              <a:t>Chuẩn bị &amp; phân tích</a:t>
            </a:r>
            <a:endParaRPr lang="en-US" sz="2400" dirty="0"/>
          </a:p>
        </p:txBody>
      </p:sp>
      <p:sp>
        <p:nvSpPr>
          <p:cNvPr id="16" name="text-525"/>
          <p:cNvSpPr txBox="1"/>
          <p:nvPr/>
        </p:nvSpPr>
        <p:spPr>
          <a:xfrm>
            <a:off x="4654296" y="2971800"/>
            <a:ext cx="2971800" cy="603504"/>
          </a:xfrm>
          <a:prstGeom prst="rect">
            <a:avLst/>
          </a:prstGeom>
          <a:noFill/>
          <a:ln/>
        </p:spPr>
        <p:txBody>
          <a:bodyPr wrap="square" lIns="0" tIns="0" rIns="0" bIns="0" rtlCol="0" anchor="ctr"/>
          <a:lstStyle/>
          <a:p>
            <a:pPr indent="0" marL="0">
              <a:buNone/>
            </a:pPr>
            <a:r>
              <a:rPr lang="en-US" sz="2400" dirty="0">
                <a:solidFill>
                  <a:schemeClr val="tx1"/>
                </a:solidFill>
              </a:rPr>
              <a:t>• Hiệu chỉnh</a:t>
            </a:r>
            <a:endParaRPr lang="en-US" sz="2400" dirty="0"/>
          </a:p>
        </p:txBody>
      </p:sp>
      <p:sp>
        <p:nvSpPr>
          <p:cNvPr id="17" name="text-526"/>
          <p:cNvSpPr txBox="1"/>
          <p:nvPr/>
        </p:nvSpPr>
        <p:spPr>
          <a:xfrm>
            <a:off x="4654296" y="3630168"/>
            <a:ext cx="2971800" cy="603504"/>
          </a:xfrm>
          <a:prstGeom prst="rect">
            <a:avLst/>
          </a:prstGeom>
          <a:noFill/>
          <a:ln/>
        </p:spPr>
        <p:txBody>
          <a:bodyPr wrap="square" lIns="0" tIns="0" rIns="0" bIns="0" rtlCol="0" anchor="ctr"/>
          <a:lstStyle/>
          <a:p>
            <a:pPr indent="0" marL="0">
              <a:buNone/>
            </a:pPr>
            <a:r>
              <a:rPr lang="en-US" sz="2400" dirty="0">
                <a:solidFill>
                  <a:schemeClr val="tx1"/>
                </a:solidFill>
              </a:rPr>
              <a:t>→ Mã hóa</a:t>
            </a:r>
            <a:endParaRPr lang="en-US" sz="2400" dirty="0"/>
          </a:p>
        </p:txBody>
      </p:sp>
      <p:sp>
        <p:nvSpPr>
          <p:cNvPr id="18" name="text-527"/>
          <p:cNvSpPr txBox="1"/>
          <p:nvPr/>
        </p:nvSpPr>
        <p:spPr>
          <a:xfrm>
            <a:off x="4654296" y="4288536"/>
            <a:ext cx="2971800" cy="603504"/>
          </a:xfrm>
          <a:prstGeom prst="rect">
            <a:avLst/>
          </a:prstGeom>
          <a:noFill/>
          <a:ln/>
        </p:spPr>
        <p:txBody>
          <a:bodyPr wrap="square" lIns="0" tIns="0" rIns="0" bIns="0" rtlCol="0" anchor="ctr"/>
          <a:lstStyle/>
          <a:p>
            <a:pPr indent="0" marL="0">
              <a:buNone/>
            </a:pPr>
            <a:r>
              <a:rPr lang="en-US" sz="2400" dirty="0">
                <a:solidFill>
                  <a:schemeClr val="tx1"/>
                </a:solidFill>
              </a:rPr>
              <a:t>→ Nhập &amp; làm sạch</a:t>
            </a:r>
            <a:endParaRPr lang="en-US" sz="2400" dirty="0"/>
          </a:p>
        </p:txBody>
      </p:sp>
      <p:sp>
        <p:nvSpPr>
          <p:cNvPr id="19" name="text-528"/>
          <p:cNvSpPr txBox="1"/>
          <p:nvPr/>
        </p:nvSpPr>
        <p:spPr>
          <a:xfrm>
            <a:off x="4654296" y="4946904"/>
            <a:ext cx="2971800" cy="603504"/>
          </a:xfrm>
          <a:prstGeom prst="rect">
            <a:avLst/>
          </a:prstGeom>
          <a:noFill/>
          <a:ln/>
        </p:spPr>
        <p:txBody>
          <a:bodyPr wrap="square" lIns="0" tIns="0" rIns="0" bIns="0" rtlCol="0" anchor="ctr"/>
          <a:lstStyle/>
          <a:p>
            <a:pPr indent="0" marL="0">
              <a:buNone/>
            </a:pPr>
            <a:r>
              <a:rPr lang="en-US" sz="2400" dirty="0">
                <a:solidFill>
                  <a:schemeClr val="tx1"/>
                </a:solidFill>
              </a:rPr>
              <a:t>→ Phân tích</a:t>
            </a:r>
            <a:endParaRPr lang="en-US" sz="2400" dirty="0"/>
          </a:p>
        </p:txBody>
      </p:sp>
      <p:sp>
        <p:nvSpPr>
          <p:cNvPr id="20" name="card-529"/>
          <p:cNvSpPr/>
          <p:nvPr/>
        </p:nvSpPr>
        <p:spPr>
          <a:xfrm>
            <a:off x="8119872" y="1783080"/>
            <a:ext cx="3520440" cy="3977640"/>
          </a:xfrm>
          <a:prstGeom prst="roundRect">
            <a:avLst>
              <a:gd name="adj" fmla="val 3896"/>
            </a:avLst>
          </a:prstGeom>
          <a:solidFill>
            <a:schemeClr val="bg2"/>
          </a:solidFill>
          <a:ln/>
        </p:spPr>
      </p:sp>
      <p:sp>
        <p:nvSpPr>
          <p:cNvPr id="21" name="dot-530"/>
          <p:cNvSpPr/>
          <p:nvPr/>
        </p:nvSpPr>
        <p:spPr>
          <a:xfrm>
            <a:off x="8394192" y="2011680"/>
            <a:ext cx="685800" cy="685800"/>
          </a:xfrm>
          <a:prstGeom prst="ellipse">
            <a:avLst/>
          </a:prstGeom>
          <a:solidFill>
            <a:schemeClr val="accent4"/>
          </a:solidFill>
          <a:ln/>
        </p:spPr>
      </p:sp>
      <p:sp>
        <p:nvSpPr>
          <p:cNvPr id="22" name="text-531"/>
          <p:cNvSpPr txBox="1"/>
          <p:nvPr/>
        </p:nvSpPr>
        <p:spPr>
          <a:xfrm>
            <a:off x="8394192" y="2011680"/>
            <a:ext cx="685800" cy="685800"/>
          </a:xfrm>
          <a:prstGeom prst="rect">
            <a:avLst/>
          </a:prstGeom>
          <a:noFill/>
          <a:ln/>
        </p:spPr>
        <p:txBody>
          <a:bodyPr wrap="square" lIns="0" tIns="0" rIns="0" bIns="0" rtlCol="0" anchor="ctr"/>
          <a:lstStyle/>
          <a:p>
            <a:pPr algn="ctr" indent="0" marL="0">
              <a:buNone/>
            </a:pPr>
            <a:r>
              <a:rPr lang="en-US" sz="2800" b="1" dirty="0">
                <a:solidFill>
                  <a:schemeClr val="tx1"/>
                </a:solidFill>
              </a:rPr>
              <a:t>6</a:t>
            </a:r>
            <a:endParaRPr lang="en-US" sz="2800" dirty="0"/>
          </a:p>
        </p:txBody>
      </p:sp>
      <p:sp>
        <p:nvSpPr>
          <p:cNvPr id="23" name="text-532"/>
          <p:cNvSpPr txBox="1"/>
          <p:nvPr/>
        </p:nvSpPr>
        <p:spPr>
          <a:xfrm>
            <a:off x="9217152" y="2011680"/>
            <a:ext cx="2286000" cy="685800"/>
          </a:xfrm>
          <a:prstGeom prst="rect">
            <a:avLst/>
          </a:prstGeom>
          <a:noFill/>
          <a:ln/>
        </p:spPr>
        <p:txBody>
          <a:bodyPr wrap="square" lIns="0" tIns="0" rIns="0" bIns="0" rtlCol="0" anchor="ctr"/>
          <a:lstStyle/>
          <a:p>
            <a:pPr indent="0" marL="0">
              <a:buNone/>
            </a:pPr>
            <a:r>
              <a:rPr lang="en-US" sz="2400" b="1" dirty="0">
                <a:solidFill>
                  <a:schemeClr val="accent6"/>
                </a:solidFill>
              </a:rPr>
              <a:t>Trình bày</a:t>
            </a:r>
            <a:endParaRPr lang="en-US" sz="2400" dirty="0"/>
          </a:p>
        </p:txBody>
      </p:sp>
      <p:sp>
        <p:nvSpPr>
          <p:cNvPr id="24" name="text-533"/>
          <p:cNvSpPr txBox="1"/>
          <p:nvPr/>
        </p:nvSpPr>
        <p:spPr>
          <a:xfrm>
            <a:off x="8439912" y="2971800"/>
            <a:ext cx="2971800" cy="914400"/>
          </a:xfrm>
          <a:prstGeom prst="rect">
            <a:avLst/>
          </a:prstGeom>
          <a:noFill/>
          <a:ln/>
        </p:spPr>
        <p:txBody>
          <a:bodyPr wrap="square" lIns="0" tIns="0" rIns="0" bIns="0" rtlCol="0" anchor="ctr"/>
          <a:lstStyle/>
          <a:p>
            <a:pPr indent="0" marL="0">
              <a:buNone/>
            </a:pPr>
            <a:r>
              <a:rPr lang="en-US" sz="2400" dirty="0">
                <a:solidFill>
                  <a:schemeClr val="tx1"/>
                </a:solidFill>
              </a:rPr>
              <a:t>• Báo cáo khách quan</a:t>
            </a:r>
            <a:endParaRPr lang="en-US" sz="2400" dirty="0"/>
          </a:p>
        </p:txBody>
      </p:sp>
      <p:sp>
        <p:nvSpPr>
          <p:cNvPr id="25" name="text-534"/>
          <p:cNvSpPr txBox="1"/>
          <p:nvPr/>
        </p:nvSpPr>
        <p:spPr>
          <a:xfrm>
            <a:off x="8439912" y="3977640"/>
            <a:ext cx="2971800" cy="914400"/>
          </a:xfrm>
          <a:prstGeom prst="rect">
            <a:avLst/>
          </a:prstGeom>
          <a:noFill/>
          <a:ln/>
        </p:spPr>
        <p:txBody>
          <a:bodyPr wrap="square" lIns="0" tIns="0" rIns="0" bIns="0" rtlCol="0" anchor="ctr"/>
          <a:lstStyle/>
          <a:p>
            <a:pPr indent="0" marL="0">
              <a:buNone/>
            </a:pPr>
            <a:r>
              <a:rPr lang="en-US" sz="2400" dirty="0">
                <a:solidFill>
                  <a:schemeClr val="tx1"/>
                </a:solidFill>
              </a:rPr>
              <a:t>• Có đề xuất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lỗi khiến nghiên cứu vô giá trị</a:t>
            </a:r>
            <a:endParaRPr lang="en-US" sz="3000" dirty="0"/>
          </a:p>
        </p:txBody>
      </p:sp>
      <p:sp>
        <p:nvSpPr>
          <p:cNvPr id="4" name="card-535"/>
          <p:cNvSpPr/>
          <p:nvPr/>
        </p:nvSpPr>
        <p:spPr>
          <a:xfrm>
            <a:off x="548640" y="1783080"/>
            <a:ext cx="6949440" cy="1143000"/>
          </a:xfrm>
          <a:prstGeom prst="roundRect">
            <a:avLst>
              <a:gd name="adj" fmla="val 12000"/>
            </a:avLst>
          </a:prstGeom>
          <a:solidFill>
            <a:schemeClr val="bg2"/>
          </a:solidFill>
          <a:ln/>
        </p:spPr>
      </p:sp>
      <p:sp>
        <p:nvSpPr>
          <p:cNvPr id="5" name="icon-bg-536"/>
          <p:cNvSpPr/>
          <p:nvPr/>
        </p:nvSpPr>
        <p:spPr>
          <a:xfrm>
            <a:off x="777240" y="1965960"/>
            <a:ext cx="777240" cy="777240"/>
          </a:xfrm>
          <a:prstGeom prst="ellipse">
            <a:avLst/>
          </a:prstGeom>
          <a:solidFill>
            <a:schemeClr val="accent3"/>
          </a:solidFill>
          <a:ln/>
        </p:spPr>
      </p:sp>
      <p:pic>
        <p:nvPicPr>
          <p:cNvPr id="6" name="icon-53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1550" y="2160270"/>
            <a:ext cx="388620" cy="388620"/>
          </a:xfrm>
          <a:prstGeom prst="rect">
            <a:avLst/>
          </a:prstGeom>
        </p:spPr>
      </p:pic>
      <p:sp>
        <p:nvSpPr>
          <p:cNvPr id="7" name="text-538"/>
          <p:cNvSpPr txBox="1"/>
          <p:nvPr/>
        </p:nvSpPr>
        <p:spPr>
          <a:xfrm>
            <a:off x="1783080" y="17830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Hỏi sai đối tượng</a:t>
            </a:r>
            <a:endParaRPr lang="en-US" sz="2600" dirty="0"/>
          </a:p>
        </p:txBody>
      </p:sp>
      <p:sp>
        <p:nvSpPr>
          <p:cNvPr id="8" name="card-539"/>
          <p:cNvSpPr/>
          <p:nvPr/>
        </p:nvSpPr>
        <p:spPr>
          <a:xfrm>
            <a:off x="548640" y="3154680"/>
            <a:ext cx="6949440" cy="1143000"/>
          </a:xfrm>
          <a:prstGeom prst="roundRect">
            <a:avLst>
              <a:gd name="adj" fmla="val 12000"/>
            </a:avLst>
          </a:prstGeom>
          <a:solidFill>
            <a:schemeClr val="bg2"/>
          </a:solidFill>
          <a:ln/>
        </p:spPr>
      </p:sp>
      <p:sp>
        <p:nvSpPr>
          <p:cNvPr id="9" name="icon-bg-540"/>
          <p:cNvSpPr/>
          <p:nvPr/>
        </p:nvSpPr>
        <p:spPr>
          <a:xfrm>
            <a:off x="777240" y="3337560"/>
            <a:ext cx="777240" cy="777240"/>
          </a:xfrm>
          <a:prstGeom prst="ellipse">
            <a:avLst/>
          </a:prstGeom>
          <a:solidFill>
            <a:schemeClr val="accent3"/>
          </a:solidFill>
          <a:ln/>
        </p:spPr>
      </p:sp>
      <p:pic>
        <p:nvPicPr>
          <p:cNvPr id="10" name="icon-54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1550" y="3531870"/>
            <a:ext cx="388620" cy="388620"/>
          </a:xfrm>
          <a:prstGeom prst="rect">
            <a:avLst/>
          </a:prstGeom>
        </p:spPr>
      </p:pic>
      <p:sp>
        <p:nvSpPr>
          <p:cNvPr id="11" name="text-542"/>
          <p:cNvSpPr txBox="1"/>
          <p:nvPr/>
        </p:nvSpPr>
        <p:spPr>
          <a:xfrm>
            <a:off x="1783080" y="31546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In 1.000 phiếu rồi mới thấy câu hỏi sai</a:t>
            </a:r>
            <a:endParaRPr lang="en-US" sz="2600" dirty="0"/>
          </a:p>
        </p:txBody>
      </p:sp>
      <p:sp>
        <p:nvSpPr>
          <p:cNvPr id="12" name="card-543"/>
          <p:cNvSpPr/>
          <p:nvPr/>
        </p:nvSpPr>
        <p:spPr>
          <a:xfrm>
            <a:off x="548640" y="4526280"/>
            <a:ext cx="6949440" cy="1143000"/>
          </a:xfrm>
          <a:prstGeom prst="roundRect">
            <a:avLst>
              <a:gd name="adj" fmla="val 12000"/>
            </a:avLst>
          </a:prstGeom>
          <a:solidFill>
            <a:schemeClr val="bg2"/>
          </a:solidFill>
          <a:ln/>
        </p:spPr>
      </p:sp>
      <p:sp>
        <p:nvSpPr>
          <p:cNvPr id="13" name="icon-bg-544"/>
          <p:cNvSpPr/>
          <p:nvPr/>
        </p:nvSpPr>
        <p:spPr>
          <a:xfrm>
            <a:off x="777240" y="4709160"/>
            <a:ext cx="777240" cy="777240"/>
          </a:xfrm>
          <a:prstGeom prst="ellipse">
            <a:avLst/>
          </a:prstGeom>
          <a:solidFill>
            <a:schemeClr val="accent3"/>
          </a:solidFill>
          <a:ln/>
        </p:spPr>
      </p:sp>
      <p:pic>
        <p:nvPicPr>
          <p:cNvPr id="14" name="icon-54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1550" y="4903470"/>
            <a:ext cx="388620" cy="388620"/>
          </a:xfrm>
          <a:prstGeom prst="rect">
            <a:avLst/>
          </a:prstGeom>
        </p:spPr>
      </p:pic>
      <p:sp>
        <p:nvSpPr>
          <p:cNvPr id="15" name="text-546"/>
          <p:cNvSpPr txBox="1"/>
          <p:nvPr/>
        </p:nvSpPr>
        <p:spPr>
          <a:xfrm>
            <a:off x="1783080" y="45262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Quyết định theo cảm tính</a:t>
            </a:r>
            <a:endParaRPr lang="en-US" sz="2600" dirty="0"/>
          </a:p>
        </p:txBody>
      </p:sp>
      <p:sp>
        <p:nvSpPr>
          <p:cNvPr id="16" name="card-547"/>
          <p:cNvSpPr/>
          <p:nvPr/>
        </p:nvSpPr>
        <p:spPr>
          <a:xfrm>
            <a:off x="7909560" y="1783080"/>
            <a:ext cx="3730752" cy="3886200"/>
          </a:xfrm>
          <a:prstGeom prst="roundRect">
            <a:avLst>
              <a:gd name="adj" fmla="val 3676"/>
            </a:avLst>
          </a:prstGeom>
          <a:solidFill>
            <a:schemeClr val="accent2"/>
          </a:solidFill>
          <a:ln/>
        </p:spPr>
      </p:sp>
      <p:sp>
        <p:nvSpPr>
          <p:cNvPr id="17" name="text-548"/>
          <p:cNvSpPr txBox="1"/>
          <p:nvPr/>
        </p:nvSpPr>
        <p:spPr>
          <a:xfrm>
            <a:off x="8183880" y="1783080"/>
            <a:ext cx="3200400" cy="3886200"/>
          </a:xfrm>
          <a:prstGeom prst="rect">
            <a:avLst/>
          </a:prstGeom>
          <a:noFill/>
          <a:ln/>
        </p:spPr>
        <p:txBody>
          <a:bodyPr wrap="square" lIns="0" tIns="0" rIns="0" bIns="0" rtlCol="0" anchor="ctr"/>
          <a:lstStyle/>
          <a:p>
            <a:pPr indent="0" marL="0">
              <a:buNone/>
            </a:pPr>
            <a:r>
              <a:rPr lang="en-US" sz="4000" b="1" dirty="0">
                <a:solidFill>
                  <a:schemeClr val="bg1"/>
                </a:solidFill>
              </a:rPr>
              <a:t>Mẫu lớn ≠ mẫu đúng.</a:t>
            </a:r>
            <a:endParaRPr lang="en-US" sz="4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tốt cần khoa học, hoài nghi — và đạo đức</a:t>
            </a:r>
            <a:endParaRPr lang="en-US" sz="3000" dirty="0"/>
          </a:p>
        </p:txBody>
      </p:sp>
      <p:sp>
        <p:nvSpPr>
          <p:cNvPr id="4" name="text-549"/>
          <p:cNvSpPr txBox="1"/>
          <p:nvPr/>
        </p:nvSpPr>
        <p:spPr>
          <a:xfrm>
            <a:off x="548640" y="1645920"/>
            <a:ext cx="5120640" cy="502920"/>
          </a:xfrm>
          <a:prstGeom prst="rect">
            <a:avLst/>
          </a:prstGeom>
          <a:noFill/>
          <a:ln/>
        </p:spPr>
        <p:txBody>
          <a:bodyPr wrap="square" lIns="0" tIns="0" rIns="0" bIns="0" rtlCol="0" anchor="t"/>
          <a:lstStyle/>
          <a:p>
            <a:pPr indent="0" marL="0">
              <a:buNone/>
            </a:pPr>
            <a:r>
              <a:rPr lang="en-US" sz="2800" b="1" dirty="0">
                <a:solidFill>
                  <a:schemeClr val="accent1"/>
                </a:solidFill>
              </a:rPr>
              <a:t>Đặc điểm</a:t>
            </a:r>
            <a:endParaRPr lang="en-US" sz="2800" dirty="0"/>
          </a:p>
        </p:txBody>
      </p:sp>
      <p:sp>
        <p:nvSpPr>
          <p:cNvPr id="5" name="card-550"/>
          <p:cNvSpPr/>
          <p:nvPr/>
        </p:nvSpPr>
        <p:spPr>
          <a:xfrm>
            <a:off x="548640" y="2286000"/>
            <a:ext cx="2468880" cy="777240"/>
          </a:xfrm>
          <a:prstGeom prst="roundRect">
            <a:avLst>
              <a:gd name="adj" fmla="val 17647"/>
            </a:avLst>
          </a:prstGeom>
          <a:solidFill>
            <a:schemeClr val="bg2"/>
          </a:solidFill>
          <a:ln/>
        </p:spPr>
      </p:sp>
      <p:sp>
        <p:nvSpPr>
          <p:cNvPr id="6" name="text-551"/>
          <p:cNvSpPr txBox="1"/>
          <p:nvPr/>
        </p:nvSpPr>
        <p:spPr>
          <a:xfrm>
            <a:off x="640080" y="228600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Khoa học</a:t>
            </a:r>
            <a:endParaRPr lang="en-US" sz="2400" dirty="0"/>
          </a:p>
        </p:txBody>
      </p:sp>
      <p:sp>
        <p:nvSpPr>
          <p:cNvPr id="7" name="card-552"/>
          <p:cNvSpPr/>
          <p:nvPr/>
        </p:nvSpPr>
        <p:spPr>
          <a:xfrm>
            <a:off x="3154680" y="2286000"/>
            <a:ext cx="2468880" cy="777240"/>
          </a:xfrm>
          <a:prstGeom prst="roundRect">
            <a:avLst>
              <a:gd name="adj" fmla="val 17647"/>
            </a:avLst>
          </a:prstGeom>
          <a:solidFill>
            <a:schemeClr val="bg2"/>
          </a:solidFill>
          <a:ln/>
        </p:spPr>
      </p:sp>
      <p:sp>
        <p:nvSpPr>
          <p:cNvPr id="8" name="text-553"/>
          <p:cNvSpPr txBox="1"/>
          <p:nvPr/>
        </p:nvSpPr>
        <p:spPr>
          <a:xfrm>
            <a:off x="3246120" y="228600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Sáng tạo</a:t>
            </a:r>
            <a:endParaRPr lang="en-US" sz="2400" dirty="0"/>
          </a:p>
        </p:txBody>
      </p:sp>
      <p:sp>
        <p:nvSpPr>
          <p:cNvPr id="9" name="card-554"/>
          <p:cNvSpPr/>
          <p:nvPr/>
        </p:nvSpPr>
        <p:spPr>
          <a:xfrm>
            <a:off x="548640" y="3246120"/>
            <a:ext cx="2468880" cy="777240"/>
          </a:xfrm>
          <a:prstGeom prst="roundRect">
            <a:avLst>
              <a:gd name="adj" fmla="val 17647"/>
            </a:avLst>
          </a:prstGeom>
          <a:solidFill>
            <a:schemeClr val="bg2"/>
          </a:solidFill>
          <a:ln/>
        </p:spPr>
      </p:sp>
      <p:sp>
        <p:nvSpPr>
          <p:cNvPr id="10" name="text-555"/>
          <p:cNvSpPr txBox="1"/>
          <p:nvPr/>
        </p:nvSpPr>
        <p:spPr>
          <a:xfrm>
            <a:off x="640080" y="324612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Nhiều phương pháp</a:t>
            </a:r>
            <a:endParaRPr lang="en-US" sz="2400" dirty="0"/>
          </a:p>
        </p:txBody>
      </p:sp>
      <p:sp>
        <p:nvSpPr>
          <p:cNvPr id="11" name="card-556"/>
          <p:cNvSpPr/>
          <p:nvPr/>
        </p:nvSpPr>
        <p:spPr>
          <a:xfrm>
            <a:off x="3154680" y="3246120"/>
            <a:ext cx="2468880" cy="777240"/>
          </a:xfrm>
          <a:prstGeom prst="roundRect">
            <a:avLst>
              <a:gd name="adj" fmla="val 17647"/>
            </a:avLst>
          </a:prstGeom>
          <a:solidFill>
            <a:schemeClr val="bg2"/>
          </a:solidFill>
          <a:ln/>
        </p:spPr>
      </p:sp>
      <p:sp>
        <p:nvSpPr>
          <p:cNvPr id="12" name="text-557"/>
          <p:cNvSpPr txBox="1"/>
          <p:nvPr/>
        </p:nvSpPr>
        <p:spPr>
          <a:xfrm>
            <a:off x="3246120" y="324612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Logic</a:t>
            </a:r>
            <a:endParaRPr lang="en-US" sz="2400" dirty="0"/>
          </a:p>
        </p:txBody>
      </p:sp>
      <p:sp>
        <p:nvSpPr>
          <p:cNvPr id="13" name="card-558"/>
          <p:cNvSpPr/>
          <p:nvPr/>
        </p:nvSpPr>
        <p:spPr>
          <a:xfrm>
            <a:off x="548640" y="4206240"/>
            <a:ext cx="2468880" cy="777240"/>
          </a:xfrm>
          <a:prstGeom prst="roundRect">
            <a:avLst>
              <a:gd name="adj" fmla="val 17647"/>
            </a:avLst>
          </a:prstGeom>
          <a:solidFill>
            <a:schemeClr val="bg2"/>
          </a:solidFill>
          <a:ln/>
        </p:spPr>
      </p:sp>
      <p:sp>
        <p:nvSpPr>
          <p:cNvPr id="14" name="text-559"/>
          <p:cNvSpPr txBox="1"/>
          <p:nvPr/>
        </p:nvSpPr>
        <p:spPr>
          <a:xfrm>
            <a:off x="640080" y="420624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Hoài nghi</a:t>
            </a:r>
            <a:endParaRPr lang="en-US" sz="2400" dirty="0"/>
          </a:p>
        </p:txBody>
      </p:sp>
      <p:sp>
        <p:nvSpPr>
          <p:cNvPr id="15" name="card-560"/>
          <p:cNvSpPr/>
          <p:nvPr/>
        </p:nvSpPr>
        <p:spPr>
          <a:xfrm>
            <a:off x="3154680" y="4206240"/>
            <a:ext cx="2468880" cy="777240"/>
          </a:xfrm>
          <a:prstGeom prst="roundRect">
            <a:avLst>
              <a:gd name="adj" fmla="val 17647"/>
            </a:avLst>
          </a:prstGeom>
          <a:solidFill>
            <a:schemeClr val="accent1"/>
          </a:solidFill>
          <a:ln/>
        </p:spPr>
      </p:sp>
      <p:sp>
        <p:nvSpPr>
          <p:cNvPr id="16" name="text-561"/>
          <p:cNvSpPr txBox="1"/>
          <p:nvPr/>
        </p:nvSpPr>
        <p:spPr>
          <a:xfrm>
            <a:off x="3246120" y="4206240"/>
            <a:ext cx="2286000" cy="777240"/>
          </a:xfrm>
          <a:prstGeom prst="rect">
            <a:avLst/>
          </a:prstGeom>
          <a:noFill/>
          <a:ln/>
        </p:spPr>
        <p:txBody>
          <a:bodyPr wrap="square" lIns="0" tIns="0" rIns="0" bIns="0" rtlCol="0" anchor="ctr"/>
          <a:lstStyle/>
          <a:p>
            <a:pPr algn="ctr" indent="0" marL="0">
              <a:buNone/>
            </a:pPr>
            <a:r>
              <a:rPr lang="en-US" sz="2400" b="1" dirty="0">
                <a:solidFill>
                  <a:schemeClr val="bg1"/>
                </a:solidFill>
              </a:rPr>
              <a:t>Đạo đức</a:t>
            </a:r>
            <a:endParaRPr lang="en-US" sz="2400" dirty="0"/>
          </a:p>
        </p:txBody>
      </p:sp>
      <p:sp>
        <p:nvSpPr>
          <p:cNvPr id="17" name="text-562"/>
          <p:cNvSpPr txBox="1"/>
          <p:nvPr/>
        </p:nvSpPr>
        <p:spPr>
          <a:xfrm>
            <a:off x="6035040" y="1645920"/>
            <a:ext cx="5577840" cy="502920"/>
          </a:xfrm>
          <a:prstGeom prst="rect">
            <a:avLst/>
          </a:prstGeom>
          <a:noFill/>
          <a:ln/>
        </p:spPr>
        <p:txBody>
          <a:bodyPr wrap="square" lIns="0" tIns="0" rIns="0" bIns="0" rtlCol="0" anchor="t"/>
          <a:lstStyle/>
          <a:p>
            <a:pPr indent="0" marL="0">
              <a:buNone/>
            </a:pPr>
            <a:r>
              <a:rPr lang="en-US" sz="2800" b="1" dirty="0">
                <a:solidFill>
                  <a:schemeClr val="accent3"/>
                </a:solidFill>
              </a:rPr>
              <a:t>Đạo đức khi khảo sát</a:t>
            </a:r>
            <a:endParaRPr lang="en-US" sz="2800" dirty="0"/>
          </a:p>
        </p:txBody>
      </p:sp>
      <p:sp>
        <p:nvSpPr>
          <p:cNvPr id="18" name="dot-563"/>
          <p:cNvSpPr/>
          <p:nvPr/>
        </p:nvSpPr>
        <p:spPr>
          <a:xfrm>
            <a:off x="6035040" y="2377440"/>
            <a:ext cx="502920" cy="502920"/>
          </a:xfrm>
          <a:prstGeom prst="ellipse">
            <a:avLst/>
          </a:prstGeom>
          <a:solidFill>
            <a:schemeClr val="accent3"/>
          </a:solidFill>
          <a:ln/>
        </p:spPr>
      </p:sp>
      <p:sp>
        <p:nvSpPr>
          <p:cNvPr id="19" name="text-564"/>
          <p:cNvSpPr txBox="1"/>
          <p:nvPr/>
        </p:nvSpPr>
        <p:spPr>
          <a:xfrm>
            <a:off x="6035040" y="237744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20" name="text-565"/>
          <p:cNvSpPr txBox="1"/>
          <p:nvPr/>
        </p:nvSpPr>
        <p:spPr>
          <a:xfrm>
            <a:off x="6720840" y="2286000"/>
            <a:ext cx="4919472" cy="685800"/>
          </a:xfrm>
          <a:prstGeom prst="rect">
            <a:avLst/>
          </a:prstGeom>
          <a:noFill/>
          <a:ln/>
        </p:spPr>
        <p:txBody>
          <a:bodyPr wrap="square" lIns="0" tIns="0" rIns="0" bIns="0" rtlCol="0" anchor="ctr"/>
          <a:lstStyle/>
          <a:p>
            <a:pPr indent="0" marL="0">
              <a:buNone/>
            </a:pPr>
            <a:r>
              <a:rPr lang="en-US" sz="2400" dirty="0">
                <a:solidFill>
                  <a:schemeClr val="tx1"/>
                </a:solidFill>
              </a:rPr>
              <a:t>Tự nguyện &amp; được thông tin</a:t>
            </a:r>
            <a:endParaRPr lang="en-US" sz="2400" dirty="0"/>
          </a:p>
        </p:txBody>
      </p:sp>
      <p:sp>
        <p:nvSpPr>
          <p:cNvPr id="21" name="dot-566"/>
          <p:cNvSpPr/>
          <p:nvPr/>
        </p:nvSpPr>
        <p:spPr>
          <a:xfrm>
            <a:off x="6035040" y="3154680"/>
            <a:ext cx="502920" cy="502920"/>
          </a:xfrm>
          <a:prstGeom prst="ellipse">
            <a:avLst/>
          </a:prstGeom>
          <a:solidFill>
            <a:schemeClr val="accent3"/>
          </a:solidFill>
          <a:ln/>
        </p:spPr>
      </p:sp>
      <p:sp>
        <p:nvSpPr>
          <p:cNvPr id="22" name="text-567"/>
          <p:cNvSpPr txBox="1"/>
          <p:nvPr/>
        </p:nvSpPr>
        <p:spPr>
          <a:xfrm>
            <a:off x="6035040" y="315468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23" name="text-568"/>
          <p:cNvSpPr txBox="1"/>
          <p:nvPr/>
        </p:nvSpPr>
        <p:spPr>
          <a:xfrm>
            <a:off x="6720840" y="3063240"/>
            <a:ext cx="4919472" cy="685800"/>
          </a:xfrm>
          <a:prstGeom prst="rect">
            <a:avLst/>
          </a:prstGeom>
          <a:noFill/>
          <a:ln/>
        </p:spPr>
        <p:txBody>
          <a:bodyPr wrap="square" lIns="0" tIns="0" rIns="0" bIns="0" rtlCol="0" anchor="ctr"/>
          <a:lstStyle/>
          <a:p>
            <a:pPr indent="0" marL="0">
              <a:buNone/>
            </a:pPr>
            <a:r>
              <a:rPr lang="en-US" sz="2400" dirty="0">
                <a:solidFill>
                  <a:schemeClr val="tx1"/>
                </a:solidFill>
              </a:rPr>
              <a:t>Ẩn danh &amp; bảo mật</a:t>
            </a:r>
            <a:endParaRPr lang="en-US" sz="2400" dirty="0"/>
          </a:p>
        </p:txBody>
      </p:sp>
      <p:sp>
        <p:nvSpPr>
          <p:cNvPr id="24" name="dot-569"/>
          <p:cNvSpPr/>
          <p:nvPr/>
        </p:nvSpPr>
        <p:spPr>
          <a:xfrm>
            <a:off x="6035040" y="3931920"/>
            <a:ext cx="502920" cy="502920"/>
          </a:xfrm>
          <a:prstGeom prst="ellipse">
            <a:avLst/>
          </a:prstGeom>
          <a:solidFill>
            <a:schemeClr val="accent3"/>
          </a:solidFill>
          <a:ln/>
        </p:spPr>
      </p:sp>
      <p:sp>
        <p:nvSpPr>
          <p:cNvPr id="25" name="text-570"/>
          <p:cNvSpPr txBox="1"/>
          <p:nvPr/>
        </p:nvSpPr>
        <p:spPr>
          <a:xfrm>
            <a:off x="6035040" y="39319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6" name="text-571"/>
          <p:cNvSpPr txBox="1"/>
          <p:nvPr/>
        </p:nvSpPr>
        <p:spPr>
          <a:xfrm>
            <a:off x="6720840" y="3840480"/>
            <a:ext cx="4919472" cy="685800"/>
          </a:xfrm>
          <a:prstGeom prst="rect">
            <a:avLst/>
          </a:prstGeom>
          <a:noFill/>
          <a:ln/>
        </p:spPr>
        <p:txBody>
          <a:bodyPr wrap="square" lIns="0" tIns="0" rIns="0" bIns="0" rtlCol="0" anchor="ctr"/>
          <a:lstStyle/>
          <a:p>
            <a:pPr indent="0" marL="0">
              <a:buNone/>
            </a:pPr>
            <a:r>
              <a:rPr lang="en-US" sz="2400" dirty="0">
                <a:solidFill>
                  <a:schemeClr val="tx1"/>
                </a:solidFill>
              </a:rPr>
              <a:t>Không đội lốt nghiên cứu</a:t>
            </a:r>
            <a:endParaRPr lang="en-US" sz="2400" dirty="0"/>
          </a:p>
        </p:txBody>
      </p:sp>
      <p:sp>
        <p:nvSpPr>
          <p:cNvPr id="27" name="dot-572"/>
          <p:cNvSpPr/>
          <p:nvPr/>
        </p:nvSpPr>
        <p:spPr>
          <a:xfrm>
            <a:off x="6035040" y="4709160"/>
            <a:ext cx="502920" cy="502920"/>
          </a:xfrm>
          <a:prstGeom prst="ellipse">
            <a:avLst/>
          </a:prstGeom>
          <a:solidFill>
            <a:schemeClr val="accent3"/>
          </a:solidFill>
          <a:ln/>
        </p:spPr>
      </p:sp>
      <p:sp>
        <p:nvSpPr>
          <p:cNvPr id="28" name="text-573"/>
          <p:cNvSpPr txBox="1"/>
          <p:nvPr/>
        </p:nvSpPr>
        <p:spPr>
          <a:xfrm>
            <a:off x="6035040" y="470916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9" name="text-574"/>
          <p:cNvSpPr txBox="1"/>
          <p:nvPr/>
        </p:nvSpPr>
        <p:spPr>
          <a:xfrm>
            <a:off x="6720840" y="4617720"/>
            <a:ext cx="4919472" cy="685800"/>
          </a:xfrm>
          <a:prstGeom prst="rect">
            <a:avLst/>
          </a:prstGeom>
          <a:noFill/>
          <a:ln/>
        </p:spPr>
        <p:txBody>
          <a:bodyPr wrap="square" lIns="0" tIns="0" rIns="0" bIns="0" rtlCol="0" anchor="ctr"/>
          <a:lstStyle/>
          <a:p>
            <a:pPr indent="0" marL="0">
              <a:buNone/>
            </a:pPr>
            <a:r>
              <a:rPr lang="en-US" sz="2400" dirty="0">
                <a:solidFill>
                  <a:schemeClr val="tx1"/>
                </a:solidFill>
              </a:rPr>
              <a:t>Trung thực khi báo cáo</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Thông tin bên ngoài được theo dõi liên tục; nghiên cứu marketing trả lời một câu hỏi cụ thể</a:t>
            </a:r>
            <a:endParaRPr lang="en-US" sz="3000" dirty="0"/>
          </a:p>
        </p:txBody>
      </p:sp>
      <p:sp>
        <p:nvSpPr>
          <p:cNvPr id="4" name="FIG" descr="Hệ thống thông tin marketing gồm 4 bộ phận; nghiên cứu marketing là các dự án riêng lẻ trên dòng thông tin liên tục."/>
          <p:cNvSpPr/>
          <p:nvPr/>
        </p:nvSpPr>
        <p:spPr>
          <a:xfrm>
            <a:off x="548640" y="1645920"/>
            <a:ext cx="11094415" cy="4206240"/>
          </a:xfrm>
          <a:prstGeom prst="rect">
            <a:avLst/>
          </a:prstGeom>
          <a:solidFill>
            <a:schemeClr val="bg1">
              <a:alpha val="0"/>
            </a:schemeClr>
          </a:solidFill>
          <a:ln/>
        </p:spPr>
      </p:sp>
      <p:sp>
        <p:nvSpPr>
          <p:cNvPr id="5" name="text-577"/>
          <p:cNvSpPr txBox="1"/>
          <p:nvPr/>
        </p:nvSpPr>
        <p:spPr>
          <a:xfrm>
            <a:off x="548640" y="1645920"/>
            <a:ext cx="11094415" cy="457200"/>
          </a:xfrm>
          <a:prstGeom prst="rect">
            <a:avLst/>
          </a:prstGeom>
          <a:noFill/>
          <a:ln/>
        </p:spPr>
        <p:txBody>
          <a:bodyPr wrap="square" lIns="0" tIns="0" rIns="0" bIns="0" rtlCol="0" anchor="t"/>
          <a:lstStyle/>
          <a:p>
            <a:pPr indent="0" marL="0">
              <a:buNone/>
            </a:pPr>
            <a:r>
              <a:rPr lang="en-US" sz="2400" b="1" dirty="0">
                <a:solidFill>
                  <a:schemeClr val="tx2"/>
                </a:solidFill>
              </a:rPr>
              <a:t>Hệ thống thông tin marketing (MIS)</a:t>
            </a:r>
            <a:endParaRPr lang="en-US" sz="2400" dirty="0"/>
          </a:p>
        </p:txBody>
      </p:sp>
      <p:sp>
        <p:nvSpPr>
          <p:cNvPr id="6" name="card-578"/>
          <p:cNvSpPr/>
          <p:nvPr/>
        </p:nvSpPr>
        <p:spPr>
          <a:xfrm>
            <a:off x="548640" y="2194560"/>
            <a:ext cx="2606040" cy="1600200"/>
          </a:xfrm>
          <a:prstGeom prst="roundRect">
            <a:avLst>
              <a:gd name="adj" fmla="val 8571"/>
            </a:avLst>
          </a:prstGeom>
          <a:solidFill>
            <a:schemeClr val="bg2"/>
          </a:solidFill>
          <a:ln/>
        </p:spPr>
      </p:sp>
      <p:sp>
        <p:nvSpPr>
          <p:cNvPr id="7" name="text-579"/>
          <p:cNvSpPr txBox="1"/>
          <p:nvPr/>
        </p:nvSpPr>
        <p:spPr>
          <a:xfrm>
            <a:off x="731520" y="2286000"/>
            <a:ext cx="2331720" cy="731520"/>
          </a:xfrm>
          <a:prstGeom prst="rect">
            <a:avLst/>
          </a:prstGeom>
          <a:noFill/>
          <a:ln/>
        </p:spPr>
        <p:txBody>
          <a:bodyPr wrap="square" lIns="0" tIns="0" rIns="0" bIns="0" rtlCol="0" anchor="t"/>
          <a:lstStyle/>
          <a:p>
            <a:pPr indent="0" marL="0">
              <a:buNone/>
            </a:pPr>
            <a:r>
              <a:rPr lang="en-US" sz="2000" b="1" dirty="0">
                <a:solidFill>
                  <a:schemeClr val="accent1"/>
                </a:solidFill>
              </a:rPr>
              <a:t>Báo cáo nội bộ</a:t>
            </a:r>
            <a:endParaRPr lang="en-US" sz="2400" dirty="0"/>
          </a:p>
        </p:txBody>
      </p:sp>
      <p:sp>
        <p:nvSpPr>
          <p:cNvPr id="8" name="text-580"/>
          <p:cNvSpPr txBox="1"/>
          <p:nvPr/>
        </p:nvSpPr>
        <p:spPr>
          <a:xfrm>
            <a:off x="731520"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vào trong</a:t>
            </a:r>
            <a:endParaRPr lang="en-US" sz="2400" dirty="0"/>
          </a:p>
        </p:txBody>
      </p:sp>
      <p:sp>
        <p:nvSpPr>
          <p:cNvPr id="9" name="card-581"/>
          <p:cNvSpPr/>
          <p:nvPr/>
        </p:nvSpPr>
        <p:spPr>
          <a:xfrm>
            <a:off x="3367735" y="2194560"/>
            <a:ext cx="2606040" cy="1600200"/>
          </a:xfrm>
          <a:prstGeom prst="roundRect">
            <a:avLst>
              <a:gd name="adj" fmla="val 8571"/>
            </a:avLst>
          </a:prstGeom>
          <a:solidFill>
            <a:schemeClr val="bg2"/>
          </a:solidFill>
          <a:ln/>
        </p:spPr>
      </p:sp>
      <p:sp>
        <p:nvSpPr>
          <p:cNvPr id="10" name="text-582"/>
          <p:cNvSpPr txBox="1"/>
          <p:nvPr/>
        </p:nvSpPr>
        <p:spPr>
          <a:xfrm>
            <a:off x="3550615" y="2286000"/>
            <a:ext cx="2331720" cy="731520"/>
          </a:xfrm>
          <a:prstGeom prst="rect">
            <a:avLst/>
          </a:prstGeom>
          <a:noFill/>
          <a:ln/>
        </p:spPr>
        <p:txBody>
          <a:bodyPr wrap="square" lIns="0" tIns="0" rIns="0" bIns="0" rtlCol="0" anchor="t"/>
          <a:lstStyle/>
          <a:p>
            <a:pPr indent="0" marL="0">
              <a:buNone/>
            </a:pPr>
            <a:r>
              <a:rPr lang="en-US" sz="2000" b="1" dirty="0">
                <a:solidFill>
                  <a:schemeClr val="accent5"/>
                </a:solidFill>
              </a:rPr>
              <a:t>Thông tin bên ngoài</a:t>
            </a:r>
            <a:endParaRPr lang="en-US" sz="2400" dirty="0"/>
          </a:p>
        </p:txBody>
      </p:sp>
      <p:sp>
        <p:nvSpPr>
          <p:cNvPr id="11" name="text-583"/>
          <p:cNvSpPr txBox="1"/>
          <p:nvPr/>
        </p:nvSpPr>
        <p:spPr>
          <a:xfrm>
            <a:off x="3550615"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ra ngoài</a:t>
            </a:r>
            <a:endParaRPr lang="en-US" sz="2400" dirty="0"/>
          </a:p>
        </p:txBody>
      </p:sp>
      <p:sp>
        <p:nvSpPr>
          <p:cNvPr id="12" name="card-584"/>
          <p:cNvSpPr/>
          <p:nvPr/>
        </p:nvSpPr>
        <p:spPr>
          <a:xfrm>
            <a:off x="6186830" y="2194560"/>
            <a:ext cx="2606040" cy="1600200"/>
          </a:xfrm>
          <a:prstGeom prst="roundRect">
            <a:avLst>
              <a:gd name="adj" fmla="val 8571"/>
            </a:avLst>
          </a:prstGeom>
          <a:solidFill>
            <a:schemeClr val="bg2"/>
          </a:solidFill>
          <a:ln/>
        </p:spPr>
      </p:sp>
      <p:sp>
        <p:nvSpPr>
          <p:cNvPr id="13" name="text-585"/>
          <p:cNvSpPr txBox="1"/>
          <p:nvPr/>
        </p:nvSpPr>
        <p:spPr>
          <a:xfrm>
            <a:off x="6369710" y="2286000"/>
            <a:ext cx="2331720" cy="731520"/>
          </a:xfrm>
          <a:prstGeom prst="rect">
            <a:avLst/>
          </a:prstGeom>
          <a:noFill/>
          <a:ln/>
        </p:spPr>
        <p:txBody>
          <a:bodyPr wrap="square" lIns="0" tIns="0" rIns="0" bIns="0" rtlCol="0" anchor="t"/>
          <a:lstStyle/>
          <a:p>
            <a:pPr indent="0" marL="0">
              <a:buNone/>
            </a:pPr>
            <a:r>
              <a:rPr lang="en-US" sz="2000" b="1" dirty="0">
                <a:solidFill>
                  <a:schemeClr val="accent6"/>
                </a:solidFill>
              </a:rPr>
              <a:t>MDSS</a:t>
            </a:r>
            <a:endParaRPr lang="en-US" sz="2400" dirty="0"/>
          </a:p>
        </p:txBody>
      </p:sp>
      <p:sp>
        <p:nvSpPr>
          <p:cNvPr id="14" name="text-586"/>
          <p:cNvSpPr txBox="1"/>
          <p:nvPr/>
        </p:nvSpPr>
        <p:spPr>
          <a:xfrm>
            <a:off x="6369710"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công cụ ra quyết định</a:t>
            </a:r>
            <a:endParaRPr lang="en-US" sz="2400" dirty="0"/>
          </a:p>
        </p:txBody>
      </p:sp>
      <p:sp>
        <p:nvSpPr>
          <p:cNvPr id="15" name="card-587"/>
          <p:cNvSpPr/>
          <p:nvPr/>
        </p:nvSpPr>
        <p:spPr>
          <a:xfrm>
            <a:off x="9005926" y="2194560"/>
            <a:ext cx="2606040" cy="1600200"/>
          </a:xfrm>
          <a:prstGeom prst="roundRect">
            <a:avLst>
              <a:gd name="adj" fmla="val 8571"/>
            </a:avLst>
          </a:prstGeom>
          <a:solidFill>
            <a:schemeClr val="accent3"/>
          </a:solidFill>
          <a:ln/>
        </p:spPr>
      </p:sp>
      <p:sp>
        <p:nvSpPr>
          <p:cNvPr id="16" name="text-588"/>
          <p:cNvSpPr txBox="1"/>
          <p:nvPr/>
        </p:nvSpPr>
        <p:spPr>
          <a:xfrm>
            <a:off x="9188806" y="2286000"/>
            <a:ext cx="2331720" cy="731520"/>
          </a:xfrm>
          <a:prstGeom prst="rect">
            <a:avLst/>
          </a:prstGeom>
          <a:noFill/>
          <a:ln/>
        </p:spPr>
        <p:txBody>
          <a:bodyPr wrap="square" lIns="0" tIns="0" rIns="0" bIns="0" rtlCol="0" anchor="t"/>
          <a:lstStyle/>
          <a:p>
            <a:pPr indent="0" marL="0">
              <a:buNone/>
            </a:pPr>
            <a:r>
              <a:rPr lang="en-US" sz="2000" b="1" dirty="0">
                <a:solidFill>
                  <a:schemeClr val="bg1"/>
                </a:solidFill>
              </a:rPr>
              <a:t>Nghiên cứu</a:t>
            </a:r>
            <a:endParaRPr lang="en-US" sz="2400" dirty="0"/>
          </a:p>
        </p:txBody>
      </p:sp>
      <p:sp>
        <p:nvSpPr>
          <p:cNvPr id="17" name="text-589"/>
          <p:cNvSpPr txBox="1"/>
          <p:nvPr/>
        </p:nvSpPr>
        <p:spPr>
          <a:xfrm>
            <a:off x="9188806" y="3063240"/>
            <a:ext cx="2240280" cy="640080"/>
          </a:xfrm>
          <a:prstGeom prst="rect">
            <a:avLst/>
          </a:prstGeom>
          <a:noFill/>
          <a:ln/>
        </p:spPr>
        <p:txBody>
          <a:bodyPr wrap="square" lIns="0" tIns="0" rIns="0" bIns="0" rtlCol="0" anchor="t"/>
          <a:lstStyle/>
          <a:p>
            <a:pPr indent="0" marL="0">
              <a:buNone/>
            </a:pPr>
            <a:r>
              <a:rPr lang="en-US" sz="2400" dirty="0">
                <a:solidFill>
                  <a:schemeClr val="bg1"/>
                </a:solidFill>
              </a:rPr>
              <a:t>dự án</a:t>
            </a:r>
            <a:endParaRPr lang="en-US" sz="2400" dirty="0"/>
          </a:p>
        </p:txBody>
      </p:sp>
      <p:sp>
        <p:nvSpPr>
          <p:cNvPr id="18" name="text-590"/>
          <p:cNvSpPr txBox="1"/>
          <p:nvPr/>
        </p:nvSpPr>
        <p:spPr>
          <a:xfrm>
            <a:off x="548640" y="4069080"/>
            <a:ext cx="11094415" cy="457200"/>
          </a:xfrm>
          <a:prstGeom prst="rect">
            <a:avLst/>
          </a:prstGeom>
          <a:noFill/>
          <a:ln/>
        </p:spPr>
        <p:txBody>
          <a:bodyPr wrap="square" lIns="0" tIns="0" rIns="0" bIns="0" rtlCol="0" anchor="t"/>
          <a:lstStyle/>
          <a:p>
            <a:pPr indent="0" marL="0">
              <a:buNone/>
            </a:pPr>
            <a:r>
              <a:rPr lang="en-US" sz="2400" dirty="0">
                <a:solidFill>
                  <a:schemeClr val="accent5"/>
                </a:solidFill>
              </a:rPr>
              <a:t>Báo cáo nội bộ &amp; thông tin bên ngoài: liên tục</a:t>
            </a:r>
            <a:endParaRPr lang="en-US" sz="2400" dirty="0"/>
          </a:p>
        </p:txBody>
      </p:sp>
      <p:sp>
        <p:nvSpPr>
          <p:cNvPr id="19" name="arrow-591"/>
          <p:cNvSpPr/>
          <p:nvPr/>
        </p:nvSpPr>
        <p:spPr>
          <a:xfrm>
            <a:off x="548640" y="4892040"/>
            <a:ext cx="11094415" cy="457200"/>
          </a:xfrm>
          <a:prstGeom prst="rightArrow">
            <a:avLst/>
          </a:prstGeom>
          <a:solidFill>
            <a:schemeClr val="accent5"/>
          </a:solidFill>
          <a:ln/>
        </p:spPr>
      </p:sp>
      <p:sp>
        <p:nvSpPr>
          <p:cNvPr id="20" name="card-592"/>
          <p:cNvSpPr/>
          <p:nvPr/>
        </p:nvSpPr>
        <p:spPr>
          <a:xfrm>
            <a:off x="914400" y="4617720"/>
            <a:ext cx="3017520" cy="1005840"/>
          </a:xfrm>
          <a:prstGeom prst="roundRect">
            <a:avLst>
              <a:gd name="adj" fmla="val 13636"/>
            </a:avLst>
          </a:prstGeom>
          <a:solidFill>
            <a:schemeClr val="accent3"/>
          </a:solidFill>
          <a:ln/>
        </p:spPr>
      </p:sp>
      <p:sp>
        <p:nvSpPr>
          <p:cNvPr id="21" name="text-593"/>
          <p:cNvSpPr txBox="1"/>
          <p:nvPr/>
        </p:nvSpPr>
        <p:spPr>
          <a:xfrm>
            <a:off x="91440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2" name="card-594"/>
          <p:cNvSpPr/>
          <p:nvPr/>
        </p:nvSpPr>
        <p:spPr>
          <a:xfrm>
            <a:off x="4526280" y="4617720"/>
            <a:ext cx="3017520" cy="1005840"/>
          </a:xfrm>
          <a:prstGeom prst="roundRect">
            <a:avLst>
              <a:gd name="adj" fmla="val 13636"/>
            </a:avLst>
          </a:prstGeom>
          <a:solidFill>
            <a:schemeClr val="accent3"/>
          </a:solidFill>
          <a:ln/>
        </p:spPr>
      </p:sp>
      <p:sp>
        <p:nvSpPr>
          <p:cNvPr id="23" name="text-595"/>
          <p:cNvSpPr txBox="1"/>
          <p:nvPr/>
        </p:nvSpPr>
        <p:spPr>
          <a:xfrm>
            <a:off x="452628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4" name="card-596"/>
          <p:cNvSpPr/>
          <p:nvPr/>
        </p:nvSpPr>
        <p:spPr>
          <a:xfrm>
            <a:off x="8138160" y="4617720"/>
            <a:ext cx="3017520" cy="1005840"/>
          </a:xfrm>
          <a:prstGeom prst="roundRect">
            <a:avLst>
              <a:gd name="adj" fmla="val 13636"/>
            </a:avLst>
          </a:prstGeom>
          <a:solidFill>
            <a:schemeClr val="accent3"/>
          </a:solidFill>
          <a:ln/>
        </p:spPr>
      </p:sp>
      <p:sp>
        <p:nvSpPr>
          <p:cNvPr id="25" name="text-597"/>
          <p:cNvSpPr txBox="1"/>
          <p:nvPr/>
        </p:nvSpPr>
        <p:spPr>
          <a:xfrm>
            <a:off x="813816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Bạn sẽ hoặc làm, hoặc dùng nghiên cứu — người dùng giỏi biết nghiên cứu nào đáng tin</a:t>
            </a:r>
            <a:endParaRPr lang="en-US" sz="3000" dirty="0"/>
          </a:p>
        </p:txBody>
      </p:sp>
      <p:sp>
        <p:nvSpPr>
          <p:cNvPr id="4" name="card-598"/>
          <p:cNvSpPr/>
          <p:nvPr/>
        </p:nvSpPr>
        <p:spPr>
          <a:xfrm>
            <a:off x="548640" y="1645920"/>
            <a:ext cx="8092440" cy="502920"/>
          </a:xfrm>
          <a:prstGeom prst="roundRect">
            <a:avLst>
              <a:gd name="adj" fmla="val 27273"/>
            </a:avLst>
          </a:prstGeom>
          <a:solidFill>
            <a:schemeClr val="accent4"/>
          </a:solidFill>
          <a:ln/>
        </p:spPr>
      </p:sp>
      <p:sp>
        <p:nvSpPr>
          <p:cNvPr id="5" name="text-599"/>
          <p:cNvSpPr txBox="1"/>
          <p:nvPr/>
        </p:nvSpPr>
        <p:spPr>
          <a:xfrm>
            <a:off x="777240" y="1645920"/>
            <a:ext cx="7040880" cy="502920"/>
          </a:xfrm>
          <a:prstGeom prst="rect">
            <a:avLst/>
          </a:prstGeom>
          <a:noFill/>
          <a:ln/>
        </p:spPr>
        <p:txBody>
          <a:bodyPr wrap="square" lIns="0" tIns="0" rIns="0" bIns="0" rtlCol="0" anchor="ctr"/>
          <a:lstStyle/>
          <a:p>
            <a:pPr indent="0" marL="0">
              <a:buNone/>
            </a:pPr>
            <a:r>
              <a:rPr lang="en-US" sz="2400" b="1" dirty="0">
                <a:solidFill>
                  <a:schemeClr val="tx1"/>
                </a:solidFill>
              </a:rPr>
              <a:t>Nguồn cung cấp: bên trong · bên ngoài</a:t>
            </a:r>
            <a:endParaRPr lang="en-US" sz="2400" dirty="0"/>
          </a:p>
        </p:txBody>
      </p:sp>
      <p:sp>
        <p:nvSpPr>
          <p:cNvPr id="6" name="text-600"/>
          <p:cNvSpPr txBox="1"/>
          <p:nvPr/>
        </p:nvSpPr>
        <p:spPr>
          <a:xfrm>
            <a:off x="731520" y="2286000"/>
            <a:ext cx="2606040" cy="457200"/>
          </a:xfrm>
          <a:prstGeom prst="rect">
            <a:avLst/>
          </a:prstGeom>
          <a:noFill/>
          <a:ln/>
        </p:spPr>
        <p:txBody>
          <a:bodyPr wrap="square" lIns="0" tIns="0" rIns="0" bIns="0" rtlCol="0" anchor="t"/>
          <a:lstStyle/>
          <a:p>
            <a:pPr indent="0" marL="0">
              <a:buNone/>
            </a:pPr>
            <a:r>
              <a:rPr lang="en-US" sz="2400" b="1" dirty="0">
                <a:solidFill>
                  <a:schemeClr val="accent2"/>
                </a:solidFill>
              </a:rPr>
              <a:t>Người thực hiện</a:t>
            </a:r>
            <a:endParaRPr lang="en-US" sz="2400" dirty="0"/>
          </a:p>
        </p:txBody>
      </p:sp>
      <p:sp>
        <p:nvSpPr>
          <p:cNvPr id="7" name="text-601"/>
          <p:cNvSpPr txBox="1"/>
          <p:nvPr/>
        </p:nvSpPr>
        <p:spPr>
          <a:xfrm>
            <a:off x="3383280" y="2286000"/>
            <a:ext cx="2377440" cy="457200"/>
          </a:xfrm>
          <a:prstGeom prst="rect">
            <a:avLst/>
          </a:prstGeom>
          <a:noFill/>
          <a:ln/>
        </p:spPr>
        <p:txBody>
          <a:bodyPr wrap="square" lIns="0" tIns="0" rIns="0" bIns="0" rtlCol="0" anchor="t"/>
          <a:lstStyle/>
          <a:p>
            <a:pPr indent="0" marL="0">
              <a:buNone/>
            </a:pPr>
            <a:r>
              <a:rPr lang="en-US" sz="2400" b="1" dirty="0">
                <a:solidFill>
                  <a:schemeClr val="accent1"/>
                </a:solidFill>
              </a:rPr>
              <a:t>Ưu</a:t>
            </a:r>
            <a:endParaRPr lang="en-US" sz="2400" dirty="0"/>
          </a:p>
        </p:txBody>
      </p:sp>
      <p:sp>
        <p:nvSpPr>
          <p:cNvPr id="8" name="text-602"/>
          <p:cNvSpPr txBox="1"/>
          <p:nvPr/>
        </p:nvSpPr>
        <p:spPr>
          <a:xfrm>
            <a:off x="6446520" y="2286000"/>
            <a:ext cx="2194560" cy="457200"/>
          </a:xfrm>
          <a:prstGeom prst="rect">
            <a:avLst/>
          </a:prstGeom>
          <a:noFill/>
          <a:ln/>
        </p:spPr>
        <p:txBody>
          <a:bodyPr wrap="square" lIns="0" tIns="0" rIns="0" bIns="0" rtlCol="0" anchor="t"/>
          <a:lstStyle/>
          <a:p>
            <a:pPr indent="0" marL="0">
              <a:buNone/>
            </a:pPr>
            <a:r>
              <a:rPr lang="en-US" sz="2400" b="1" dirty="0">
                <a:solidFill>
                  <a:schemeClr val="accent3"/>
                </a:solidFill>
              </a:rPr>
              <a:t>Nhược</a:t>
            </a:r>
            <a:endParaRPr lang="en-US" sz="2400" dirty="0"/>
          </a:p>
        </p:txBody>
      </p:sp>
      <p:sp>
        <p:nvSpPr>
          <p:cNvPr id="9" name="card-603"/>
          <p:cNvSpPr/>
          <p:nvPr/>
        </p:nvSpPr>
        <p:spPr>
          <a:xfrm>
            <a:off x="548640" y="2788920"/>
            <a:ext cx="8092440" cy="868680"/>
          </a:xfrm>
          <a:prstGeom prst="roundRect">
            <a:avLst>
              <a:gd name="adj" fmla="val 15789"/>
            </a:avLst>
          </a:prstGeom>
          <a:solidFill>
            <a:schemeClr val="bg2"/>
          </a:solidFill>
          <a:ln/>
        </p:spPr>
      </p:sp>
      <p:sp>
        <p:nvSpPr>
          <p:cNvPr id="10" name="text-604"/>
          <p:cNvSpPr txBox="1"/>
          <p:nvPr/>
        </p:nvSpPr>
        <p:spPr>
          <a:xfrm>
            <a:off x="731520" y="2788920"/>
            <a:ext cx="2377440" cy="868680"/>
          </a:xfrm>
          <a:prstGeom prst="rect">
            <a:avLst/>
          </a:prstGeom>
          <a:noFill/>
          <a:ln/>
        </p:spPr>
        <p:txBody>
          <a:bodyPr wrap="square" lIns="0" tIns="0" rIns="0" bIns="0" rtlCol="0" anchor="ctr"/>
          <a:lstStyle/>
          <a:p>
            <a:pPr indent="0" marL="0">
              <a:buNone/>
            </a:pPr>
            <a:r>
              <a:rPr lang="en-US" sz="2400" b="1" dirty="0">
                <a:solidFill>
                  <a:schemeClr val="accent1"/>
                </a:solidFill>
              </a:rPr>
              <a:t>Nội bộ</a:t>
            </a:r>
            <a:endParaRPr lang="en-US" sz="2400" dirty="0"/>
          </a:p>
        </p:txBody>
      </p:sp>
      <p:sp>
        <p:nvSpPr>
          <p:cNvPr id="11" name="text-605"/>
          <p:cNvSpPr txBox="1"/>
          <p:nvPr/>
        </p:nvSpPr>
        <p:spPr>
          <a:xfrm>
            <a:off x="3383280" y="2788920"/>
            <a:ext cx="3017520" cy="868680"/>
          </a:xfrm>
          <a:prstGeom prst="rect">
            <a:avLst/>
          </a:prstGeom>
          <a:noFill/>
          <a:ln/>
        </p:spPr>
        <p:txBody>
          <a:bodyPr wrap="square" lIns="0" tIns="0" rIns="0" bIns="0" rtlCol="0" anchor="ctr"/>
          <a:lstStyle/>
          <a:p>
            <a:pPr indent="0" marL="0">
              <a:buNone/>
            </a:pPr>
            <a:r>
              <a:rPr lang="en-US" sz="2400" dirty="0">
                <a:solidFill>
                  <a:schemeClr val="tx1"/>
                </a:solidFill>
              </a:rPr>
              <a:t>Hiểu doanh nghiệp, chi phí thấp</a:t>
            </a:r>
            <a:endParaRPr lang="en-US" sz="2400" dirty="0"/>
          </a:p>
        </p:txBody>
      </p:sp>
      <p:sp>
        <p:nvSpPr>
          <p:cNvPr id="12" name="text-606"/>
          <p:cNvSpPr txBox="1"/>
          <p:nvPr/>
        </p:nvSpPr>
        <p:spPr>
          <a:xfrm>
            <a:off x="6446520" y="2788920"/>
            <a:ext cx="2103120" cy="868680"/>
          </a:xfrm>
          <a:prstGeom prst="rect">
            <a:avLst/>
          </a:prstGeom>
          <a:noFill/>
          <a:ln/>
        </p:spPr>
        <p:txBody>
          <a:bodyPr wrap="square" lIns="0" tIns="0" rIns="0" bIns="0" rtlCol="0" anchor="ctr"/>
          <a:lstStyle/>
          <a:p>
            <a:pPr indent="0" marL="0">
              <a:buNone/>
            </a:pPr>
            <a:r>
              <a:rPr lang="en-US" sz="2400" dirty="0">
                <a:solidFill>
                  <a:schemeClr val="tx1"/>
                </a:solidFill>
              </a:rPr>
              <a:t>Dễ chủ quan</a:t>
            </a:r>
            <a:endParaRPr lang="en-US" sz="2400" dirty="0"/>
          </a:p>
        </p:txBody>
      </p:sp>
      <p:sp>
        <p:nvSpPr>
          <p:cNvPr id="13" name="card-607"/>
          <p:cNvSpPr/>
          <p:nvPr/>
        </p:nvSpPr>
        <p:spPr>
          <a:xfrm>
            <a:off x="548640" y="3749040"/>
            <a:ext cx="8092440" cy="868680"/>
          </a:xfrm>
          <a:prstGeom prst="roundRect">
            <a:avLst>
              <a:gd name="adj" fmla="val 15789"/>
            </a:avLst>
          </a:prstGeom>
          <a:solidFill>
            <a:schemeClr val="bg2"/>
          </a:solidFill>
          <a:ln/>
        </p:spPr>
      </p:sp>
      <p:sp>
        <p:nvSpPr>
          <p:cNvPr id="14" name="text-608"/>
          <p:cNvSpPr txBox="1"/>
          <p:nvPr/>
        </p:nvSpPr>
        <p:spPr>
          <a:xfrm>
            <a:off x="731520" y="3749040"/>
            <a:ext cx="2377440" cy="868680"/>
          </a:xfrm>
          <a:prstGeom prst="rect">
            <a:avLst/>
          </a:prstGeom>
          <a:noFill/>
          <a:ln/>
        </p:spPr>
        <p:txBody>
          <a:bodyPr wrap="square" lIns="0" tIns="0" rIns="0" bIns="0" rtlCol="0" anchor="ctr"/>
          <a:lstStyle/>
          <a:p>
            <a:pPr indent="0" marL="0">
              <a:buNone/>
            </a:pPr>
            <a:r>
              <a:rPr lang="en-US" sz="2400" b="1" dirty="0">
                <a:solidFill>
                  <a:schemeClr val="accent5"/>
                </a:solidFill>
              </a:rPr>
              <a:t>Công ty chuyên nghiệp</a:t>
            </a:r>
            <a:endParaRPr lang="en-US" sz="2400" dirty="0"/>
          </a:p>
        </p:txBody>
      </p:sp>
      <p:sp>
        <p:nvSpPr>
          <p:cNvPr id="15" name="text-609"/>
          <p:cNvSpPr txBox="1"/>
          <p:nvPr/>
        </p:nvSpPr>
        <p:spPr>
          <a:xfrm>
            <a:off x="3383280" y="3749040"/>
            <a:ext cx="3017520" cy="868680"/>
          </a:xfrm>
          <a:prstGeom prst="rect">
            <a:avLst/>
          </a:prstGeom>
          <a:noFill/>
          <a:ln/>
        </p:spPr>
        <p:txBody>
          <a:bodyPr wrap="square" lIns="0" tIns="0" rIns="0" bIns="0" rtlCol="0" anchor="ctr"/>
          <a:lstStyle/>
          <a:p>
            <a:pPr indent="0" marL="0">
              <a:buNone/>
            </a:pPr>
            <a:r>
              <a:rPr lang="en-US" sz="2400" dirty="0">
                <a:solidFill>
                  <a:schemeClr val="tx1"/>
                </a:solidFill>
              </a:rPr>
              <a:t>Chuyên môn cao, khách quan</a:t>
            </a:r>
            <a:endParaRPr lang="en-US" sz="2400" dirty="0"/>
          </a:p>
        </p:txBody>
      </p:sp>
      <p:sp>
        <p:nvSpPr>
          <p:cNvPr id="16" name="text-610"/>
          <p:cNvSpPr txBox="1"/>
          <p:nvPr/>
        </p:nvSpPr>
        <p:spPr>
          <a:xfrm>
            <a:off x="6446520" y="3749040"/>
            <a:ext cx="2103120" cy="868680"/>
          </a:xfrm>
          <a:prstGeom prst="rect">
            <a:avLst/>
          </a:prstGeom>
          <a:noFill/>
          <a:ln/>
        </p:spPr>
        <p:txBody>
          <a:bodyPr wrap="square" lIns="0" tIns="0" rIns="0" bIns="0" rtlCol="0" anchor="ctr"/>
          <a:lstStyle/>
          <a:p>
            <a:pPr indent="0" marL="0">
              <a:buNone/>
            </a:pPr>
            <a:r>
              <a:rPr lang="en-US" sz="2400" dirty="0">
                <a:solidFill>
                  <a:schemeClr val="tx1"/>
                </a:solidFill>
              </a:rPr>
              <a:t>Chi phí cao</a:t>
            </a:r>
            <a:endParaRPr lang="en-US" sz="2400" dirty="0"/>
          </a:p>
        </p:txBody>
      </p:sp>
      <p:sp>
        <p:nvSpPr>
          <p:cNvPr id="17" name="card-611"/>
          <p:cNvSpPr/>
          <p:nvPr/>
        </p:nvSpPr>
        <p:spPr>
          <a:xfrm>
            <a:off x="548640" y="4709160"/>
            <a:ext cx="8092440" cy="868680"/>
          </a:xfrm>
          <a:prstGeom prst="roundRect">
            <a:avLst>
              <a:gd name="adj" fmla="val 15789"/>
            </a:avLst>
          </a:prstGeom>
          <a:solidFill>
            <a:schemeClr val="bg2"/>
          </a:solidFill>
          <a:ln/>
        </p:spPr>
      </p:sp>
      <p:sp>
        <p:nvSpPr>
          <p:cNvPr id="18" name="text-612"/>
          <p:cNvSpPr txBox="1"/>
          <p:nvPr/>
        </p:nvSpPr>
        <p:spPr>
          <a:xfrm>
            <a:off x="731520" y="4709160"/>
            <a:ext cx="2377440" cy="868680"/>
          </a:xfrm>
          <a:prstGeom prst="rect">
            <a:avLst/>
          </a:prstGeom>
          <a:noFill/>
          <a:ln/>
        </p:spPr>
        <p:txBody>
          <a:bodyPr wrap="square" lIns="0" tIns="0" rIns="0" bIns="0" rtlCol="0" anchor="ctr"/>
          <a:lstStyle/>
          <a:p>
            <a:pPr indent="0" marL="0">
              <a:buNone/>
            </a:pPr>
            <a:r>
              <a:rPr lang="en-US" sz="2400" b="1" dirty="0">
                <a:solidFill>
                  <a:schemeClr val="accent6"/>
                </a:solidFill>
              </a:rPr>
              <a:t>Cơ quan nhà nước</a:t>
            </a:r>
            <a:endParaRPr lang="en-US" sz="2400" dirty="0"/>
          </a:p>
        </p:txBody>
      </p:sp>
      <p:sp>
        <p:nvSpPr>
          <p:cNvPr id="19" name="text-613"/>
          <p:cNvSpPr txBox="1"/>
          <p:nvPr/>
        </p:nvSpPr>
        <p:spPr>
          <a:xfrm>
            <a:off x="3383280" y="4709160"/>
            <a:ext cx="3017520" cy="868680"/>
          </a:xfrm>
          <a:prstGeom prst="rect">
            <a:avLst/>
          </a:prstGeom>
          <a:noFill/>
          <a:ln/>
        </p:spPr>
        <p:txBody>
          <a:bodyPr wrap="square" lIns="0" tIns="0" rIns="0" bIns="0" rtlCol="0" anchor="ctr"/>
          <a:lstStyle/>
          <a:p>
            <a:pPr indent="0" marL="0">
              <a:buNone/>
            </a:pPr>
            <a:r>
              <a:rPr lang="en-US" sz="2400" dirty="0">
                <a:solidFill>
                  <a:schemeClr val="tx1"/>
                </a:solidFill>
              </a:rPr>
              <a:t>Vĩ mô, thường miễn phí</a:t>
            </a:r>
            <a:endParaRPr lang="en-US" sz="2400" dirty="0"/>
          </a:p>
        </p:txBody>
      </p:sp>
      <p:sp>
        <p:nvSpPr>
          <p:cNvPr id="20" name="text-614"/>
          <p:cNvSpPr txBox="1"/>
          <p:nvPr/>
        </p:nvSpPr>
        <p:spPr>
          <a:xfrm>
            <a:off x="6446520" y="4709160"/>
            <a:ext cx="2103120" cy="868680"/>
          </a:xfrm>
          <a:prstGeom prst="rect">
            <a:avLst/>
          </a:prstGeom>
          <a:noFill/>
          <a:ln/>
        </p:spPr>
        <p:txBody>
          <a:bodyPr wrap="square" lIns="0" tIns="0" rIns="0" bIns="0" rtlCol="0" anchor="ctr"/>
          <a:lstStyle/>
          <a:p>
            <a:pPr indent="0" marL="0">
              <a:buNone/>
            </a:pPr>
            <a:r>
              <a:rPr lang="en-US" sz="2400" dirty="0">
                <a:solidFill>
                  <a:schemeClr val="tx1"/>
                </a:solidFill>
              </a:rPr>
              <a:t>Không theo nhu cầu riêng</a:t>
            </a:r>
            <a:endParaRPr lang="en-US" sz="2400" dirty="0"/>
          </a:p>
        </p:txBody>
      </p:sp>
      <p:sp>
        <p:nvSpPr>
          <p:cNvPr id="23" name="text-617"/>
          <p:cNvSpPr txBox="1"/>
          <p:nvPr/>
        </p:nvSpPr>
        <p:spPr>
          <a:xfrm>
            <a:off x="8823960" y="1645920"/>
            <a:ext cx="2816352" cy="548640"/>
          </a:xfrm>
          <a:prstGeom prst="rect">
            <a:avLst/>
          </a:prstGeom>
          <a:noFill/>
          <a:ln/>
        </p:spPr>
        <p:txBody>
          <a:bodyPr wrap="square" lIns="0" tIns="0" rIns="0" bIns="0" rtlCol="0" anchor="ctr"/>
          <a:lstStyle/>
          <a:p>
            <a:pPr indent="0" marL="0">
              <a:buNone/>
            </a:pPr>
            <a:r>
              <a:rPr lang="en-US" sz="2600" b="1" dirty="0">
                <a:solidFill>
                  <a:schemeClr val="accent2"/>
                </a:solidFill>
              </a:rPr>
              <a:t>Người sử dụng</a:t>
            </a:r>
            <a:endParaRPr lang="en-US" sz="2600" dirty="0"/>
          </a:p>
        </p:txBody>
      </p:sp>
      <p:sp>
        <p:nvSpPr>
          <p:cNvPr id="24" name="card-618"/>
          <p:cNvSpPr/>
          <p:nvPr/>
        </p:nvSpPr>
        <p:spPr>
          <a:xfrm>
            <a:off x="8823960" y="2240280"/>
            <a:ext cx="2816352" cy="3931920"/>
          </a:xfrm>
          <a:prstGeom prst="roundRect">
            <a:avLst>
              <a:gd name="adj" fmla="val 4870"/>
            </a:avLst>
          </a:prstGeom>
          <a:solidFill>
            <a:schemeClr val="bg2"/>
          </a:solidFill>
          <a:ln/>
        </p:spPr>
      </p:sp>
      <p:sp>
        <p:nvSpPr>
          <p:cNvPr id="25" name="text-619"/>
          <p:cNvSpPr txBox="1"/>
          <p:nvPr/>
        </p:nvSpPr>
        <p:spPr>
          <a:xfrm>
            <a:off x="9006840" y="2377440"/>
            <a:ext cx="2514600" cy="777240"/>
          </a:xfrm>
          <a:prstGeom prst="rect">
            <a:avLst/>
          </a:prstGeom>
          <a:noFill/>
          <a:ln/>
        </p:spPr>
        <p:txBody>
          <a:bodyPr wrap="square" lIns="0" tIns="0" rIns="0" bIns="0" rtlCol="0" anchor="t"/>
          <a:lstStyle/>
          <a:p>
            <a:pPr indent="0" marL="0">
              <a:buNone/>
            </a:pPr>
            <a:r>
              <a:rPr lang="en-US" sz="2400" b="1" dirty="0">
                <a:solidFill>
                  <a:schemeClr val="tx1"/>
                </a:solidFill>
              </a:rPr>
              <a:t>Nhà quản lý nội bộ</a:t>
            </a:r>
            <a:endParaRPr lang="en-US" sz="2400" dirty="0"/>
          </a:p>
        </p:txBody>
      </p:sp>
      <p:sp>
        <p:nvSpPr>
          <p:cNvPr id="26" name="text-620"/>
          <p:cNvSpPr txBox="1"/>
          <p:nvPr/>
        </p:nvSpPr>
        <p:spPr>
          <a:xfrm>
            <a:off x="9006840" y="3246120"/>
            <a:ext cx="2514600" cy="1143000"/>
          </a:xfrm>
          <a:prstGeom prst="rect">
            <a:avLst/>
          </a:prstGeom>
          <a:noFill/>
          <a:ln/>
        </p:spPr>
        <p:txBody>
          <a:bodyPr wrap="square" lIns="0" tIns="0" rIns="0" bIns="0" rtlCol="0" anchor="t"/>
          <a:lstStyle/>
          <a:p>
            <a:pPr indent="0" marL="0">
              <a:buNone/>
            </a:pPr>
            <a:r>
              <a:rPr lang="en-US" sz="2400" b="1" dirty="0">
                <a:solidFill>
                  <a:schemeClr val="tx1"/>
                </a:solidFill>
              </a:rPr>
              <a:t>Bên mua thông tin: 6 tiêu chí</a:t>
            </a:r>
            <a:endParaRPr lang="en-US" sz="2400" dirty="0"/>
          </a:p>
        </p:txBody>
      </p:sp>
      <p:sp>
        <p:nvSpPr>
          <p:cNvPr id="27" name="text-621"/>
          <p:cNvSpPr txBox="1"/>
          <p:nvPr/>
        </p:nvSpPr>
        <p:spPr>
          <a:xfrm>
            <a:off x="9006840" y="4434840"/>
            <a:ext cx="2514600" cy="1645920"/>
          </a:xfrm>
          <a:prstGeom prst="rect">
            <a:avLst/>
          </a:prstGeom>
          <a:noFill/>
          <a:ln/>
        </p:spPr>
        <p:txBody>
          <a:bodyPr wrap="square" lIns="0" tIns="0" rIns="0" bIns="0" rtlCol="0" anchor="t"/>
          <a:lstStyle/>
          <a:p>
            <a:pPr indent="0" marL="0">
              <a:buNone/>
            </a:pPr>
            <a:r>
              <a:rPr lang="en-US" sz="2400" dirty="0">
                <a:solidFill>
                  <a:schemeClr val="tx2"/>
                </a:solidFill>
              </a:rPr>
              <a:t>Uy tín · phù hợp · cập nhật · phương pháp · tốc độ · chi phí</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câu hỏi kiểm tra nhanh</a:t>
            </a:r>
            <a:endParaRPr lang="en-US" sz="3000" dirty="0"/>
          </a:p>
        </p:txBody>
      </p:sp>
      <p:sp>
        <p:nvSpPr>
          <p:cNvPr id="4" name="dot-622"/>
          <p:cNvSpPr/>
          <p:nvPr/>
        </p:nvSpPr>
        <p:spPr>
          <a:xfrm>
            <a:off x="548640" y="1920240"/>
            <a:ext cx="960120" cy="960120"/>
          </a:xfrm>
          <a:prstGeom prst="ellipse">
            <a:avLst/>
          </a:prstGeom>
          <a:solidFill>
            <a:schemeClr val="accent1"/>
          </a:solidFill>
          <a:ln/>
        </p:spPr>
      </p:sp>
      <p:sp>
        <p:nvSpPr>
          <p:cNvPr id="5" name="text-623"/>
          <p:cNvSpPr txBox="1"/>
          <p:nvPr/>
        </p:nvSpPr>
        <p:spPr>
          <a:xfrm>
            <a:off x="548640" y="192024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6" name="card-624"/>
          <p:cNvSpPr/>
          <p:nvPr/>
        </p:nvSpPr>
        <p:spPr>
          <a:xfrm>
            <a:off x="1783080" y="1828800"/>
            <a:ext cx="9857232" cy="1143000"/>
          </a:xfrm>
          <a:prstGeom prst="roundRect">
            <a:avLst>
              <a:gd name="adj" fmla="val 12000"/>
            </a:avLst>
          </a:prstGeom>
          <a:solidFill>
            <a:schemeClr val="bg2"/>
          </a:solidFill>
          <a:ln/>
        </p:spPr>
      </p:sp>
      <p:sp>
        <p:nvSpPr>
          <p:cNvPr id="7" name="text-625"/>
          <p:cNvSpPr txBox="1"/>
          <p:nvPr/>
        </p:nvSpPr>
        <p:spPr>
          <a:xfrm>
            <a:off x="2103120" y="1828800"/>
            <a:ext cx="9326880" cy="1143000"/>
          </a:xfrm>
          <a:prstGeom prst="rect">
            <a:avLst/>
          </a:prstGeom>
          <a:noFill/>
          <a:ln/>
        </p:spPr>
        <p:txBody>
          <a:bodyPr wrap="square" lIns="0" tIns="0" rIns="0" bIns="0" rtlCol="0" anchor="ctr"/>
          <a:lstStyle/>
          <a:p>
            <a:pPr indent="0" marL="0">
              <a:buNone/>
            </a:pPr>
            <a:r>
              <a:rPr lang="en-US" sz="2800" dirty="0">
                <a:solidFill>
                  <a:schemeClr val="tx1"/>
                </a:solidFill>
              </a:rPr>
              <a:t>Bước nào quan trọng nhất? Vì sao?</a:t>
            </a:r>
            <a:endParaRPr lang="en-US" sz="2800" dirty="0"/>
          </a:p>
        </p:txBody>
      </p:sp>
      <p:sp>
        <p:nvSpPr>
          <p:cNvPr id="8" name="dot-626"/>
          <p:cNvSpPr/>
          <p:nvPr/>
        </p:nvSpPr>
        <p:spPr>
          <a:xfrm>
            <a:off x="548640" y="3337560"/>
            <a:ext cx="960120" cy="960120"/>
          </a:xfrm>
          <a:prstGeom prst="ellipse">
            <a:avLst/>
          </a:prstGeom>
          <a:solidFill>
            <a:schemeClr val="accent5"/>
          </a:solidFill>
          <a:ln/>
        </p:spPr>
      </p:sp>
      <p:sp>
        <p:nvSpPr>
          <p:cNvPr id="9" name="text-627"/>
          <p:cNvSpPr txBox="1"/>
          <p:nvPr/>
        </p:nvSpPr>
        <p:spPr>
          <a:xfrm>
            <a:off x="548640" y="333756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10" name="card-628"/>
          <p:cNvSpPr/>
          <p:nvPr/>
        </p:nvSpPr>
        <p:spPr>
          <a:xfrm>
            <a:off x="1783080" y="3246120"/>
            <a:ext cx="9857232" cy="1143000"/>
          </a:xfrm>
          <a:prstGeom prst="roundRect">
            <a:avLst>
              <a:gd name="adj" fmla="val 12000"/>
            </a:avLst>
          </a:prstGeom>
          <a:solidFill>
            <a:schemeClr val="bg2"/>
          </a:solidFill>
          <a:ln/>
        </p:spPr>
      </p:sp>
      <p:sp>
        <p:nvSpPr>
          <p:cNvPr id="11" name="text-629"/>
          <p:cNvSpPr txBox="1"/>
          <p:nvPr/>
        </p:nvSpPr>
        <p:spPr>
          <a:xfrm>
            <a:off x="2103120" y="3246120"/>
            <a:ext cx="9326880" cy="1143000"/>
          </a:xfrm>
          <a:prstGeom prst="rect">
            <a:avLst/>
          </a:prstGeom>
          <a:noFill/>
          <a:ln/>
        </p:spPr>
        <p:txBody>
          <a:bodyPr wrap="square" lIns="0" tIns="0" rIns="0" bIns="0" rtlCol="0" anchor="ctr"/>
          <a:lstStyle/>
          <a:p>
            <a:pPr indent="0" marL="0">
              <a:buNone/>
            </a:pPr>
            <a:r>
              <a:rPr lang="en-US" sz="2800" dirty="0">
                <a:solidFill>
                  <a:schemeClr val="tx1"/>
                </a:solidFill>
              </a:rPr>
              <a:t>Nghiên cứu marketing khác thu thập thông tin bên ngoài ở điểm nào?</a:t>
            </a:r>
            <a:endParaRPr lang="en-US" sz="2800" dirty="0"/>
          </a:p>
        </p:txBody>
      </p:sp>
      <p:sp>
        <p:nvSpPr>
          <p:cNvPr id="12" name="dot-630"/>
          <p:cNvSpPr/>
          <p:nvPr/>
        </p:nvSpPr>
        <p:spPr>
          <a:xfrm>
            <a:off x="548640" y="4754880"/>
            <a:ext cx="960120" cy="960120"/>
          </a:xfrm>
          <a:prstGeom prst="ellipse">
            <a:avLst/>
          </a:prstGeom>
          <a:solidFill>
            <a:schemeClr val="accent6"/>
          </a:solidFill>
          <a:ln/>
        </p:spPr>
      </p:sp>
      <p:sp>
        <p:nvSpPr>
          <p:cNvPr id="13" name="text-631"/>
          <p:cNvSpPr txBox="1"/>
          <p:nvPr/>
        </p:nvSpPr>
        <p:spPr>
          <a:xfrm>
            <a:off x="548640" y="475488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3</a:t>
            </a:r>
            <a:endParaRPr lang="en-US" sz="3600" dirty="0"/>
          </a:p>
        </p:txBody>
      </p:sp>
      <p:sp>
        <p:nvSpPr>
          <p:cNvPr id="14" name="card-632"/>
          <p:cNvSpPr/>
          <p:nvPr/>
        </p:nvSpPr>
        <p:spPr>
          <a:xfrm>
            <a:off x="1783080" y="4663440"/>
            <a:ext cx="9857232" cy="1143000"/>
          </a:xfrm>
          <a:prstGeom prst="roundRect">
            <a:avLst>
              <a:gd name="adj" fmla="val 12000"/>
            </a:avLst>
          </a:prstGeom>
          <a:solidFill>
            <a:schemeClr val="bg2"/>
          </a:solidFill>
          <a:ln/>
        </p:spPr>
      </p:sp>
      <p:sp>
        <p:nvSpPr>
          <p:cNvPr id="15" name="text-633"/>
          <p:cNvSpPr txBox="1"/>
          <p:nvPr/>
        </p:nvSpPr>
        <p:spPr>
          <a:xfrm>
            <a:off x="2103120" y="4663440"/>
            <a:ext cx="9326880" cy="1143000"/>
          </a:xfrm>
          <a:prstGeom prst="rect">
            <a:avLst/>
          </a:prstGeom>
          <a:noFill/>
          <a:ln/>
        </p:spPr>
        <p:txBody>
          <a:bodyPr wrap="square" lIns="0" tIns="0" rIns="0" bIns="0" rtlCol="0" anchor="ctr"/>
          <a:lstStyle/>
          <a:p>
            <a:pPr indent="0" marL="0">
              <a:buNone/>
            </a:pPr>
            <a:r>
              <a:rPr lang="en-US" sz="2800" dirty="0">
                <a:solidFill>
                  <a:schemeClr val="tx1"/>
                </a:solidFill>
              </a:rPr>
              <a:t>Doanh nghiệp nhỏ nên tự làm hay thuê công ty nghiên cứu?</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Xưởng đề tài (45'): từ quyết định kinh doanh đến vấn đề nghiên cứu</a:t>
            </a:r>
            <a:endParaRPr lang="en-US" sz="3000" dirty="0"/>
          </a:p>
        </p:txBody>
      </p:sp>
      <p:sp>
        <p:nvSpPr>
          <p:cNvPr id="4" name="card-634"/>
          <p:cNvSpPr/>
          <p:nvPr/>
        </p:nvSpPr>
        <p:spPr>
          <a:xfrm>
            <a:off x="548640" y="1783080"/>
            <a:ext cx="2606040" cy="3337560"/>
          </a:xfrm>
          <a:prstGeom prst="roundRect">
            <a:avLst>
              <a:gd name="adj" fmla="val 5263"/>
            </a:avLst>
          </a:prstGeom>
          <a:solidFill>
            <a:schemeClr val="bg2"/>
          </a:solidFill>
          <a:ln/>
        </p:spPr>
      </p:sp>
      <p:sp>
        <p:nvSpPr>
          <p:cNvPr id="5" name="text-635"/>
          <p:cNvSpPr txBox="1"/>
          <p:nvPr/>
        </p:nvSpPr>
        <p:spPr>
          <a:xfrm>
            <a:off x="777240" y="1874520"/>
            <a:ext cx="2148840" cy="868680"/>
          </a:xfrm>
          <a:prstGeom prst="rect">
            <a:avLst/>
          </a:prstGeom>
          <a:noFill/>
          <a:ln/>
        </p:spPr>
        <p:txBody>
          <a:bodyPr wrap="square" lIns="0" tIns="0" rIns="0" bIns="0" rtlCol="0" anchor="t"/>
          <a:lstStyle/>
          <a:p>
            <a:pPr indent="0" marL="0">
              <a:buNone/>
            </a:pPr>
            <a:r>
              <a:rPr lang="en-US" sz="4800" b="1" dirty="0">
                <a:solidFill>
                  <a:schemeClr val="accent1"/>
                </a:solidFill>
              </a:rPr>
              <a:t>10'</a:t>
            </a:r>
            <a:endParaRPr lang="en-US" sz="4800" dirty="0"/>
          </a:p>
        </p:txBody>
      </p:sp>
      <p:sp>
        <p:nvSpPr>
          <p:cNvPr id="6" name="text-636"/>
          <p:cNvSpPr txBox="1"/>
          <p:nvPr/>
        </p:nvSpPr>
        <p:spPr>
          <a:xfrm>
            <a:off x="777240"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1</a:t>
            </a:r>
            <a:endParaRPr lang="en-US" sz="2400" dirty="0"/>
          </a:p>
        </p:txBody>
      </p:sp>
      <p:sp>
        <p:nvSpPr>
          <p:cNvPr id="7" name="text-637"/>
          <p:cNvSpPr txBox="1"/>
          <p:nvPr/>
        </p:nvSpPr>
        <p:spPr>
          <a:xfrm>
            <a:off x="777240"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Lập nhóm &amp; chọn lĩnh vực</a:t>
            </a:r>
            <a:endParaRPr lang="en-US" sz="2400" dirty="0"/>
          </a:p>
        </p:txBody>
      </p:sp>
      <p:sp>
        <p:nvSpPr>
          <p:cNvPr id="8" name="card-638"/>
          <p:cNvSpPr/>
          <p:nvPr/>
        </p:nvSpPr>
        <p:spPr>
          <a:xfrm>
            <a:off x="3367735" y="1783080"/>
            <a:ext cx="2606040" cy="3337560"/>
          </a:xfrm>
          <a:prstGeom prst="roundRect">
            <a:avLst>
              <a:gd name="adj" fmla="val 5263"/>
            </a:avLst>
          </a:prstGeom>
          <a:solidFill>
            <a:schemeClr val="bg2"/>
          </a:solidFill>
          <a:ln/>
        </p:spPr>
      </p:sp>
      <p:sp>
        <p:nvSpPr>
          <p:cNvPr id="9" name="text-639"/>
          <p:cNvSpPr txBox="1"/>
          <p:nvPr/>
        </p:nvSpPr>
        <p:spPr>
          <a:xfrm>
            <a:off x="3596335" y="1874520"/>
            <a:ext cx="2148840" cy="868680"/>
          </a:xfrm>
          <a:prstGeom prst="rect">
            <a:avLst/>
          </a:prstGeom>
          <a:noFill/>
          <a:ln/>
        </p:spPr>
        <p:txBody>
          <a:bodyPr wrap="square" lIns="0" tIns="0" rIns="0" bIns="0" rtlCol="0" anchor="t"/>
          <a:lstStyle/>
          <a:p>
            <a:pPr indent="0" marL="0">
              <a:buNone/>
            </a:pPr>
            <a:r>
              <a:rPr lang="en-US" sz="4800" b="1" dirty="0">
                <a:solidFill>
                  <a:schemeClr val="accent2"/>
                </a:solidFill>
              </a:rPr>
              <a:t>10'</a:t>
            </a:r>
            <a:endParaRPr lang="en-US" sz="4800" dirty="0"/>
          </a:p>
        </p:txBody>
      </p:sp>
      <p:sp>
        <p:nvSpPr>
          <p:cNvPr id="10" name="text-640"/>
          <p:cNvSpPr txBox="1"/>
          <p:nvPr/>
        </p:nvSpPr>
        <p:spPr>
          <a:xfrm>
            <a:off x="3596335"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2</a:t>
            </a:r>
            <a:endParaRPr lang="en-US" sz="2400" dirty="0"/>
          </a:p>
        </p:txBody>
      </p:sp>
      <p:sp>
        <p:nvSpPr>
          <p:cNvPr id="11" name="text-641"/>
          <p:cNvSpPr txBox="1"/>
          <p:nvPr/>
        </p:nvSpPr>
        <p:spPr>
          <a:xfrm>
            <a:off x="3596335"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3 câu hỏi quyết định</a:t>
            </a:r>
            <a:endParaRPr lang="en-US" sz="2400" dirty="0"/>
          </a:p>
        </p:txBody>
      </p:sp>
      <p:sp>
        <p:nvSpPr>
          <p:cNvPr id="12" name="card-642"/>
          <p:cNvSpPr/>
          <p:nvPr/>
        </p:nvSpPr>
        <p:spPr>
          <a:xfrm>
            <a:off x="6186830" y="1783080"/>
            <a:ext cx="2606040" cy="3337560"/>
          </a:xfrm>
          <a:prstGeom prst="roundRect">
            <a:avLst>
              <a:gd name="adj" fmla="val 5263"/>
            </a:avLst>
          </a:prstGeom>
          <a:solidFill>
            <a:schemeClr val="bg2"/>
          </a:solidFill>
          <a:ln/>
        </p:spPr>
      </p:sp>
      <p:sp>
        <p:nvSpPr>
          <p:cNvPr id="13" name="text-643"/>
          <p:cNvSpPr txBox="1"/>
          <p:nvPr/>
        </p:nvSpPr>
        <p:spPr>
          <a:xfrm>
            <a:off x="6415430" y="1874520"/>
            <a:ext cx="2148840" cy="868680"/>
          </a:xfrm>
          <a:prstGeom prst="rect">
            <a:avLst/>
          </a:prstGeom>
          <a:noFill/>
          <a:ln/>
        </p:spPr>
        <p:txBody>
          <a:bodyPr wrap="square" lIns="0" tIns="0" rIns="0" bIns="0" rtlCol="0" anchor="t"/>
          <a:lstStyle/>
          <a:p>
            <a:pPr indent="0" marL="0">
              <a:buNone/>
            </a:pPr>
            <a:r>
              <a:rPr lang="en-US" sz="4800" b="1" dirty="0">
                <a:solidFill>
                  <a:schemeClr val="accent5"/>
                </a:solidFill>
              </a:rPr>
              <a:t>15'</a:t>
            </a:r>
            <a:endParaRPr lang="en-US" sz="4800" dirty="0"/>
          </a:p>
        </p:txBody>
      </p:sp>
      <p:sp>
        <p:nvSpPr>
          <p:cNvPr id="14" name="text-644"/>
          <p:cNvSpPr txBox="1"/>
          <p:nvPr/>
        </p:nvSpPr>
        <p:spPr>
          <a:xfrm>
            <a:off x="6415430"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3</a:t>
            </a:r>
            <a:endParaRPr lang="en-US" sz="2400" dirty="0"/>
          </a:p>
        </p:txBody>
      </p:sp>
      <p:sp>
        <p:nvSpPr>
          <p:cNvPr id="15" name="text-645"/>
          <p:cNvSpPr txBox="1"/>
          <p:nvPr/>
        </p:nvSpPr>
        <p:spPr>
          <a:xfrm>
            <a:off x="6415430"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Chuyển thành vấn đề nghiên cứu, phân loại, phác 6 bước</a:t>
            </a:r>
            <a:endParaRPr lang="en-US" sz="2400" dirty="0"/>
          </a:p>
        </p:txBody>
      </p:sp>
      <p:sp>
        <p:nvSpPr>
          <p:cNvPr id="16" name="card-646"/>
          <p:cNvSpPr/>
          <p:nvPr/>
        </p:nvSpPr>
        <p:spPr>
          <a:xfrm>
            <a:off x="9005926" y="1783080"/>
            <a:ext cx="2606040" cy="3337560"/>
          </a:xfrm>
          <a:prstGeom prst="roundRect">
            <a:avLst>
              <a:gd name="adj" fmla="val 5263"/>
            </a:avLst>
          </a:prstGeom>
          <a:solidFill>
            <a:schemeClr val="bg2"/>
          </a:solidFill>
          <a:ln/>
        </p:spPr>
      </p:sp>
      <p:sp>
        <p:nvSpPr>
          <p:cNvPr id="17" name="text-647"/>
          <p:cNvSpPr txBox="1"/>
          <p:nvPr/>
        </p:nvSpPr>
        <p:spPr>
          <a:xfrm>
            <a:off x="9234526" y="1874520"/>
            <a:ext cx="2148840" cy="868680"/>
          </a:xfrm>
          <a:prstGeom prst="rect">
            <a:avLst/>
          </a:prstGeom>
          <a:noFill/>
          <a:ln/>
        </p:spPr>
        <p:txBody>
          <a:bodyPr wrap="square" lIns="0" tIns="0" rIns="0" bIns="0" rtlCol="0" anchor="t"/>
          <a:lstStyle/>
          <a:p>
            <a:pPr indent="0" marL="0">
              <a:buNone/>
            </a:pPr>
            <a:r>
              <a:rPr lang="en-US" sz="4800" b="1" dirty="0">
                <a:solidFill>
                  <a:schemeClr val="accent6"/>
                </a:solidFill>
              </a:rPr>
              <a:t>10'</a:t>
            </a:r>
            <a:endParaRPr lang="en-US" sz="4800" dirty="0"/>
          </a:p>
        </p:txBody>
      </p:sp>
      <p:sp>
        <p:nvSpPr>
          <p:cNvPr id="18" name="text-648"/>
          <p:cNvSpPr txBox="1"/>
          <p:nvPr/>
        </p:nvSpPr>
        <p:spPr>
          <a:xfrm>
            <a:off x="9234526"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4</a:t>
            </a:r>
            <a:endParaRPr lang="en-US" sz="2400" dirty="0"/>
          </a:p>
        </p:txBody>
      </p:sp>
      <p:sp>
        <p:nvSpPr>
          <p:cNvPr id="19" name="text-649"/>
          <p:cNvSpPr txBox="1"/>
          <p:nvPr/>
        </p:nvSpPr>
        <p:spPr>
          <a:xfrm>
            <a:off x="9234526"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4–5 nhóm chia sẻ 1 phút</a:t>
            </a:r>
            <a:endParaRPr lang="en-US" sz="2400" dirty="0"/>
          </a:p>
        </p:txBody>
      </p:sp>
      <p:sp>
        <p:nvSpPr>
          <p:cNvPr id="20" name="card-650"/>
          <p:cNvSpPr/>
          <p:nvPr/>
        </p:nvSpPr>
        <p:spPr>
          <a:xfrm>
            <a:off x="548640" y="5394960"/>
            <a:ext cx="11094415" cy="777240"/>
          </a:xfrm>
          <a:prstGeom prst="roundRect">
            <a:avLst>
              <a:gd name="adj" fmla="val 17647"/>
            </a:avLst>
          </a:prstGeom>
          <a:solidFill>
            <a:schemeClr val="accent2"/>
          </a:solidFill>
          <a:ln/>
        </p:spPr>
      </p:sp>
      <p:sp>
        <p:nvSpPr>
          <p:cNvPr id="21" name="text-651"/>
          <p:cNvSpPr txBox="1"/>
          <p:nvPr/>
        </p:nvSpPr>
        <p:spPr>
          <a:xfrm>
            <a:off x="822960" y="5394960"/>
            <a:ext cx="10545775" cy="777240"/>
          </a:xfrm>
          <a:prstGeom prst="rect">
            <a:avLst/>
          </a:prstGeom>
          <a:noFill/>
          <a:ln/>
        </p:spPr>
        <p:txBody>
          <a:bodyPr wrap="square" lIns="0" tIns="0" rIns="0" bIns="0" rtlCol="0" anchor="ctr"/>
          <a:lstStyle/>
          <a:p>
            <a:pPr indent="0" marL="0">
              <a:buNone/>
            </a:pPr>
            <a:r>
              <a:rPr lang="en-US" sz="2600" b="1" dirty="0">
                <a:solidFill>
                  <a:schemeClr val="bg1"/>
                </a:solidFill>
              </a:rPr>
              <a:t>Sản phẩm: phiếu nhóm → hoàn thiện thành M1</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Trước khi về: một điều đã rõ, một điều còn mơ hồ</a:t>
            </a:r>
            <a:endParaRPr lang="en-US" sz="3000" dirty="0"/>
          </a:p>
        </p:txBody>
      </p:sp>
      <p:sp>
        <p:nvSpPr>
          <p:cNvPr id="4" name="card-652"/>
          <p:cNvSpPr/>
          <p:nvPr/>
        </p:nvSpPr>
        <p:spPr>
          <a:xfrm>
            <a:off x="548640" y="1828800"/>
            <a:ext cx="5376672" cy="4023360"/>
          </a:xfrm>
          <a:prstGeom prst="roundRect">
            <a:avLst>
              <a:gd name="adj" fmla="val 3409"/>
            </a:avLst>
          </a:prstGeom>
          <a:solidFill>
            <a:schemeClr val="bg2"/>
          </a:solidFill>
          <a:ln/>
        </p:spPr>
      </p:sp>
      <p:sp>
        <p:nvSpPr>
          <p:cNvPr id="5" name="icon-bg-653"/>
          <p:cNvSpPr/>
          <p:nvPr/>
        </p:nvSpPr>
        <p:spPr>
          <a:xfrm>
            <a:off x="2551176" y="2194560"/>
            <a:ext cx="1371600" cy="1371600"/>
          </a:xfrm>
          <a:prstGeom prst="ellipse">
            <a:avLst/>
          </a:prstGeom>
          <a:solidFill>
            <a:schemeClr val="accent1"/>
          </a:solidFill>
          <a:ln/>
        </p:spPr>
      </p:sp>
      <p:pic>
        <p:nvPicPr>
          <p:cNvPr id="6" name="icon-654"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894076" y="2537460"/>
            <a:ext cx="685800" cy="685800"/>
          </a:xfrm>
          <a:prstGeom prst="rect">
            <a:avLst/>
          </a:prstGeom>
        </p:spPr>
      </p:pic>
      <p:sp>
        <p:nvSpPr>
          <p:cNvPr id="7" name="text-655"/>
          <p:cNvSpPr txBox="1"/>
          <p:nvPr/>
        </p:nvSpPr>
        <p:spPr>
          <a:xfrm>
            <a:off x="914400" y="3840480"/>
            <a:ext cx="4645152" cy="1645920"/>
          </a:xfrm>
          <a:prstGeom prst="rect">
            <a:avLst/>
          </a:prstGeom>
          <a:noFill/>
          <a:ln/>
        </p:spPr>
        <p:txBody>
          <a:bodyPr wrap="square" lIns="0" tIns="0" rIns="0" bIns="0" rtlCol="0" anchor="ctr"/>
          <a:lstStyle/>
          <a:p>
            <a:pPr algn="ctr" indent="0" marL="0">
              <a:buNone/>
            </a:pPr>
            <a:r>
              <a:rPr lang="en-US" sz="3000" b="1" dirty="0">
                <a:solidFill>
                  <a:schemeClr val="tx1"/>
                </a:solidFill>
              </a:rPr>
              <a:t>Một điều hôm nay mình đã hiểu rõ</a:t>
            </a:r>
            <a:endParaRPr lang="en-US" sz="3000" dirty="0"/>
          </a:p>
        </p:txBody>
      </p:sp>
      <p:sp>
        <p:nvSpPr>
          <p:cNvPr id="8" name="card-656"/>
          <p:cNvSpPr/>
          <p:nvPr/>
        </p:nvSpPr>
        <p:spPr>
          <a:xfrm>
            <a:off x="6263640" y="1828800"/>
            <a:ext cx="5376672" cy="4023360"/>
          </a:xfrm>
          <a:prstGeom prst="roundRect">
            <a:avLst>
              <a:gd name="adj" fmla="val 3409"/>
            </a:avLst>
          </a:prstGeom>
          <a:solidFill>
            <a:schemeClr val="bg2"/>
          </a:solidFill>
          <a:ln/>
        </p:spPr>
      </p:sp>
      <p:sp>
        <p:nvSpPr>
          <p:cNvPr id="9" name="icon-bg-657"/>
          <p:cNvSpPr/>
          <p:nvPr/>
        </p:nvSpPr>
        <p:spPr>
          <a:xfrm>
            <a:off x="8266176" y="2194560"/>
            <a:ext cx="1371600" cy="1371600"/>
          </a:xfrm>
          <a:prstGeom prst="ellipse">
            <a:avLst/>
          </a:prstGeom>
          <a:solidFill>
            <a:schemeClr val="accent2"/>
          </a:solidFill>
          <a:ln/>
        </p:spPr>
      </p:sp>
      <p:pic>
        <p:nvPicPr>
          <p:cNvPr id="10" name="icon-658"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609076" y="2537460"/>
            <a:ext cx="685800" cy="685800"/>
          </a:xfrm>
          <a:prstGeom prst="rect">
            <a:avLst/>
          </a:prstGeom>
        </p:spPr>
      </p:pic>
      <p:sp>
        <p:nvSpPr>
          <p:cNvPr id="11" name="text-659"/>
          <p:cNvSpPr txBox="1"/>
          <p:nvPr/>
        </p:nvSpPr>
        <p:spPr>
          <a:xfrm>
            <a:off x="6629400" y="3840480"/>
            <a:ext cx="4645152" cy="1645920"/>
          </a:xfrm>
          <a:prstGeom prst="rect">
            <a:avLst/>
          </a:prstGeom>
          <a:noFill/>
          <a:ln/>
        </p:spPr>
        <p:txBody>
          <a:bodyPr wrap="square" lIns="0" tIns="0" rIns="0" bIns="0" rtlCol="0" anchor="ctr"/>
          <a:lstStyle/>
          <a:p>
            <a:pPr algn="ctr" indent="0" marL="0">
              <a:buNone/>
            </a:pPr>
            <a:r>
              <a:rPr lang="en-US" sz="3000" b="1" dirty="0">
                <a:solidFill>
                  <a:schemeClr val="tx1"/>
                </a:solidFill>
              </a:rPr>
              <a:t>Một điều mình vẫn còn mơ hồ</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Bài tập M1 và buổi sau</a:t>
            </a:r>
            <a:endParaRPr lang="en-US" sz="3000" dirty="0"/>
          </a:p>
        </p:txBody>
      </p:sp>
      <p:sp>
        <p:nvSpPr>
          <p:cNvPr id="4" name="card-660"/>
          <p:cNvSpPr/>
          <p:nvPr/>
        </p:nvSpPr>
        <p:spPr>
          <a:xfrm>
            <a:off x="548640" y="1691640"/>
            <a:ext cx="6035040" cy="3886200"/>
          </a:xfrm>
          <a:prstGeom prst="roundRect">
            <a:avLst>
              <a:gd name="adj" fmla="val 3529"/>
            </a:avLst>
          </a:prstGeom>
          <a:solidFill>
            <a:schemeClr val="bg2"/>
          </a:solidFill>
          <a:ln/>
        </p:spPr>
      </p:sp>
      <p:sp>
        <p:nvSpPr>
          <p:cNvPr id="5" name="icon-bg-661"/>
          <p:cNvSpPr/>
          <p:nvPr/>
        </p:nvSpPr>
        <p:spPr>
          <a:xfrm>
            <a:off x="868680" y="1920240"/>
            <a:ext cx="914400" cy="914400"/>
          </a:xfrm>
          <a:prstGeom prst="ellipse">
            <a:avLst/>
          </a:prstGeom>
          <a:solidFill>
            <a:schemeClr val="accent2"/>
          </a:solidFill>
          <a:ln/>
        </p:spPr>
      </p:sp>
      <p:pic>
        <p:nvPicPr>
          <p:cNvPr id="6" name="icon-662"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7280" y="2148840"/>
            <a:ext cx="457200" cy="457200"/>
          </a:xfrm>
          <a:prstGeom prst="rect">
            <a:avLst/>
          </a:prstGeom>
        </p:spPr>
      </p:pic>
      <p:sp>
        <p:nvSpPr>
          <p:cNvPr id="7" name="text-663"/>
          <p:cNvSpPr txBox="1"/>
          <p:nvPr/>
        </p:nvSpPr>
        <p:spPr>
          <a:xfrm>
            <a:off x="2011680" y="1920240"/>
            <a:ext cx="4389120" cy="914400"/>
          </a:xfrm>
          <a:prstGeom prst="rect">
            <a:avLst/>
          </a:prstGeom>
          <a:noFill/>
          <a:ln/>
        </p:spPr>
        <p:txBody>
          <a:bodyPr wrap="square" lIns="0" tIns="0" rIns="0" bIns="0" rtlCol="0" anchor="ctr"/>
          <a:lstStyle/>
          <a:p>
            <a:pPr indent="0" marL="0">
              <a:buNone/>
            </a:pPr>
            <a:r>
              <a:rPr lang="en-US" sz="2600" b="1" dirty="0">
                <a:solidFill>
                  <a:schemeClr val="accent2"/>
                </a:solidFill>
              </a:rPr>
              <a:t>M1 · Phiếu đăng ký đề tài sơ bộ</a:t>
            </a:r>
            <a:endParaRPr lang="en-US" sz="2600" dirty="0"/>
          </a:p>
        </p:txBody>
      </p:sp>
      <p:sp>
        <p:nvSpPr>
          <p:cNvPr id="8" name="text-664"/>
          <p:cNvSpPr txBox="1"/>
          <p:nvPr/>
        </p:nvSpPr>
        <p:spPr>
          <a:xfrm>
            <a:off x="914400" y="3063240"/>
            <a:ext cx="5394960" cy="548640"/>
          </a:xfrm>
          <a:prstGeom prst="rect">
            <a:avLst/>
          </a:prstGeom>
          <a:noFill/>
          <a:ln/>
        </p:spPr>
        <p:txBody>
          <a:bodyPr wrap="square" lIns="0" tIns="0" rIns="0" bIns="0" rtlCol="0" anchor="t"/>
          <a:lstStyle/>
          <a:p>
            <a:pPr indent="0" marL="0">
              <a:buNone/>
            </a:pPr>
            <a:r>
              <a:rPr lang="en-US" sz="2600" dirty="0">
                <a:solidFill>
                  <a:schemeClr val="tx1"/>
                </a:solidFill>
              </a:rPr>
              <a:t>Nhóm · 2,5%</a:t>
            </a:r>
            <a:endParaRPr lang="en-US" sz="2600" dirty="0"/>
          </a:p>
        </p:txBody>
      </p:sp>
      <p:sp>
        <p:nvSpPr>
          <p:cNvPr id="9" name="text-665"/>
          <p:cNvSpPr txBox="1"/>
          <p:nvPr/>
        </p:nvSpPr>
        <p:spPr>
          <a:xfrm>
            <a:off x="914400" y="3657600"/>
            <a:ext cx="5394960" cy="548640"/>
          </a:xfrm>
          <a:prstGeom prst="rect">
            <a:avLst/>
          </a:prstGeom>
          <a:noFill/>
          <a:ln/>
        </p:spPr>
        <p:txBody>
          <a:bodyPr wrap="square" lIns="0" tIns="0" rIns="0" bIns="0" rtlCol="0" anchor="t"/>
          <a:lstStyle/>
          <a:p>
            <a:pPr indent="0" marL="0">
              <a:buNone/>
            </a:pPr>
            <a:r>
              <a:rPr lang="en-US" sz="2600" dirty="0">
                <a:solidFill>
                  <a:schemeClr val="tx1"/>
                </a:solidFill>
              </a:rPr>
              <a:t>Nộp LMS trước Buổi 2</a:t>
            </a:r>
            <a:endParaRPr lang="en-US" sz="2600" dirty="0"/>
          </a:p>
        </p:txBody>
      </p:sp>
      <p:sp>
        <p:nvSpPr>
          <p:cNvPr id="10" name="card-666"/>
          <p:cNvSpPr/>
          <p:nvPr/>
        </p:nvSpPr>
        <p:spPr>
          <a:xfrm>
            <a:off x="868680" y="4434840"/>
            <a:ext cx="5394960" cy="868680"/>
          </a:xfrm>
          <a:prstGeom prst="roundRect">
            <a:avLst>
              <a:gd name="adj" fmla="val 15789"/>
            </a:avLst>
          </a:prstGeom>
          <a:solidFill>
            <a:schemeClr val="accent2"/>
          </a:solidFill>
          <a:ln/>
        </p:spPr>
      </p:sp>
      <p:sp>
        <p:nvSpPr>
          <p:cNvPr id="11" name="text-667"/>
          <p:cNvSpPr txBox="1"/>
          <p:nvPr/>
        </p:nvSpPr>
        <p:spPr>
          <a:xfrm>
            <a:off x="1051560" y="4434840"/>
            <a:ext cx="5029200" cy="868680"/>
          </a:xfrm>
          <a:prstGeom prst="rect">
            <a:avLst/>
          </a:prstGeom>
          <a:noFill/>
          <a:ln/>
        </p:spPr>
        <p:txBody>
          <a:bodyPr wrap="square" lIns="0" tIns="0" rIns="0" bIns="0" rtlCol="0" anchor="ctr"/>
          <a:lstStyle/>
          <a:p>
            <a:pPr indent="0" marL="0">
              <a:buNone/>
            </a:pPr>
            <a:r>
              <a:rPr lang="en-US" sz="2400" b="1" dirty="0">
                <a:solidFill>
                  <a:schemeClr val="bg1"/>
                </a:solidFill>
              </a:rPr>
              <a:t>Hạn nộp: [cần giảng viên xác nhận]</a:t>
            </a:r>
            <a:endParaRPr lang="en-US" sz="2400" dirty="0"/>
          </a:p>
        </p:txBody>
      </p:sp>
      <p:sp>
        <p:nvSpPr>
          <p:cNvPr id="12" name="card-668"/>
          <p:cNvSpPr/>
          <p:nvPr/>
        </p:nvSpPr>
        <p:spPr>
          <a:xfrm>
            <a:off x="6812280" y="1691640"/>
            <a:ext cx="4828032" cy="3886200"/>
          </a:xfrm>
          <a:prstGeom prst="roundRect">
            <a:avLst>
              <a:gd name="adj" fmla="val 3529"/>
            </a:avLst>
          </a:prstGeom>
          <a:solidFill>
            <a:schemeClr val="accent5"/>
          </a:solidFill>
          <a:ln/>
        </p:spPr>
      </p:sp>
      <p:sp>
        <p:nvSpPr>
          <p:cNvPr id="13" name="icon-bg-669"/>
          <p:cNvSpPr/>
          <p:nvPr/>
        </p:nvSpPr>
        <p:spPr>
          <a:xfrm>
            <a:off x="7132320" y="1920240"/>
            <a:ext cx="914400" cy="914400"/>
          </a:xfrm>
          <a:prstGeom prst="ellipse">
            <a:avLst/>
          </a:prstGeom>
          <a:solidFill>
            <a:schemeClr val="accent4"/>
          </a:solidFill>
          <a:ln/>
        </p:spPr>
      </p:sp>
      <p:pic>
        <p:nvPicPr>
          <p:cNvPr id="14" name="icon-670"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360920" y="2148840"/>
            <a:ext cx="457200" cy="457200"/>
          </a:xfrm>
          <a:prstGeom prst="rect">
            <a:avLst/>
          </a:prstGeom>
        </p:spPr>
      </p:pic>
      <p:sp>
        <p:nvSpPr>
          <p:cNvPr id="15" name="text-671"/>
          <p:cNvSpPr txBox="1"/>
          <p:nvPr/>
        </p:nvSpPr>
        <p:spPr>
          <a:xfrm>
            <a:off x="8275320" y="1920240"/>
            <a:ext cx="3108960" cy="914400"/>
          </a:xfrm>
          <a:prstGeom prst="rect">
            <a:avLst/>
          </a:prstGeom>
          <a:noFill/>
          <a:ln/>
        </p:spPr>
        <p:txBody>
          <a:bodyPr wrap="square" lIns="0" tIns="0" rIns="0" bIns="0" rtlCol="0" anchor="ctr"/>
          <a:lstStyle/>
          <a:p>
            <a:pPr indent="0" marL="0">
              <a:buNone/>
            </a:pPr>
            <a:r>
              <a:rPr lang="en-US" sz="3000" b="1" dirty="0">
                <a:solidFill>
                  <a:schemeClr val="bg1"/>
                </a:solidFill>
              </a:rPr>
              <a:t>Buổi 2</a:t>
            </a:r>
            <a:endParaRPr lang="en-US" sz="3000" dirty="0"/>
          </a:p>
        </p:txBody>
      </p:sp>
      <p:sp>
        <p:nvSpPr>
          <p:cNvPr id="16" name="text-672"/>
          <p:cNvSpPr txBox="1"/>
          <p:nvPr/>
        </p:nvSpPr>
        <p:spPr>
          <a:xfrm>
            <a:off x="7132320" y="3063240"/>
            <a:ext cx="4206240" cy="1280160"/>
          </a:xfrm>
          <a:prstGeom prst="rect">
            <a:avLst/>
          </a:prstGeom>
          <a:noFill/>
          <a:ln/>
        </p:spPr>
        <p:txBody>
          <a:bodyPr wrap="square" lIns="0" tIns="0" rIns="0" bIns="0" rtlCol="0" anchor="t"/>
          <a:lstStyle/>
          <a:p>
            <a:pPr indent="0" marL="0">
              <a:buNone/>
            </a:pPr>
            <a:r>
              <a:rPr lang="en-US" sz="2600" dirty="0">
                <a:solidFill>
                  <a:schemeClr val="bg1"/>
                </a:solidFill>
              </a:rPr>
              <a:t>Tìm tài liệu học thuật cho đề tài</a:t>
            </a:r>
            <a:endParaRPr lang="en-US" sz="2600" dirty="0"/>
          </a:p>
        </p:txBody>
      </p:sp>
      <p:sp>
        <p:nvSpPr>
          <p:cNvPr id="17" name="text-673"/>
          <p:cNvSpPr txBox="1"/>
          <p:nvPr/>
        </p:nvSpPr>
        <p:spPr>
          <a:xfrm>
            <a:off x="7132320" y="4572000"/>
            <a:ext cx="4206240" cy="548640"/>
          </a:xfrm>
          <a:prstGeom prst="rect">
            <a:avLst/>
          </a:prstGeom>
          <a:noFill/>
          <a:ln/>
        </p:spPr>
        <p:txBody>
          <a:bodyPr wrap="square" lIns="0" tIns="0" rIns="0" bIns="0" rtlCol="0" anchor="t"/>
          <a:lstStyle/>
          <a:p>
            <a:pPr indent="0" marL="0">
              <a:buNone/>
            </a:pPr>
            <a:r>
              <a:rPr lang="en-US" sz="2600" b="1" dirty="0">
                <a:solidFill>
                  <a:schemeClr val="bg1"/>
                </a:solidFill>
              </a:rPr>
              <a:t>Mang máy tính</a:t>
            </a:r>
            <a:endParaRPr lang="en-US" sz="2600" dirty="0"/>
          </a:p>
        </p:txBody>
      </p:sp>
      <p:sp>
        <p:nvSpPr>
          <p:cNvPr id="18" name="text-674"/>
          <p:cNvSpPr txBox="1"/>
          <p:nvPr/>
        </p:nvSpPr>
        <p:spPr>
          <a:xfrm>
            <a:off x="548640" y="5806440"/>
            <a:ext cx="8229600" cy="502920"/>
          </a:xfrm>
          <a:prstGeom prst="rect">
            <a:avLst/>
          </a:prstGeom>
          <a:noFill/>
          <a:ln/>
        </p:spPr>
        <p:txBody>
          <a:bodyPr wrap="square" lIns="0" tIns="0" rIns="0" bIns="0" rtlCol="0" anchor="t"/>
          <a:lstStyle/>
          <a:p>
            <a:pPr indent="0" marL="0">
              <a:buNone/>
            </a:pPr>
            <a:r>
              <a:rPr lang="en-US" sz="2400" b="1" dirty="0">
                <a:solidFill>
                  <a:schemeClr val="accent1"/>
                </a:solidFill>
              </a:rPr>
              <a:t>Tự học: tài liệu đọc thêm Bài 1</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Tài liệu tham khảo</a:t>
            </a:r>
            <a:endParaRPr lang="en-US" sz="3000" dirty="0"/>
          </a:p>
        </p:txBody>
      </p:sp>
      <p:sp>
        <p:nvSpPr>
          <p:cNvPr id="4" name="text-675"/>
          <p:cNvSpPr txBox="1"/>
          <p:nvPr/>
        </p:nvSpPr>
        <p:spPr>
          <a:xfrm>
            <a:off x="548640" y="1600200"/>
            <a:ext cx="11094415" cy="1143000"/>
          </a:xfrm>
          <a:prstGeom prst="rect">
            <a:avLst/>
          </a:prstGeom>
          <a:noFill/>
          <a:ln/>
        </p:spPr>
        <p:txBody>
          <a:bodyPr wrap="square" lIns="0" tIns="0" rIns="0" bIns="0" rtlCol="0" anchor="t"/>
          <a:lstStyle/>
          <a:p>
            <a:pPr indent="0" marL="0">
              <a:buNone/>
            </a:pPr>
            <a:r>
              <a:rPr lang="en-US" sz="2400" dirty="0">
                <a:solidFill>
                  <a:schemeClr val="tx1"/>
                </a:solidFill>
              </a:rPr>
              <a:t>American Marketing Association. (2017). </a:t>
            </a:r>
            <a:pPr indent="0" marL="0">
              <a:buNone/>
            </a:pPr>
            <a:r>
              <a:rPr lang="en-US" sz="2400" i="1" dirty="0">
                <a:solidFill>
                  <a:schemeClr val="tx1"/>
                </a:solidFill>
              </a:rPr>
              <a:t>Definitions of marketing</a:t>
            </a:r>
            <a:pPr indent="0" marL="0">
              <a:buNone/>
            </a:pPr>
            <a:r>
              <a:rPr lang="en-US" sz="2400" dirty="0">
                <a:solidFill>
                  <a:schemeClr val="tx1"/>
                </a:solidFill>
              </a:rPr>
              <a:t>. https://www.ama.org/the-definition-of-marketing-what-is-marketing/</a:t>
            </a:r>
            <a:endParaRPr lang="en-US" sz="2400" dirty="0"/>
          </a:p>
        </p:txBody>
      </p:sp>
      <p:sp>
        <p:nvSpPr>
          <p:cNvPr id="5" name="text-676"/>
          <p:cNvSpPr txBox="1"/>
          <p:nvPr/>
        </p:nvSpPr>
        <p:spPr>
          <a:xfrm>
            <a:off x="548640" y="3017520"/>
            <a:ext cx="11094415" cy="777240"/>
          </a:xfrm>
          <a:prstGeom prst="rect">
            <a:avLst/>
          </a:prstGeom>
          <a:noFill/>
          <a:ln/>
        </p:spPr>
        <p:txBody>
          <a:bodyPr wrap="square" lIns="0" tIns="0" rIns="0" bIns="0" rtlCol="0" anchor="t"/>
          <a:lstStyle/>
          <a:p>
            <a:pPr indent="0" marL="0">
              <a:buNone/>
            </a:pPr>
            <a:r>
              <a:rPr lang="en-US" sz="2400" dirty="0">
                <a:solidFill>
                  <a:schemeClr val="tx1"/>
                </a:solidFill>
              </a:rPr>
              <a:t>Kotler, P., &amp; Keller, K. L. (2012). </a:t>
            </a:r>
            <a:pPr indent="0" marL="0">
              <a:buNone/>
            </a:pPr>
            <a:r>
              <a:rPr lang="en-US" sz="2400" i="1" dirty="0">
                <a:solidFill>
                  <a:schemeClr val="tx1"/>
                </a:solidFill>
              </a:rPr>
              <a:t>Marketing management</a:t>
            </a:r>
            <a:pPr indent="0" marL="0">
              <a:buNone/>
            </a:pPr>
            <a:r>
              <a:rPr lang="en-US" sz="2400" dirty="0">
                <a:solidFill>
                  <a:schemeClr val="tx1"/>
                </a:solidFill>
              </a:rPr>
              <a:t> (14th ed.). Pearson Education.</a:t>
            </a:r>
            <a:endParaRPr lang="en-US" sz="2400" dirty="0"/>
          </a:p>
        </p:txBody>
      </p:sp>
      <p:sp>
        <p:nvSpPr>
          <p:cNvPr id="6" name="text-677"/>
          <p:cNvSpPr txBox="1"/>
          <p:nvPr/>
        </p:nvSpPr>
        <p:spPr>
          <a:xfrm>
            <a:off x="548640" y="4069080"/>
            <a:ext cx="11094415" cy="777240"/>
          </a:xfrm>
          <a:prstGeom prst="rect">
            <a:avLst/>
          </a:prstGeom>
          <a:noFill/>
          <a:ln/>
        </p:spPr>
        <p:txBody>
          <a:bodyPr wrap="square" lIns="0" tIns="0" rIns="0" bIns="0" rtlCol="0" anchor="t"/>
          <a:lstStyle/>
          <a:p>
            <a:pPr indent="0" marL="0">
              <a:buNone/>
            </a:pPr>
            <a:r>
              <a:rPr lang="en-US" sz="2400" dirty="0">
                <a:solidFill>
                  <a:schemeClr val="tx1"/>
                </a:solidFill>
              </a:rPr>
              <a:t>Malhotra, N. K. (2019). </a:t>
            </a:r>
            <a:pPr indent="0" marL="0">
              <a:buNone/>
            </a:pPr>
            <a:r>
              <a:rPr lang="en-US" sz="2400" i="1" dirty="0">
                <a:solidFill>
                  <a:schemeClr val="tx1"/>
                </a:solidFill>
              </a:rPr>
              <a:t>Marketing research: An applied orientation</a:t>
            </a:r>
            <a:pPr indent="0" marL="0">
              <a:buNone/>
            </a:pPr>
            <a:r>
              <a:rPr lang="en-US" sz="2400" dirty="0">
                <a:solidFill>
                  <a:schemeClr val="tx1"/>
                </a:solidFill>
              </a:rPr>
              <a:t> (7th ed.). Pearson.</a:t>
            </a:r>
            <a:endParaRPr lang="en-US" sz="2400" dirty="0"/>
          </a:p>
        </p:txBody>
      </p:sp>
      <p:sp>
        <p:nvSpPr>
          <p:cNvPr id="7" name="text-678"/>
          <p:cNvSpPr txBox="1"/>
          <p:nvPr/>
        </p:nvSpPr>
        <p:spPr>
          <a:xfrm>
            <a:off x="548640" y="5120640"/>
            <a:ext cx="11094415" cy="777240"/>
          </a:xfrm>
          <a:prstGeom prst="rect">
            <a:avLst/>
          </a:prstGeom>
          <a:noFill/>
          <a:ln/>
        </p:spPr>
        <p:txBody>
          <a:bodyPr wrap="square" lIns="0" tIns="0" rIns="0" bIns="0" rtlCol="0" anchor="t"/>
          <a:lstStyle/>
          <a:p>
            <a:pPr indent="0" marL="0">
              <a:buNone/>
            </a:pPr>
            <a:r>
              <a:rPr lang="en-US" sz="2400" dirty="0">
                <a:solidFill>
                  <a:schemeClr val="tx1"/>
                </a:solidFill>
              </a:rPr>
              <a:t>Nguyễn, Đ. T., &amp; Nguyễn, T. M. T. (2015). </a:t>
            </a:r>
            <a:pPr indent="0" marL="0">
              <a:buNone/>
            </a:pPr>
            <a:r>
              <a:rPr lang="en-US" sz="2400" i="1" dirty="0">
                <a:solidFill>
                  <a:schemeClr val="tx1"/>
                </a:solidFill>
              </a:rPr>
              <a:t>Giáo trình nghiên cứu thị trường</a:t>
            </a:r>
            <a:pPr indent="0" marL="0">
              <a:buNone/>
            </a:pPr>
            <a:r>
              <a:rPr lang="en-US" sz="2400" dirty="0">
                <a:solidFill>
                  <a:schemeClr val="tx1"/>
                </a:solidFill>
              </a:rPr>
              <a:t>. Nhà xuất bản Kinh tế TP. Hồ Chí Minh.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MKT1107 Dark">
  <a:themeElements>
    <a:clrScheme name="MKT1107 Dark">
      <a:dk1>
        <a:srgbClr val="FBFAF4"/>
      </a:dk1>
      <a:lt1>
        <a:srgbClr val="172849"/>
      </a:lt1>
      <a:dk2>
        <a:srgbClr val="A9B6D3"/>
      </a:dk2>
      <a:lt2>
        <a:srgbClr val="22395F"/>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MKT1107 Dark">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Nghiên cứu Marketing · Buổi 1</dc:title>
  <dc:subject>PptxGenJS Presentation</dc:subject>
  <dc:creator>Đoàn Nguyễn Bảo Quyên</dc:creator>
  <cp:lastModifiedBy>Đoàn Nguyễn Bảo Quyên</cp:lastModifiedBy>
  <cp:revision>1</cp:revision>
  <dcterms:created xsi:type="dcterms:W3CDTF">2026-10-03T16:55:28Z</dcterms:created>
  <dcterms:modified xsi:type="dcterms:W3CDTF">2026-10-03T16:55:28Z</dcterms:modified>
</cp:coreProperties>
</file>